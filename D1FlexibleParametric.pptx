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32"/>
  </p:notesMasterIdLst>
  <p:sldIdLst>
    <p:sldId id="256" r:id="rId5"/>
    <p:sldId id="333" r:id="rId6"/>
    <p:sldId id="498" r:id="rId7"/>
    <p:sldId id="499" r:id="rId8"/>
    <p:sldId id="344" r:id="rId9"/>
    <p:sldId id="500" r:id="rId10"/>
    <p:sldId id="487" r:id="rId11"/>
    <p:sldId id="501" r:id="rId12"/>
    <p:sldId id="502" r:id="rId13"/>
    <p:sldId id="497" r:id="rId14"/>
    <p:sldId id="503" r:id="rId15"/>
    <p:sldId id="504" r:id="rId16"/>
    <p:sldId id="490" r:id="rId17"/>
    <p:sldId id="491" r:id="rId18"/>
    <p:sldId id="505" r:id="rId19"/>
    <p:sldId id="506" r:id="rId20"/>
    <p:sldId id="352" r:id="rId21"/>
    <p:sldId id="397" r:id="rId22"/>
    <p:sldId id="510" r:id="rId23"/>
    <p:sldId id="507" r:id="rId24"/>
    <p:sldId id="511" r:id="rId25"/>
    <p:sldId id="513" r:id="rId26"/>
    <p:sldId id="512" r:id="rId27"/>
    <p:sldId id="514" r:id="rId28"/>
    <p:sldId id="515" r:id="rId29"/>
    <p:sldId id="516" r:id="rId30"/>
    <p:sldId id="517" r:id="rId31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85FEFA-A3AF-4F1D-B9B0-49E2D059E0D9}">
          <p14:sldIdLst>
            <p14:sldId id="256"/>
            <p14:sldId id="333"/>
            <p14:sldId id="498"/>
            <p14:sldId id="499"/>
            <p14:sldId id="344"/>
            <p14:sldId id="500"/>
            <p14:sldId id="487"/>
            <p14:sldId id="501"/>
            <p14:sldId id="502"/>
            <p14:sldId id="497"/>
            <p14:sldId id="503"/>
            <p14:sldId id="504"/>
            <p14:sldId id="490"/>
            <p14:sldId id="491"/>
            <p14:sldId id="505"/>
            <p14:sldId id="506"/>
            <p14:sldId id="352"/>
            <p14:sldId id="397"/>
            <p14:sldId id="510"/>
            <p14:sldId id="507"/>
            <p14:sldId id="511"/>
            <p14:sldId id="513"/>
            <p14:sldId id="512"/>
            <p14:sldId id="514"/>
            <p14:sldId id="515"/>
            <p14:sldId id="516"/>
            <p14:sldId id="5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9054" autoAdjust="0"/>
  </p:normalViewPr>
  <p:slideViewPr>
    <p:cSldViewPr snapToGrid="0">
      <p:cViewPr varScale="1">
        <p:scale>
          <a:sx n="74" d="100"/>
          <a:sy n="74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6681B-641D-4096-AA24-ECB3130B0DDB}" type="datetimeFigureOut">
              <a:rPr lang="en-AU" smtClean="0"/>
              <a:t>26/02/2026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61BF14-442A-4806-9528-3CAE044062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1522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1063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8991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9A593-5696-B72A-329B-C5B5F4A50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354C16-7B7D-0FC2-095A-873BCFDA8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B0DE8-BC7E-3A1F-6275-E4EC7B8B0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C53C1-1704-C05F-7FD7-B18FB0409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5127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747F-28E0-B898-6759-47ADA38B2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129C0C-1BE6-7B23-0D97-C790A4540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D5E870-0311-4FA9-4D63-92107DC48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3614B-095F-6ACA-1B78-0EB674F09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4672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3728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9DB7A-BE0E-9195-3A92-2AF79571F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38DF7-FE36-AB07-F506-13B87E0BC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1E95C-A21A-65E8-0FE1-EA9F17D7F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24F3B-8874-F98C-BCE1-A380CF59D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4405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DDCDB-8FAD-DA12-9FC4-016CE2DC0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2E882-3433-68DE-EE2F-FAE3B57AD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A08FF-3F34-9FA7-FD24-6A8EDBA02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847BE-D3EC-F6CC-58F0-73F0F4C95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5754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675CC-F305-1B09-C5A5-AC9B0E524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C2CF8-3AE1-976D-A844-85505618F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9B93B-A41A-ED24-3865-2FB56A793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D24F8-EB62-E2CD-211E-304DFABC0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642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B9959-031F-0195-C3CE-9075979A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41C0F-F02A-D64D-1031-BED54A138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A67E6B-5401-EBA8-B5C5-B814A9196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2AE68-19B1-7A0A-C665-BB6F6C819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153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7E2F6-A9B4-C1F5-168D-250AAAA22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89D19-F070-CFDD-82ED-BDB66D7F2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85315-F040-4C76-7F81-0E5C7D1EC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69ECC-A7F2-8291-AE8C-A72F1CF91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4655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7B082-31EC-8EA3-683F-897D3210B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67388-CDDB-379F-6C52-F66EC9072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8E7D68-5826-3C57-CE96-8F61F4150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75621-63AA-C932-32B7-61E8215F7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7587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F1824-BE16-1354-F605-49510456F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FE8E2-0DA8-63D1-E653-5DF4DB91A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F5946F-397F-9073-34D2-ECF79E79B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  <a:p>
            <a:r>
              <a:rPr lang="en-AU" dirty="0"/>
              <a:t>0 knots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4A4C8-5DF7-D038-483C-45702403D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08539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16E09-AC70-8BF4-BD55-219FDFE34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3ACA0-91B2-370E-1F63-1874D7609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65A30-3F7E-4AEE-DDA0-6B5E84CB3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  <a:p>
            <a:r>
              <a:rPr lang="en-AU" dirty="0"/>
              <a:t>1 knot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9117D-9DB7-62A2-E98F-65B4865D3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4519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FE17E-AF13-02BD-CC72-2E7A58968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246117-038F-F76C-5884-724E634A6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BA70C2-7A45-078D-11CF-4C32D649E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  <a:p>
            <a:r>
              <a:rPr lang="en-AU" dirty="0"/>
              <a:t>2 knots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DDBCD-C36D-81A5-6453-1D19ADC43D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2588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D550D-8760-CB2B-5EB4-771803C63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A8A3B8-B93F-1D31-299B-14BF1239E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1674F-775E-673A-1CA6-081B7A92B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  <a:p>
            <a:r>
              <a:rPr lang="en-AU" dirty="0"/>
              <a:t>3 knots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722F1-9371-D576-0788-5759562F6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49562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0CD4A-A086-9705-4191-720717076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AFBFE-4E94-794E-DA3A-EB36C75DE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881D3C-F5D7-6ADD-5338-BC3DE9A10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>
                <a:highlight>
                  <a:srgbClr val="FFFF00"/>
                </a:highlight>
              </a:rPr>
              <a:t>If the improvement in fit (likelihood) is greater than the penalty for the new parameter, the AIC/BIC decreases (model with more knots is better)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If the improvement in fit is marginal and does not justify the extra parameter, the AIC/BIC increases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9A2EC-7E1F-AF68-9128-755E42E5C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73720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04E4D-5266-8F2B-7DC3-4A6D23246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3B926B-AC54-51A0-9D77-4B0400E1B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76439-E92A-E868-7A53-DA3FF58D7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8FA03-3AFE-5099-FF7B-FA9CF2168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69252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E3DEE-22ED-7925-1091-D6A3148E3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3FC4B1-A03E-FC3A-05CA-D6CF2151B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B67291-D7EF-F00B-30D2-BF6445D2D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4F39E-B9FB-B262-EE0C-B1DABDBBF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91034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F8F3F-9390-A648-92C5-B8609C668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67598-DD3C-17CB-B7E2-C95D239A2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A4094-D94B-19AD-10EA-AC5E0E145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now see from the hazard plot that the hazards are not monotonic like in the Weibull model and that the "Poor" prognostic group has a much sharper, earlier peak in risk compared to the "Good" group. If the  proportional hazards assumption held, the hazard for the "Poor" group would be a constant multiple of the hazard for the Good group across the entire follow-up. Instead, the gap between the groups changes, being very wide in the first 2-3 years and then begins to narrow.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D385F-89C0-5DD2-B3A9-469F118F0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99692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4A2B9-F464-0C88-8223-8FE1CF7C8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77028-7655-BE34-3212-E2E75C419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6AC00-2BA1-D003-DA09-133499B34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We can see a significant p-value (0.017), indicating that the proportional hazards assumption was violated.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0FC43-3706-1EDA-F5A0-6C4A6BAAF4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51731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16332-0CAF-3233-99DB-619435DE5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B964AB-E7FA-84DA-F8D6-5FF4ECFA5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26B2F1-588D-93C2-8870-1A2942D72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Now the hazard ratio varies over time and the $\exp(est)$ of the interaction term tells us the 'speed' and 'direction' of that move. </a:t>
            </a:r>
          </a:p>
          <a:p>
            <a:r>
              <a:rPr lang="en-US" b="0" dirty="0"/>
              <a:t>If it's less than 1, the groups are becoming more similar over time; if it's greater than 1, they are diverging.</a:t>
            </a:r>
          </a:p>
          <a:p>
            <a:r>
              <a:rPr lang="en-US" b="0" dirty="0"/>
              <a:t>Here, at year 1, the "Poor" group has 13.1 times and the "Medium" group 4.3 times the risk of the "Good" group. </a:t>
            </a:r>
          </a:p>
          <a:p>
            <a:r>
              <a:rPr lang="en-US" b="0" dirty="0"/>
              <a:t>However, for every unit increase in log-time, those risk ratios drop by 50% and 35% (multiplied by 0.5 and 0.65), respectively. </a:t>
            </a:r>
          </a:p>
          <a:p>
            <a:r>
              <a:rPr lang="en-US" b="0" dirty="0"/>
              <a:t>This suggests that the difference between the groups is greatest early on and diminishes as time passes.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3D1F7-65BE-3C31-0B31-1CC4CA08EA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61848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79DC6-B7CD-1FAE-5B39-7A6D243EC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71C6D-F66A-DA96-058F-9351DD737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7BBC89-CBBD-D7FE-0F83-1A8B80C09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Now the hazard ratio varies over time and the $\exp(est)$ of the interaction term tells us the 'speed' and 'direction' of that move. </a:t>
            </a:r>
          </a:p>
          <a:p>
            <a:r>
              <a:rPr lang="en-US" b="0" dirty="0"/>
              <a:t>If it's less than 1, the groups are becoming more similar over time; if it's greater than 1, they are diverging.</a:t>
            </a:r>
          </a:p>
          <a:p>
            <a:r>
              <a:rPr lang="en-US" b="0" dirty="0"/>
              <a:t>Here, at year 1, the "Poor" group has 13.1 times and the "Medium" group 4.3 times the risk of the "Good" group. </a:t>
            </a:r>
          </a:p>
          <a:p>
            <a:r>
              <a:rPr lang="en-US" b="0" dirty="0"/>
              <a:t>However, for every unit increase in log-time, those risk ratios drop by 50% and 35% (multiplied by 0.5 and 0.65), respectively. </a:t>
            </a:r>
          </a:p>
          <a:p>
            <a:r>
              <a:rPr lang="en-US" b="0" dirty="0"/>
              <a:t>This suggests that the difference between the groups is greatest early on and diminishes as time passes.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94AB9-9BF6-C609-2FA7-7DA0D64A9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27062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2C935-BBE6-FE27-4438-7CA42D6E2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3520AF-6FFC-82B6-FD52-0270A80D6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EAA35-599C-69CE-8382-2F43284CF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While adding additional knots reduces AIC slightly, the additional parameters increase BIC significantly, so we choose the model with 1 knot.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98B7F-3294-BC13-2A09-D52585F33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91223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08B9E-4396-83F1-3C01-0CAB3BAE3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47BA8-2D7E-3F16-153C-46FC5178C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D47603-B66D-3778-33F5-90F15648F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see that it fits quite well.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5024C-E1EC-55F4-DC46-FAE443A2A7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60739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370C-FA62-A5C0-EE90-B2B109F34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86B15-B5FB-9914-DFEF-EA466FDD3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33B9E6-4D12-1B06-4298-00349938B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see that it fits quite well.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A836F-B775-6619-04E4-41470E70A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18025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338F3-C28F-87F6-DF16-255355A97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51FE0-3FD6-10DE-F425-18FC98FED2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36D53-A1B8-807E-21DF-E69A27364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see that it fits quite well.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41B37-0835-01A2-2C4C-D091E5708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08049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59C1D-4616-9777-292D-E5478768B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33FEBF-1495-8779-2808-04F1FC716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B338B-3F86-EFEF-ECBF-4A888AC30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8CC94-9930-1E59-A653-E138DAD5B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3211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07255-DA02-4530-9828-3BA6ED96C1C3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75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861B4-C1BA-4ADF-8938-996090D0E67D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Farzaneh.Boroumand@Sydney.edu.au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27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890F9-FBC5-4F12-8C1A-CD683D10173A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38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7677-CF8B-43CB-8FF1-87208B11E777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5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14F02-9106-4F69-8BAE-CFDA6DD342EB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04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91F09-08C8-411F-8F49-BC96DB8D2F04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60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E28E-C0FE-48C5-AD71-6AC36A33E79A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8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3BFC-3CDF-426F-8D4D-1621D25F610A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55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AF84-2327-4C45-A2AF-6088E826580A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17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846BF-BBDD-41F4-90BD-365E67260397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28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DE3D6-2707-4668-8E8F-345A14A0BA7D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57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6DA19E5A-9F18-4DF6-B1AD-BE9DBAA0BA38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79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5E1C21-982A-FC98-8499-54401FCBC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1862" y="1595659"/>
            <a:ext cx="5322013" cy="1624689"/>
          </a:xfrm>
        </p:spPr>
        <p:txBody>
          <a:bodyPr>
            <a:normAutofit/>
          </a:bodyPr>
          <a:lstStyle/>
          <a:p>
            <a:r>
              <a:rPr lang="en-AU" b="1" dirty="0"/>
              <a:t>Flexible parametric survival models</a:t>
            </a:r>
            <a:endParaRPr lang="en-AU" dirty="0"/>
          </a:p>
          <a:p>
            <a:endParaRPr lang="en-AU" dirty="0"/>
          </a:p>
          <a:p>
            <a:r>
              <a:rPr lang="en-AU" sz="1800" dirty="0"/>
              <a:t>Maarit Laaksonen</a:t>
            </a:r>
          </a:p>
        </p:txBody>
      </p:sp>
      <p:pic>
        <p:nvPicPr>
          <p:cNvPr id="4" name="Picture 3" descr="Gradient pastel colors on a top view">
            <a:extLst>
              <a:ext uri="{FF2B5EF4-FFF2-40B4-BE49-F238E27FC236}">
                <a16:creationId xmlns:a16="http://schemas.microsoft.com/office/drawing/2014/main" id="{DE43E167-39D2-B9D0-F0F9-10C431DBC8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752" r="15781" b="-1"/>
          <a:stretch/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2B189-5082-4F0F-939F-9A3A398C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2661774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92378-04EE-7A9C-48F1-466FFB800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5B948-BB79-0538-CA2A-7BB0863D6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a flexible parametric survival model?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930CC-4FE5-EFEC-EE0F-7C88C7444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960142" cy="373989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Introduced by Royston and Parmar in 2002, to bridge the gap between standard parametric models (like Weibull) and semi-parametric models (like Cox proportional hazards)</a:t>
            </a:r>
          </a:p>
          <a:p>
            <a:r>
              <a:rPr lang="en-US" dirty="0"/>
              <a:t>The flexibility in these models comes from the use of </a:t>
            </a:r>
            <a:r>
              <a:rPr lang="en-US" b="1" dirty="0"/>
              <a:t>restricted cubic splines (polynomials) </a:t>
            </a:r>
            <a:r>
              <a:rPr lang="en-US" dirty="0"/>
              <a:t>to model the log-cumulative hazard or log-hazard function rather than the hazard itself</a:t>
            </a:r>
          </a:p>
          <a:p>
            <a:r>
              <a:rPr lang="en-US" dirty="0"/>
              <a:t>Rather than assuming a simple linear trend, the model uses these splines joined at specific time points or </a:t>
            </a:r>
            <a:r>
              <a:rPr lang="en-US" b="1" dirty="0"/>
              <a:t>‘knots’ </a:t>
            </a:r>
            <a:r>
              <a:rPr lang="en-US" dirty="0"/>
              <a:t>to capture complex, irregular, or multi-modal hazard shapes that simpler models would miss </a:t>
            </a:r>
          </a:p>
          <a:p>
            <a:r>
              <a:rPr lang="en-US" dirty="0"/>
              <a:t>Unlike piecewise models, which require splitting data into time intervals, flexible parametric models (FPM) provide smooth, continuous estimates of survival and hazard functions</a:t>
            </a:r>
          </a:p>
          <a:p>
            <a:r>
              <a:rPr lang="en-US" dirty="0"/>
              <a:t>While flexible parametric model is the broad category for any parametric model that uses splines, the Royston-Parmar model is its most famous implementation (and used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flexsurvspline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F0FA53-AA3B-3A92-329E-DB2C25FBD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3684586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EDF7C-E97E-5299-AB15-87E95A8B5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B93CE-A44B-C161-A2A2-395DCA48E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concepts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F2048D-88AC-6554-43CA-0AD3876CB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0634" y="2078301"/>
                <a:ext cx="11395571" cy="4421741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Polynomials</a:t>
                </a:r>
                <a:r>
                  <a:rPr lang="en-US" dirty="0"/>
                  <a:t> can be used to model a </a:t>
                </a:r>
                <a:r>
                  <a:rPr lang="en-US" b="1" dirty="0"/>
                  <a:t>non-linear function</a:t>
                </a:r>
                <a:r>
                  <a:rPr lang="en-US" dirty="0"/>
                  <a:t>, e.g., a </a:t>
                </a:r>
                <a:r>
                  <a:rPr lang="en-US" b="1" dirty="0"/>
                  <a:t>cubic polynomial</a:t>
                </a:r>
                <a:r>
                  <a:rPr lang="en-US" dirty="0"/>
                  <a:t>:</a:t>
                </a:r>
              </a:p>
              <a:p>
                <a:pPr>
                  <a:buClr>
                    <a:schemeClr val="bg1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endParaRPr lang="en-US" dirty="0"/>
              </a:p>
              <a:p>
                <a:pPr>
                  <a:spcBef>
                    <a:spcPts val="1800"/>
                  </a:spcBef>
                </a:pPr>
                <a:r>
                  <a:rPr lang="en-US" b="1" dirty="0"/>
                  <a:t>Cubic splines are piecewise cubic polynomials</a:t>
                </a:r>
                <a:r>
                  <a:rPr lang="en-US" dirty="0"/>
                  <a:t>: flexible functions composed of several polynomial segments </a:t>
                </a:r>
                <a:r>
                  <a:rPr lang="en-US" b="1" dirty="0"/>
                  <a:t>joined</a:t>
                </a:r>
                <a:r>
                  <a:rPr lang="en-US" dirty="0"/>
                  <a:t> together </a:t>
                </a:r>
                <a:r>
                  <a:rPr lang="en-US" b="1" dirty="0"/>
                  <a:t>at</a:t>
                </a:r>
                <a:r>
                  <a:rPr lang="en-US" dirty="0"/>
                  <a:t> specific time points called </a:t>
                </a:r>
                <a:r>
                  <a:rPr lang="en-US" b="1" dirty="0"/>
                  <a:t>knots</a:t>
                </a:r>
                <a:r>
                  <a:rPr lang="en-US" dirty="0"/>
                  <a:t>, each modelling a specific time interval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dirty="0"/>
                  <a:t>Natural or </a:t>
                </a:r>
                <a:r>
                  <a:rPr lang="en-US" b="1" dirty="0"/>
                  <a:t>restricted cubic splines (RCS) </a:t>
                </a:r>
                <a:r>
                  <a:rPr lang="en-US" dirty="0"/>
                  <a:t>are piecewise cubic polynomials, defined to be continuous, with continuous first and second derivatives at the knots, and also constrained to be linear beyond the </a:t>
                </a:r>
                <a:r>
                  <a:rPr lang="en-US" i="1" dirty="0"/>
                  <a:t>boundary knots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placed at the minimum and maximum of the (uncensored) event times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i="1" dirty="0"/>
                  <a:t>Internal</a:t>
                </a:r>
                <a:r>
                  <a:rPr lang="en-US" dirty="0"/>
                  <a:t> </a:t>
                </a:r>
                <a:r>
                  <a:rPr lang="en-US" i="1" dirty="0"/>
                  <a:t>knots</a:t>
                </a:r>
                <a:r>
                  <a:rPr lang="en-US" dirty="0"/>
                  <a:t> are placed at equally spaced centiles of the distribution of event times. Choosing the number of knots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) involves a trade-off between capturing detail and avoiding overfitting.</a:t>
                </a:r>
              </a:p>
              <a:p>
                <a:pPr>
                  <a:spcBef>
                    <a:spcPts val="1800"/>
                  </a:spcBef>
                </a:pPr>
                <a:endParaRPr lang="en-US" dirty="0"/>
              </a:p>
              <a:p>
                <a:pPr marL="0" indent="0">
                  <a:spcBef>
                    <a:spcPts val="1800"/>
                  </a:spcBef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F2048D-88AC-6554-43CA-0AD3876CB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634" y="2078301"/>
                <a:ext cx="11395571" cy="4421741"/>
              </a:xfrm>
              <a:blipFill>
                <a:blip r:embed="rId3"/>
                <a:stretch>
                  <a:fillRect l="-482" t="-6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66A27E-558D-3C42-5076-E09AE1E15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maarit.laaksonen@sydney.edu.au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046AA9-A1DE-EEA6-5061-2E43AFBFC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2490" y="914400"/>
            <a:ext cx="1701876" cy="181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677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03B26-CE02-9E43-DC62-E8AEC5477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A6395-51E3-BD17-D803-D7CC41C18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798" y="888274"/>
            <a:ext cx="10691265" cy="1307592"/>
          </a:xfrm>
        </p:spPr>
        <p:txBody>
          <a:bodyPr>
            <a:normAutofit/>
          </a:bodyPr>
          <a:lstStyle/>
          <a:p>
            <a:r>
              <a:rPr lang="en-US" dirty="0"/>
              <a:t>spline function and basis calculation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E463AE-E814-E557-EB08-EBB52D468D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7812" y="1934608"/>
                <a:ext cx="11251308" cy="442174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be a function of time, typically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dirty="0"/>
                  <a:t> be the boundary knots (minimum and maximum of the (log) event times),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be the location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 </m:t>
                    </m:r>
                  </m:oMath>
                </a14:m>
                <a:r>
                  <a:rPr lang="en-US" dirty="0"/>
                  <a:t>internal knots</a:t>
                </a:r>
              </a:p>
              <a:p>
                <a:r>
                  <a:rPr lang="en-US" b="1" dirty="0"/>
                  <a:t>Spline function: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For an internal knot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the </a:t>
                </a:r>
                <a:r>
                  <a:rPr lang="en-US" i="1" dirty="0" err="1"/>
                  <a:t>j</a:t>
                </a:r>
                <a:r>
                  <a:rPr lang="en-US" dirty="0" err="1"/>
                  <a:t>th</a:t>
                </a:r>
                <a:r>
                  <a:rPr lang="en-US" dirty="0"/>
                  <a:t> </a:t>
                </a:r>
                <a:r>
                  <a:rPr lang="en-US" b="1" dirty="0"/>
                  <a:t>basis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calculated using a combination of cubic terms: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en-US" dirty="0"/>
                  <a:t>, where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equals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, and 0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is a weighting factor, calculated based on the distance between the knots, that forces the cubic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quadratic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components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to sum to zero outside the boundary knots, leaving only a linear slope – this is what makes the cubic spline </a:t>
                </a:r>
                <a:r>
                  <a:rPr lang="en-US" b="1" dirty="0"/>
                  <a:t>restricted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E463AE-E814-E557-EB08-EBB52D468D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7812" y="1934608"/>
                <a:ext cx="11251308" cy="4421741"/>
              </a:xfrm>
              <a:blipFill>
                <a:blip r:embed="rId3"/>
                <a:stretch>
                  <a:fillRect l="-488" t="-551" r="-3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D87AD-D9ED-25DB-EB6F-EB0E21CF0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106686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3959C-03D8-EAEA-3EC4-01F9B6DAC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8BD93-63C3-55FA-4521-F2EDDCFB8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flexible parametric models work?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6BAEAB-91FA-B846-4CBE-011FA10456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Regression splines can be incorporated into any regression model with a linear predictor</a:t>
                </a:r>
              </a:p>
              <a:p>
                <a:r>
                  <a:rPr lang="en-US" dirty="0"/>
                  <a:t>Can be used to model log-cumulative hazard or log-hazard function</a:t>
                </a:r>
              </a:p>
              <a:p>
                <a:pPr>
                  <a:buClr>
                    <a:schemeClr val="bg1"/>
                  </a:buClr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pPr>
                  <a:buClr>
                    <a:schemeClr val="bg1"/>
                  </a:buClr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r>
                  <a:rPr lang="en-US" dirty="0"/>
                  <a:t>Most flexible parametric models (such as the Royston-Parmar model) model the </a:t>
                </a:r>
                <a:r>
                  <a:rPr lang="en-US" b="1" dirty="0"/>
                  <a:t>log-cumulative hazard</a:t>
                </a:r>
                <a:r>
                  <a:rPr lang="en-US" dirty="0"/>
                  <a:t>, as it is easier for a cubic spline to fit a smooth, monotonically increasing curve</a:t>
                </a:r>
              </a:p>
              <a:p>
                <a:r>
                  <a:rPr lang="en-US" dirty="0"/>
                  <a:t>It is often better to use </a:t>
                </a:r>
                <a:r>
                  <a:rPr lang="en-US" b="1" dirty="0"/>
                  <a:t>log(</a:t>
                </a:r>
                <a:r>
                  <a:rPr lang="en-US" b="1" i="1" dirty="0"/>
                  <a:t>t</a:t>
                </a:r>
                <a:r>
                  <a:rPr lang="en-US" b="1" dirty="0"/>
                  <a:t>)</a:t>
                </a:r>
                <a:r>
                  <a:rPr lang="en-US" dirty="0"/>
                  <a:t> rather than </a:t>
                </a:r>
                <a:r>
                  <a:rPr lang="en-US" i="1" dirty="0"/>
                  <a:t>t</a:t>
                </a:r>
              </a:p>
              <a:p>
                <a:pPr lvl="1"/>
                <a:r>
                  <a:rPr lang="en-US" dirty="0"/>
                  <a:t>Log transformation ‘compresses’ the long right tail of survival distribution and ‘stretches’ the early period</a:t>
                </a:r>
              </a:p>
              <a:p>
                <a:pPr lvl="1"/>
                <a:r>
                  <a:rPr lang="en-US" dirty="0"/>
                  <a:t>A linear trend on the log-time scale is more flexible and plausible for extrapolation beyond boundary knots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6BAEAB-91FA-B846-4CBE-011FA10456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56" t="-816" b="-146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3E61B6-E54B-E1FF-A195-783DC0CF5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3388818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93FDE-099C-DA2B-59F8-B9E5D13B0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C2658-9ED5-BFD6-2614-0E9AC195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log-cumulative hazard framework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26409-3388-CE0A-C479-763E81446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Royston and Parmar thus designed their flexible parametric model as a direct extension of the </a:t>
            </a:r>
            <a:r>
              <a:rPr lang="en-US" b="1" dirty="0"/>
              <a:t>Weibull model</a:t>
            </a:r>
            <a:r>
              <a:rPr lang="en-US" dirty="0"/>
              <a:t>, that is linear when you plot the </a:t>
            </a:r>
            <a:r>
              <a:rPr lang="en-US" b="1" dirty="0"/>
              <a:t>log-cumulative hazard </a:t>
            </a:r>
            <a:r>
              <a:rPr lang="en-US" dirty="0"/>
              <a:t>against </a:t>
            </a:r>
            <a:r>
              <a:rPr lang="en-US" b="1" dirty="0"/>
              <a:t>log-time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65A9BA-FC31-D552-EC26-7136E1EF9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2600272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446F5-930D-A1B4-8615-35F26931B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8CED07-49CE-DDB4-7BCC-AE4BB89A9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459" y="2221992"/>
            <a:ext cx="4983494" cy="33615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CE913A-8540-88A2-97DC-D809DC83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7677011" cy="1307592"/>
          </a:xfrm>
        </p:spPr>
        <p:txBody>
          <a:bodyPr/>
          <a:lstStyle/>
          <a:p>
            <a:r>
              <a:rPr lang="en-US" dirty="0"/>
              <a:t>Weibull Model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42DE28-4F0A-6AFD-5DF0-6F886811D2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0635" y="2161308"/>
                <a:ext cx="10691265" cy="404026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2400" dirty="0"/>
                  <a:t>Survival function: </a:t>
                </a:r>
              </a:p>
              <a:p>
                <a:pPr>
                  <a:buClr>
                    <a:schemeClr val="bg1"/>
                  </a:buClr>
                </a:pPr>
                <a14:m>
                  <m:oMath xmlns:m="http://schemas.openxmlformats.org/officeDocument/2006/math">
                    <m:r>
                      <a:rPr lang="en-AU" sz="2400" b="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AU" sz="2400" b="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AU" sz="2400"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AU" sz="2400" b="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AU" sz="24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AU" sz="2400" b="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sup>
                        </m:sSup>
                      </m:e>
                    </m:d>
                    <m:r>
                      <a:rPr lang="en-AU" sz="24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1" dirty="0"/>
              </a:p>
              <a:p>
                <a:pPr>
                  <a:spcBef>
                    <a:spcPts val="1800"/>
                  </a:spcBef>
                </a:pPr>
                <a:r>
                  <a:rPr lang="en-US" sz="2400" dirty="0"/>
                  <a:t>Log cumulative hazard: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</a:endParaRPr>
              </a:p>
              <a:p>
                <a:pPr>
                  <a:buClr>
                    <a:schemeClr val="bg1"/>
                  </a:buCl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AU" sz="240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AU" sz="240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AU" sz="240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𝛾</m:t>
                    </m:r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400" b="1" dirty="0"/>
              </a:p>
              <a:p>
                <a:pPr marL="0" indent="0">
                  <a:buNone/>
                </a:pPr>
                <a:r>
                  <a:rPr lang="en-US" sz="2400" dirty="0">
                    <a:sym typeface="Wingdings" panose="05000000000000000000" pitchFamily="2" charset="2"/>
                  </a:rPr>
                  <a:t>    </a:t>
                </a:r>
                <a:r>
                  <a:rPr lang="en-US" sz="2400" dirty="0"/>
                  <a:t>This is a linear function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400" dirty="0"/>
              </a:p>
              <a:p>
                <a:pPr>
                  <a:spcBef>
                    <a:spcPts val="1800"/>
                  </a:spcBef>
                </a:pPr>
                <a:r>
                  <a:rPr lang="en-US" sz="2400" dirty="0"/>
                  <a:t>Introducing covariates gives: </a:t>
                </a:r>
                <a:endParaRPr lang="en-US" sz="2400" dirty="0">
                  <a:latin typeface="Cambria Math" panose="02040503050406030204" pitchFamily="18" charset="0"/>
                </a:endParaRPr>
              </a:p>
              <a:p>
                <a:pPr>
                  <a:buClr>
                    <a:schemeClr val="bg1"/>
                  </a:buCl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AU" sz="240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𝛾</m:t>
                    </m:r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ym typeface="Wingdings" panose="05000000000000000000" pitchFamily="2" charset="2"/>
                  </a:rPr>
                  <a:t>    </a:t>
                </a:r>
                <a:endParaRPr lang="en-US" sz="2400" b="1" dirty="0"/>
              </a:p>
              <a:p>
                <a:pPr marL="0" indent="0">
                  <a:buNone/>
                </a:pPr>
                <a:endParaRPr lang="en-US" sz="1900" dirty="0"/>
              </a:p>
              <a:p>
                <a:endParaRPr lang="en-US" sz="1900" dirty="0"/>
              </a:p>
              <a:p>
                <a:pPr marL="0" indent="0">
                  <a:buNone/>
                </a:pPr>
                <a:endParaRPr lang="en-US" sz="1900" dirty="0"/>
              </a:p>
              <a:p>
                <a:pPr marL="0" indent="0">
                  <a:buNone/>
                </a:pPr>
                <a:endParaRPr lang="en-US" sz="19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42DE28-4F0A-6AFD-5DF0-6F886811D2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635" y="2161308"/>
                <a:ext cx="10691265" cy="4040262"/>
              </a:xfrm>
              <a:blipFill>
                <a:blip r:embed="rId4"/>
                <a:stretch>
                  <a:fillRect l="-684" t="-18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F6819C-97D4-F6EF-525E-B3DFB4800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1640392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6D5CF-82EE-9E8B-E8B4-AC9AF0BC3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0AFC6-800E-B5CD-BE7B-353F405F3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log-cumulative hazard framework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1EECA6-EE88-DFA6-D229-191C26CD0C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Royston and Parmar thus designed their flexible parametric model as a direct extension of the </a:t>
                </a:r>
                <a:r>
                  <a:rPr lang="en-US" b="1" dirty="0"/>
                  <a:t>Weibull model</a:t>
                </a:r>
                <a:r>
                  <a:rPr lang="en-US" dirty="0"/>
                  <a:t>, that is linear when you plot the </a:t>
                </a:r>
                <a:r>
                  <a:rPr lang="en-US" b="1" dirty="0"/>
                  <a:t>log-cumulative hazard </a:t>
                </a:r>
                <a:r>
                  <a:rPr lang="en-US" dirty="0"/>
                  <a:t>against </a:t>
                </a:r>
                <a:r>
                  <a:rPr lang="en-US" b="1" dirty="0"/>
                  <a:t>log-time</a:t>
                </a:r>
                <a:r>
                  <a:rPr lang="en-US" dirty="0"/>
                  <a:t>:</a:t>
                </a:r>
              </a:p>
              <a:p>
                <a:pPr>
                  <a:buClr>
                    <a:schemeClr val="bg1"/>
                  </a:buCl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AU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Rather than assuming linearity with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:r>
                  <a:rPr lang="en-US" b="1" dirty="0"/>
                  <a:t>flexible parametric models use restricted cubic splines for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>
                  <a:buClr>
                    <a:schemeClr val="bg1"/>
                  </a:buCl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AU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pPr>
                  <a:spcBef>
                    <a:spcPts val="1800"/>
                  </a:spcBef>
                </a:pPr>
                <a:r>
                  <a:rPr lang="en-US" dirty="0"/>
                  <a:t>Using Weibull model as a starting point, FPMs use cubic splines to ‘bend’ that line into more complex shapes, allowing for deviations from the Weibull assumption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dirty="0"/>
                  <a:t>The complexity of the model is governed by the number of knots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1EECA6-EE88-DFA6-D229-191C26CD0C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56" t="-979" b="-4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EBE1D1-5298-9C26-D533-F516FCDD8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3322863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06FE5-45EB-1F2B-C999-791D311F3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556E3-9231-7DD0-41A5-C1ED57E8C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790730" cy="130759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Generalisations</a:t>
            </a:r>
            <a:r>
              <a:rPr lang="en-US" dirty="0"/>
              <a:t> of flexible parametric models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BF05BD-E9DC-5D12-9658-4C2E0BD3D8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0635" y="2221992"/>
                <a:ext cx="11108188" cy="373989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More generally, in flexible parametric models, a </a:t>
                </a:r>
                <a:r>
                  <a:rPr lang="en-US" b="1" dirty="0"/>
                  <a:t>link function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 transforms the survival function so it can be modelled as a </a:t>
                </a:r>
                <a:r>
                  <a:rPr lang="en-US" b="1" dirty="0"/>
                  <a:t>restricted cubic spline function of log-time</a:t>
                </a:r>
                <a:r>
                  <a:rPr lang="en-US" dirty="0"/>
                  <a:t>:</a:t>
                </a:r>
              </a:p>
              <a:p>
                <a:pPr>
                  <a:buClr>
                    <a:schemeClr val="bg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b="1" dirty="0"/>
                  <a:t>Complementary log-log link: </a:t>
                </a:r>
                <a:r>
                  <a:rPr lang="en-US" dirty="0"/>
                  <a:t>Typically we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en-AU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AU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en-A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AU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, the log cumulative hazard, giving a </a:t>
                </a:r>
                <a:r>
                  <a:rPr lang="en-US" b="1" dirty="0"/>
                  <a:t>proportional hazards model</a:t>
                </a:r>
              </a:p>
              <a:p>
                <a:r>
                  <a:rPr lang="en-US" b="1" dirty="0"/>
                  <a:t>Logit link: </a:t>
                </a:r>
                <a:r>
                  <a:rPr lang="en-US" dirty="0"/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AU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en-A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dirty="0"/>
                  <a:t>, log cumulative odds, gives </a:t>
                </a:r>
                <a:r>
                  <a:rPr lang="en-US" b="1" dirty="0"/>
                  <a:t>proportional odds model</a:t>
                </a:r>
              </a:p>
              <a:p>
                <a:r>
                  <a:rPr lang="en-US" b="1" dirty="0"/>
                  <a:t>Probit link: </a:t>
                </a:r>
                <a:r>
                  <a:rPr lang="en-US" dirty="0"/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, inverse normal CDF, gives </a:t>
                </a:r>
                <a:r>
                  <a:rPr lang="en-US" b="1" dirty="0"/>
                  <a:t>normal/probit model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BF05BD-E9DC-5D12-9658-4C2E0BD3D8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635" y="2221992"/>
                <a:ext cx="11108188" cy="3739896"/>
              </a:xfrm>
              <a:blipFill>
                <a:blip r:embed="rId3"/>
                <a:stretch>
                  <a:fillRect l="-494" t="-8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978BCA-169F-6611-1919-BFA4DA0D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3576388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6C571-1224-A91A-EF59-D3082EAD4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28985-AEC0-55EA-6D4C-1A208E4F1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flexible parametric survival models?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03CD9-E602-42AE-3061-ED200BB36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Beyond the other benefits of parametric models, </a:t>
            </a:r>
            <a:r>
              <a:rPr lang="en-US" b="1" dirty="0"/>
              <a:t>flexible</a:t>
            </a:r>
            <a:r>
              <a:rPr lang="en-US" dirty="0"/>
              <a:t> parametric models can capture a </a:t>
            </a:r>
            <a:r>
              <a:rPr lang="en-US" b="1" dirty="0"/>
              <a:t>wider range of hazard shapes </a:t>
            </a:r>
            <a:r>
              <a:rPr lang="en-US" dirty="0"/>
              <a:t>(and thus biological realities) than standard parametric models</a:t>
            </a:r>
          </a:p>
          <a:p>
            <a:r>
              <a:rPr lang="en-US" dirty="0"/>
              <a:t>Often the standard choice when </a:t>
            </a:r>
            <a:r>
              <a:rPr lang="en-US" b="1" dirty="0"/>
              <a:t>proportional hazards fail</a:t>
            </a:r>
            <a:r>
              <a:rPr lang="en-US" dirty="0"/>
              <a:t>, as they easily allow for time-dependent effects (e.g., the impact of a treatment changes over the duration of the study)</a:t>
            </a:r>
          </a:p>
          <a:p>
            <a:r>
              <a:rPr lang="en-US" dirty="0"/>
              <a:t>Because they are fully parametric, they allow for calculation of absolute measures of effect (like absolute risks and rates) which are difficult to obtain from Cox models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When hazard is complex and of interest, single hazard ratio fails to capture the complete story, and/or the proportional hazards assumption is violated or appropriate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6C8E13-D4B0-1005-62CD-F241E3613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3869892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E2CCE-0608-9E58-1463-1DE1D7858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7941F-DC4E-2DDD-3DAD-7ACBD5002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790730" cy="1307592"/>
          </a:xfrm>
        </p:spPr>
        <p:txBody>
          <a:bodyPr>
            <a:normAutofit/>
          </a:bodyPr>
          <a:lstStyle/>
          <a:p>
            <a:r>
              <a:rPr lang="en-US" dirty="0"/>
              <a:t>Modelling time-dependent effects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4765E2-6B44-4AEB-2D5F-4B9FA0A1A8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0635" y="2221992"/>
                <a:ext cx="11108188" cy="373989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Flexible parametric models include the effect of time as covariates in the linear predictor, so time-dependent effects can be included by fitting interactions between the covariate of interest and the covariates defining the effect of time:</a:t>
                </a:r>
              </a:p>
              <a:p>
                <a:pPr>
                  <a:buClr>
                    <a:schemeClr val="bg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+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0" dirty="0"/>
              </a:p>
              <a:p>
                <a:pPr>
                  <a:spcBef>
                    <a:spcPts val="2400"/>
                  </a:spcBef>
                </a:pPr>
                <a:r>
                  <a:rPr lang="en-US" b="0" dirty="0"/>
                  <a:t>This allows </a:t>
                </a:r>
                <a:r>
                  <a:rPr lang="en-US" dirty="0"/>
                  <a:t>the </a:t>
                </a:r>
                <a:r>
                  <a:rPr lang="en-US" b="1" dirty="0"/>
                  <a:t>effect of covariates to vary over time </a:t>
                </a:r>
                <a:r>
                  <a:rPr lang="en-US" dirty="0"/>
                  <a:t>and </a:t>
                </a:r>
                <a:r>
                  <a:rPr lang="en-US" b="0" dirty="0"/>
                  <a:t>us to move beyond restrictive assumptions: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b="1" dirty="0"/>
                  <a:t>PH models: </a:t>
                </a:r>
                <a:r>
                  <a:rPr lang="en-US" dirty="0"/>
                  <a:t>Relaxes the PH assumption, giving a non-proportional hazards model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b="1" dirty="0"/>
                  <a:t>PO models: </a:t>
                </a:r>
                <a:r>
                  <a:rPr lang="en-US" dirty="0"/>
                  <a:t>Relaxes the PO assumption, given a non-proportional odds model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b="1" dirty="0"/>
                  <a:t>Probit/AFT models: </a:t>
                </a:r>
                <a:r>
                  <a:rPr lang="en-US" dirty="0"/>
                  <a:t>Relaxes the AFT assumption, allowing the acceleration factor to vary over time</a:t>
                </a:r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4765E2-6B44-4AEB-2D5F-4B9FA0A1A8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635" y="2221992"/>
                <a:ext cx="11108188" cy="3739896"/>
              </a:xfrm>
              <a:blipFill>
                <a:blip r:embed="rId3"/>
                <a:stretch>
                  <a:fillRect l="-494" t="-979" b="-6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88AEB-987D-0778-5C66-480237518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466451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8691A-0961-2C66-4D46-9B9C9D7A4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95014-2184-F9A4-6FB8-195168688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Royston-</a:t>
            </a:r>
            <a:r>
              <a:rPr lang="en-US" err="1"/>
              <a:t>parmar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ph model </a:t>
            </a:r>
            <a:r>
              <a:rPr lang="en-US"/>
              <a:t>– </a:t>
            </a:r>
            <a:r>
              <a:rPr lang="en-US" dirty="0"/>
              <a:t>r example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C2D8B-D659-41AD-C726-6171AC85A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6" y="1822302"/>
            <a:ext cx="10691265" cy="4303076"/>
          </a:xfrm>
        </p:spPr>
        <p:txBody>
          <a:bodyPr>
            <a:normAutofit lnSpcReduction="10000"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Can be estimated using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flexsurvspline</a:t>
            </a:r>
            <a:r>
              <a:rPr lang="en-US" sz="2400" dirty="0"/>
              <a:t> from 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flexsurv</a:t>
            </a:r>
            <a:r>
              <a:rPr lang="en-US" sz="2400" dirty="0"/>
              <a:t> package:</a:t>
            </a:r>
          </a:p>
          <a:p>
            <a:pPr>
              <a:spcAft>
                <a:spcPts val="1200"/>
              </a:spcAft>
            </a:pPr>
            <a:endParaRPr lang="en-US" dirty="0"/>
          </a:p>
          <a:p>
            <a:pPr>
              <a:spcAft>
                <a:spcPts val="1200"/>
              </a:spcAft>
            </a:pPr>
            <a:endParaRPr lang="en-US" dirty="0"/>
          </a:p>
          <a:p>
            <a:pPr>
              <a:spcAft>
                <a:spcPts val="1200"/>
              </a:spcAft>
            </a:pPr>
            <a:endParaRPr lang="en-US" dirty="0"/>
          </a:p>
          <a:p>
            <a:pPr>
              <a:spcAft>
                <a:spcPts val="1200"/>
              </a:spcAft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Same as the Weibull PH model</a:t>
            </a:r>
          </a:p>
          <a:p>
            <a:pPr>
              <a:spcBef>
                <a:spcPts val="3600"/>
              </a:spcBef>
            </a:pPr>
            <a:endParaRPr lang="en-US" sz="23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CBFD0F-6AE0-DAC6-E38E-086940D82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maarit.laaksonen@sydney.edu.au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D70AD8-287F-9B32-6000-213F545AF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967" y="2221992"/>
            <a:ext cx="7547233" cy="34094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0BF587-273E-4A4C-9822-D676FCCABC18}"/>
              </a:ext>
            </a:extLst>
          </p:cNvPr>
          <p:cNvSpPr txBox="1"/>
          <p:nvPr/>
        </p:nvSpPr>
        <p:spPr>
          <a:xfrm>
            <a:off x="3798296" y="2621682"/>
            <a:ext cx="1575412" cy="4296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24729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6147E-29A3-E2A8-64D8-E896D2D77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D8E4E-F226-2EDC-7948-57DA5850C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Royston-</a:t>
            </a:r>
            <a:r>
              <a:rPr lang="en-US" dirty="0" err="1"/>
              <a:t>parmar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ph</a:t>
            </a:r>
            <a:r>
              <a:rPr lang="en-US" dirty="0">
                <a:solidFill>
                  <a:srgbClr val="FF0000"/>
                </a:solidFill>
              </a:rPr>
              <a:t> model </a:t>
            </a:r>
            <a:r>
              <a:rPr lang="en-US" dirty="0"/>
              <a:t>– r example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1FE12-1D3C-E6CB-F821-E91CBE3AB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6" y="1822302"/>
            <a:ext cx="10691265" cy="4303076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Can be estimated using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flexsurvspline</a:t>
            </a:r>
            <a:r>
              <a:rPr lang="en-US" sz="2400" dirty="0"/>
              <a:t> from 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flexsurv</a:t>
            </a:r>
            <a:r>
              <a:rPr lang="en-US" sz="2400" dirty="0"/>
              <a:t> package:</a:t>
            </a:r>
          </a:p>
          <a:p>
            <a:pPr>
              <a:spcAft>
                <a:spcPts val="1200"/>
              </a:spcAft>
            </a:pPr>
            <a:endParaRPr lang="en-US" dirty="0"/>
          </a:p>
          <a:p>
            <a:pPr>
              <a:spcAft>
                <a:spcPts val="1200"/>
              </a:spcAft>
            </a:pPr>
            <a:endParaRPr lang="en-US" dirty="0"/>
          </a:p>
          <a:p>
            <a:pPr>
              <a:spcAft>
                <a:spcPts val="1200"/>
              </a:spcAft>
            </a:pPr>
            <a:endParaRPr lang="en-US" dirty="0"/>
          </a:p>
          <a:p>
            <a:pPr>
              <a:spcAft>
                <a:spcPts val="1200"/>
              </a:spcAft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ts val="3600"/>
              </a:spcBef>
            </a:pPr>
            <a:endParaRPr lang="en-US" sz="23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69883-6EAF-51BB-4C0E-4FE84E266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maarit.laaksonen@sydney.edu.au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BD5FAB-6F4F-A76A-6FDC-3EA31ECCA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69" y="2270311"/>
            <a:ext cx="8298491" cy="38550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7C558E-41E1-184E-F889-50F5CF280CAF}"/>
              </a:ext>
            </a:extLst>
          </p:cNvPr>
          <p:cNvSpPr txBox="1"/>
          <p:nvPr/>
        </p:nvSpPr>
        <p:spPr>
          <a:xfrm>
            <a:off x="4089401" y="2641600"/>
            <a:ext cx="1689100" cy="488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2026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9736E-1933-E7B1-9BFF-23E56512B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7A2F4-22EA-5A0B-A9B7-14F49A528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Royston-</a:t>
            </a:r>
            <a:r>
              <a:rPr lang="en-US" dirty="0" err="1"/>
              <a:t>parmar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ph</a:t>
            </a:r>
            <a:r>
              <a:rPr lang="en-US" dirty="0">
                <a:solidFill>
                  <a:srgbClr val="FF0000"/>
                </a:solidFill>
              </a:rPr>
              <a:t> model </a:t>
            </a:r>
            <a:r>
              <a:rPr lang="en-US" dirty="0"/>
              <a:t>– r example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D175D-A64F-EF74-5AF0-D4146E155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6" y="1822302"/>
            <a:ext cx="10691265" cy="4303076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Can be estimated using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flexsurvspline</a:t>
            </a:r>
            <a:r>
              <a:rPr lang="en-US" sz="2400" dirty="0"/>
              <a:t> from 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flexsurv</a:t>
            </a:r>
            <a:r>
              <a:rPr lang="en-US" sz="2400" dirty="0"/>
              <a:t> package:</a:t>
            </a:r>
          </a:p>
          <a:p>
            <a:pPr>
              <a:spcAft>
                <a:spcPts val="1200"/>
              </a:spcAft>
            </a:pPr>
            <a:endParaRPr lang="en-US" dirty="0"/>
          </a:p>
          <a:p>
            <a:pPr>
              <a:spcAft>
                <a:spcPts val="1200"/>
              </a:spcAft>
            </a:pPr>
            <a:endParaRPr lang="en-US" dirty="0"/>
          </a:p>
          <a:p>
            <a:pPr>
              <a:spcAft>
                <a:spcPts val="1200"/>
              </a:spcAft>
            </a:pPr>
            <a:endParaRPr lang="en-US" dirty="0"/>
          </a:p>
          <a:p>
            <a:pPr>
              <a:spcAft>
                <a:spcPts val="1200"/>
              </a:spcAft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ts val="3600"/>
              </a:spcBef>
            </a:pPr>
            <a:endParaRPr lang="en-US" sz="23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2861DD-9F41-7CEA-119B-696ABCE0B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maarit.laaksonen@sydney.edu.au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22078F-8228-4C4B-4961-82B8BC947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673" y="2327538"/>
            <a:ext cx="7544428" cy="36922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E0A92C-1BD5-1421-ACBA-1E205543D925}"/>
              </a:ext>
            </a:extLst>
          </p:cNvPr>
          <p:cNvSpPr txBox="1"/>
          <p:nvPr/>
        </p:nvSpPr>
        <p:spPr>
          <a:xfrm>
            <a:off x="3895304" y="2655532"/>
            <a:ext cx="1652531" cy="4296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38916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78A6F-E54B-515B-AE93-DAF462A4A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BACD0-9BAA-88A8-4EBE-F080CFA40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Royston-</a:t>
            </a:r>
            <a:r>
              <a:rPr lang="en-US" dirty="0" err="1"/>
              <a:t>parmar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ph</a:t>
            </a:r>
            <a:r>
              <a:rPr lang="en-US" dirty="0">
                <a:solidFill>
                  <a:srgbClr val="FF0000"/>
                </a:solidFill>
              </a:rPr>
              <a:t> model </a:t>
            </a:r>
            <a:r>
              <a:rPr lang="en-US" dirty="0"/>
              <a:t>– r example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6B2CD-7A40-41BA-AB9E-CE5440A42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6" y="1822302"/>
            <a:ext cx="10691265" cy="4303076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Can be estimated using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flexsurvspline</a:t>
            </a:r>
            <a:r>
              <a:rPr lang="en-US" sz="2400" dirty="0"/>
              <a:t> from 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flexsurv</a:t>
            </a:r>
            <a:r>
              <a:rPr lang="en-US" sz="2400" dirty="0"/>
              <a:t> package:</a:t>
            </a:r>
          </a:p>
          <a:p>
            <a:pPr>
              <a:spcAft>
                <a:spcPts val="1200"/>
              </a:spcAft>
            </a:pPr>
            <a:endParaRPr lang="en-US" dirty="0"/>
          </a:p>
          <a:p>
            <a:pPr>
              <a:spcAft>
                <a:spcPts val="1200"/>
              </a:spcAft>
            </a:pPr>
            <a:endParaRPr lang="en-US" dirty="0"/>
          </a:p>
          <a:p>
            <a:pPr>
              <a:spcAft>
                <a:spcPts val="1200"/>
              </a:spcAft>
            </a:pPr>
            <a:endParaRPr lang="en-US" dirty="0"/>
          </a:p>
          <a:p>
            <a:pPr>
              <a:spcAft>
                <a:spcPts val="1200"/>
              </a:spcAft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ts val="3600"/>
              </a:spcBef>
            </a:pPr>
            <a:endParaRPr lang="en-US" sz="23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ED735-0722-BB7E-3DCF-B386456C0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maarit.laaksonen@sydney.edu.au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8C157-5277-1A70-9172-E8BAD6C974AB}"/>
              </a:ext>
            </a:extLst>
          </p:cNvPr>
          <p:cNvSpPr txBox="1"/>
          <p:nvPr/>
        </p:nvSpPr>
        <p:spPr>
          <a:xfrm>
            <a:off x="3738466" y="2700236"/>
            <a:ext cx="1652531" cy="4296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DC1694-9127-2ADA-C716-FB71E8C66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33" y="2303049"/>
            <a:ext cx="7431868" cy="38223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FD936A-3773-77E2-3670-6C703652D5DE}"/>
              </a:ext>
            </a:extLst>
          </p:cNvPr>
          <p:cNvSpPr txBox="1"/>
          <p:nvPr/>
        </p:nvSpPr>
        <p:spPr>
          <a:xfrm>
            <a:off x="3812752" y="2600893"/>
            <a:ext cx="1503957" cy="4296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8500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85BEF-0414-AC1D-98E7-FAE6603DA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D5505-36F3-ECE2-DDF0-7EF1CB202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790730" cy="1307592"/>
          </a:xfrm>
        </p:spPr>
        <p:txBody>
          <a:bodyPr>
            <a:normAutofit/>
          </a:bodyPr>
          <a:lstStyle/>
          <a:p>
            <a:r>
              <a:rPr lang="en-US" dirty="0"/>
              <a:t>How many knots to use?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3BDFA-D2D5-3749-2A63-5F89E3ADF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58436"/>
            <a:ext cx="11108188" cy="4311010"/>
          </a:xfrm>
        </p:spPr>
        <p:txBody>
          <a:bodyPr>
            <a:normAutofit/>
          </a:bodyPr>
          <a:lstStyle/>
          <a:p>
            <a:r>
              <a:rPr lang="en-US" dirty="0"/>
              <a:t>We can use AIC and BIC to help us select how many knots to use</a:t>
            </a:r>
          </a:p>
          <a:p>
            <a:r>
              <a:rPr lang="en-US" dirty="0"/>
              <a:t>As the Weibull model is nested within the flexible parametric proportional hazards model, we can also use the likelihood ratio test to determine which model provides a better fit for the data:</a:t>
            </a:r>
          </a:p>
          <a:p>
            <a:endParaRPr lang="en-US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r>
              <a:rPr lang="en-US" dirty="0"/>
              <a:t>Usually 2 or 3 knots are enough to capture even more complex hazards</a:t>
            </a:r>
            <a:endParaRPr lang="en-US" b="0" dirty="0"/>
          </a:p>
          <a:p>
            <a:r>
              <a:rPr lang="en-US" b="0" dirty="0"/>
              <a:t>The default </a:t>
            </a:r>
            <a:r>
              <a:rPr lang="en-US" dirty="0"/>
              <a:t>knot positions tend to work fairly well</a:t>
            </a:r>
          </a:p>
          <a:p>
            <a:endParaRPr lang="en-US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CF80E1-A8BF-A8F4-9B8A-988DAEEED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maarit.laaksonen@sydney.edu.au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FB4D90-F484-3A6D-C626-2A4F51D17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606" y="3127992"/>
            <a:ext cx="3686689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838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3F7C0-F975-93A9-B760-A3C3DA876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B5AB8-95FA-AA34-45D1-D17844338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 dirty="0"/>
              <a:t>R Data example 2</a:t>
            </a:r>
            <a:endParaRPr lang="en-AU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09F571-C420-9235-CE33-DABEC0DAA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760" y="2020607"/>
            <a:ext cx="10745152" cy="3739896"/>
          </a:xfrm>
        </p:spPr>
        <p:txBody>
          <a:bodyPr>
            <a:normAutofit/>
          </a:bodyPr>
          <a:lstStyle/>
          <a:p>
            <a:pPr lvl="0"/>
            <a:r>
              <a:rPr lang="en-AU" b="1" dirty="0"/>
              <a:t>Cohort:</a:t>
            </a:r>
            <a:r>
              <a:rPr lang="en-AU" dirty="0"/>
              <a:t> </a:t>
            </a:r>
            <a:r>
              <a:rPr lang="en-US" dirty="0"/>
              <a:t>686 patients with primary node positive breast cancer from the German Breast Cancer Study Group (1984–1989). </a:t>
            </a:r>
          </a:p>
          <a:p>
            <a:pPr lvl="0"/>
            <a:r>
              <a:rPr lang="en-AU" b="1" dirty="0"/>
              <a:t>Primary event:</a:t>
            </a:r>
            <a:r>
              <a:rPr lang="en-AU" dirty="0"/>
              <a:t> Time to recurrence (recurrence-free survival)</a:t>
            </a:r>
          </a:p>
          <a:p>
            <a:pPr lvl="0"/>
            <a:r>
              <a:rPr lang="en-AU" b="1" dirty="0"/>
              <a:t>Censoring:</a:t>
            </a:r>
            <a:r>
              <a:rPr lang="en-AU" dirty="0"/>
              <a:t> </a:t>
            </a:r>
            <a:r>
              <a:rPr lang="en-US" dirty="0"/>
              <a:t>When patients did not experience recurrence or death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9EC658-489B-A25C-92C7-2C5042FE3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45397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1440681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BBB7B-C9DB-EF0A-26E6-B717DA2E4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4F508-F314-9E02-A738-18146EF7B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7"/>
            <a:ext cx="10745151" cy="1307592"/>
          </a:xfrm>
        </p:spPr>
        <p:txBody>
          <a:bodyPr>
            <a:normAutofit/>
          </a:bodyPr>
          <a:lstStyle/>
          <a:p>
            <a:r>
              <a:rPr lang="en-US" dirty="0"/>
              <a:t>R Data example 2</a:t>
            </a:r>
            <a:endParaRPr lang="en-AU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B0826C3-0A43-AC17-EA3B-2D3EF1D23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760" y="1617094"/>
            <a:ext cx="10745151" cy="4739256"/>
          </a:xfrm>
        </p:spPr>
        <p:txBody>
          <a:bodyPr>
            <a:normAutofit/>
          </a:bodyPr>
          <a:lstStyle/>
          <a:p>
            <a:r>
              <a:rPr lang="en-AU" dirty="0"/>
              <a:t>These data are available 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bc</a:t>
            </a:r>
            <a:r>
              <a:rPr lang="en-US" dirty="0"/>
              <a:t> in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flexsurv</a:t>
            </a:r>
            <a:r>
              <a:rPr lang="en-US" dirty="0"/>
              <a:t> package: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ts val="0"/>
              </a:spcBef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rectime</a:t>
            </a:r>
            <a:r>
              <a:rPr lang="en-US" dirty="0"/>
              <a:t>: Recurrence-free survival time in days	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recyrs</a:t>
            </a:r>
            <a:r>
              <a:rPr lang="en-US" dirty="0"/>
              <a:t>: Recurrence-free survival time in years		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censrec</a:t>
            </a:r>
            <a:r>
              <a:rPr lang="en-US" dirty="0"/>
              <a:t>: Recurrence or death / censoring indicator (1 = dead/recurrence, 0 = censored)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group</a:t>
            </a:r>
            <a:r>
              <a:rPr lang="en-US" dirty="0"/>
              <a:t>: A 3-level prognostic factor with levels "Good", "Medium", and "Poor"</a:t>
            </a:r>
          </a:p>
          <a:p>
            <a:pPr marL="0" indent="0">
              <a:buNone/>
            </a:pPr>
            <a:endParaRPr lang="en-US" dirty="0"/>
          </a:p>
          <a:p>
            <a:pPr lvl="0"/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60CD4-633C-FEFD-44F3-9B237FAD5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45397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maarit.laaksonen@sydney.edu.au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2A8D07-C8F7-6C2A-8264-69AAB3B3C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328" y="2032271"/>
            <a:ext cx="3788127" cy="204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58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20AB5-EDC9-33D4-F3C9-92E0CEDA1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24641-7F67-69E0-2E72-B2F9D9B74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7"/>
            <a:ext cx="10745151" cy="1307592"/>
          </a:xfrm>
        </p:spPr>
        <p:txBody>
          <a:bodyPr>
            <a:normAutofit/>
          </a:bodyPr>
          <a:lstStyle/>
          <a:p>
            <a:r>
              <a:rPr lang="en-US" dirty="0"/>
              <a:t>Survival, cumulative hazard and hazard</a:t>
            </a:r>
            <a:endParaRPr lang="en-AU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942C9314-785A-3A21-7AC7-AFBA32FE79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41514" y="1724092"/>
            <a:ext cx="7028761" cy="434688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581FA2-AE1C-382F-A2F7-7340E15FD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45397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2224278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87CBD-4BF8-0946-AE36-BE90B676C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DEBC5-DEF7-3033-6DA0-85C6981CB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Proportional hazards assumption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4806C-C1DA-5E2E-2A11-269DCF269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1703649"/>
            <a:ext cx="10691265" cy="3739896"/>
          </a:xfrm>
        </p:spPr>
        <p:txBody>
          <a:bodyPr>
            <a:normAutofit/>
          </a:bodyPr>
          <a:lstStyle/>
          <a:p>
            <a:r>
              <a:rPr lang="en-US" dirty="0"/>
              <a:t>We can try to fit a Cox model to these data and test the proportional hazards assumption: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23F25C-1D25-B1AB-0647-D1EEE2AB2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maarit.laaksonen@sydney.edu.au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57C09F-79E0-0ABF-3E9E-2E086E9AA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655" y="2171174"/>
            <a:ext cx="4477375" cy="37724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EB1E15-2377-B009-31FC-C8643EF57837}"/>
              </a:ext>
            </a:extLst>
          </p:cNvPr>
          <p:cNvSpPr txBox="1"/>
          <p:nvPr/>
        </p:nvSpPr>
        <p:spPr>
          <a:xfrm>
            <a:off x="2242820" y="5599123"/>
            <a:ext cx="665480" cy="3119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94192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457C3-A28B-99E1-E144-9CD55D95A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B7B68-504F-8274-15D6-4228A1F08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Flexible parametric model (1 knot)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14B14-C0A2-18DA-CD34-619E24D37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2043283"/>
            <a:ext cx="10691265" cy="3739896"/>
          </a:xfrm>
        </p:spPr>
        <p:txBody>
          <a:bodyPr>
            <a:normAutofit/>
          </a:bodyPr>
          <a:lstStyle/>
          <a:p>
            <a:r>
              <a:rPr lang="en-US" dirty="0"/>
              <a:t>We can fit a FPM with time-dependent effect, by adding a term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gamma1(group)</a:t>
            </a:r>
            <a:r>
              <a:rPr lang="en-US" dirty="0"/>
              <a:t>to the model: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7D310F-D818-B5FE-262C-63AA67EF5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maarit.laaksonen@sydney.edu.au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25EC47-8B55-F426-0A31-B46653100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263" y="2540294"/>
            <a:ext cx="8087838" cy="35726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B84FA7-0D69-3C54-05D9-D0150182C578}"/>
              </a:ext>
            </a:extLst>
          </p:cNvPr>
          <p:cNvSpPr txBox="1"/>
          <p:nvPr/>
        </p:nvSpPr>
        <p:spPr>
          <a:xfrm>
            <a:off x="6871063" y="4580709"/>
            <a:ext cx="2339038" cy="6879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690C7D-66A0-59E5-E284-7CCE1E93C627}"/>
              </a:ext>
            </a:extLst>
          </p:cNvPr>
          <p:cNvSpPr txBox="1"/>
          <p:nvPr/>
        </p:nvSpPr>
        <p:spPr>
          <a:xfrm>
            <a:off x="1122263" y="5856640"/>
            <a:ext cx="1420640" cy="256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B4AE09-FC6D-95CC-D411-9E14FF692259}"/>
              </a:ext>
            </a:extLst>
          </p:cNvPr>
          <p:cNvSpPr txBox="1"/>
          <p:nvPr/>
        </p:nvSpPr>
        <p:spPr>
          <a:xfrm>
            <a:off x="4389120" y="2672251"/>
            <a:ext cx="487680" cy="2458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85179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852B1-A81B-6B3A-C937-C21B0A69A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5A364-B69F-7752-9BBF-7FE825F25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Flexible parametric model (2 knots)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1DC8C-A599-8E47-FFC4-BD5B3BD1B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2043283"/>
            <a:ext cx="10691265" cy="3739896"/>
          </a:xfrm>
        </p:spPr>
        <p:txBody>
          <a:bodyPr>
            <a:normAutofit/>
          </a:bodyPr>
          <a:lstStyle/>
          <a:p>
            <a:r>
              <a:rPr lang="en-US" dirty="0"/>
              <a:t>We can fit a FPM with time-dependent effect, by adding a term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gamma1(group)</a:t>
            </a:r>
            <a:r>
              <a:rPr lang="en-US" dirty="0"/>
              <a:t>to the model: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7F4598-9652-409A-687E-B033C1F15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maarit.laaksonen@sydney.edu.au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7BA301-50ED-A109-06D4-AACCF8A5B992}"/>
              </a:ext>
            </a:extLst>
          </p:cNvPr>
          <p:cNvSpPr txBox="1"/>
          <p:nvPr/>
        </p:nvSpPr>
        <p:spPr>
          <a:xfrm>
            <a:off x="4245639" y="2795163"/>
            <a:ext cx="487680" cy="2458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1C628B-4865-8FC6-0EA9-2A5D4334F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28" y="2568946"/>
            <a:ext cx="7845568" cy="35722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8A0109-FA79-2240-F85E-ACB40BB59CFE}"/>
              </a:ext>
            </a:extLst>
          </p:cNvPr>
          <p:cNvSpPr txBox="1"/>
          <p:nvPr/>
        </p:nvSpPr>
        <p:spPr>
          <a:xfrm>
            <a:off x="4175604" y="2672251"/>
            <a:ext cx="487680" cy="2458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89F049-14CC-1F40-D670-C344D4388638}"/>
              </a:ext>
            </a:extLst>
          </p:cNvPr>
          <p:cNvSpPr txBox="1"/>
          <p:nvPr/>
        </p:nvSpPr>
        <p:spPr>
          <a:xfrm>
            <a:off x="1122263" y="5856640"/>
            <a:ext cx="1420640" cy="256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0245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F2CC4-8A74-E03E-7346-06033AA16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6D1C0-A513-61ED-47F4-D36B1DCDB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Flexible parametric model (3 knots)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1B7C5-B46B-A42E-1CA5-950FEAB41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2043283"/>
            <a:ext cx="10691265" cy="3739896"/>
          </a:xfrm>
        </p:spPr>
        <p:txBody>
          <a:bodyPr>
            <a:normAutofit/>
          </a:bodyPr>
          <a:lstStyle/>
          <a:p>
            <a:r>
              <a:rPr lang="en-US" dirty="0"/>
              <a:t>We can fit a FPM with time-dependent effect, by adding a term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gamma1(group)</a:t>
            </a:r>
            <a:r>
              <a:rPr lang="en-US" dirty="0"/>
              <a:t>to the model: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D86F17-00D0-894A-C69E-1BEBB4C3B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maarit.laaksonen@sydney.edu.au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6F788F-347A-DC67-CAFA-9AE4839EF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790" y="2486483"/>
            <a:ext cx="7560518" cy="36547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630D78-1785-012D-D4CC-14CA97AEC2C1}"/>
              </a:ext>
            </a:extLst>
          </p:cNvPr>
          <p:cNvSpPr txBox="1"/>
          <p:nvPr/>
        </p:nvSpPr>
        <p:spPr>
          <a:xfrm>
            <a:off x="4135731" y="2622013"/>
            <a:ext cx="436269" cy="2533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C88D7E-D10F-F8BF-7439-837BDF71643D}"/>
              </a:ext>
            </a:extLst>
          </p:cNvPr>
          <p:cNvSpPr txBox="1"/>
          <p:nvPr/>
        </p:nvSpPr>
        <p:spPr>
          <a:xfrm>
            <a:off x="1122263" y="5856640"/>
            <a:ext cx="1420640" cy="256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2EC391-EC0F-0FE1-24C2-DD9B9FC46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494" y="2486482"/>
            <a:ext cx="1982306" cy="350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43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0E9C-7F57-5D50-F5B4-07FEABEB1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DD19E-0812-ECE6-59CA-2B88E9FD2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7"/>
            <a:ext cx="10745151" cy="1307592"/>
          </a:xfrm>
        </p:spPr>
        <p:txBody>
          <a:bodyPr>
            <a:normAutofit/>
          </a:bodyPr>
          <a:lstStyle/>
          <a:p>
            <a:r>
              <a:rPr lang="en-US" dirty="0"/>
              <a:t>Survival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B78016-7996-CABC-357F-AC522C45C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45397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maarit.laaksonen@sydney.edu.au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4417A1A-603B-97FE-34E3-FCD705F826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63103" y="1598383"/>
            <a:ext cx="7033771" cy="434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980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D12B3-4336-6F7B-52A7-E5C23F5D4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7F53-A99A-C0AA-3C92-5CD97F6BE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7"/>
            <a:ext cx="10745151" cy="1307592"/>
          </a:xfrm>
        </p:spPr>
        <p:txBody>
          <a:bodyPr>
            <a:normAutofit/>
          </a:bodyPr>
          <a:lstStyle/>
          <a:p>
            <a:r>
              <a:rPr lang="en-US" dirty="0"/>
              <a:t>hazard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D6AF71-C51F-5F16-2A6F-74285C8AD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45397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maarit.laaksonen@sydney.edu.au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0D903B-CE51-DD41-E941-DFEB5614A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41513" y="1710638"/>
            <a:ext cx="7102861" cy="439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945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EA10B-BDBC-6112-80D6-7054EF95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7B9A1-166E-29C7-388C-7B05AABEC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7"/>
            <a:ext cx="10745151" cy="1307592"/>
          </a:xfrm>
        </p:spPr>
        <p:txBody>
          <a:bodyPr>
            <a:normAutofit/>
          </a:bodyPr>
          <a:lstStyle/>
          <a:p>
            <a:r>
              <a:rPr lang="en-US" dirty="0"/>
              <a:t>Cumulative hazard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52C39-A1D5-DF60-E32C-C77552107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45397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maarit.laaksonen@sydney.edu.au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4F472C8-63B2-7868-0D0E-9C1DFC4F8A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82187" y="1641190"/>
            <a:ext cx="6959419" cy="430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533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DA135-F36B-D3CC-F04B-C12CB782D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A5199-6D19-5028-1C0F-FA016F952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B44DD-F9C9-E335-E562-4635F85A7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dirty="0"/>
              <a:t>Flexible parametric models bridge the flexibility of a Cox model and the mathematical completeness of a parametric model</a:t>
            </a:r>
          </a:p>
          <a:p>
            <a:pPr>
              <a:spcBef>
                <a:spcPts val="1800"/>
              </a:spcBef>
            </a:pPr>
            <a:r>
              <a:rPr lang="en-US" dirty="0"/>
              <a:t>The use of restricted cubic splines allows for modelling complex hazard shapes</a:t>
            </a:r>
          </a:p>
          <a:p>
            <a:pPr>
              <a:spcBef>
                <a:spcPts val="1800"/>
              </a:spcBef>
            </a:pPr>
            <a:r>
              <a:rPr lang="en-US" dirty="0"/>
              <a:t>While they provide the hazard ratio, they also allow you calculate absolute risks and extrapolate survival beyond the observed follow-up period</a:t>
            </a:r>
          </a:p>
          <a:p>
            <a:pPr>
              <a:spcBef>
                <a:spcPts val="1800"/>
              </a:spcBef>
            </a:pPr>
            <a:r>
              <a:rPr lang="en-US" dirty="0"/>
              <a:t>If proportional hazards assumption is violated, time-dependent effects can be easily integrated into the spline framework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CBB9C7-20F5-EEBE-F123-4C80B63C4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270815312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7e1a7db-20cf-4fcd-a242-f50c3d60dab7" xsi:nil="true"/>
    <lcf76f155ced4ddcb4097134ff3c332f xmlns="e148f953-5c83-413e-8261-29f3d6ceccd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694B62C85BB0468228B1561B8B6144" ma:contentTypeVersion="10" ma:contentTypeDescription="Create a new document." ma:contentTypeScope="" ma:versionID="b87d74f3fc9d8ac7d261f90a3a435aaf">
  <xsd:schema xmlns:xsd="http://www.w3.org/2001/XMLSchema" xmlns:xs="http://www.w3.org/2001/XMLSchema" xmlns:p="http://schemas.microsoft.com/office/2006/metadata/properties" xmlns:ns2="e148f953-5c83-413e-8261-29f3d6ceccd1" xmlns:ns3="27e1a7db-20cf-4fcd-a242-f50c3d60dab7" targetNamespace="http://schemas.microsoft.com/office/2006/metadata/properties" ma:root="true" ma:fieldsID="1fbe19035635b9683302da697f378511" ns2:_="" ns3:_="">
    <xsd:import namespace="e148f953-5c83-413e-8261-29f3d6ceccd1"/>
    <xsd:import namespace="27e1a7db-20cf-4fcd-a242-f50c3d60da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48f953-5c83-413e-8261-29f3d6cecc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492977-2dea-498c-99b4-1555f3d0d9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e1a7db-20cf-4fcd-a242-f50c3d60dab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7479d35-172f-463d-9eeb-bb5f7befd090}" ma:internalName="TaxCatchAll" ma:showField="CatchAllData" ma:web="27e1a7db-20cf-4fcd-a242-f50c3d60da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C9A8AD-557A-4702-BC6A-F140127A014B}">
  <ds:schemaRefs>
    <ds:schemaRef ds:uri="http://schemas.microsoft.com/office/infopath/2007/PartnerControls"/>
    <ds:schemaRef ds:uri="e148f953-5c83-413e-8261-29f3d6ceccd1"/>
    <ds:schemaRef ds:uri="http://schemas.microsoft.com/office/2006/documentManagement/types"/>
    <ds:schemaRef ds:uri="http://purl.org/dc/elements/1.1/"/>
    <ds:schemaRef ds:uri="http://purl.org/dc/terms/"/>
    <ds:schemaRef ds:uri="http://www.w3.org/XML/1998/namespace"/>
    <ds:schemaRef ds:uri="http://purl.org/dc/dcmitype/"/>
    <ds:schemaRef ds:uri="http://schemas.openxmlformats.org/package/2006/metadata/core-properties"/>
    <ds:schemaRef ds:uri="27e1a7db-20cf-4fcd-a242-f50c3d60dab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834ECE4-0113-424E-9568-C65F867EF2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48f953-5c83-413e-8261-29f3d6ceccd1"/>
    <ds:schemaRef ds:uri="27e1a7db-20cf-4fcd-a242-f50c3d60da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03B2B4-6094-439F-8571-18BD93F5B46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2b3e37e-8171-485d-b10b-38dae7ed14a8}" enabled="0" method="" siteId="{82b3e37e-8171-485d-b10b-38dae7ed14a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16945</TotalTime>
  <Words>2378</Words>
  <Application>Microsoft Office PowerPoint</Application>
  <PresentationFormat>Widescreen</PresentationFormat>
  <Paragraphs>231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Aptos</vt:lpstr>
      <vt:lpstr>Arial</vt:lpstr>
      <vt:lpstr>Calisto MT</vt:lpstr>
      <vt:lpstr>Cambria Math</vt:lpstr>
      <vt:lpstr>Courier New</vt:lpstr>
      <vt:lpstr>Univers Condensed</vt:lpstr>
      <vt:lpstr>Wingdings</vt:lpstr>
      <vt:lpstr>ChronicleVTI</vt:lpstr>
      <vt:lpstr>PowerPoint Presentation</vt:lpstr>
      <vt:lpstr>What is a flexible parametric survival model?</vt:lpstr>
      <vt:lpstr>Key concepts </vt:lpstr>
      <vt:lpstr>spline function and basis calculation</vt:lpstr>
      <vt:lpstr>How do flexible parametric models work?</vt:lpstr>
      <vt:lpstr>The log-cumulative hazard framework</vt:lpstr>
      <vt:lpstr>Weibull Model </vt:lpstr>
      <vt:lpstr>The log-cumulative hazard framework</vt:lpstr>
      <vt:lpstr>Generalisations of flexible parametric models</vt:lpstr>
      <vt:lpstr>Why flexible parametric survival models?</vt:lpstr>
      <vt:lpstr>Modelling time-dependent effects</vt:lpstr>
      <vt:lpstr>Royston-parmar ph model – r example</vt:lpstr>
      <vt:lpstr>Royston-parmar ph model – r example</vt:lpstr>
      <vt:lpstr>Royston-parmar ph model – r example</vt:lpstr>
      <vt:lpstr>Royston-parmar ph model – r example</vt:lpstr>
      <vt:lpstr>How many knots to use?</vt:lpstr>
      <vt:lpstr>R Data example 2</vt:lpstr>
      <vt:lpstr>R Data example 2</vt:lpstr>
      <vt:lpstr>Survival, cumulative hazard and hazard</vt:lpstr>
      <vt:lpstr>Proportional hazards assumption</vt:lpstr>
      <vt:lpstr>Flexible parametric model (1 knot)</vt:lpstr>
      <vt:lpstr>Flexible parametric model (2 knots)</vt:lpstr>
      <vt:lpstr>Flexible parametric model (3 knots)</vt:lpstr>
      <vt:lpstr>Survival</vt:lpstr>
      <vt:lpstr>hazard</vt:lpstr>
      <vt:lpstr>Cumulative hazard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Farzaneh Boroumand</dc:creator>
  <cp:lastModifiedBy>Maarit Laaksonen</cp:lastModifiedBy>
  <cp:revision>257</cp:revision>
  <cp:lastPrinted>2026-01-19T05:47:50Z</cp:lastPrinted>
  <dcterms:created xsi:type="dcterms:W3CDTF">2025-03-26T05:12:06Z</dcterms:created>
  <dcterms:modified xsi:type="dcterms:W3CDTF">2026-02-26T05:18:49Z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0x010100C9694B62C85BB0468228B1561B8B6144</vt:lpwstr>
  </property>
</Properties>
</file>