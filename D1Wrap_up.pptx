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337" r:id="rId2"/>
    <p:sldId id="338" r:id="rId3"/>
    <p:sldId id="339" r:id="rId4"/>
    <p:sldId id="334" r:id="rId5"/>
    <p:sldId id="335" r:id="rId6"/>
    <p:sldId id="336" r:id="rId7"/>
    <p:sldId id="34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44" y="10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CB91D0-BCB0-49FB-A3AD-41A1B104EE3C}" type="datetimeFigureOut">
              <a:rPr lang="en-AU" smtClean="0"/>
              <a:t>24/02/2026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96D2C6-385E-4627-A931-BA34880DC7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4686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61BF14-442A-4806-9528-3CAE044062F5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1063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DD6BC-E21B-A3D4-4F93-49B27B495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60D0D-8C0A-79DC-FD37-6610C70058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BC6B60-6CE2-ABE2-57EE-62600B41D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DAB8D-3A30-C81A-B6DF-47FCED67A6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61BF14-442A-4806-9528-3CAE044062F5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1251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FF9D7-AA7D-3DEF-AEF5-28A2FD204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8CC4E6-9045-E4DF-D9F2-ECAD85906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265A66-C655-D123-A354-EF96F15CFA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9D521-4EB6-3BB7-5613-E6D235F74B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61BF14-442A-4806-9528-3CAE044062F5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3764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61BF14-442A-4806-9528-3CAE044062F5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991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BC94D-779F-A432-2858-83738B533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D357B-118C-2371-E6EC-2C39440D5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D8C59F-8C47-3810-18A9-8262222792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D7144-7721-B02E-728C-A576B3433F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61BF14-442A-4806-9528-3CAE044062F5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9753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BC2AF-CFC0-FAF6-4BAE-80EF5C2F8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AD2C8A-59E1-5FC0-359C-3024F05142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356B98-BFA3-9EBB-79C4-7160957DA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1325D-8BD6-88F0-A3CC-1E1588B69B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61BF14-442A-4806-9528-3CAE044062F5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8859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7FD07-5C23-29FF-C375-FDAFBB82B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29A0A-E4F2-016D-4A6D-5C22BA8EF2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051011-EF9B-2B72-8027-85666C6A3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B6224-677B-50EA-D872-515EB3D52A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61BF14-442A-4806-9528-3CAE044062F5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0567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07255-DA02-4530-9828-3BA6ED96C1C3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170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861B4-C1BA-4ADF-8938-996090D0E67D}" type="datetime1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Farzaneh.Boroumand@Sydney.edu.au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036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890F9-FBC5-4F12-8C1A-CD683D10173A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801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7677-CF8B-43CB-8FF1-87208B11E777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041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14F02-9106-4F69-8BAE-CFDA6DD342EB}" type="datetime1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448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91F09-08C8-411F-8F49-BC96DB8D2F04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53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CE28E-C0FE-48C5-AD71-6AC36A33E79A}" type="datetime1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60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3BFC-3CDF-426F-8D4D-1621D25F610A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807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3AF84-2327-4C45-A2AF-6088E826580A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743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846BF-BBDD-41F4-90BD-365E67260397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29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DE3D6-2707-4668-8E8F-345A14A0BA7D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631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6DA19E5A-9F18-4DF6-B1AD-BE9DBAA0BA38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Farzaneh.Boroumand@Sydney.edu.au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5809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5E1C21-982A-FC98-8499-54401FCBC6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1862" y="1595659"/>
            <a:ext cx="5322013" cy="1624689"/>
          </a:xfrm>
        </p:spPr>
        <p:txBody>
          <a:bodyPr>
            <a:normAutofit/>
          </a:bodyPr>
          <a:lstStyle/>
          <a:p>
            <a:r>
              <a:rPr lang="en-AU" b="1" dirty="0"/>
              <a:t>Day 1 Wrap-up</a:t>
            </a:r>
            <a:endParaRPr lang="en-AU" dirty="0"/>
          </a:p>
          <a:p>
            <a:endParaRPr lang="en-AU" dirty="0"/>
          </a:p>
          <a:p>
            <a:r>
              <a:rPr lang="en-AU" sz="1800" dirty="0"/>
              <a:t>Maarit Laaksonen</a:t>
            </a:r>
          </a:p>
        </p:txBody>
      </p:sp>
      <p:pic>
        <p:nvPicPr>
          <p:cNvPr id="4" name="Picture 3" descr="Gradient pastel colors on a top view">
            <a:extLst>
              <a:ext uri="{FF2B5EF4-FFF2-40B4-BE49-F238E27FC236}">
                <a16:creationId xmlns:a16="http://schemas.microsoft.com/office/drawing/2014/main" id="{DE43E167-39D2-B9D0-F0F9-10C431DBC8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752" r="15781" b="-1"/>
          <a:stretch/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2B189-5082-4F0F-939F-9A3A398CF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maarit.laaksonen@sydney.edu.au</a:t>
            </a:r>
          </a:p>
        </p:txBody>
      </p:sp>
    </p:spTree>
    <p:extLst>
      <p:ext uri="{BB962C8B-B14F-4D97-AF65-F5344CB8AC3E}">
        <p14:creationId xmlns:p14="http://schemas.microsoft.com/office/powerpoint/2010/main" val="2661774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B546D-C982-81CC-38BC-2B05A8203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BEE35-96F0-85DE-D80E-74C18464B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 the standard cox model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36A60-EAD3-790C-325A-7F0BCFD0D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319963"/>
            <a:ext cx="11088594" cy="4134358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dirty="0"/>
              <a:t>What are our options if Cox PH assumption is violated?</a:t>
            </a:r>
            <a:endParaRPr lang="en-US" b="1" dirty="0"/>
          </a:p>
          <a:p>
            <a:pPr>
              <a:spcBef>
                <a:spcPts val="1800"/>
              </a:spcBef>
            </a:pPr>
            <a:r>
              <a:rPr lang="en-US" dirty="0"/>
              <a:t>How can joint modelling improve upon standard Cox modelling (time-varying covariates)?</a:t>
            </a:r>
            <a:endParaRPr lang="en-US" i="1" dirty="0"/>
          </a:p>
          <a:p>
            <a:pPr>
              <a:spcBef>
                <a:spcPts val="1800"/>
              </a:spcBef>
            </a:pPr>
            <a:r>
              <a:rPr lang="en-US" dirty="0"/>
              <a:t>How can parametric survival models complement Cox modelling (estimating the baseline hazard)?</a:t>
            </a:r>
          </a:p>
          <a:p>
            <a:pPr>
              <a:spcBef>
                <a:spcPts val="1800"/>
              </a:spcBef>
            </a:pPr>
            <a:r>
              <a:rPr lang="en-US" dirty="0"/>
              <a:t>How can flexible parametric survival models bridge the gap between standard parametric models and semi-parametric Cox model?</a:t>
            </a:r>
          </a:p>
          <a:p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F580-5E43-E172-6D97-B4634C5C5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29AB1">
                    <a:lumMod val="75000"/>
                  </a:srgbClr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maarit.laaksonen@sydney.edu.au</a:t>
            </a:r>
          </a:p>
        </p:txBody>
      </p:sp>
    </p:spTree>
    <p:extLst>
      <p:ext uri="{BB962C8B-B14F-4D97-AF65-F5344CB8AC3E}">
        <p14:creationId xmlns:p14="http://schemas.microsoft.com/office/powerpoint/2010/main" val="3141021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ECC09-70A5-42D9-6DDE-4709E33D6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EF242-9A24-AAF4-9F65-78F06763C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968851" cy="1307592"/>
          </a:xfrm>
        </p:spPr>
        <p:txBody>
          <a:bodyPr>
            <a:normAutofit fontScale="90000"/>
          </a:bodyPr>
          <a:lstStyle/>
          <a:p>
            <a:r>
              <a:rPr lang="en-US" dirty="0"/>
              <a:t>When the ‘standard’ cox model is not enough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83696-656E-BA1F-C9F4-CC076F316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319963"/>
            <a:ext cx="11132136" cy="4134358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dirty="0"/>
              <a:t>While the Cox model is robust because it does not require specifying the baseline hazard, it relies on the </a:t>
            </a:r>
            <a:r>
              <a:rPr lang="en-US" b="1" dirty="0"/>
              <a:t>proportional hazards (PH) assumption </a:t>
            </a:r>
            <a:r>
              <a:rPr lang="en-US" dirty="0"/>
              <a:t>– that hazards remain constant over time</a:t>
            </a:r>
            <a:endParaRPr lang="en-US" b="1" dirty="0"/>
          </a:p>
          <a:p>
            <a:pPr>
              <a:spcBef>
                <a:spcPts val="1800"/>
              </a:spcBef>
            </a:pPr>
            <a:r>
              <a:rPr lang="en-US" dirty="0"/>
              <a:t>Strategies for PH violation:</a:t>
            </a:r>
          </a:p>
          <a:p>
            <a:pPr lvl="1">
              <a:spcBef>
                <a:spcPts val="1800"/>
              </a:spcBef>
            </a:pPr>
            <a:r>
              <a:rPr lang="en-US" b="1" dirty="0"/>
              <a:t>Stratification: </a:t>
            </a:r>
            <a:r>
              <a:rPr lang="en-US" dirty="0"/>
              <a:t>Useful when a categorical variable (e.g., donor type) strongly affects risk but you do not need its explicit hazard ratio</a:t>
            </a:r>
          </a:p>
          <a:p>
            <a:pPr lvl="1">
              <a:spcBef>
                <a:spcPts val="1800"/>
              </a:spcBef>
            </a:pPr>
            <a:r>
              <a:rPr lang="en-US" b="1" dirty="0"/>
              <a:t>Time-varying effects:</a:t>
            </a:r>
            <a:r>
              <a:rPr lang="en-US" dirty="0"/>
              <a:t> Essential when the </a:t>
            </a:r>
            <a:r>
              <a:rPr lang="en-US" i="1" dirty="0"/>
              <a:t>impact </a:t>
            </a:r>
            <a:r>
              <a:rPr lang="en-US" dirty="0"/>
              <a:t>of a covariate (e.g., treatment) changes over time</a:t>
            </a:r>
          </a:p>
          <a:p>
            <a:pPr lvl="1">
              <a:spcBef>
                <a:spcPts val="1800"/>
              </a:spcBef>
            </a:pPr>
            <a:r>
              <a:rPr lang="en-US" b="1" dirty="0"/>
              <a:t>Extended Cox with time-varying covariates: </a:t>
            </a:r>
            <a:r>
              <a:rPr lang="en-US" dirty="0"/>
              <a:t>Necessary when a covariate’s </a:t>
            </a:r>
            <a:r>
              <a:rPr lang="en-US" i="1" dirty="0"/>
              <a:t>value</a:t>
            </a:r>
            <a:r>
              <a:rPr lang="en-US" dirty="0"/>
              <a:t> itself changes over time</a:t>
            </a:r>
          </a:p>
          <a:p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317F09-236F-8F51-2A67-EB65A6EE7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29AB1">
                    <a:lumMod val="75000"/>
                  </a:srgbClr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maarit.laaksonen@sydney.edu.au</a:t>
            </a:r>
          </a:p>
        </p:txBody>
      </p:sp>
    </p:spTree>
    <p:extLst>
      <p:ext uri="{BB962C8B-B14F-4D97-AF65-F5344CB8AC3E}">
        <p14:creationId xmlns:p14="http://schemas.microsoft.com/office/powerpoint/2010/main" val="672705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92378-04EE-7A9C-48F1-466FFB800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5B948-BB79-0538-CA2A-7BB0863D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1393394" cy="1307592"/>
          </a:xfrm>
        </p:spPr>
        <p:txBody>
          <a:bodyPr>
            <a:normAutofit fontScale="90000"/>
          </a:bodyPr>
          <a:lstStyle/>
          <a:p>
            <a:r>
              <a:rPr lang="en-US" dirty="0"/>
              <a:t>Beyond external predictors with joint modelling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930CC-4FE5-EFEC-EE0F-7C88C7444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2079570"/>
            <a:ext cx="10691265" cy="4276780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dirty="0"/>
              <a:t>Standard models assume time-varying covariates are “external”. In reality, covariates (like eGFR) can be </a:t>
            </a:r>
            <a:r>
              <a:rPr lang="en-US" b="1" dirty="0"/>
              <a:t>internal</a:t>
            </a:r>
            <a:r>
              <a:rPr lang="en-US" dirty="0"/>
              <a:t> – they both predict the event (graft failure) and are affected by the failing graft process</a:t>
            </a:r>
            <a:endParaRPr lang="en-US" b="1" dirty="0"/>
          </a:p>
          <a:p>
            <a:pPr>
              <a:spcBef>
                <a:spcPts val="1800"/>
              </a:spcBef>
            </a:pPr>
            <a:r>
              <a:rPr lang="en-US" b="1" dirty="0"/>
              <a:t>Joint models </a:t>
            </a:r>
            <a:r>
              <a:rPr lang="en-US" dirty="0"/>
              <a:t>reduce bias by </a:t>
            </a:r>
            <a:r>
              <a:rPr lang="en-US" i="1" dirty="0"/>
              <a:t>simultaneously</a:t>
            </a:r>
            <a:r>
              <a:rPr lang="en-US" dirty="0"/>
              <a:t> modelling the longitudinal trajectory (e.g., linear mixed-effects model for eGFR) and the time-to-event outcome (e.g., Cox model for graft failure)</a:t>
            </a:r>
          </a:p>
          <a:p>
            <a:pPr lvl="1">
              <a:spcBef>
                <a:spcPts val="1800"/>
              </a:spcBef>
            </a:pPr>
            <a:r>
              <a:rPr lang="en-US" dirty="0"/>
              <a:t>Addresses bias from </a:t>
            </a:r>
            <a:r>
              <a:rPr lang="en-US" b="1" dirty="0"/>
              <a:t>internal time-dependent covariates</a:t>
            </a:r>
          </a:p>
          <a:p>
            <a:pPr lvl="1">
              <a:spcBef>
                <a:spcPts val="1800"/>
              </a:spcBef>
            </a:pPr>
            <a:r>
              <a:rPr lang="en-US" dirty="0"/>
              <a:t>Accounts for </a:t>
            </a:r>
            <a:r>
              <a:rPr lang="en-US" b="1" dirty="0"/>
              <a:t>measurement error</a:t>
            </a:r>
            <a:r>
              <a:rPr lang="en-US" dirty="0"/>
              <a:t> in the covariate 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en-US" dirty="0">
                <a:sym typeface="Wingdings" panose="05000000000000000000" pitchFamily="2" charset="2"/>
              </a:rPr>
              <a:t> Improved precision and efficiency</a:t>
            </a:r>
            <a:endParaRPr lang="en-US" dirty="0"/>
          </a:p>
          <a:p>
            <a:pPr marL="0" indent="0">
              <a:spcBef>
                <a:spcPts val="1800"/>
              </a:spcBef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F0FA53-AA3B-3A92-329E-DB2C25FBD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29AB1">
                    <a:lumMod val="75000"/>
                  </a:srgbClr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maarit.laaksonen@sydney.edu.au</a:t>
            </a:r>
          </a:p>
        </p:txBody>
      </p:sp>
    </p:spTree>
    <p:extLst>
      <p:ext uri="{BB962C8B-B14F-4D97-AF65-F5344CB8AC3E}">
        <p14:creationId xmlns:p14="http://schemas.microsoft.com/office/powerpoint/2010/main" val="669011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2534B-F5C7-F4D6-737C-05CA4BF93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B0D97-2556-F768-24D2-E6226615A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Beyond hazard ratio with parametric models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63322-0E98-A194-CBA9-385263A31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047821"/>
            <a:ext cx="11393394" cy="4134358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dirty="0"/>
              <a:t>The </a:t>
            </a:r>
            <a:r>
              <a:rPr lang="en-US" b="1" dirty="0"/>
              <a:t>unspecified baseline hazard </a:t>
            </a:r>
            <a:r>
              <a:rPr lang="en-US" dirty="0"/>
              <a:t>in a Cox model is a double-edged sword: it avoids wrong assumptions about the shape of risk, but it prevents the model from providing </a:t>
            </a:r>
            <a:r>
              <a:rPr lang="en-US" b="1" dirty="0"/>
              <a:t>absolute risks</a:t>
            </a:r>
            <a:endParaRPr lang="en-US" dirty="0"/>
          </a:p>
          <a:p>
            <a:pPr>
              <a:spcBef>
                <a:spcPts val="1800"/>
              </a:spcBef>
            </a:pPr>
            <a:r>
              <a:rPr lang="en-US" b="1" dirty="0"/>
              <a:t>Parametric models </a:t>
            </a:r>
            <a:r>
              <a:rPr lang="en-US" dirty="0"/>
              <a:t>fully specify the hazard function and the survival function, including the baseline hazard, and therefore allow for the estimation of </a:t>
            </a:r>
            <a:r>
              <a:rPr lang="en-US" b="1" dirty="0"/>
              <a:t>absolute risks </a:t>
            </a:r>
            <a:r>
              <a:rPr lang="en-US" dirty="0"/>
              <a:t>and </a:t>
            </a:r>
            <a:r>
              <a:rPr lang="en-US" b="1" dirty="0"/>
              <a:t>extrapolation</a:t>
            </a:r>
          </a:p>
          <a:p>
            <a:pPr>
              <a:spcBef>
                <a:spcPts val="1800"/>
              </a:spcBef>
            </a:pPr>
            <a:r>
              <a:rPr lang="en-US" dirty="0"/>
              <a:t>It is very important to make sure the </a:t>
            </a:r>
            <a:r>
              <a:rPr lang="en-US" b="1" dirty="0"/>
              <a:t>distributional assumptions </a:t>
            </a:r>
            <a:r>
              <a:rPr lang="en-US" dirty="0"/>
              <a:t>hold – if they do, parametric models can </a:t>
            </a:r>
            <a:r>
              <a:rPr lang="en-US" b="1" dirty="0"/>
              <a:t>improve</a:t>
            </a:r>
            <a:r>
              <a:rPr lang="en-US" dirty="0"/>
              <a:t> </a:t>
            </a:r>
            <a:r>
              <a:rPr lang="en-US" b="1" dirty="0"/>
              <a:t>precision</a:t>
            </a:r>
            <a:r>
              <a:rPr lang="en-US" dirty="0"/>
              <a:t> compared to semi-parametric models</a:t>
            </a:r>
            <a:endParaRPr lang="en-US" i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AEB1B5-19A8-DB82-DE97-E7E1D9CB3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29AB1">
                    <a:lumMod val="75000"/>
                  </a:srgbClr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maarit.laaksonen@sydney.edu.au</a:t>
            </a:r>
          </a:p>
        </p:txBody>
      </p:sp>
    </p:spTree>
    <p:extLst>
      <p:ext uri="{BB962C8B-B14F-4D97-AF65-F5344CB8AC3E}">
        <p14:creationId xmlns:p14="http://schemas.microsoft.com/office/powerpoint/2010/main" val="1995059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B1123-21D4-1945-1174-59DE0EF5F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A8888-8131-E3B7-5741-E646F0887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6" y="914400"/>
            <a:ext cx="10468108" cy="1307592"/>
          </a:xfrm>
        </p:spPr>
        <p:txBody>
          <a:bodyPr>
            <a:normAutofit fontScale="90000"/>
          </a:bodyPr>
          <a:lstStyle/>
          <a:p>
            <a:r>
              <a:rPr lang="en-US" dirty="0"/>
              <a:t>Flexible parametric models – the best of both worlds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6EEC1-A8E4-95E8-57C0-79729548F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319963"/>
            <a:ext cx="10968851" cy="4134358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dirty="0"/>
              <a:t>Flexible parametric models provide the </a:t>
            </a:r>
            <a:r>
              <a:rPr lang="en-US" b="1" dirty="0"/>
              <a:t>flexibility</a:t>
            </a:r>
            <a:r>
              <a:rPr lang="en-US" dirty="0"/>
              <a:t> of a Cox model with the </a:t>
            </a:r>
            <a:r>
              <a:rPr lang="en-US" b="1" dirty="0"/>
              <a:t>analytical power </a:t>
            </a:r>
            <a:r>
              <a:rPr lang="en-US" dirty="0"/>
              <a:t>(absolute risks, extrapolation) of a parametric model</a:t>
            </a:r>
          </a:p>
          <a:p>
            <a:pPr lvl="1">
              <a:spcBef>
                <a:spcPts val="1800"/>
              </a:spcBef>
            </a:pPr>
            <a:r>
              <a:rPr lang="en-US" dirty="0"/>
              <a:t>They give you HR – and a whole lot more</a:t>
            </a:r>
          </a:p>
          <a:p>
            <a:pPr>
              <a:spcBef>
                <a:spcPts val="1800"/>
              </a:spcBef>
            </a:pPr>
            <a:r>
              <a:rPr lang="en-US" dirty="0"/>
              <a:t>By using (restricted cubic) splines, they allow for modelling </a:t>
            </a:r>
            <a:r>
              <a:rPr lang="en-US" b="1" dirty="0"/>
              <a:t>complex hazard functions</a:t>
            </a:r>
          </a:p>
          <a:p>
            <a:pPr>
              <a:spcBef>
                <a:spcPts val="1800"/>
              </a:spcBef>
            </a:pPr>
            <a:r>
              <a:rPr lang="en-US" dirty="0"/>
              <a:t>If the proportional hazards assumption is violated, time-dependent effects can be easily integrated into the spline framework</a:t>
            </a:r>
          </a:p>
          <a:p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A9E679-4CC4-4EE0-F7E4-7534C7CA1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29AB1">
                    <a:lumMod val="75000"/>
                  </a:srgbClr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maarit.laaksonen@sydney.edu.au</a:t>
            </a:r>
          </a:p>
        </p:txBody>
      </p:sp>
    </p:spTree>
    <p:extLst>
      <p:ext uri="{BB962C8B-B14F-4D97-AF65-F5344CB8AC3E}">
        <p14:creationId xmlns:p14="http://schemas.microsoft.com/office/powerpoint/2010/main" val="1278440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C9E20-9322-A1BB-5E7E-117972A08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B78B-61FF-DAE7-B846-9AD5C7F16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Tomorrow: Beyond </a:t>
            </a:r>
            <a:r>
              <a:rPr lang="en-US"/>
              <a:t>binary outcomes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70E34-287E-E1A4-E681-51DE7F6B0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319963"/>
            <a:ext cx="11088594" cy="4134358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US" dirty="0"/>
              <a:t>What if people are removed from the risk set due to reasons other than the event of interest or uninformative censoring (</a:t>
            </a:r>
            <a:r>
              <a:rPr lang="en-US" b="1" dirty="0"/>
              <a:t>competing risks</a:t>
            </a:r>
            <a:r>
              <a:rPr lang="en-US" dirty="0"/>
              <a:t>)?</a:t>
            </a:r>
            <a:endParaRPr lang="en-US" b="1" dirty="0"/>
          </a:p>
          <a:p>
            <a:pPr>
              <a:spcBef>
                <a:spcPts val="1800"/>
              </a:spcBef>
            </a:pPr>
            <a:r>
              <a:rPr lang="en-US" dirty="0"/>
              <a:t>How can </a:t>
            </a:r>
            <a:r>
              <a:rPr lang="en-US" b="1" dirty="0"/>
              <a:t>flexible parametric approaches </a:t>
            </a:r>
            <a:r>
              <a:rPr lang="en-US" dirty="0"/>
              <a:t>improve standard modelling of competing risks?</a:t>
            </a:r>
            <a:endParaRPr lang="en-US" i="1" dirty="0"/>
          </a:p>
          <a:p>
            <a:pPr>
              <a:spcBef>
                <a:spcPts val="1800"/>
              </a:spcBef>
            </a:pPr>
            <a:r>
              <a:rPr lang="en-US" dirty="0"/>
              <a:t>What if people experience </a:t>
            </a:r>
            <a:r>
              <a:rPr lang="en-US" b="1" dirty="0"/>
              <a:t>semi-competing risks or intermediate events </a:t>
            </a:r>
            <a:r>
              <a:rPr lang="en-US" dirty="0"/>
              <a:t>that do not preclude the primary event but may change the risk of the primary event (</a:t>
            </a:r>
            <a:r>
              <a:rPr lang="en-US" b="1" dirty="0"/>
              <a:t>multi-state modelling</a:t>
            </a:r>
            <a:r>
              <a:rPr lang="en-US" dirty="0"/>
              <a:t>)?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FAB9A0-1A48-35F7-2666-EB112989A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29AB1">
                    <a:lumMod val="75000"/>
                  </a:srgbClr>
                </a:solidFill>
                <a:effectLst/>
                <a:uLnTx/>
                <a:uFillTx/>
                <a:latin typeface="Univers Condensed"/>
                <a:ea typeface="+mn-ea"/>
                <a:cs typeface="+mn-cs"/>
              </a:rPr>
              <a:t>maarit.laaksonen@sydney.edu.au</a:t>
            </a:r>
          </a:p>
        </p:txBody>
      </p:sp>
    </p:spTree>
    <p:extLst>
      <p:ext uri="{BB962C8B-B14F-4D97-AF65-F5344CB8AC3E}">
        <p14:creationId xmlns:p14="http://schemas.microsoft.com/office/powerpoint/2010/main" val="396615682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582</Words>
  <Application>Microsoft Office PowerPoint</Application>
  <PresentationFormat>Widescreen</PresentationFormat>
  <Paragraphs>51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Calisto MT</vt:lpstr>
      <vt:lpstr>Univers Condensed</vt:lpstr>
      <vt:lpstr>Wingdings</vt:lpstr>
      <vt:lpstr>ChronicleVTI</vt:lpstr>
      <vt:lpstr>PowerPoint Presentation</vt:lpstr>
      <vt:lpstr>beyond the standard cox model</vt:lpstr>
      <vt:lpstr>When the ‘standard’ cox model is not enough</vt:lpstr>
      <vt:lpstr>Beyond external predictors with joint modelling</vt:lpstr>
      <vt:lpstr>Beyond hazard ratio with parametric models</vt:lpstr>
      <vt:lpstr>Flexible parametric models – the best of both worlds</vt:lpstr>
      <vt:lpstr>Tomorrow: Beyond binary 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Maarit Laaksonen</dc:creator>
  <cp:lastModifiedBy>Maarit Laaksonen</cp:lastModifiedBy>
  <cp:revision>16</cp:revision>
  <dcterms:created xsi:type="dcterms:W3CDTF">2026-02-24T00:02:59Z</dcterms:created>
  <dcterms:modified xsi:type="dcterms:W3CDTF">2026-02-24T11:14:05Z</dcterms:modified>
</cp:coreProperties>
</file>