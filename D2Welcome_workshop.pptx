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4"/>
    <p:sldMasterId id="2147483713" r:id="rId5"/>
    <p:sldMasterId id="2147483720" r:id="rId6"/>
    <p:sldMasterId id="2147483725" r:id="rId7"/>
    <p:sldMasterId id="2147483648" r:id="rId8"/>
    <p:sldMasterId id="2147483753" r:id="rId9"/>
  </p:sldMasterIdLst>
  <p:notesMasterIdLst>
    <p:notesMasterId r:id="rId16"/>
  </p:notesMasterIdLst>
  <p:sldIdLst>
    <p:sldId id="520" r:id="rId10"/>
    <p:sldId id="540" r:id="rId11"/>
    <p:sldId id="564" r:id="rId12"/>
    <p:sldId id="2147471031" r:id="rId13"/>
    <p:sldId id="2147471028" r:id="rId14"/>
    <p:sldId id="2147471029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D3551D-6E56-3115-7C93-54B8F2867FCD}" name="Dawn Leyland" initials="" userId="S::dawn.leyland@sydney.edu.au::0156b27b-d76c-496f-804d-eaf682773965" providerId="AD"/>
  <p188:author id="{B9ADBDA8-FF4E-24E2-FA2D-2D70436F6A6D}" name="Andrew Brettell" initials="AB" userId="S::andrew.brettell@sydney.edu.au::f44c2514-c849-4e7a-8552-86c664d14e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E1"/>
    <a:srgbClr val="414141"/>
    <a:srgbClr val="000000"/>
    <a:srgbClr val="873D35"/>
    <a:srgbClr val="8F9EC9"/>
    <a:srgbClr val="1A345E"/>
    <a:srgbClr val="DA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2DDA62-0B47-4AC0-8E89-6771C0D27224}" v="13" dt="2026-02-24T03:49:08.40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7288" autoAdjust="0"/>
  </p:normalViewPr>
  <p:slideViewPr>
    <p:cSldViewPr snapToGrid="0">
      <p:cViewPr varScale="1">
        <p:scale>
          <a:sx n="121" d="100"/>
          <a:sy n="121" d="100"/>
        </p:scale>
        <p:origin x="12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microsoft.com/office/2018/10/relationships/authors" Target="authors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De La Mata" userId="878a281c-078f-44b6-973f-8ffac8d417e1" providerId="ADAL" clId="{79196F8A-5B65-4817-BD1C-5897143AED69}"/>
    <pc:docChg chg="undo custSel delSld modSld">
      <pc:chgData name="Nicole De La Mata" userId="878a281c-078f-44b6-973f-8ffac8d417e1" providerId="ADAL" clId="{79196F8A-5B65-4817-BD1C-5897143AED69}" dt="2026-02-24T03:49:08.409" v="580"/>
      <pc:docMkLst>
        <pc:docMk/>
      </pc:docMkLst>
      <pc:sldChg chg="del">
        <pc:chgData name="Nicole De La Mata" userId="878a281c-078f-44b6-973f-8ffac8d417e1" providerId="ADAL" clId="{79196F8A-5B65-4817-BD1C-5897143AED69}" dt="2026-02-24T03:48:40.329" v="578" actId="47"/>
        <pc:sldMkLst>
          <pc:docMk/>
          <pc:sldMk cId="0" sldId="256"/>
        </pc:sldMkLst>
      </pc:sldChg>
      <pc:sldChg chg="addSp modSp mod modAnim">
        <pc:chgData name="Nicole De La Mata" userId="878a281c-078f-44b6-973f-8ffac8d417e1" providerId="ADAL" clId="{79196F8A-5B65-4817-BD1C-5897143AED69}" dt="2026-02-24T03:48:32.217" v="577"/>
        <pc:sldMkLst>
          <pc:docMk/>
          <pc:sldMk cId="2202192967" sldId="564"/>
        </pc:sldMkLst>
        <pc:spChg chg="mod">
          <ac:chgData name="Nicole De La Mata" userId="878a281c-078f-44b6-973f-8ffac8d417e1" providerId="ADAL" clId="{79196F8A-5B65-4817-BD1C-5897143AED69}" dt="2026-02-24T03:41:25.220" v="39" actId="20577"/>
          <ac:spMkLst>
            <pc:docMk/>
            <pc:sldMk cId="2202192967" sldId="564"/>
            <ac:spMk id="2" creationId="{60BD6F1D-0FE8-16BF-DCBD-92011D03BE45}"/>
          </ac:spMkLst>
        </pc:spChg>
        <pc:spChg chg="add mod">
          <ac:chgData name="Nicole De La Mata" userId="878a281c-078f-44b6-973f-8ffac8d417e1" providerId="ADAL" clId="{79196F8A-5B65-4817-BD1C-5897143AED69}" dt="2026-02-24T03:48:11.274" v="573" actId="207"/>
          <ac:spMkLst>
            <pc:docMk/>
            <pc:sldMk cId="2202192967" sldId="564"/>
            <ac:spMk id="3" creationId="{1B62D66C-A491-7A20-10A5-6DD00AB690FB}"/>
          </ac:spMkLst>
        </pc:spChg>
      </pc:sldChg>
      <pc:sldChg chg="del">
        <pc:chgData name="Nicole De La Mata" userId="878a281c-078f-44b6-973f-8ffac8d417e1" providerId="ADAL" clId="{79196F8A-5B65-4817-BD1C-5897143AED69}" dt="2026-02-24T03:48:40.329" v="578" actId="47"/>
        <pc:sldMkLst>
          <pc:docMk/>
          <pc:sldMk cId="2798968644" sldId="565"/>
        </pc:sldMkLst>
      </pc:sldChg>
      <pc:sldChg chg="del">
        <pc:chgData name="Nicole De La Mata" userId="878a281c-078f-44b6-973f-8ffac8d417e1" providerId="ADAL" clId="{79196F8A-5B65-4817-BD1C-5897143AED69}" dt="2026-02-24T03:48:40.329" v="578" actId="47"/>
        <pc:sldMkLst>
          <pc:docMk/>
          <pc:sldMk cId="3168694182" sldId="566"/>
        </pc:sldMkLst>
      </pc:sldChg>
      <pc:sldChg chg="del">
        <pc:chgData name="Nicole De La Mata" userId="878a281c-078f-44b6-973f-8ffac8d417e1" providerId="ADAL" clId="{79196F8A-5B65-4817-BD1C-5897143AED69}" dt="2026-02-24T03:48:40.329" v="578" actId="47"/>
        <pc:sldMkLst>
          <pc:docMk/>
          <pc:sldMk cId="465445906" sldId="2147471025"/>
        </pc:sldMkLst>
      </pc:sldChg>
      <pc:sldChg chg="del">
        <pc:chgData name="Nicole De La Mata" userId="878a281c-078f-44b6-973f-8ffac8d417e1" providerId="ADAL" clId="{79196F8A-5B65-4817-BD1C-5897143AED69}" dt="2026-02-24T03:48:40.329" v="578" actId="47"/>
        <pc:sldMkLst>
          <pc:docMk/>
          <pc:sldMk cId="2299737844" sldId="2147471026"/>
        </pc:sldMkLst>
      </pc:sldChg>
      <pc:sldChg chg="del">
        <pc:chgData name="Nicole De La Mata" userId="878a281c-078f-44b6-973f-8ffac8d417e1" providerId="ADAL" clId="{79196F8A-5B65-4817-BD1C-5897143AED69}" dt="2026-02-24T03:48:42.845" v="579" actId="47"/>
        <pc:sldMkLst>
          <pc:docMk/>
          <pc:sldMk cId="1863171297" sldId="2147471027"/>
        </pc:sldMkLst>
      </pc:sldChg>
      <pc:sldChg chg="modAnim">
        <pc:chgData name="Nicole De La Mata" userId="878a281c-078f-44b6-973f-8ffac8d417e1" providerId="ADAL" clId="{79196F8A-5B65-4817-BD1C-5897143AED69}" dt="2026-02-24T03:49:08.409" v="580"/>
        <pc:sldMkLst>
          <pc:docMk/>
          <pc:sldMk cId="2115156895" sldId="2147471028"/>
        </pc:sldMkLst>
      </pc:sldChg>
      <pc:sldChg chg="del">
        <pc:chgData name="Nicole De La Mata" userId="878a281c-078f-44b6-973f-8ffac8d417e1" providerId="ADAL" clId="{79196F8A-5B65-4817-BD1C-5897143AED69}" dt="2026-02-24T03:48:40.329" v="578" actId="47"/>
        <pc:sldMkLst>
          <pc:docMk/>
          <pc:sldMk cId="487747739" sldId="21474710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53762-C138-0D4D-98BD-E45749408A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451B1-F1C2-C342-9482-CA419A1AF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1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A6E2-4CA9-87FE-BC70-7B0089C4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6F3C4-81BC-664C-4BD8-026E4E3D2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1DB1B-0D3B-39A6-2A47-08BBB568E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BD52A-835C-3D6D-180C-48469BFB3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3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C6AD-F869-C222-3021-74962478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C9A05-0D5D-50BD-AD39-03542167D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E2ADC-9870-1982-8575-24CE4600D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AB03B-EE39-D10A-61BA-5D7E54249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00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0C8F-8C5D-52BD-7B58-3C2DE1FF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2D8A3-3ABF-C02D-0284-F5D7D7493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2CA90-7939-C538-5D2E-767118B00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7C414-3532-58E1-1478-2168459E7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" y="1812923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/>
              <a:t>Presentation subheading </a:t>
            </a:r>
            <a:br>
              <a:rPr lang="en-GB"/>
            </a:br>
            <a:r>
              <a:rPr lang="en-GB"/>
              <a:t>can go over 2 lines 28pt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3108324"/>
            <a:ext cx="5533967" cy="6064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11BDAC-8640-232C-8AA9-58B28238E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3986813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9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1813272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7C8522-1D1F-6885-6C75-3131D1B98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943350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0" y="0"/>
            <a:ext cx="915531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5406CF-7A89-E373-E12A-6D0F46DD3D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3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6D37ED-27E5-AE93-0796-AAE7687CBB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39797D-3238-5637-CDB3-B336C7726E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5A468-BEE5-4DEF-FEB5-93F5619DC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55181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 algn="l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088DD-1084-A341-27B4-5A10814D6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2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64325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University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Sydney’s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Camperdown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sits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Gadigal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people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with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campuses,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teaching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research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facilities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4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2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Gamaraygal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Dharug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Wangal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Darkinyung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10" err="1">
                <a:latin typeface="Arial"/>
                <a:cs typeface="Arial"/>
              </a:rPr>
              <a:t>Burramadagal</a:t>
            </a:r>
            <a:r>
              <a:rPr lang="en-AU" sz="1800" spc="-10">
                <a:latin typeface="Arial"/>
                <a:cs typeface="Arial"/>
              </a:rPr>
              <a:t>, </a:t>
            </a:r>
            <a:r>
              <a:rPr lang="en-AU" sz="1800" err="1">
                <a:latin typeface="Arial"/>
                <a:cs typeface="Arial"/>
              </a:rPr>
              <a:t>Dharawal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Gandangara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Gamilaraay,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Barkindji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Bundjalung,</a:t>
            </a:r>
            <a:r>
              <a:rPr lang="en-AU" sz="1800" spc="-10">
                <a:latin typeface="Arial"/>
                <a:cs typeface="Arial"/>
              </a:rPr>
              <a:t> Wiradjuri, </a:t>
            </a:r>
            <a:r>
              <a:rPr lang="en-AU" sz="1800" err="1">
                <a:latin typeface="Arial"/>
                <a:cs typeface="Arial"/>
              </a:rPr>
              <a:t>Ngunawal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Gagadju</a:t>
            </a:r>
            <a:r>
              <a:rPr lang="en-AU" sz="1800" spc="-10">
                <a:latin typeface="Arial"/>
                <a:cs typeface="Arial"/>
              </a:rPr>
              <a:t> peoples.</a:t>
            </a:r>
            <a:endParaRPr lang="en-AU" sz="1800"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E6B5EA-D71E-5840-6F2F-FE964EA7C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984068"/>
            <a:ext cx="5511800" cy="15114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00" i="0">
                <a:latin typeface="Arial"/>
                <a:cs typeface="Arial"/>
              </a:rPr>
              <a:t>Add in own text for Acknowledgement of Country 18pt</a:t>
            </a:r>
            <a:endParaRPr lang="en-AU" sz="1800" i="0" spc="-20">
              <a:latin typeface="Arial"/>
              <a:cs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8E0A38-BB43-C185-B50B-304F295C5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4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4546F0-922A-43AF-F76C-2BA2453F5BBF}"/>
              </a:ext>
            </a:extLst>
          </p:cNvPr>
          <p:cNvSpPr txBox="1">
            <a:spLocks/>
          </p:cNvSpPr>
          <p:nvPr userDrawn="1"/>
        </p:nvSpPr>
        <p:spPr>
          <a:xfrm>
            <a:off x="571501" y="1200150"/>
            <a:ext cx="3055937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Supporting you with: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Co-curricular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Academic &amp; Learning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Health, Disability &amp; Wellbeing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Sexual Misconduct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Financial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Bullying &amp; Harassment</a:t>
            </a:r>
          </a:p>
        </p:txBody>
      </p:sp>
      <p:pic>
        <p:nvPicPr>
          <p:cNvPr id="5" name="Picture Placeholder 3" descr="Four people walking through the main entrance to the Quadrangle.">
            <a:extLst>
              <a:ext uri="{FF2B5EF4-FFF2-40B4-BE49-F238E27FC236}">
                <a16:creationId xmlns:a16="http://schemas.microsoft.com/office/drawing/2014/main" id="{F7ED3CB8-A125-3F6D-F9F2-DF091420B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2083" y="0"/>
            <a:ext cx="4581917" cy="5143500"/>
          </a:xfrm>
          <a:prstGeom prst="rect">
            <a:avLst/>
          </a:prstGeom>
          <a:solidFill>
            <a:schemeClr val="bg2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1C8724-13AD-A382-B9BF-D29BD4103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0" y="4019550"/>
            <a:ext cx="759557" cy="759557"/>
            <a:chOff x="3514529" y="3257550"/>
            <a:chExt cx="759557" cy="7595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F48B21-6483-89F4-DD27-36BC12586B71}"/>
                </a:ext>
              </a:extLst>
            </p:cNvPr>
            <p:cNvSpPr/>
            <p:nvPr/>
          </p:nvSpPr>
          <p:spPr>
            <a:xfrm>
              <a:off x="3514529" y="3257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118CC9F0-CBFB-6D99-0F0D-E855F5D4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9478" y="3273668"/>
              <a:ext cx="729658" cy="727319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8B58231-720A-3A7A-2505-4957ADE7A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448" y="590550"/>
            <a:ext cx="4010635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Student </a:t>
            </a:r>
            <a:r>
              <a:rPr lang="en-US" i="1"/>
              <a:t>Life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21CAD2-32FB-6D33-26E6-599142AFFE16}"/>
              </a:ext>
            </a:extLst>
          </p:cNvPr>
          <p:cNvSpPr txBox="1">
            <a:spLocks/>
          </p:cNvSpPr>
          <p:nvPr userDrawn="1"/>
        </p:nvSpPr>
        <p:spPr>
          <a:xfrm>
            <a:off x="571501" y="1581150"/>
            <a:ext cx="4671350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Informed by our University experts and addressing our unique needs as a place of work, study and research: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Supporting health: </a:t>
            </a:r>
            <a:r>
              <a:rPr lang="en-US" sz="1300"/>
              <a:t>staff health support services, including return to work and workplace adjustments, counselling and coaching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Preventing harm: </a:t>
            </a:r>
            <a:r>
              <a:rPr lang="en-US" sz="1300"/>
              <a:t>psychosocial hazards, leader-specific toolkits, Fitness Passport and our flu vaccination program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Promoting thriving: </a:t>
            </a:r>
            <a:r>
              <a:rPr lang="en-US" sz="1300"/>
              <a:t>health and wellbeing events, learning and development, Wellbeing Champions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93E48-6357-3857-6034-2F2978854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45754" y="4019550"/>
            <a:ext cx="759557" cy="759557"/>
            <a:chOff x="5257800" y="4019550"/>
            <a:chExt cx="759557" cy="759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D3BC1C-AEEF-7D31-694C-745B778D56B5}"/>
                </a:ext>
              </a:extLst>
            </p:cNvPr>
            <p:cNvSpPr/>
            <p:nvPr/>
          </p:nvSpPr>
          <p:spPr>
            <a:xfrm>
              <a:off x="5257800" y="4019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0F239-AC4D-1E3F-298B-AEDB82F15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0989" y="4045581"/>
              <a:ext cx="707494" cy="707493"/>
            </a:xfrm>
            <a:prstGeom prst="rect">
              <a:avLst/>
            </a:prstGeom>
          </p:spPr>
        </p:pic>
      </p:grpSp>
      <p:pic>
        <p:nvPicPr>
          <p:cNvPr id="8" name="Picture Placeholder 3" descr="A group of people sitting at a table in the Quadrangle lawns during a function, with others standing in the background.">
            <a:extLst>
              <a:ext uri="{FF2B5EF4-FFF2-40B4-BE49-F238E27FC236}">
                <a16:creationId xmlns:a16="http://schemas.microsoft.com/office/drawing/2014/main" id="{99AB24B3-5E38-51B7-4D53-F7F15C8665AD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6298" y="0"/>
            <a:ext cx="3097702" cy="51435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E58CD4-2C75-EAAC-D753-D83D3C3E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667" y="578461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Staff Health and </a:t>
            </a:r>
            <a:br>
              <a:rPr lang="en-US"/>
            </a:br>
            <a:r>
              <a:rPr lang="en-US"/>
              <a:t>Wellbeing Program </a:t>
            </a:r>
            <a:r>
              <a:rPr lang="en-US" i="1"/>
              <a:t>2023-2026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A2F580-458B-6978-E5C4-D439F8A8EF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DE63B7-3D2D-E116-E58F-2358C7026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931C68-5A57-D921-2A9C-73B3990F8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0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367AE0-0B1A-C793-8FD0-6C83B3BAF9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1066835-3577-7EA9-7C60-12C9BC765B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1239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1">
                <a:latin typeface="Times" pitchFamily="2" charset="0"/>
              </a:rPr>
              <a:t>1-2 lines of copy</a:t>
            </a:r>
          </a:p>
          <a:p>
            <a:pPr marL="12700">
              <a:spcBef>
                <a:spcPts val="100"/>
              </a:spcBef>
            </a:pP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AAED2F-1B70-12A0-8666-145503BFB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3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latin typeface="Times" pitchFamily="2" charset="0"/>
              </a:rPr>
              <a:t>1-2 lines of copy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3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break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22D78-7BA7-65B0-0EEE-0A792B433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B0E7B-FB3B-69F1-A14A-171E812F8A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FD17E9-68CF-24D2-3900-A8DF3B5883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break 3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43B30-F643-5953-909F-59DB30DAE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D8F6FB-2C1C-F109-DF00-59FF9854A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68A364-34D1-6159-0A81-A0137190A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D41BF0-E578-6B9F-D0D8-21CBFD4A1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01303"/>
            <a:ext cx="5083630" cy="9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2FA554D-90A4-9E1C-B3B1-C4E7FD2E6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14550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9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356158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3491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1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3333750"/>
            <a:ext cx="5829300" cy="100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65" y="-960120"/>
            <a:ext cx="9144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9144000" cy="3028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28950"/>
            <a:ext cx="9144000" cy="71436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85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40647"/>
            <a:ext cx="9144000" cy="459740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47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13" y="1657350"/>
            <a:ext cx="3152775" cy="2362200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buNone/>
              <a:defRPr sz="10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000" b="1">
                <a:latin typeface="Arial"/>
                <a:cs typeface="Arial"/>
              </a:rPr>
              <a:t>Insert team/discipline </a:t>
            </a:r>
            <a:r>
              <a:rPr lang="en-AU" sz="1000" b="1" spc="-20">
                <a:latin typeface="Arial"/>
                <a:cs typeface="Arial"/>
              </a:rPr>
              <a:t>area</a:t>
            </a:r>
            <a:endParaRPr lang="en-AU" sz="100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Name</a:t>
            </a:r>
            <a:r>
              <a:rPr lang="en-AU" sz="1000" spc="-20">
                <a:latin typeface="Arial"/>
                <a:cs typeface="Arial"/>
              </a:rPr>
              <a:t> </a:t>
            </a:r>
            <a:r>
              <a:rPr lang="en-AU" sz="1000" spc="-10">
                <a:latin typeface="Arial"/>
                <a:cs typeface="Arial"/>
              </a:rPr>
              <a:t>Surname Title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+61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2</a:t>
            </a:r>
            <a:r>
              <a:rPr lang="en-AU" sz="1000" spc="-5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1234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 spc="-20">
                <a:latin typeface="Arial"/>
                <a:cs typeface="Arial"/>
              </a:rPr>
              <a:t>5678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spc="-10">
                <a:latin typeface="Arial"/>
                <a:cs typeface="Arial"/>
                <a:hlinkClick r:id="rId2"/>
              </a:rPr>
              <a:t>first.last@sydney.edu.au</a:t>
            </a:r>
            <a:endParaRPr lang="en-AU"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b="1" spc="-10" err="1">
                <a:latin typeface="Arial"/>
                <a:cs typeface="Arial"/>
              </a:rPr>
              <a:t>sydney.edu.au</a:t>
            </a:r>
            <a:r>
              <a:rPr lang="en-AU" sz="1000" b="1" spc="-10">
                <a:latin typeface="Arial"/>
                <a:cs typeface="Arial"/>
              </a:rPr>
              <a:t>/</a:t>
            </a:r>
            <a:r>
              <a:rPr lang="en-AU" sz="1000" b="1" spc="-10" err="1">
                <a:latin typeface="Arial"/>
                <a:cs typeface="Arial"/>
              </a:rPr>
              <a:t>xxxx</a:t>
            </a:r>
            <a:endParaRPr lang="en-AU"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91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46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74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129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33641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73710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270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44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400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093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78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704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78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3331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98124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8108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647319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59012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574887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226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334476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92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85512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8456319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143423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42950"/>
            <a:ext cx="7993742" cy="381000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  <a:endParaRPr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1054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5954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40806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21808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663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602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474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30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1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8334D-F6CE-6F26-F021-0B9D5783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62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296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A890-DBCE-9D0B-FC1E-1FBC36406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94637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6E6E4-89B8-DE75-7430-4DB49BAA2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33467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EBB7-A22D-DEA0-3883-7D6A226ED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0432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C447-82BB-3065-F7F8-2993FACA6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684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A7D94-FC97-9D5C-C395-284A560F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0331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A8BAD8-45B3-FA80-A6FD-062B923B62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3511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8B64C5-69D6-29E7-DC8C-3D7E36B92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0449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F1E3-1C14-C1DF-E876-81BE15B66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</a:p>
        </p:txBody>
      </p:sp>
    </p:spTree>
    <p:extLst>
      <p:ext uri="{BB962C8B-B14F-4D97-AF65-F5344CB8AC3E}">
        <p14:creationId xmlns:p14="http://schemas.microsoft.com/office/powerpoint/2010/main" val="10994655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EEB19-4E3F-B145-7FD5-34ED6F606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</a:p>
        </p:txBody>
      </p:sp>
    </p:spTree>
    <p:extLst>
      <p:ext uri="{BB962C8B-B14F-4D97-AF65-F5344CB8AC3E}">
        <p14:creationId xmlns:p14="http://schemas.microsoft.com/office/powerpoint/2010/main" val="92183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A3C1-A213-1628-DCF0-0721D033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</a:p>
        </p:txBody>
      </p:sp>
    </p:spTree>
    <p:extLst>
      <p:ext uri="{BB962C8B-B14F-4D97-AF65-F5344CB8AC3E}">
        <p14:creationId xmlns:p14="http://schemas.microsoft.com/office/powerpoint/2010/main" val="161197986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518918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1885950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77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22618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677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48556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9585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426632046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660FC81-FDB2-6847-91E7-792B3F29E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</a:p>
        </p:txBody>
      </p:sp>
    </p:spTree>
    <p:extLst>
      <p:ext uri="{BB962C8B-B14F-4D97-AF65-F5344CB8AC3E}">
        <p14:creationId xmlns:p14="http://schemas.microsoft.com/office/powerpoint/2010/main" val="21317314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BE29F25-B1A6-E14D-D106-B0B1A8245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263820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75C487F-806F-DF0A-C957-59A18F20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9042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tex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226724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199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86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9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8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8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5" r:id="rId2"/>
    <p:sldLayoutId id="2147483707" r:id="rId3"/>
    <p:sldLayoutId id="2147483745" r:id="rId4"/>
    <p:sldLayoutId id="2147483746" r:id="rId5"/>
    <p:sldLayoutId id="2147483747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8" r:id="rId3"/>
    <p:sldLayoutId id="2147483794" r:id="rId4"/>
    <p:sldLayoutId id="2147483795" r:id="rId5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5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4" r:id="rId3"/>
    <p:sldLayoutId id="2147483750" r:id="rId4"/>
    <p:sldLayoutId id="2147483749" r:id="rId5"/>
    <p:sldLayoutId id="2147483751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6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3" r:id="rId2"/>
    <p:sldLayoutId id="2147483734" r:id="rId3"/>
    <p:sldLayoutId id="2147483735" r:id="rId4"/>
    <p:sldLayoutId id="2147483732" r:id="rId5"/>
    <p:sldLayoutId id="2147483727" r:id="rId6"/>
    <p:sldLayoutId id="2147483728" r:id="rId7"/>
    <p:sldLayoutId id="2147483736" r:id="rId8"/>
    <p:sldLayoutId id="2147483748" r:id="rId9"/>
    <p:sldLayoutId id="2147483738" r:id="rId10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 idx="1"/>
          </p:nvPr>
        </p:nvSpPr>
        <p:spPr>
          <a:xfrm>
            <a:off x="1897466" y="1276350"/>
            <a:ext cx="6673850" cy="27622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pPr marL="171450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Click to edit Master text styles</a:t>
            </a:r>
          </a:p>
          <a:p>
            <a:pPr marL="628650" lvl="1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Second level</a:t>
            </a:r>
          </a:p>
          <a:p>
            <a:pPr marL="1085850" lvl="2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Third level</a:t>
            </a:r>
          </a:p>
          <a:p>
            <a:pPr marL="1543050" lvl="3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Fourth level</a:t>
            </a:r>
          </a:p>
          <a:p>
            <a:pPr marL="2000250" lvl="4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Fifth level</a:t>
            </a:r>
            <a:endParaRPr lang="en-US" sz="1000">
              <a:solidFill>
                <a:schemeClr val="tx2"/>
              </a:solidFill>
              <a:latin typeface="+mn-lt"/>
            </a:endParaRPr>
          </a:p>
          <a:p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741" r:id="rId3"/>
    <p:sldLayoutId id="2147483704" r:id="rId4"/>
    <p:sldLayoutId id="2147483680" r:id="rId5"/>
    <p:sldLayoutId id="2147483681" r:id="rId6"/>
    <p:sldLayoutId id="2147483662" r:id="rId7"/>
    <p:sldLayoutId id="2147483668" r:id="rId8"/>
    <p:sldLayoutId id="2147483669" r:id="rId9"/>
    <p:sldLayoutId id="2147483667" r:id="rId10"/>
    <p:sldLayoutId id="2147483670" r:id="rId11"/>
    <p:sldLayoutId id="2147483666" r:id="rId12"/>
    <p:sldLayoutId id="2147483744" r:id="rId13"/>
    <p:sldLayoutId id="2147483671" r:id="rId14"/>
    <p:sldLayoutId id="2147483663" r:id="rId15"/>
    <p:sldLayoutId id="2147483672" r:id="rId16"/>
    <p:sldLayoutId id="2147483742" r:id="rId17"/>
    <p:sldLayoutId id="2147483743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740" r:id="rId24"/>
    <p:sldLayoutId id="2147483678" r:id="rId25"/>
    <p:sldLayoutId id="2147483679" r:id="rId26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1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icoledelamata.github.io/AdvancedSurvival/PH_assump.html" TargetMode="External"/><Relationship Id="rId7" Type="http://schemas.openxmlformats.org/officeDocument/2006/relationships/hyperlink" Target="https://nicoledelamata.github.io/AdvancedSurvival/nonlinear_Co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nicoledelamata.github.io/AdvancedSurvival/Flexible1.html" TargetMode="External"/><Relationship Id="rId5" Type="http://schemas.openxmlformats.org/officeDocument/2006/relationships/hyperlink" Target="https://nicoledelamata.github.io/AdvancedSurvival/Parametric.html" TargetMode="External"/><Relationship Id="rId4" Type="http://schemas.openxmlformats.org/officeDocument/2006/relationships/hyperlink" Target="https://nicoledelamata.github.io/AdvancedSurvival/Joint_model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oleDeLaMata/AdvancedSurviv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hyperlink" Target="https://nicoledelamata.github.io/AdvancedSurvival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05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4CB9B0A-4047-F9D9-6848-32C84DE5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86" y="1076770"/>
            <a:ext cx="4243645" cy="884296"/>
          </a:xfrm>
        </p:spPr>
        <p:txBody>
          <a:bodyPr/>
          <a:lstStyle/>
          <a:p>
            <a:r>
              <a:rPr lang="en-US" sz="2400" dirty="0"/>
              <a:t>Advanced survival concepts and analysis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0600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52E4-6515-0FE4-2EB1-3C8B543D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60BD6F1D-0FE8-16BF-DCBD-92011D03BE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Day 1: Overview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62D66C-A491-7A20-10A5-6DD00AB690FB}"/>
              </a:ext>
            </a:extLst>
          </p:cNvPr>
          <p:cNvSpPr txBox="1"/>
          <p:nvPr/>
        </p:nvSpPr>
        <p:spPr>
          <a:xfrm>
            <a:off x="663784" y="896506"/>
            <a:ext cx="7294596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hlinkClick r:id="rId3"/>
              </a:rPr>
              <a:t>1 PH assumption violated</a:t>
            </a:r>
            <a:r>
              <a:rPr lang="en-AU" dirty="0"/>
              <a:t> Recognising when proportional hazards assumption is violated and different strategies to handle non-PH.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hlinkClick r:id="rId4"/>
              </a:rPr>
              <a:t>2 Joint modelling</a:t>
            </a:r>
            <a:r>
              <a:rPr lang="en-AU" dirty="0"/>
              <a:t> When joint modelling would be appropriate and the two components of joint modelling.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hlinkClick r:id="rId5"/>
              </a:rPr>
              <a:t>3 Parametric survival models</a:t>
            </a:r>
            <a:r>
              <a:rPr lang="en-AU" dirty="0"/>
              <a:t> Concepts of parametric survival modelling and selection of appropriate survival distribution.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hlinkClick r:id="rId6"/>
              </a:rPr>
              <a:t>4 Flexible parametric survival</a:t>
            </a:r>
            <a:r>
              <a:rPr lang="en-AU" dirty="0"/>
              <a:t> How flexible parametric survival models differ and how to appropriately fit these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>
                    <a:lumMod val="6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Non-linear Cox</a:t>
            </a:r>
            <a:endParaRPr lang="en-AU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9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6E44-9696-844C-113E-27CE4F78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BCD328F2-9969-17EF-67A1-BD5089DEB2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pc="-10" dirty="0">
                <a:solidFill>
                  <a:schemeClr val="accent1"/>
                </a:solidFill>
              </a:rPr>
              <a:t>Timetable – Day 2</a:t>
            </a:r>
            <a:endParaRPr spc="-10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1E7F08-761F-7F60-3132-572E807F3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414904"/>
              </p:ext>
            </p:extLst>
          </p:nvPr>
        </p:nvGraphicFramePr>
        <p:xfrm>
          <a:off x="577850" y="920750"/>
          <a:ext cx="7868724" cy="3596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7288">
                  <a:extLst>
                    <a:ext uri="{9D8B030D-6E8A-4147-A177-3AD203B41FA5}">
                      <a16:colId xmlns:a16="http://schemas.microsoft.com/office/drawing/2014/main" val="1915441540"/>
                    </a:ext>
                  </a:extLst>
                </a:gridCol>
                <a:gridCol w="3471620">
                  <a:extLst>
                    <a:ext uri="{9D8B030D-6E8A-4147-A177-3AD203B41FA5}">
                      <a16:colId xmlns:a16="http://schemas.microsoft.com/office/drawing/2014/main" val="2414069751"/>
                    </a:ext>
                  </a:extLst>
                </a:gridCol>
                <a:gridCol w="2459816">
                  <a:extLst>
                    <a:ext uri="{9D8B030D-6E8A-4147-A177-3AD203B41FA5}">
                      <a16:colId xmlns:a16="http://schemas.microsoft.com/office/drawing/2014/main" val="4193103119"/>
                    </a:ext>
                  </a:extLst>
                </a:gridCol>
              </a:tblGrid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Presenter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638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9:00 – 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Recap &amp;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Nicole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633817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9:15 – 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Competing risks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Maarit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702542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11:00 – 11:10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5748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11:10 – 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Flexible parametric survival (continued)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Nicole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19212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12:30 – 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9097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1:15 – 2:50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Multi-state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Nicole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791786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2:50 – 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98876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3:00 – 3:50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Multi-state modelling (continued)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Nicole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24970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en-AU" sz="1600" dirty="0"/>
                        <a:t>3:45 –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Wrap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Maarit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45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95D8-D11D-55CD-17C4-BB44F137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AABFDAE6-1AF3-0331-0686-79E6545118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pc="-10" dirty="0">
                <a:solidFill>
                  <a:schemeClr val="accent1"/>
                </a:solidFill>
              </a:rPr>
              <a:t>Resources and Navigation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139B7-3490-A762-1B74-E230ECF43AD6}"/>
              </a:ext>
            </a:extLst>
          </p:cNvPr>
          <p:cNvSpPr txBox="1"/>
          <p:nvPr/>
        </p:nvSpPr>
        <p:spPr>
          <a:xfrm>
            <a:off x="577850" y="896506"/>
            <a:ext cx="837683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900" dirty="0" err="1"/>
              <a:t>Github</a:t>
            </a:r>
            <a:r>
              <a:rPr lang="en-AU" sz="1900" dirty="0"/>
              <a:t>: </a:t>
            </a:r>
            <a:r>
              <a:rPr lang="en-AU" sz="1900" dirty="0">
                <a:hlinkClick r:id="rId3"/>
              </a:rPr>
              <a:t>https://github.com/NicoleDeLaMata/AdvancedSurvival</a:t>
            </a:r>
            <a:r>
              <a:rPr lang="en-AU" sz="1900" dirty="0"/>
              <a:t>  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AU" sz="1900" dirty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AU" sz="1900" dirty="0"/>
              <a:t>Data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AU" sz="1900" dirty="0"/>
              <a:t>Coding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AU" sz="1900" dirty="0"/>
              <a:t>Presentations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AU" sz="1900" dirty="0"/>
              <a:t>Recordings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AU" sz="1900" dirty="0"/>
              <a:t>Quarto webpage: </a:t>
            </a:r>
            <a:r>
              <a:rPr lang="en-AU" sz="1900" dirty="0">
                <a:hlinkClick r:id="rId4"/>
              </a:rPr>
              <a:t>https://nicoledelamata.github.io/AdvancedSurvival/</a:t>
            </a:r>
            <a:r>
              <a:rPr lang="en-AU" sz="1900" dirty="0"/>
              <a:t> 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AU" sz="1900" dirty="0"/>
              <a:t>Additional exercise data (suggested solutions following workshop) 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AU" sz="1900" dirty="0"/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AU" sz="1900" dirty="0"/>
          </a:p>
          <a:p>
            <a:r>
              <a:rPr lang="en-AU" sz="1900" dirty="0"/>
              <a:t>At conclusion, zip file of resources will be sent and </a:t>
            </a:r>
            <a:r>
              <a:rPr lang="en-AU" sz="1900" dirty="0" err="1"/>
              <a:t>Github</a:t>
            </a:r>
            <a:r>
              <a:rPr lang="en-AU" sz="1900" dirty="0"/>
              <a:t> accessible for 1 week before closing public access.</a:t>
            </a:r>
          </a:p>
        </p:txBody>
      </p:sp>
    </p:spTree>
    <p:extLst>
      <p:ext uri="{BB962C8B-B14F-4D97-AF65-F5344CB8AC3E}">
        <p14:creationId xmlns:p14="http://schemas.microsoft.com/office/powerpoint/2010/main" val="211515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407DA82-4917-34CF-4BE6-627BFFC7F011}"/>
              </a:ext>
            </a:extLst>
          </p:cNvPr>
          <p:cNvSpPr txBox="1">
            <a:spLocks/>
          </p:cNvSpPr>
          <p:nvPr/>
        </p:nvSpPr>
        <p:spPr>
          <a:xfrm>
            <a:off x="1236019" y="2129602"/>
            <a:ext cx="4243645" cy="8842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Questions?</a:t>
            </a:r>
            <a:endParaRPr lang="en-AU" sz="2400" dirty="0">
              <a:solidFill>
                <a:schemeClr val="bg1"/>
              </a:solidFill>
            </a:endParaRPr>
          </a:p>
        </p:txBody>
      </p:sp>
      <p:pic>
        <p:nvPicPr>
          <p:cNvPr id="7" name="Picture 6" descr="Question Zutto">
            <a:extLst>
              <a:ext uri="{FF2B5EF4-FFF2-40B4-BE49-F238E27FC236}">
                <a16:creationId xmlns:a16="http://schemas.microsoft.com/office/drawing/2014/main" id="{7588C287-C25E-FEB8-63B0-B5AD0E8B9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580" y="820441"/>
            <a:ext cx="2827149" cy="28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4741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pter break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ntent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Updates_No accent bar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2e17a-d69a-4a7c-aca9-8c457aad35e5">
      <Terms xmlns="http://schemas.microsoft.com/office/infopath/2007/PartnerControls"/>
    </lcf76f155ced4ddcb4097134ff3c332f>
    <TaxCatchAll xmlns="b4ec80fd-8431-40c0-a290-862af3148ca3" xsi:nil="true"/>
    <Reportpage xmlns="7342e17a-d69a-4a7c-aca9-8c457aad35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92580B121D5040ACF1C3BB881AB73F" ma:contentTypeVersion="14" ma:contentTypeDescription="Create a new document." ma:contentTypeScope="" ma:versionID="1091cb38004b44c441a10ca9df3dc410">
  <xsd:schema xmlns:xsd="http://www.w3.org/2001/XMLSchema" xmlns:xs="http://www.w3.org/2001/XMLSchema" xmlns:p="http://schemas.microsoft.com/office/2006/metadata/properties" xmlns:ns2="7342e17a-d69a-4a7c-aca9-8c457aad35e5" xmlns:ns3="b4ec80fd-8431-40c0-a290-862af3148ca3" targetNamespace="http://schemas.microsoft.com/office/2006/metadata/properties" ma:root="true" ma:fieldsID="fcf02c74aee6b19046370ebc49fc1b2d" ns2:_="" ns3:_="">
    <xsd:import namespace="7342e17a-d69a-4a7c-aca9-8c457aad35e5"/>
    <xsd:import namespace="b4ec80fd-8431-40c0-a290-862af3148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Reportp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2e17a-d69a-4a7c-aca9-8c457aad35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portpage" ma:index="21" nillable="true" ma:displayName="Report page" ma:format="Dropdown" ma:internalName="Reportp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c80fd-8431-40c0-a290-862af3148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73a6383-9aee-48ca-96a5-76a7fec42c51}" ma:internalName="TaxCatchAll" ma:showField="CatchAllData" ma:web="b4ec80fd-8431-40c0-a290-862af3148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9B7B7D-D26A-4C33-826F-DADE54E4FD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04B00-E890-4682-9295-DDD3DDE8268D}">
  <ds:schemaRefs>
    <ds:schemaRef ds:uri="http://purl.org/dc/dcmitype/"/>
    <ds:schemaRef ds:uri="b4ec80fd-8431-40c0-a290-862af3148ca3"/>
    <ds:schemaRef ds:uri="http://schemas.microsoft.com/office/2006/metadata/properties"/>
    <ds:schemaRef ds:uri="http://schemas.microsoft.com/office/2006/documentManagement/types"/>
    <ds:schemaRef ds:uri="http://purl.org/dc/terms/"/>
    <ds:schemaRef ds:uri="7342e17a-d69a-4a7c-aca9-8c457aad35e5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EC600DA-0CD9-417B-AFD4-46018338836A}">
  <ds:schemaRefs>
    <ds:schemaRef ds:uri="7342e17a-d69a-4a7c-aca9-8c457aad35e5"/>
    <ds:schemaRef ds:uri="b4ec80fd-8431-40c0-a290-862af3148c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6334</TotalTime>
  <Words>211</Words>
  <Application>Microsoft Office PowerPoint</Application>
  <PresentationFormat>On-screen Show (16:9)</PresentationFormat>
  <Paragraphs>51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Calibri</vt:lpstr>
      <vt:lpstr>Symbol</vt:lpstr>
      <vt:lpstr>System Font Regular</vt:lpstr>
      <vt:lpstr>Times</vt:lpstr>
      <vt:lpstr>Times New Roman</vt:lpstr>
      <vt:lpstr>Title slides</vt:lpstr>
      <vt:lpstr>Acknowledgement of Country</vt:lpstr>
      <vt:lpstr>Chapter break</vt:lpstr>
      <vt:lpstr>Graphic slides</vt:lpstr>
      <vt:lpstr>Content slides</vt:lpstr>
      <vt:lpstr>Updates_No accent bar</vt:lpstr>
      <vt:lpstr>PowerPoint Presentation</vt:lpstr>
      <vt:lpstr>Advanced survival concepts and analysis</vt:lpstr>
      <vt:lpstr>Day 1: Overview</vt:lpstr>
      <vt:lpstr>Timetable – Day 2</vt:lpstr>
      <vt:lpstr>Resources and Navigation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De La Mata</dc:creator>
  <cp:lastModifiedBy>Nicole De La Mata</cp:lastModifiedBy>
  <cp:revision>10</cp:revision>
  <dcterms:created xsi:type="dcterms:W3CDTF">2022-10-08T02:11:21Z</dcterms:created>
  <dcterms:modified xsi:type="dcterms:W3CDTF">2026-02-24T03:49:18Z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2022-10-08T00:00:00Z</vt:filetime>
  </property>
  <property fmtid="{D5CDD505-2E9C-101B-9397-08002B2CF9AE}" pid="5" name="Producer">
    <vt:lpwstr>Adobe PDF Library 16.0.3</vt:lpwstr>
  </property>
  <property fmtid="{D5CDD505-2E9C-101B-9397-08002B2CF9AE}" pid="6" name="ContentTypeId">
    <vt:lpwstr>0x0101002592580B121D5040ACF1C3BB881AB73F</vt:lpwstr>
  </property>
  <property fmtid="{D5CDD505-2E9C-101B-9397-08002B2CF9AE}" pid="7" name="MediaServiceImageTags">
    <vt:lpwstr/>
  </property>
</Properties>
</file>