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notesMasterIdLst>
    <p:notesMasterId r:id="rId47"/>
  </p:notesMasterIdLst>
  <p:sldIdLst>
    <p:sldId id="256" r:id="rId5"/>
    <p:sldId id="300" r:id="rId6"/>
    <p:sldId id="307" r:id="rId7"/>
    <p:sldId id="309" r:id="rId8"/>
    <p:sldId id="308" r:id="rId9"/>
    <p:sldId id="336" r:id="rId10"/>
    <p:sldId id="352" r:id="rId11"/>
    <p:sldId id="353" r:id="rId12"/>
    <p:sldId id="354" r:id="rId13"/>
    <p:sldId id="355" r:id="rId14"/>
    <p:sldId id="356" r:id="rId15"/>
    <p:sldId id="357" r:id="rId16"/>
    <p:sldId id="326" r:id="rId17"/>
    <p:sldId id="358" r:id="rId18"/>
    <p:sldId id="359" r:id="rId19"/>
    <p:sldId id="360" r:id="rId20"/>
    <p:sldId id="363" r:id="rId21"/>
    <p:sldId id="361" r:id="rId22"/>
    <p:sldId id="364" r:id="rId23"/>
    <p:sldId id="362" r:id="rId24"/>
    <p:sldId id="366" r:id="rId25"/>
    <p:sldId id="365" r:id="rId26"/>
    <p:sldId id="367" r:id="rId27"/>
    <p:sldId id="368" r:id="rId28"/>
    <p:sldId id="372" r:id="rId29"/>
    <p:sldId id="371" r:id="rId30"/>
    <p:sldId id="369" r:id="rId31"/>
    <p:sldId id="375" r:id="rId32"/>
    <p:sldId id="374" r:id="rId33"/>
    <p:sldId id="373" r:id="rId34"/>
    <p:sldId id="384" r:id="rId35"/>
    <p:sldId id="383" r:id="rId36"/>
    <p:sldId id="385" r:id="rId37"/>
    <p:sldId id="370" r:id="rId38"/>
    <p:sldId id="376" r:id="rId39"/>
    <p:sldId id="377" r:id="rId40"/>
    <p:sldId id="378" r:id="rId41"/>
    <p:sldId id="379" r:id="rId42"/>
    <p:sldId id="380" r:id="rId43"/>
    <p:sldId id="381" r:id="rId44"/>
    <p:sldId id="382" r:id="rId45"/>
    <p:sldId id="388"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880" autoAdjust="0"/>
  </p:normalViewPr>
  <p:slideViewPr>
    <p:cSldViewPr snapToGrid="0">
      <p:cViewPr varScale="1">
        <p:scale>
          <a:sx n="98" d="100"/>
          <a:sy n="98" d="100"/>
        </p:scale>
        <p:origin x="990"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De La Mata" userId="878a281c-078f-44b6-973f-8ffac8d417e1" providerId="ADAL" clId="{79196F8A-5B65-4817-BD1C-5897143AED69}"/>
    <pc:docChg chg="delSld">
      <pc:chgData name="Nicole De La Mata" userId="878a281c-078f-44b6-973f-8ffac8d417e1" providerId="ADAL" clId="{79196F8A-5B65-4817-BD1C-5897143AED69}" dt="2026-02-25T21:16:08.328" v="0" actId="47"/>
      <pc:docMkLst>
        <pc:docMk/>
      </pc:docMkLst>
      <pc:sldChg chg="del">
        <pc:chgData name="Nicole De La Mata" userId="878a281c-078f-44b6-973f-8ffac8d417e1" providerId="ADAL" clId="{79196F8A-5B65-4817-BD1C-5897143AED69}" dt="2026-02-25T21:16:08.328" v="0" actId="47"/>
        <pc:sldMkLst>
          <pc:docMk/>
          <pc:sldMk cId="2139373965" sldId="332"/>
        </pc:sldMkLst>
      </pc:sldChg>
      <pc:sldChg chg="del">
        <pc:chgData name="Nicole De La Mata" userId="878a281c-078f-44b6-973f-8ffac8d417e1" providerId="ADAL" clId="{79196F8A-5B65-4817-BD1C-5897143AED69}" dt="2026-02-25T21:16:08.328" v="0" actId="47"/>
        <pc:sldMkLst>
          <pc:docMk/>
          <pc:sldMk cId="2695841374" sldId="386"/>
        </pc:sldMkLst>
      </pc:sldChg>
      <pc:sldChg chg="del">
        <pc:chgData name="Nicole De La Mata" userId="878a281c-078f-44b6-973f-8ffac8d417e1" providerId="ADAL" clId="{79196F8A-5B65-4817-BD1C-5897143AED69}" dt="2026-02-25T21:16:08.328" v="0" actId="47"/>
        <pc:sldMkLst>
          <pc:docMk/>
          <pc:sldMk cId="3030594216" sldId="387"/>
        </pc:sldMkLst>
      </pc:sldChg>
      <pc:sldChg chg="del">
        <pc:chgData name="Nicole De La Mata" userId="878a281c-078f-44b6-973f-8ffac8d417e1" providerId="ADAL" clId="{79196F8A-5B65-4817-BD1C-5897143AED69}" dt="2026-02-25T21:16:08.328" v="0" actId="47"/>
        <pc:sldMkLst>
          <pc:docMk/>
          <pc:sldMk cId="3736390630" sldId="389"/>
        </pc:sldMkLst>
      </pc:sldChg>
      <pc:sldChg chg="del">
        <pc:chgData name="Nicole De La Mata" userId="878a281c-078f-44b6-973f-8ffac8d417e1" providerId="ADAL" clId="{79196F8A-5B65-4817-BD1C-5897143AED69}" dt="2026-02-25T21:16:08.328" v="0" actId="47"/>
        <pc:sldMkLst>
          <pc:docMk/>
          <pc:sldMk cId="2633437236" sldId="390"/>
        </pc:sldMkLst>
      </pc:sldChg>
      <pc:sldChg chg="del">
        <pc:chgData name="Nicole De La Mata" userId="878a281c-078f-44b6-973f-8ffac8d417e1" providerId="ADAL" clId="{79196F8A-5B65-4817-BD1C-5897143AED69}" dt="2026-02-25T21:16:08.328" v="0" actId="47"/>
        <pc:sldMkLst>
          <pc:docMk/>
          <pc:sldMk cId="2153927107" sldId="391"/>
        </pc:sldMkLst>
      </pc:sldChg>
      <pc:sldChg chg="del">
        <pc:chgData name="Nicole De La Mata" userId="878a281c-078f-44b6-973f-8ffac8d417e1" providerId="ADAL" clId="{79196F8A-5B65-4817-BD1C-5897143AED69}" dt="2026-02-25T21:16:08.328" v="0" actId="47"/>
        <pc:sldMkLst>
          <pc:docMk/>
          <pc:sldMk cId="2079729728" sldId="392"/>
        </pc:sldMkLst>
      </pc:sldChg>
      <pc:sldChg chg="del">
        <pc:chgData name="Nicole De La Mata" userId="878a281c-078f-44b6-973f-8ffac8d417e1" providerId="ADAL" clId="{79196F8A-5B65-4817-BD1C-5897143AED69}" dt="2026-02-25T21:16:08.328" v="0" actId="47"/>
        <pc:sldMkLst>
          <pc:docMk/>
          <pc:sldMk cId="3438641359" sldId="393"/>
        </pc:sldMkLst>
      </pc:sldChg>
      <pc:sldChg chg="del">
        <pc:chgData name="Nicole De La Mata" userId="878a281c-078f-44b6-973f-8ffac8d417e1" providerId="ADAL" clId="{79196F8A-5B65-4817-BD1C-5897143AED69}" dt="2026-02-25T21:16:08.328" v="0" actId="47"/>
        <pc:sldMkLst>
          <pc:docMk/>
          <pc:sldMk cId="580006939" sldId="394"/>
        </pc:sldMkLst>
      </pc:sldChg>
      <pc:sldChg chg="del">
        <pc:chgData name="Nicole De La Mata" userId="878a281c-078f-44b6-973f-8ffac8d417e1" providerId="ADAL" clId="{79196F8A-5B65-4817-BD1C-5897143AED69}" dt="2026-02-25T21:16:08.328" v="0" actId="47"/>
        <pc:sldMkLst>
          <pc:docMk/>
          <pc:sldMk cId="3006278198" sldId="395"/>
        </pc:sldMkLst>
      </pc:sldChg>
      <pc:sldChg chg="del">
        <pc:chgData name="Nicole De La Mata" userId="878a281c-078f-44b6-973f-8ffac8d417e1" providerId="ADAL" clId="{79196F8A-5B65-4817-BD1C-5897143AED69}" dt="2026-02-25T21:16:08.328" v="0" actId="47"/>
        <pc:sldMkLst>
          <pc:docMk/>
          <pc:sldMk cId="1898872282" sldId="396"/>
        </pc:sldMkLst>
      </pc:sldChg>
      <pc:sldChg chg="del">
        <pc:chgData name="Nicole De La Mata" userId="878a281c-078f-44b6-973f-8ffac8d417e1" providerId="ADAL" clId="{79196F8A-5B65-4817-BD1C-5897143AED69}" dt="2026-02-25T21:16:08.328" v="0" actId="47"/>
        <pc:sldMkLst>
          <pc:docMk/>
          <pc:sldMk cId="4191859035" sldId="3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36681B-641D-4096-AA24-ECB3130B0DDB}" type="datetimeFigureOut">
              <a:rPr lang="en-AU" smtClean="0"/>
              <a:t>26/02/2026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61BF14-442A-4806-9528-3CAE044062F5}" type="slidenum">
              <a:rPr lang="en-AU" smtClean="0"/>
              <a:t>‹#›</a:t>
            </a:fld>
            <a:endParaRPr lang="en-AU"/>
          </a:p>
        </p:txBody>
      </p:sp>
    </p:spTree>
    <p:extLst>
      <p:ext uri="{BB962C8B-B14F-4D97-AF65-F5344CB8AC3E}">
        <p14:creationId xmlns:p14="http://schemas.microsoft.com/office/powerpoint/2010/main" val="1441522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1</a:t>
            </a:fld>
            <a:endParaRPr lang="en-AU"/>
          </a:p>
        </p:txBody>
      </p:sp>
    </p:spTree>
    <p:extLst>
      <p:ext uri="{BB962C8B-B14F-4D97-AF65-F5344CB8AC3E}">
        <p14:creationId xmlns:p14="http://schemas.microsoft.com/office/powerpoint/2010/main" val="3336134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Both event and time are our outcome</a:t>
            </a:r>
          </a:p>
        </p:txBody>
      </p:sp>
      <p:sp>
        <p:nvSpPr>
          <p:cNvPr id="4" name="Slide Number Placeholder 3"/>
          <p:cNvSpPr>
            <a:spLocks noGrp="1"/>
          </p:cNvSpPr>
          <p:nvPr>
            <p:ph type="sldNum" sz="quarter" idx="5"/>
          </p:nvPr>
        </p:nvSpPr>
        <p:spPr/>
        <p:txBody>
          <a:bodyPr/>
          <a:lstStyle/>
          <a:p>
            <a:fld id="{7B61BF14-442A-4806-9528-3CAE044062F5}" type="slidenum">
              <a:rPr lang="en-AU" smtClean="0"/>
              <a:t>3</a:t>
            </a:fld>
            <a:endParaRPr lang="en-AU"/>
          </a:p>
        </p:txBody>
      </p:sp>
    </p:spTree>
    <p:extLst>
      <p:ext uri="{BB962C8B-B14F-4D97-AF65-F5344CB8AC3E}">
        <p14:creationId xmlns:p14="http://schemas.microsoft.com/office/powerpoint/2010/main" val="3098728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4</a:t>
            </a:fld>
            <a:endParaRPr lang="en-AU"/>
          </a:p>
        </p:txBody>
      </p:sp>
    </p:spTree>
    <p:extLst>
      <p:ext uri="{BB962C8B-B14F-4D97-AF65-F5344CB8AC3E}">
        <p14:creationId xmlns:p14="http://schemas.microsoft.com/office/powerpoint/2010/main" val="1962401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8</a:t>
            </a:fld>
            <a:endParaRPr lang="en-AU"/>
          </a:p>
        </p:txBody>
      </p:sp>
    </p:spTree>
    <p:extLst>
      <p:ext uri="{BB962C8B-B14F-4D97-AF65-F5344CB8AC3E}">
        <p14:creationId xmlns:p14="http://schemas.microsoft.com/office/powerpoint/2010/main" val="38379159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stratified Cox model says:</a:t>
            </a:r>
          </a:p>
          <a:p>
            <a:r>
              <a:rPr lang="en-US" dirty="0"/>
              <a:t>“OK, let’s stop forcing these groups to share the same baseline hazard.</a:t>
            </a:r>
            <a:br>
              <a:rPr lang="en-US" dirty="0"/>
            </a:br>
            <a:r>
              <a:rPr lang="en-US" dirty="0"/>
              <a:t>Each group gets its own baseline hazard curve.”</a:t>
            </a:r>
          </a:p>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15</a:t>
            </a:fld>
            <a:endParaRPr lang="en-AU"/>
          </a:p>
        </p:txBody>
      </p:sp>
    </p:spTree>
    <p:extLst>
      <p:ext uri="{BB962C8B-B14F-4D97-AF65-F5344CB8AC3E}">
        <p14:creationId xmlns:p14="http://schemas.microsoft.com/office/powerpoint/2010/main" val="1016830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26</a:t>
            </a:fld>
            <a:endParaRPr lang="en-AU"/>
          </a:p>
        </p:txBody>
      </p:sp>
    </p:spTree>
    <p:extLst>
      <p:ext uri="{BB962C8B-B14F-4D97-AF65-F5344CB8AC3E}">
        <p14:creationId xmlns:p14="http://schemas.microsoft.com/office/powerpoint/2010/main" val="197062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Extended Cox ≠ “changing effect of a fixed baseline covariate,”</a:t>
            </a:r>
            <a:br>
              <a:rPr lang="en-US" dirty="0"/>
            </a:br>
            <a:r>
              <a:rPr lang="en-US" dirty="0"/>
              <a:t>Extended Cox = “the covariate value itself changes through follow-up.”</a:t>
            </a:r>
            <a:endParaRPr lang="en-AU" dirty="0"/>
          </a:p>
        </p:txBody>
      </p:sp>
      <p:sp>
        <p:nvSpPr>
          <p:cNvPr id="4" name="Slide Number Placeholder 3"/>
          <p:cNvSpPr>
            <a:spLocks noGrp="1"/>
          </p:cNvSpPr>
          <p:nvPr>
            <p:ph type="sldNum" sz="quarter" idx="5"/>
          </p:nvPr>
        </p:nvSpPr>
        <p:spPr/>
        <p:txBody>
          <a:bodyPr/>
          <a:lstStyle/>
          <a:p>
            <a:fld id="{7B61BF14-442A-4806-9528-3CAE044062F5}" type="slidenum">
              <a:rPr lang="en-AU" smtClean="0"/>
              <a:t>36</a:t>
            </a:fld>
            <a:endParaRPr lang="en-AU"/>
          </a:p>
        </p:txBody>
      </p:sp>
    </p:spTree>
    <p:extLst>
      <p:ext uri="{BB962C8B-B14F-4D97-AF65-F5344CB8AC3E}">
        <p14:creationId xmlns:p14="http://schemas.microsoft.com/office/powerpoint/2010/main" val="3129089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E4107255-DA02-4530-9828-3BA6ED96C1C3}" type="datetime1">
              <a:rPr lang="en-US" smtClean="0"/>
              <a:t>2/26/2026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08475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7A1861B4-C1BA-4ADF-8938-996090D0E67D}" type="datetime1">
              <a:rPr lang="en-US" smtClean="0"/>
              <a:t>2/26/2026</a:t>
            </a:fld>
            <a:endParaRPr lang="en-US" dirty="0"/>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lvl1pPr>
              <a:defRPr sz="1200" b="1">
                <a:solidFill>
                  <a:schemeClr val="accent6">
                    <a:lumMod val="75000"/>
                  </a:schemeClr>
                </a:solidFill>
              </a:defRPr>
            </a:lvl1pPr>
          </a:lstStyle>
          <a:p>
            <a:r>
              <a:rPr lang="en-US" dirty="0"/>
              <a:t>Farzaneh.Boroumand@Sydney.edu.au</a:t>
            </a:r>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7227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8DC890F9-FBC5-4F12-8C1A-CD683D10173A}" type="datetime1">
              <a:rPr lang="en-US" smtClean="0"/>
              <a:t>2/26/2026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11838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B7E37677-CF8B-43CB-8FF1-87208B11E777}" type="datetime1">
              <a:rPr lang="en-US" smtClean="0"/>
              <a:t>2/26/2026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r>
              <a:rPr lang="en-US"/>
              <a:t>Farzaneh.Boroumand@Sydney.edu.au</a:t>
            </a:r>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71450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46314F02-9106-4F69-8BAE-CFDA6DD342EB}" type="datetime1">
              <a:rPr lang="en-US" smtClean="0"/>
              <a:t>2/26/2026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r>
              <a:rPr lang="en-US"/>
              <a:t>Farzaneh.Boroumand@Sydney.edu.au</a:t>
            </a:r>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0860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72391F09-08C8-411F-8F49-BC96DB8D2F04}" type="datetime1">
              <a:rPr lang="en-US" smtClean="0"/>
              <a:t>2/26/2026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r>
              <a:rPr lang="en-US"/>
              <a:t>Farzaneh.Boroumand@Sydney.edu.au</a:t>
            </a:r>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21160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605CE28E-C0FE-48C5-AD71-6AC36A33E79A}" type="datetime1">
              <a:rPr lang="en-US" smtClean="0"/>
              <a:t>2/26/2026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r>
              <a:rPr lang="en-US"/>
              <a:t>Farzaneh.Boroumand@Sydney.edu.au</a:t>
            </a:r>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80918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78113BFC-3CDF-426F-8D4D-1621D25F610A}" type="datetime1">
              <a:rPr lang="en-US" smtClean="0"/>
              <a:t>2/26/2026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r>
              <a:rPr lang="en-US"/>
              <a:t>Farzaneh.Boroumand@Sydney.edu.au</a:t>
            </a:r>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53255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8E83AF84-2327-4C45-A2AF-6088E826580A}" type="datetime1">
              <a:rPr lang="en-US" smtClean="0"/>
              <a:t>2/26/2026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r>
              <a:rPr lang="en-US"/>
              <a:t>Farzaneh.Boroumand@Sydney.edu.au</a:t>
            </a:r>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85917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668846BF-BBDD-41F4-90BD-365E67260397}" type="datetime1">
              <a:rPr lang="en-US" smtClean="0"/>
              <a:t>2/26/2026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78128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8DEDE3D6-2707-4668-8E8F-345A14A0BA7D}" type="datetime1">
              <a:rPr lang="en-US" smtClean="0"/>
              <a:t>2/26/2026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75657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6DA19E5A-9F18-4DF6-B1AD-BE9DBAA0BA38}" type="datetime1">
              <a:rPr lang="en-US" smtClean="0"/>
              <a:t>2/26/2026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r>
              <a:rPr lang="en-US"/>
              <a:t>Farzaneh.Boroumand@Sydney.edu.au</a:t>
            </a:r>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79279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8.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svg"/><Relationship Id="rId11"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15.svg"/><Relationship Id="rId4" Type="http://schemas.openxmlformats.org/officeDocument/2006/relationships/image" Target="../media/image8.svg"/><Relationship Id="rId9" Type="http://schemas.openxmlformats.org/officeDocument/2006/relationships/image" Target="../media/image14.png"/><Relationship Id="rId14" Type="http://schemas.openxmlformats.org/officeDocument/2006/relationships/image" Target="../media/image19.svg"/></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svg"/><Relationship Id="rId7" Type="http://schemas.openxmlformats.org/officeDocument/2006/relationships/image" Target="../media/image44.sv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0.png"/><Relationship Id="rId1" Type="http://schemas.openxmlformats.org/officeDocument/2006/relationships/slideLayout" Target="../slideLayouts/slideLayout2.xml"/><Relationship Id="rId4" Type="http://schemas.openxmlformats.org/officeDocument/2006/relationships/image" Target="../media/image44.sv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CE3450-CB0D-DFA7-6B63-B8B49F37D4ED}"/>
              </a:ext>
            </a:extLst>
          </p:cNvPr>
          <p:cNvSpPr>
            <a:spLocks noGrp="1"/>
          </p:cNvSpPr>
          <p:nvPr>
            <p:ph type="ctrTitle"/>
          </p:nvPr>
        </p:nvSpPr>
        <p:spPr>
          <a:xfrm>
            <a:off x="5604552" y="871759"/>
            <a:ext cx="5825448" cy="1005658"/>
          </a:xfrm>
        </p:spPr>
        <p:txBody>
          <a:bodyPr>
            <a:noAutofit/>
          </a:bodyPr>
          <a:lstStyle/>
          <a:p>
            <a:r>
              <a:rPr lang="en-US" sz="2800" b="1" dirty="0">
                <a:solidFill>
                  <a:schemeClr val="accent5">
                    <a:lumMod val="75000"/>
                  </a:schemeClr>
                </a:solidFill>
              </a:rPr>
              <a:t>Survivor Stats Society </a:t>
            </a:r>
            <a:br>
              <a:rPr lang="en-US" sz="2800" dirty="0"/>
            </a:br>
            <a:br>
              <a:rPr lang="en-US" sz="2800" dirty="0"/>
            </a:br>
            <a:br>
              <a:rPr lang="en-US" sz="2800" dirty="0"/>
            </a:br>
            <a:endParaRPr lang="en-AU" sz="2800" dirty="0"/>
          </a:p>
        </p:txBody>
      </p:sp>
      <p:sp>
        <p:nvSpPr>
          <p:cNvPr id="3" name="Subtitle 2">
            <a:extLst>
              <a:ext uri="{FF2B5EF4-FFF2-40B4-BE49-F238E27FC236}">
                <a16:creationId xmlns:a16="http://schemas.microsoft.com/office/drawing/2014/main" id="{1E5E1C21-982A-FC98-8499-54401FCBC6FA}"/>
              </a:ext>
            </a:extLst>
          </p:cNvPr>
          <p:cNvSpPr>
            <a:spLocks noGrp="1"/>
          </p:cNvSpPr>
          <p:nvPr>
            <p:ph type="subTitle" idx="1"/>
          </p:nvPr>
        </p:nvSpPr>
        <p:spPr>
          <a:xfrm>
            <a:off x="5601862" y="1595659"/>
            <a:ext cx="5322013" cy="1624689"/>
          </a:xfrm>
        </p:spPr>
        <p:txBody>
          <a:bodyPr>
            <a:normAutofit lnSpcReduction="10000"/>
          </a:bodyPr>
          <a:lstStyle/>
          <a:p>
            <a:r>
              <a:rPr lang="en-AU" b="1" dirty="0"/>
              <a:t>Third session: </a:t>
            </a:r>
            <a:r>
              <a:rPr lang="en-AU" dirty="0"/>
              <a:t>Cox model when PH assumption is violated </a:t>
            </a:r>
          </a:p>
          <a:p>
            <a:endParaRPr lang="en-AU" dirty="0"/>
          </a:p>
          <a:p>
            <a:r>
              <a:rPr lang="en-AU" sz="1800" dirty="0"/>
              <a:t>Farzaneh Boroumand</a:t>
            </a:r>
          </a:p>
        </p:txBody>
      </p:sp>
      <p:pic>
        <p:nvPicPr>
          <p:cNvPr id="4" name="Picture 3" descr="Gradient pastel colors on a top view">
            <a:extLst>
              <a:ext uri="{FF2B5EF4-FFF2-40B4-BE49-F238E27FC236}">
                <a16:creationId xmlns:a16="http://schemas.microsoft.com/office/drawing/2014/main" id="{DE43E167-39D2-B9D0-F0F9-10C431DBC87E}"/>
              </a:ext>
            </a:extLst>
          </p:cNvPr>
          <p:cNvPicPr>
            <a:picLocks noChangeAspect="1"/>
          </p:cNvPicPr>
          <p:nvPr/>
        </p:nvPicPr>
        <p:blipFill>
          <a:blip r:embed="rId3"/>
          <a:srcRect l="36752" r="15781" b="-1"/>
          <a:stretch/>
        </p:blipFill>
        <p:spPr>
          <a:xfrm>
            <a:off x="1" y="10"/>
            <a:ext cx="4876799"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3D2B189-5082-4F0F-939F-9A3A398CF1E4}"/>
              </a:ext>
            </a:extLst>
          </p:cNvPr>
          <p:cNvSpPr>
            <a:spLocks noGrp="1"/>
          </p:cNvSpPr>
          <p:nvPr>
            <p:ph type="ftr" sz="quarter" idx="11"/>
          </p:nvPr>
        </p:nvSpPr>
        <p:spPr/>
        <p:txBody>
          <a:bodyPr/>
          <a:lstStyle/>
          <a:p>
            <a:r>
              <a:rPr lang="en-US"/>
              <a:t>Farzaneh.Boroumand@Sydney.edu.au</a:t>
            </a:r>
            <a:endParaRPr lang="en-US" dirty="0"/>
          </a:p>
        </p:txBody>
      </p:sp>
      <p:pic>
        <p:nvPicPr>
          <p:cNvPr id="1026" name="Picture 2">
            <a:extLst>
              <a:ext uri="{FF2B5EF4-FFF2-40B4-BE49-F238E27FC236}">
                <a16:creationId xmlns:a16="http://schemas.microsoft.com/office/drawing/2014/main" id="{E17935F9-A54C-C151-DEA4-F8C57612C7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544" y="4239187"/>
            <a:ext cx="1310687" cy="128447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ink circle with text and stairs&#10;&#10;AI-generated content may be incorrect.">
            <a:extLst>
              <a:ext uri="{FF2B5EF4-FFF2-40B4-BE49-F238E27FC236}">
                <a16:creationId xmlns:a16="http://schemas.microsoft.com/office/drawing/2014/main" id="{B5B944FA-D8BF-C283-7982-FFDA98C8578E}"/>
              </a:ext>
            </a:extLst>
          </p:cNvPr>
          <p:cNvPicPr>
            <a:picLocks noChangeAspect="1"/>
          </p:cNvPicPr>
          <p:nvPr/>
        </p:nvPicPr>
        <p:blipFill>
          <a:blip r:embed="rId5"/>
          <a:stretch>
            <a:fillRect/>
          </a:stretch>
        </p:blipFill>
        <p:spPr>
          <a:xfrm>
            <a:off x="5883729" y="4147190"/>
            <a:ext cx="1624693" cy="1624693"/>
          </a:xfrm>
          <a:prstGeom prst="rect">
            <a:avLst/>
          </a:prstGeom>
        </p:spPr>
      </p:pic>
    </p:spTree>
    <p:extLst>
      <p:ext uri="{BB962C8B-B14F-4D97-AF65-F5344CB8AC3E}">
        <p14:creationId xmlns:p14="http://schemas.microsoft.com/office/powerpoint/2010/main" val="2661774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0E864-CAAD-D325-C46E-7FC0A7AEA4A9}"/>
              </a:ext>
            </a:extLst>
          </p:cNvPr>
          <p:cNvSpPr>
            <a:spLocks noGrp="1"/>
          </p:cNvSpPr>
          <p:nvPr>
            <p:ph type="title"/>
          </p:nvPr>
        </p:nvSpPr>
        <p:spPr>
          <a:xfrm>
            <a:off x="700635" y="914400"/>
            <a:ext cx="10691265" cy="725897"/>
          </a:xfrm>
        </p:spPr>
        <p:txBody>
          <a:bodyPr/>
          <a:lstStyle/>
          <a:p>
            <a:r>
              <a:rPr lang="en-AU" dirty="0"/>
              <a:t>Survival data</a:t>
            </a:r>
          </a:p>
        </p:txBody>
      </p:sp>
      <p:sp>
        <p:nvSpPr>
          <p:cNvPr id="3" name="Content Placeholder 2">
            <a:extLst>
              <a:ext uri="{FF2B5EF4-FFF2-40B4-BE49-F238E27FC236}">
                <a16:creationId xmlns:a16="http://schemas.microsoft.com/office/drawing/2014/main" id="{09C6506A-9043-E265-924A-081CBB6FAE85}"/>
              </a:ext>
            </a:extLst>
          </p:cNvPr>
          <p:cNvSpPr>
            <a:spLocks noGrp="1"/>
          </p:cNvSpPr>
          <p:nvPr>
            <p:ph idx="1"/>
          </p:nvPr>
        </p:nvSpPr>
        <p:spPr>
          <a:xfrm>
            <a:off x="576944" y="2057400"/>
            <a:ext cx="3581400" cy="3755232"/>
          </a:xfrm>
        </p:spPr>
        <p:txBody>
          <a:bodyPr/>
          <a:lstStyle/>
          <a:p>
            <a:pPr marL="0" indent="0">
              <a:buNone/>
            </a:pPr>
            <a:r>
              <a:rPr lang="en-AU" dirty="0"/>
              <a:t>Data that measures the time until a specific event occurs.</a:t>
            </a:r>
          </a:p>
          <a:p>
            <a:pPr marL="0" indent="0">
              <a:buNone/>
            </a:pPr>
            <a:endParaRPr lang="en-AU" dirty="0"/>
          </a:p>
          <a:p>
            <a:pPr marL="0" indent="0">
              <a:buNone/>
            </a:pPr>
            <a:r>
              <a:rPr lang="en-AU" dirty="0">
                <a:solidFill>
                  <a:schemeClr val="accent1"/>
                </a:solidFill>
              </a:rPr>
              <a:t>Example: </a:t>
            </a:r>
            <a:r>
              <a:rPr lang="en-AU" dirty="0"/>
              <a:t>the time from the transplantation surgery to a particular event, such as graft failure, patient death, or rejection.</a:t>
            </a:r>
          </a:p>
          <a:p>
            <a:pPr marL="0" indent="0">
              <a:buNone/>
            </a:pPr>
            <a:endParaRPr lang="en-AU" dirty="0"/>
          </a:p>
        </p:txBody>
      </p:sp>
      <p:pic>
        <p:nvPicPr>
          <p:cNvPr id="5" name="Picture 4" descr="A picture containing text, screenshot, font, diagram&#10;&#10;Description automatically generated">
            <a:extLst>
              <a:ext uri="{FF2B5EF4-FFF2-40B4-BE49-F238E27FC236}">
                <a16:creationId xmlns:a16="http://schemas.microsoft.com/office/drawing/2014/main" id="{E082EACF-B9DE-07F2-E184-28FA948AED68}"/>
              </a:ext>
            </a:extLst>
          </p:cNvPr>
          <p:cNvPicPr>
            <a:picLocks noChangeAspect="1"/>
          </p:cNvPicPr>
          <p:nvPr/>
        </p:nvPicPr>
        <p:blipFill>
          <a:blip r:embed="rId2"/>
          <a:stretch>
            <a:fillRect/>
          </a:stretch>
        </p:blipFill>
        <p:spPr>
          <a:xfrm>
            <a:off x="4035040" y="1939655"/>
            <a:ext cx="7580016" cy="2978690"/>
          </a:xfrm>
          <a:prstGeom prst="rect">
            <a:avLst/>
          </a:prstGeom>
        </p:spPr>
      </p:pic>
      <p:sp>
        <p:nvSpPr>
          <p:cNvPr id="4" name="Footer Placeholder 3">
            <a:extLst>
              <a:ext uri="{FF2B5EF4-FFF2-40B4-BE49-F238E27FC236}">
                <a16:creationId xmlns:a16="http://schemas.microsoft.com/office/drawing/2014/main" id="{BE262A3C-015A-4226-DCF1-4657E5186D9E}"/>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3503854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1E47D-8F81-C6EC-3529-386280D4D1EF}"/>
              </a:ext>
            </a:extLst>
          </p:cNvPr>
          <p:cNvSpPr>
            <a:spLocks noGrp="1"/>
          </p:cNvSpPr>
          <p:nvPr>
            <p:ph type="title"/>
          </p:nvPr>
        </p:nvSpPr>
        <p:spPr/>
        <p:txBody>
          <a:bodyPr>
            <a:normAutofit fontScale="90000"/>
          </a:bodyPr>
          <a:lstStyle/>
          <a:p>
            <a:r>
              <a:rPr lang="en-AU" dirty="0"/>
              <a:t>What is the main feature of Survival data?</a:t>
            </a:r>
          </a:p>
        </p:txBody>
      </p:sp>
      <p:sp>
        <p:nvSpPr>
          <p:cNvPr id="3" name="Content Placeholder 2">
            <a:extLst>
              <a:ext uri="{FF2B5EF4-FFF2-40B4-BE49-F238E27FC236}">
                <a16:creationId xmlns:a16="http://schemas.microsoft.com/office/drawing/2014/main" id="{E25AE705-2E0B-5D59-63FE-B7A2C114772C}"/>
              </a:ext>
            </a:extLst>
          </p:cNvPr>
          <p:cNvSpPr>
            <a:spLocks noGrp="1"/>
          </p:cNvSpPr>
          <p:nvPr>
            <p:ph idx="1"/>
          </p:nvPr>
        </p:nvSpPr>
        <p:spPr>
          <a:xfrm>
            <a:off x="700635" y="1888177"/>
            <a:ext cx="10691265" cy="4073711"/>
          </a:xfrm>
        </p:spPr>
        <p:txBody>
          <a:bodyPr/>
          <a:lstStyle/>
          <a:p>
            <a:r>
              <a:rPr lang="en-AU" dirty="0"/>
              <a:t>Outcome is composite a </a:t>
            </a:r>
            <a:r>
              <a:rPr lang="en-AU" b="1" dirty="0"/>
              <a:t>time variable </a:t>
            </a:r>
            <a:r>
              <a:rPr lang="en-AU" dirty="0"/>
              <a:t>and a binary variable that shows the </a:t>
            </a:r>
            <a:r>
              <a:rPr lang="en-AU" b="1" dirty="0"/>
              <a:t>status of event. </a:t>
            </a:r>
          </a:p>
        </p:txBody>
      </p:sp>
      <p:graphicFrame>
        <p:nvGraphicFramePr>
          <p:cNvPr id="4" name="Table 3">
            <a:extLst>
              <a:ext uri="{FF2B5EF4-FFF2-40B4-BE49-F238E27FC236}">
                <a16:creationId xmlns:a16="http://schemas.microsoft.com/office/drawing/2014/main" id="{139E2292-F3AC-E50D-B655-C250E6014470}"/>
              </a:ext>
            </a:extLst>
          </p:cNvPr>
          <p:cNvGraphicFramePr>
            <a:graphicFrameLocks noGrp="1"/>
          </p:cNvGraphicFramePr>
          <p:nvPr>
            <p:extLst>
              <p:ext uri="{D42A27DB-BD31-4B8C-83A1-F6EECF244321}">
                <p14:modId xmlns:p14="http://schemas.microsoft.com/office/powerpoint/2010/main" val="620173343"/>
              </p:ext>
            </p:extLst>
          </p:nvPr>
        </p:nvGraphicFramePr>
        <p:xfrm>
          <a:off x="886291" y="2737047"/>
          <a:ext cx="5057571" cy="2375970"/>
        </p:xfrm>
        <a:graphic>
          <a:graphicData uri="http://schemas.openxmlformats.org/drawingml/2006/table">
            <a:tbl>
              <a:tblPr firstRow="1" bandRow="1">
                <a:tableStyleId>{5C22544A-7EE6-4342-B048-85BDC9FD1C3A}</a:tableStyleId>
              </a:tblPr>
              <a:tblGrid>
                <a:gridCol w="681252">
                  <a:extLst>
                    <a:ext uri="{9D8B030D-6E8A-4147-A177-3AD203B41FA5}">
                      <a16:colId xmlns:a16="http://schemas.microsoft.com/office/drawing/2014/main" val="2664143542"/>
                    </a:ext>
                  </a:extLst>
                </a:gridCol>
                <a:gridCol w="1828800">
                  <a:extLst>
                    <a:ext uri="{9D8B030D-6E8A-4147-A177-3AD203B41FA5}">
                      <a16:colId xmlns:a16="http://schemas.microsoft.com/office/drawing/2014/main" val="299630514"/>
                    </a:ext>
                  </a:extLst>
                </a:gridCol>
                <a:gridCol w="2547519">
                  <a:extLst>
                    <a:ext uri="{9D8B030D-6E8A-4147-A177-3AD203B41FA5}">
                      <a16:colId xmlns:a16="http://schemas.microsoft.com/office/drawing/2014/main" val="446213353"/>
                    </a:ext>
                  </a:extLst>
                </a:gridCol>
              </a:tblGrid>
              <a:tr h="475194">
                <a:tc>
                  <a:txBody>
                    <a:bodyPr/>
                    <a:lstStyle/>
                    <a:p>
                      <a:r>
                        <a:rPr lang="en-AU" dirty="0"/>
                        <a:t>ID</a:t>
                      </a:r>
                    </a:p>
                  </a:txBody>
                  <a:tcPr/>
                </a:tc>
                <a:tc>
                  <a:txBody>
                    <a:bodyPr/>
                    <a:lstStyle/>
                    <a:p>
                      <a:r>
                        <a:rPr lang="en-AU" dirty="0"/>
                        <a:t>Event (Death)</a:t>
                      </a:r>
                    </a:p>
                  </a:txBody>
                  <a:tcPr/>
                </a:tc>
                <a:tc>
                  <a:txBody>
                    <a:bodyPr/>
                    <a:lstStyle/>
                    <a:p>
                      <a:r>
                        <a:rPr lang="en-AU" dirty="0"/>
                        <a:t>Time to event (month) </a:t>
                      </a:r>
                    </a:p>
                  </a:txBody>
                  <a:tcPr/>
                </a:tc>
                <a:extLst>
                  <a:ext uri="{0D108BD9-81ED-4DB2-BD59-A6C34878D82A}">
                    <a16:rowId xmlns:a16="http://schemas.microsoft.com/office/drawing/2014/main" val="3202058545"/>
                  </a:ext>
                </a:extLst>
              </a:tr>
              <a:tr h="475194">
                <a:tc>
                  <a:txBody>
                    <a:bodyPr/>
                    <a:lstStyle/>
                    <a:p>
                      <a:r>
                        <a:rPr lang="en-AU" dirty="0"/>
                        <a:t>A</a:t>
                      </a:r>
                    </a:p>
                  </a:txBody>
                  <a:tcPr/>
                </a:tc>
                <a:tc>
                  <a:txBody>
                    <a:bodyPr/>
                    <a:lstStyle/>
                    <a:p>
                      <a:r>
                        <a:rPr lang="en-AU" dirty="0"/>
                        <a:t>1</a:t>
                      </a:r>
                    </a:p>
                  </a:txBody>
                  <a:tcPr/>
                </a:tc>
                <a:tc>
                  <a:txBody>
                    <a:bodyPr/>
                    <a:lstStyle/>
                    <a:p>
                      <a:r>
                        <a:rPr lang="en-AU" dirty="0"/>
                        <a:t>18</a:t>
                      </a:r>
                    </a:p>
                  </a:txBody>
                  <a:tcPr/>
                </a:tc>
                <a:extLst>
                  <a:ext uri="{0D108BD9-81ED-4DB2-BD59-A6C34878D82A}">
                    <a16:rowId xmlns:a16="http://schemas.microsoft.com/office/drawing/2014/main" val="2478220169"/>
                  </a:ext>
                </a:extLst>
              </a:tr>
              <a:tr h="475194">
                <a:tc>
                  <a:txBody>
                    <a:bodyPr/>
                    <a:lstStyle/>
                    <a:p>
                      <a:r>
                        <a:rPr lang="en-AU" dirty="0"/>
                        <a:t>B</a:t>
                      </a:r>
                    </a:p>
                  </a:txBody>
                  <a:tcPr/>
                </a:tc>
                <a:tc>
                  <a:txBody>
                    <a:bodyPr/>
                    <a:lstStyle/>
                    <a:p>
                      <a:r>
                        <a:rPr lang="en-AU" dirty="0"/>
                        <a:t>0</a:t>
                      </a:r>
                    </a:p>
                  </a:txBody>
                  <a:tcPr/>
                </a:tc>
                <a:tc>
                  <a:txBody>
                    <a:bodyPr/>
                    <a:lstStyle/>
                    <a:p>
                      <a:r>
                        <a:rPr lang="en-AU" dirty="0"/>
                        <a:t>24</a:t>
                      </a:r>
                    </a:p>
                  </a:txBody>
                  <a:tcPr/>
                </a:tc>
                <a:extLst>
                  <a:ext uri="{0D108BD9-81ED-4DB2-BD59-A6C34878D82A}">
                    <a16:rowId xmlns:a16="http://schemas.microsoft.com/office/drawing/2014/main" val="1032704195"/>
                  </a:ext>
                </a:extLst>
              </a:tr>
              <a:tr h="475194">
                <a:tc>
                  <a:txBody>
                    <a:bodyPr/>
                    <a:lstStyle/>
                    <a:p>
                      <a:r>
                        <a:rPr lang="en-AU" dirty="0"/>
                        <a:t>C</a:t>
                      </a:r>
                    </a:p>
                  </a:txBody>
                  <a:tcPr/>
                </a:tc>
                <a:tc>
                  <a:txBody>
                    <a:bodyPr/>
                    <a:lstStyle/>
                    <a:p>
                      <a:r>
                        <a:rPr lang="en-AU" dirty="0"/>
                        <a:t>1</a:t>
                      </a:r>
                    </a:p>
                  </a:txBody>
                  <a:tcPr/>
                </a:tc>
                <a:tc>
                  <a:txBody>
                    <a:bodyPr/>
                    <a:lstStyle/>
                    <a:p>
                      <a:r>
                        <a:rPr lang="en-AU" dirty="0"/>
                        <a:t>20</a:t>
                      </a:r>
                    </a:p>
                  </a:txBody>
                  <a:tcPr/>
                </a:tc>
                <a:extLst>
                  <a:ext uri="{0D108BD9-81ED-4DB2-BD59-A6C34878D82A}">
                    <a16:rowId xmlns:a16="http://schemas.microsoft.com/office/drawing/2014/main" val="3676664945"/>
                  </a:ext>
                </a:extLst>
              </a:tr>
              <a:tr h="475194">
                <a:tc>
                  <a:txBody>
                    <a:bodyPr/>
                    <a:lstStyle/>
                    <a:p>
                      <a:r>
                        <a:rPr lang="en-AU" dirty="0"/>
                        <a:t>D</a:t>
                      </a:r>
                    </a:p>
                  </a:txBody>
                  <a:tcPr/>
                </a:tc>
                <a:tc>
                  <a:txBody>
                    <a:bodyPr/>
                    <a:lstStyle/>
                    <a:p>
                      <a:r>
                        <a:rPr lang="en-AU" dirty="0"/>
                        <a:t>0</a:t>
                      </a:r>
                    </a:p>
                  </a:txBody>
                  <a:tcPr/>
                </a:tc>
                <a:tc>
                  <a:txBody>
                    <a:bodyPr/>
                    <a:lstStyle/>
                    <a:p>
                      <a:r>
                        <a:rPr lang="en-AU" dirty="0"/>
                        <a:t>16</a:t>
                      </a:r>
                    </a:p>
                  </a:txBody>
                  <a:tcPr/>
                </a:tc>
                <a:extLst>
                  <a:ext uri="{0D108BD9-81ED-4DB2-BD59-A6C34878D82A}">
                    <a16:rowId xmlns:a16="http://schemas.microsoft.com/office/drawing/2014/main" val="101303617"/>
                  </a:ext>
                </a:extLst>
              </a:tr>
            </a:tbl>
          </a:graphicData>
        </a:graphic>
      </p:graphicFrame>
      <p:pic>
        <p:nvPicPr>
          <p:cNvPr id="5" name="Picture 4" descr="A picture containing text, screenshot, font, diagram&#10;&#10;Description automatically generated">
            <a:extLst>
              <a:ext uri="{FF2B5EF4-FFF2-40B4-BE49-F238E27FC236}">
                <a16:creationId xmlns:a16="http://schemas.microsoft.com/office/drawing/2014/main" id="{7F5E4A7F-3B46-8B21-2B3C-F52943ACDA98}"/>
              </a:ext>
            </a:extLst>
          </p:cNvPr>
          <p:cNvPicPr>
            <a:picLocks noChangeAspect="1"/>
          </p:cNvPicPr>
          <p:nvPr/>
        </p:nvPicPr>
        <p:blipFill>
          <a:blip r:embed="rId3"/>
          <a:stretch>
            <a:fillRect/>
          </a:stretch>
        </p:blipFill>
        <p:spPr>
          <a:xfrm>
            <a:off x="6248140" y="2737048"/>
            <a:ext cx="5550854" cy="2542878"/>
          </a:xfrm>
          <a:prstGeom prst="rect">
            <a:avLst/>
          </a:prstGeom>
        </p:spPr>
      </p:pic>
      <p:sp>
        <p:nvSpPr>
          <p:cNvPr id="6" name="TextBox 5">
            <a:extLst>
              <a:ext uri="{FF2B5EF4-FFF2-40B4-BE49-F238E27FC236}">
                <a16:creationId xmlns:a16="http://schemas.microsoft.com/office/drawing/2014/main" id="{6CFF9C00-C8FF-62CC-DC51-2B988026A73F}"/>
              </a:ext>
            </a:extLst>
          </p:cNvPr>
          <p:cNvSpPr txBox="1"/>
          <p:nvPr/>
        </p:nvSpPr>
        <p:spPr>
          <a:xfrm>
            <a:off x="8441676" y="5095260"/>
            <a:ext cx="581891" cy="369332"/>
          </a:xfrm>
          <a:prstGeom prst="rect">
            <a:avLst/>
          </a:prstGeom>
          <a:noFill/>
        </p:spPr>
        <p:txBody>
          <a:bodyPr wrap="square" rtlCol="0">
            <a:spAutoFit/>
          </a:bodyPr>
          <a:lstStyle/>
          <a:p>
            <a:r>
              <a:rPr lang="en-AU" dirty="0"/>
              <a:t>24</a:t>
            </a:r>
          </a:p>
        </p:txBody>
      </p:sp>
      <p:sp>
        <p:nvSpPr>
          <p:cNvPr id="7" name="TextBox 6">
            <a:extLst>
              <a:ext uri="{FF2B5EF4-FFF2-40B4-BE49-F238E27FC236}">
                <a16:creationId xmlns:a16="http://schemas.microsoft.com/office/drawing/2014/main" id="{6057ED6C-82A3-F9CB-B002-5BF27BC5A24F}"/>
              </a:ext>
            </a:extLst>
          </p:cNvPr>
          <p:cNvSpPr txBox="1"/>
          <p:nvPr/>
        </p:nvSpPr>
        <p:spPr>
          <a:xfrm>
            <a:off x="9761516" y="4818261"/>
            <a:ext cx="1064830" cy="369332"/>
          </a:xfrm>
          <a:prstGeom prst="rect">
            <a:avLst/>
          </a:prstGeom>
          <a:noFill/>
        </p:spPr>
        <p:txBody>
          <a:bodyPr wrap="square" rtlCol="0">
            <a:spAutoFit/>
          </a:bodyPr>
          <a:lstStyle/>
          <a:p>
            <a:r>
              <a:rPr lang="en-AU" dirty="0"/>
              <a:t>(month)</a:t>
            </a:r>
          </a:p>
        </p:txBody>
      </p:sp>
      <p:sp>
        <p:nvSpPr>
          <p:cNvPr id="8" name="Footer Placeholder 7">
            <a:extLst>
              <a:ext uri="{FF2B5EF4-FFF2-40B4-BE49-F238E27FC236}">
                <a16:creationId xmlns:a16="http://schemas.microsoft.com/office/drawing/2014/main" id="{5334BE17-4F9E-239D-C915-C43A0B1F0994}"/>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2307017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59B4-4F24-E8A6-9DB3-6761235DF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C4A3F-8D85-D29F-1788-02377CA46E26}"/>
              </a:ext>
            </a:extLst>
          </p:cNvPr>
          <p:cNvSpPr>
            <a:spLocks noGrp="1"/>
          </p:cNvSpPr>
          <p:nvPr>
            <p:ph type="title"/>
          </p:nvPr>
        </p:nvSpPr>
        <p:spPr/>
        <p:txBody>
          <a:bodyPr/>
          <a:lstStyle/>
          <a:p>
            <a:r>
              <a:rPr lang="en-US" dirty="0"/>
              <a:t>What Can We Model in Survival Analysis?</a:t>
            </a:r>
            <a:endParaRPr lang="en-AU" dirty="0"/>
          </a:p>
        </p:txBody>
      </p:sp>
      <p:graphicFrame>
        <p:nvGraphicFramePr>
          <p:cNvPr id="4" name="Table 3">
            <a:extLst>
              <a:ext uri="{FF2B5EF4-FFF2-40B4-BE49-F238E27FC236}">
                <a16:creationId xmlns:a16="http://schemas.microsoft.com/office/drawing/2014/main" id="{63E6F578-D270-A78E-A3B6-CF0847E04E14}"/>
              </a:ext>
            </a:extLst>
          </p:cNvPr>
          <p:cNvGraphicFramePr>
            <a:graphicFrameLocks noGrp="1"/>
          </p:cNvGraphicFramePr>
          <p:nvPr>
            <p:extLst>
              <p:ext uri="{D42A27DB-BD31-4B8C-83A1-F6EECF244321}">
                <p14:modId xmlns:p14="http://schemas.microsoft.com/office/powerpoint/2010/main" val="1038373607"/>
              </p:ext>
            </p:extLst>
          </p:nvPr>
        </p:nvGraphicFramePr>
        <p:xfrm>
          <a:off x="973777" y="1805049"/>
          <a:ext cx="9524012" cy="4078159"/>
        </p:xfrm>
        <a:graphic>
          <a:graphicData uri="http://schemas.openxmlformats.org/drawingml/2006/table">
            <a:tbl>
              <a:tblPr>
                <a:tableStyleId>{10A1B5D5-9B99-4C35-A422-299274C87663}</a:tableStyleId>
              </a:tblPr>
              <a:tblGrid>
                <a:gridCol w="2381003">
                  <a:extLst>
                    <a:ext uri="{9D8B030D-6E8A-4147-A177-3AD203B41FA5}">
                      <a16:colId xmlns:a16="http://schemas.microsoft.com/office/drawing/2014/main" val="1197216168"/>
                    </a:ext>
                  </a:extLst>
                </a:gridCol>
                <a:gridCol w="2381003">
                  <a:extLst>
                    <a:ext uri="{9D8B030D-6E8A-4147-A177-3AD203B41FA5}">
                      <a16:colId xmlns:a16="http://schemas.microsoft.com/office/drawing/2014/main" val="636646469"/>
                    </a:ext>
                  </a:extLst>
                </a:gridCol>
                <a:gridCol w="2381003">
                  <a:extLst>
                    <a:ext uri="{9D8B030D-6E8A-4147-A177-3AD203B41FA5}">
                      <a16:colId xmlns:a16="http://schemas.microsoft.com/office/drawing/2014/main" val="314655829"/>
                    </a:ext>
                  </a:extLst>
                </a:gridCol>
                <a:gridCol w="2381003">
                  <a:extLst>
                    <a:ext uri="{9D8B030D-6E8A-4147-A177-3AD203B41FA5}">
                      <a16:colId xmlns:a16="http://schemas.microsoft.com/office/drawing/2014/main" val="433144649"/>
                    </a:ext>
                  </a:extLst>
                </a:gridCol>
              </a:tblGrid>
              <a:tr h="370743">
                <a:tc>
                  <a:txBody>
                    <a:bodyPr/>
                    <a:lstStyle/>
                    <a:p>
                      <a:r>
                        <a:rPr lang="en-AU" sz="1800" b="1" dirty="0">
                          <a:solidFill>
                            <a:schemeClr val="bg1"/>
                          </a:solidFill>
                        </a:rPr>
                        <a:t>Goal</a:t>
                      </a:r>
                      <a:endParaRPr lang="en-AU" sz="1800" dirty="0">
                        <a:solidFill>
                          <a:schemeClr val="bg1"/>
                        </a:solidFill>
                      </a:endParaRPr>
                    </a:p>
                  </a:txBody>
                  <a:tcPr marL="47951" marR="47951" marT="23975" marB="23975" anchor="ctr">
                    <a:solidFill>
                      <a:schemeClr val="accent6">
                        <a:lumMod val="75000"/>
                      </a:schemeClr>
                    </a:solidFill>
                  </a:tcPr>
                </a:tc>
                <a:tc>
                  <a:txBody>
                    <a:bodyPr/>
                    <a:lstStyle/>
                    <a:p>
                      <a:r>
                        <a:rPr lang="en-AU" sz="1800" b="1" dirty="0">
                          <a:solidFill>
                            <a:schemeClr val="bg1"/>
                          </a:solidFill>
                        </a:rPr>
                        <a:t>Question</a:t>
                      </a:r>
                      <a:endParaRPr lang="en-AU" sz="1800" dirty="0">
                        <a:solidFill>
                          <a:schemeClr val="bg1"/>
                        </a:solidFill>
                      </a:endParaRPr>
                    </a:p>
                  </a:txBody>
                  <a:tcPr marL="47951" marR="47951" marT="23975" marB="23975" anchor="ctr">
                    <a:solidFill>
                      <a:schemeClr val="accent6">
                        <a:lumMod val="75000"/>
                      </a:schemeClr>
                    </a:solidFill>
                  </a:tcPr>
                </a:tc>
                <a:tc>
                  <a:txBody>
                    <a:bodyPr/>
                    <a:lstStyle/>
                    <a:p>
                      <a:r>
                        <a:rPr lang="en-AU" sz="1800" b="1">
                          <a:solidFill>
                            <a:schemeClr val="bg1"/>
                          </a:solidFill>
                        </a:rPr>
                        <a:t>Model Type</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dirty="0">
                          <a:solidFill>
                            <a:schemeClr val="bg1"/>
                          </a:solidFill>
                        </a:rPr>
                        <a:t>What We Get</a:t>
                      </a:r>
                      <a:endParaRPr lang="en-AU" sz="1800" dirty="0">
                        <a:solidFill>
                          <a:schemeClr val="bg1"/>
                        </a:solidFill>
                      </a:endParaRPr>
                    </a:p>
                  </a:txBody>
                  <a:tcPr marL="47951" marR="47951" marT="23975" marB="23975" anchor="ctr">
                    <a:solidFill>
                      <a:schemeClr val="accent6">
                        <a:lumMod val="75000"/>
                      </a:schemeClr>
                    </a:solidFill>
                  </a:tcPr>
                </a:tc>
                <a:extLst>
                  <a:ext uri="{0D108BD9-81ED-4DB2-BD59-A6C34878D82A}">
                    <a16:rowId xmlns:a16="http://schemas.microsoft.com/office/drawing/2014/main" val="450438816"/>
                  </a:ext>
                </a:extLst>
              </a:tr>
              <a:tr h="926854">
                <a:tc>
                  <a:txBody>
                    <a:bodyPr/>
                    <a:lstStyle/>
                    <a:p>
                      <a:r>
                        <a:rPr lang="en-US" sz="1800" dirty="0"/>
                        <a:t>1. Estimate </a:t>
                      </a:r>
                      <a:r>
                        <a:rPr lang="en-US" sz="1800" b="1" dirty="0"/>
                        <a:t>chance of surviving</a:t>
                      </a:r>
                      <a:endParaRPr lang="en-US" sz="1800" dirty="0"/>
                    </a:p>
                  </a:txBody>
                  <a:tcPr marL="47951" marR="47951" marT="23975" marB="23975" anchor="ctr"/>
                </a:tc>
                <a:tc>
                  <a:txBody>
                    <a:bodyPr/>
                    <a:lstStyle/>
                    <a:p>
                      <a:r>
                        <a:rPr lang="en-US" sz="1800" dirty="0"/>
                        <a:t>What’s the probability of still being event-free at time t?</a:t>
                      </a:r>
                    </a:p>
                  </a:txBody>
                  <a:tcPr marL="47951" marR="47951" marT="23975" marB="23975" anchor="ctr"/>
                </a:tc>
                <a:tc>
                  <a:txBody>
                    <a:bodyPr/>
                    <a:lstStyle/>
                    <a:p>
                      <a:r>
                        <a:rPr lang="en-AU" sz="1800" dirty="0"/>
                        <a:t>Kaplan-Meier, parametric models</a:t>
                      </a:r>
                    </a:p>
                  </a:txBody>
                  <a:tcPr marL="47951" marR="47951" marT="23975" marB="23975" anchor="ctr"/>
                </a:tc>
                <a:tc>
                  <a:txBody>
                    <a:bodyPr/>
                    <a:lstStyle/>
                    <a:p>
                      <a:r>
                        <a:rPr lang="en-AU" sz="1800" b="1" dirty="0"/>
                        <a:t>Survival curves</a:t>
                      </a:r>
                      <a:endParaRPr lang="en-AU" sz="1800" dirty="0"/>
                    </a:p>
                  </a:txBody>
                  <a:tcPr marL="47951" marR="47951" marT="23975" marB="23975" anchor="ctr"/>
                </a:tc>
                <a:extLst>
                  <a:ext uri="{0D108BD9-81ED-4DB2-BD59-A6C34878D82A}">
                    <a16:rowId xmlns:a16="http://schemas.microsoft.com/office/drawing/2014/main" val="2987545169"/>
                  </a:ext>
                </a:extLst>
              </a:tr>
              <a:tr h="926854">
                <a:tc>
                  <a:txBody>
                    <a:bodyPr/>
                    <a:lstStyle/>
                    <a:p>
                      <a:r>
                        <a:rPr lang="en-US" sz="1800" dirty="0"/>
                        <a:t>2. Estimate </a:t>
                      </a:r>
                      <a:r>
                        <a:rPr lang="en-US" sz="1800" b="1" dirty="0"/>
                        <a:t>average survival time</a:t>
                      </a:r>
                      <a:endParaRPr lang="en-US" sz="1800" dirty="0"/>
                    </a:p>
                  </a:txBody>
                  <a:tcPr marL="47951" marR="47951" marT="23975" marB="23975" anchor="ctr"/>
                </a:tc>
                <a:tc>
                  <a:txBody>
                    <a:bodyPr/>
                    <a:lstStyle/>
                    <a:p>
                      <a:r>
                        <a:rPr lang="en-US" sz="1800" dirty="0"/>
                        <a:t>How long do people survive, on average, up to a time point?</a:t>
                      </a:r>
                    </a:p>
                  </a:txBody>
                  <a:tcPr marL="47951" marR="47951" marT="23975" marB="23975" anchor="ctr"/>
                </a:tc>
                <a:tc>
                  <a:txBody>
                    <a:bodyPr/>
                    <a:lstStyle/>
                    <a:p>
                      <a:r>
                        <a:rPr lang="en-AU" sz="1800"/>
                        <a:t>RMST regression</a:t>
                      </a:r>
                    </a:p>
                  </a:txBody>
                  <a:tcPr marL="47951" marR="47951" marT="23975" marB="23975" anchor="ctr"/>
                </a:tc>
                <a:tc>
                  <a:txBody>
                    <a:bodyPr/>
                    <a:lstStyle/>
                    <a:p>
                      <a:r>
                        <a:rPr lang="en-AU" sz="1800" b="1" dirty="0"/>
                        <a:t>Average time survived (RMST)</a:t>
                      </a:r>
                      <a:endParaRPr lang="en-AU" sz="1800" dirty="0"/>
                    </a:p>
                  </a:txBody>
                  <a:tcPr marL="47951" marR="47951" marT="23975" marB="23975" anchor="ctr"/>
                </a:tc>
                <a:extLst>
                  <a:ext uri="{0D108BD9-81ED-4DB2-BD59-A6C34878D82A}">
                    <a16:rowId xmlns:a16="http://schemas.microsoft.com/office/drawing/2014/main" val="2252572675"/>
                  </a:ext>
                </a:extLst>
              </a:tr>
              <a:tr h="926854">
                <a:tc>
                  <a:txBody>
                    <a:bodyPr/>
                    <a:lstStyle/>
                    <a:p>
                      <a:r>
                        <a:rPr lang="en-US" sz="1800" dirty="0"/>
                        <a:t>3. Estimate </a:t>
                      </a:r>
                      <a:r>
                        <a:rPr lang="en-US" sz="1800" b="1" dirty="0"/>
                        <a:t>risk over time</a:t>
                      </a:r>
                      <a:endParaRPr lang="en-US" sz="1800" dirty="0"/>
                    </a:p>
                  </a:txBody>
                  <a:tcPr marL="47951" marR="47951" marT="23975" marB="23975" anchor="ctr"/>
                </a:tc>
                <a:tc>
                  <a:txBody>
                    <a:bodyPr/>
                    <a:lstStyle/>
                    <a:p>
                      <a:r>
                        <a:rPr lang="en-US" sz="1800" dirty="0"/>
                        <a:t>What’s the risk of the event at each time point?</a:t>
                      </a:r>
                    </a:p>
                  </a:txBody>
                  <a:tcPr marL="47951" marR="47951" marT="23975" marB="23975" anchor="ctr"/>
                </a:tc>
                <a:tc>
                  <a:txBody>
                    <a:bodyPr/>
                    <a:lstStyle/>
                    <a:p>
                      <a:r>
                        <a:rPr lang="en-AU" sz="1800" dirty="0"/>
                        <a:t>Cox model, parametric models (e.g., Weibull)</a:t>
                      </a:r>
                    </a:p>
                  </a:txBody>
                  <a:tcPr marL="47951" marR="47951" marT="23975" marB="23975" anchor="ctr"/>
                </a:tc>
                <a:tc>
                  <a:txBody>
                    <a:bodyPr/>
                    <a:lstStyle/>
                    <a:p>
                      <a:r>
                        <a:rPr lang="en-US" sz="1800" b="1" dirty="0"/>
                        <a:t>Hazard ratios</a:t>
                      </a:r>
                      <a:r>
                        <a:rPr lang="en-US" sz="1800" dirty="0"/>
                        <a:t> (e.g., treatment effect)</a:t>
                      </a:r>
                    </a:p>
                  </a:txBody>
                  <a:tcPr marL="47951" marR="47951" marT="23975" marB="23975" anchor="ctr"/>
                </a:tc>
                <a:extLst>
                  <a:ext uri="{0D108BD9-81ED-4DB2-BD59-A6C34878D82A}">
                    <a16:rowId xmlns:a16="http://schemas.microsoft.com/office/drawing/2014/main" val="596375627"/>
                  </a:ext>
                </a:extLst>
              </a:tr>
              <a:tr h="926854">
                <a:tc>
                  <a:txBody>
                    <a:bodyPr/>
                    <a:lstStyle/>
                    <a:p>
                      <a:r>
                        <a:rPr lang="en-AU" sz="1800" dirty="0"/>
                        <a:t>4. Compare </a:t>
                      </a:r>
                      <a:r>
                        <a:rPr lang="en-AU" sz="1800" b="1" dirty="0"/>
                        <a:t>event types</a:t>
                      </a:r>
                      <a:endParaRPr lang="en-AU" sz="1800" dirty="0"/>
                    </a:p>
                  </a:txBody>
                  <a:tcPr marL="47951" marR="47951" marT="23975" marB="23975" anchor="ctr"/>
                </a:tc>
                <a:tc>
                  <a:txBody>
                    <a:bodyPr/>
                    <a:lstStyle/>
                    <a:p>
                      <a:r>
                        <a:rPr lang="en-US" sz="1800" dirty="0"/>
                        <a:t>What’s the chance of dying from cause A vs. cause B?</a:t>
                      </a:r>
                    </a:p>
                  </a:txBody>
                  <a:tcPr marL="47951" marR="47951" marT="23975" marB="23975" anchor="ctr"/>
                </a:tc>
                <a:tc>
                  <a:txBody>
                    <a:bodyPr/>
                    <a:lstStyle/>
                    <a:p>
                      <a:r>
                        <a:rPr lang="en-AU" sz="1800" dirty="0"/>
                        <a:t>Competing risks models</a:t>
                      </a:r>
                    </a:p>
                  </a:txBody>
                  <a:tcPr marL="47951" marR="47951" marT="23975" marB="23975" anchor="ctr"/>
                </a:tc>
                <a:tc>
                  <a:txBody>
                    <a:bodyPr/>
                    <a:lstStyle/>
                    <a:p>
                      <a:r>
                        <a:rPr lang="en-AU" sz="1800" b="1" dirty="0"/>
                        <a:t>Cumulative incidence curves</a:t>
                      </a:r>
                      <a:endParaRPr lang="en-AU" sz="1800" dirty="0"/>
                    </a:p>
                  </a:txBody>
                  <a:tcPr marL="47951" marR="47951" marT="23975" marB="23975" anchor="ctr"/>
                </a:tc>
                <a:extLst>
                  <a:ext uri="{0D108BD9-81ED-4DB2-BD59-A6C34878D82A}">
                    <a16:rowId xmlns:a16="http://schemas.microsoft.com/office/drawing/2014/main" val="2878564748"/>
                  </a:ext>
                </a:extLst>
              </a:tr>
            </a:tbl>
          </a:graphicData>
        </a:graphic>
      </p:graphicFrame>
      <p:sp>
        <p:nvSpPr>
          <p:cNvPr id="3" name="Footer Placeholder 2">
            <a:extLst>
              <a:ext uri="{FF2B5EF4-FFF2-40B4-BE49-F238E27FC236}">
                <a16:creationId xmlns:a16="http://schemas.microsoft.com/office/drawing/2014/main" id="{444356EF-6122-01D3-E261-9A16383C732A}"/>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2818659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B469-0FE4-493E-AD7A-6FB65E112838}"/>
              </a:ext>
            </a:extLst>
          </p:cNvPr>
          <p:cNvSpPr>
            <a:spLocks noGrp="1"/>
          </p:cNvSpPr>
          <p:nvPr>
            <p:ph type="title"/>
          </p:nvPr>
        </p:nvSpPr>
        <p:spPr/>
        <p:txBody>
          <a:bodyPr/>
          <a:lstStyle/>
          <a:p>
            <a:r>
              <a:rPr lang="en-US" dirty="0"/>
              <a:t>What Can We Model in Survival Analysis?</a:t>
            </a:r>
            <a:endParaRPr lang="en-AU" dirty="0"/>
          </a:p>
        </p:txBody>
      </p:sp>
      <p:graphicFrame>
        <p:nvGraphicFramePr>
          <p:cNvPr id="4" name="Table 3">
            <a:extLst>
              <a:ext uri="{FF2B5EF4-FFF2-40B4-BE49-F238E27FC236}">
                <a16:creationId xmlns:a16="http://schemas.microsoft.com/office/drawing/2014/main" id="{75E6B1F7-B56A-149F-B527-6ED901503257}"/>
              </a:ext>
            </a:extLst>
          </p:cNvPr>
          <p:cNvGraphicFramePr>
            <a:graphicFrameLocks noGrp="1"/>
          </p:cNvGraphicFramePr>
          <p:nvPr>
            <p:extLst>
              <p:ext uri="{D42A27DB-BD31-4B8C-83A1-F6EECF244321}">
                <p14:modId xmlns:p14="http://schemas.microsoft.com/office/powerpoint/2010/main" val="3835570136"/>
              </p:ext>
            </p:extLst>
          </p:nvPr>
        </p:nvGraphicFramePr>
        <p:xfrm>
          <a:off x="973777" y="1805048"/>
          <a:ext cx="9524012" cy="4100997"/>
        </p:xfrm>
        <a:graphic>
          <a:graphicData uri="http://schemas.openxmlformats.org/drawingml/2006/table">
            <a:tbl>
              <a:tblPr>
                <a:tableStyleId>{10A1B5D5-9B99-4C35-A422-299274C87663}</a:tableStyleId>
              </a:tblPr>
              <a:tblGrid>
                <a:gridCol w="2381003">
                  <a:extLst>
                    <a:ext uri="{9D8B030D-6E8A-4147-A177-3AD203B41FA5}">
                      <a16:colId xmlns:a16="http://schemas.microsoft.com/office/drawing/2014/main" val="1197216168"/>
                    </a:ext>
                  </a:extLst>
                </a:gridCol>
                <a:gridCol w="2381003">
                  <a:extLst>
                    <a:ext uri="{9D8B030D-6E8A-4147-A177-3AD203B41FA5}">
                      <a16:colId xmlns:a16="http://schemas.microsoft.com/office/drawing/2014/main" val="636646469"/>
                    </a:ext>
                  </a:extLst>
                </a:gridCol>
                <a:gridCol w="2381003">
                  <a:extLst>
                    <a:ext uri="{9D8B030D-6E8A-4147-A177-3AD203B41FA5}">
                      <a16:colId xmlns:a16="http://schemas.microsoft.com/office/drawing/2014/main" val="314655829"/>
                    </a:ext>
                  </a:extLst>
                </a:gridCol>
                <a:gridCol w="2381003">
                  <a:extLst>
                    <a:ext uri="{9D8B030D-6E8A-4147-A177-3AD203B41FA5}">
                      <a16:colId xmlns:a16="http://schemas.microsoft.com/office/drawing/2014/main" val="433144649"/>
                    </a:ext>
                  </a:extLst>
                </a:gridCol>
              </a:tblGrid>
              <a:tr h="380012">
                <a:tc>
                  <a:txBody>
                    <a:bodyPr/>
                    <a:lstStyle/>
                    <a:p>
                      <a:r>
                        <a:rPr lang="en-AU" sz="1800" b="1">
                          <a:solidFill>
                            <a:schemeClr val="bg1"/>
                          </a:solidFill>
                        </a:rPr>
                        <a:t>Goal</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a:solidFill>
                            <a:schemeClr val="bg1"/>
                          </a:solidFill>
                        </a:rPr>
                        <a:t>Question</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a:solidFill>
                            <a:schemeClr val="bg1"/>
                          </a:solidFill>
                        </a:rPr>
                        <a:t>Model Type</a:t>
                      </a:r>
                      <a:endParaRPr lang="en-AU" sz="1800">
                        <a:solidFill>
                          <a:schemeClr val="bg1"/>
                        </a:solidFill>
                      </a:endParaRPr>
                    </a:p>
                  </a:txBody>
                  <a:tcPr marL="47951" marR="47951" marT="23975" marB="23975" anchor="ctr">
                    <a:solidFill>
                      <a:schemeClr val="accent6">
                        <a:lumMod val="75000"/>
                      </a:schemeClr>
                    </a:solidFill>
                  </a:tcPr>
                </a:tc>
                <a:tc>
                  <a:txBody>
                    <a:bodyPr/>
                    <a:lstStyle/>
                    <a:p>
                      <a:r>
                        <a:rPr lang="en-AU" sz="1800" b="1" dirty="0">
                          <a:solidFill>
                            <a:schemeClr val="bg1"/>
                          </a:solidFill>
                        </a:rPr>
                        <a:t>What We Get</a:t>
                      </a:r>
                      <a:endParaRPr lang="en-AU" sz="1800" dirty="0">
                        <a:solidFill>
                          <a:schemeClr val="bg1"/>
                        </a:solidFill>
                      </a:endParaRPr>
                    </a:p>
                  </a:txBody>
                  <a:tcPr marL="47951" marR="47951" marT="23975" marB="23975" anchor="ctr">
                    <a:solidFill>
                      <a:schemeClr val="accent6">
                        <a:lumMod val="75000"/>
                      </a:schemeClr>
                    </a:solidFill>
                  </a:tcPr>
                </a:tc>
                <a:extLst>
                  <a:ext uri="{0D108BD9-81ED-4DB2-BD59-A6C34878D82A}">
                    <a16:rowId xmlns:a16="http://schemas.microsoft.com/office/drawing/2014/main" val="450438816"/>
                  </a:ext>
                </a:extLst>
              </a:tr>
              <a:tr h="665019">
                <a:tc>
                  <a:txBody>
                    <a:bodyPr/>
                    <a:lstStyle/>
                    <a:p>
                      <a:r>
                        <a:rPr lang="en-US" sz="1800" dirty="0"/>
                        <a:t>5. Predict </a:t>
                      </a:r>
                      <a:r>
                        <a:rPr lang="en-US" sz="1800" b="1" dirty="0"/>
                        <a:t>specific time points</a:t>
                      </a:r>
                      <a:endParaRPr lang="en-US" sz="1800" dirty="0"/>
                    </a:p>
                  </a:txBody>
                  <a:tcPr marL="47951" marR="47951" marT="23975" marB="23975" anchor="ctr"/>
                </a:tc>
                <a:tc>
                  <a:txBody>
                    <a:bodyPr/>
                    <a:lstStyle/>
                    <a:p>
                      <a:r>
                        <a:rPr lang="en-US" sz="1800"/>
                        <a:t>When will 50% of people experience the event?</a:t>
                      </a:r>
                    </a:p>
                  </a:txBody>
                  <a:tcPr marL="47951" marR="47951" marT="23975" marB="23975" anchor="ctr"/>
                </a:tc>
                <a:tc>
                  <a:txBody>
                    <a:bodyPr/>
                    <a:lstStyle/>
                    <a:p>
                      <a:r>
                        <a:rPr lang="en-AU" sz="1800"/>
                        <a:t>Quantile survival models</a:t>
                      </a:r>
                    </a:p>
                  </a:txBody>
                  <a:tcPr marL="47951" marR="47951" marT="23975" marB="23975" anchor="ctr"/>
                </a:tc>
                <a:tc>
                  <a:txBody>
                    <a:bodyPr/>
                    <a:lstStyle/>
                    <a:p>
                      <a:r>
                        <a:rPr lang="en-AU" sz="1800" b="1" dirty="0"/>
                        <a:t>Median survival time</a:t>
                      </a:r>
                      <a:endParaRPr lang="en-AU" sz="1800" dirty="0"/>
                    </a:p>
                  </a:txBody>
                  <a:tcPr marL="47951" marR="47951" marT="23975" marB="23975" anchor="ctr"/>
                </a:tc>
                <a:extLst>
                  <a:ext uri="{0D108BD9-81ED-4DB2-BD59-A6C34878D82A}">
                    <a16:rowId xmlns:a16="http://schemas.microsoft.com/office/drawing/2014/main" val="1149085007"/>
                  </a:ext>
                </a:extLst>
              </a:tr>
              <a:tr h="950025">
                <a:tc>
                  <a:txBody>
                    <a:bodyPr/>
                    <a:lstStyle/>
                    <a:p>
                      <a:r>
                        <a:rPr lang="en-AU" sz="1800"/>
                        <a:t>6. Model </a:t>
                      </a:r>
                      <a:r>
                        <a:rPr lang="en-AU" sz="1800" b="1"/>
                        <a:t>time directly</a:t>
                      </a:r>
                      <a:endParaRPr lang="en-AU" sz="1800"/>
                    </a:p>
                  </a:txBody>
                  <a:tcPr marL="47951" marR="47951" marT="23975" marB="23975" anchor="ctr"/>
                </a:tc>
                <a:tc>
                  <a:txBody>
                    <a:bodyPr/>
                    <a:lstStyle/>
                    <a:p>
                      <a:r>
                        <a:rPr lang="en-US" sz="1800"/>
                        <a:t>How much longer does one group survive than another?</a:t>
                      </a:r>
                    </a:p>
                  </a:txBody>
                  <a:tcPr marL="47951" marR="47951" marT="23975" marB="23975" anchor="ctr"/>
                </a:tc>
                <a:tc>
                  <a:txBody>
                    <a:bodyPr/>
                    <a:lstStyle/>
                    <a:p>
                      <a:r>
                        <a:rPr lang="en-US" sz="1800" dirty="0"/>
                        <a:t>Accelerated failure time (AFT) models</a:t>
                      </a:r>
                    </a:p>
                  </a:txBody>
                  <a:tcPr marL="47951" marR="47951" marT="23975" marB="23975" anchor="ctr"/>
                </a:tc>
                <a:tc>
                  <a:txBody>
                    <a:bodyPr/>
                    <a:lstStyle/>
                    <a:p>
                      <a:r>
                        <a:rPr lang="en-AU" sz="1800" b="1"/>
                        <a:t>Time ratios</a:t>
                      </a:r>
                      <a:endParaRPr lang="en-AU" sz="1800"/>
                    </a:p>
                  </a:txBody>
                  <a:tcPr marL="47951" marR="47951" marT="23975" marB="23975" anchor="ctr"/>
                </a:tc>
                <a:extLst>
                  <a:ext uri="{0D108BD9-81ED-4DB2-BD59-A6C34878D82A}">
                    <a16:rowId xmlns:a16="http://schemas.microsoft.com/office/drawing/2014/main" val="1414395270"/>
                  </a:ext>
                </a:extLst>
              </a:tr>
              <a:tr h="950025">
                <a:tc>
                  <a:txBody>
                    <a:bodyPr/>
                    <a:lstStyle/>
                    <a:p>
                      <a:r>
                        <a:rPr lang="en-AU" sz="1800"/>
                        <a:t>7. Study </a:t>
                      </a:r>
                      <a:r>
                        <a:rPr lang="en-AU" sz="1800" b="1"/>
                        <a:t>repeated events</a:t>
                      </a:r>
                      <a:endParaRPr lang="en-AU" sz="1800"/>
                    </a:p>
                  </a:txBody>
                  <a:tcPr marL="47951" marR="47951" marT="23975" marB="23975" anchor="ctr"/>
                </a:tc>
                <a:tc>
                  <a:txBody>
                    <a:bodyPr/>
                    <a:lstStyle/>
                    <a:p>
                      <a:r>
                        <a:rPr lang="en-US" sz="1800"/>
                        <a:t>What happens when events can occur more than once?</a:t>
                      </a:r>
                    </a:p>
                  </a:txBody>
                  <a:tcPr marL="47951" marR="47951" marT="23975" marB="23975" anchor="ctr"/>
                </a:tc>
                <a:tc>
                  <a:txBody>
                    <a:bodyPr/>
                    <a:lstStyle/>
                    <a:p>
                      <a:r>
                        <a:rPr lang="en-AU" sz="1800"/>
                        <a:t>Recurrent event models</a:t>
                      </a:r>
                    </a:p>
                  </a:txBody>
                  <a:tcPr marL="47951" marR="47951" marT="23975" marB="23975" anchor="ctr"/>
                </a:tc>
                <a:tc>
                  <a:txBody>
                    <a:bodyPr/>
                    <a:lstStyle/>
                    <a:p>
                      <a:r>
                        <a:rPr lang="en-AU" sz="1800" b="1"/>
                        <a:t>Rate of events</a:t>
                      </a:r>
                      <a:endParaRPr lang="en-AU" sz="1800"/>
                    </a:p>
                  </a:txBody>
                  <a:tcPr marL="47951" marR="47951" marT="23975" marB="23975" anchor="ctr"/>
                </a:tc>
                <a:extLst>
                  <a:ext uri="{0D108BD9-81ED-4DB2-BD59-A6C34878D82A}">
                    <a16:rowId xmlns:a16="http://schemas.microsoft.com/office/drawing/2014/main" val="4256287718"/>
                  </a:ext>
                </a:extLst>
              </a:tr>
              <a:tr h="950025">
                <a:tc>
                  <a:txBody>
                    <a:bodyPr/>
                    <a:lstStyle/>
                    <a:p>
                      <a:r>
                        <a:rPr lang="en-AU" sz="1800"/>
                        <a:t>8. Understand </a:t>
                      </a:r>
                      <a:r>
                        <a:rPr lang="en-AU" sz="1800" b="1"/>
                        <a:t>causal effects</a:t>
                      </a:r>
                      <a:endParaRPr lang="en-AU" sz="1800"/>
                    </a:p>
                  </a:txBody>
                  <a:tcPr marL="47951" marR="47951" marT="23975" marB="23975" anchor="ctr"/>
                </a:tc>
                <a:tc>
                  <a:txBody>
                    <a:bodyPr/>
                    <a:lstStyle/>
                    <a:p>
                      <a:r>
                        <a:rPr lang="en-US" sz="1800"/>
                        <a:t>What would happen if we changed treatment or exposure?</a:t>
                      </a:r>
                    </a:p>
                  </a:txBody>
                  <a:tcPr marL="47951" marR="47951" marT="23975" marB="23975" anchor="ctr"/>
                </a:tc>
                <a:tc>
                  <a:txBody>
                    <a:bodyPr/>
                    <a:lstStyle/>
                    <a:p>
                      <a:r>
                        <a:rPr lang="en-AU" sz="1800" dirty="0"/>
                        <a:t>Causal survival models (IPW, g-formula)</a:t>
                      </a:r>
                    </a:p>
                  </a:txBody>
                  <a:tcPr marL="47951" marR="47951" marT="23975" marB="23975" anchor="ctr"/>
                </a:tc>
                <a:tc>
                  <a:txBody>
                    <a:bodyPr/>
                    <a:lstStyle/>
                    <a:p>
                      <a:r>
                        <a:rPr lang="en-US" sz="1800" b="1" dirty="0"/>
                        <a:t>Causal estimates</a:t>
                      </a:r>
                      <a:r>
                        <a:rPr lang="en-US" sz="1800" dirty="0"/>
                        <a:t> like survival curves or RMST</a:t>
                      </a:r>
                    </a:p>
                  </a:txBody>
                  <a:tcPr marL="47951" marR="47951" marT="23975" marB="23975" anchor="ctr"/>
                </a:tc>
                <a:extLst>
                  <a:ext uri="{0D108BD9-81ED-4DB2-BD59-A6C34878D82A}">
                    <a16:rowId xmlns:a16="http://schemas.microsoft.com/office/drawing/2014/main" val="1164728537"/>
                  </a:ext>
                </a:extLst>
              </a:tr>
            </a:tbl>
          </a:graphicData>
        </a:graphic>
      </p:graphicFrame>
      <p:sp>
        <p:nvSpPr>
          <p:cNvPr id="3" name="Footer Placeholder 2">
            <a:extLst>
              <a:ext uri="{FF2B5EF4-FFF2-40B4-BE49-F238E27FC236}">
                <a16:creationId xmlns:a16="http://schemas.microsoft.com/office/drawing/2014/main" id="{049206DE-5363-E85F-79A3-59109548F7D9}"/>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4137839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B1B8E-56C9-C384-BFB1-486E77594026}"/>
              </a:ext>
            </a:extLst>
          </p:cNvPr>
          <p:cNvSpPr>
            <a:spLocks noGrp="1"/>
          </p:cNvSpPr>
          <p:nvPr>
            <p:ph type="title"/>
          </p:nvPr>
        </p:nvSpPr>
        <p:spPr/>
        <p:txBody>
          <a:bodyPr/>
          <a:lstStyle/>
          <a:p>
            <a:r>
              <a:rPr lang="en-AU" dirty="0"/>
              <a:t>The link between Hazard to Survival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1CD27B-BA02-4738-3D23-5C4A980AA5A6}"/>
                  </a:ext>
                </a:extLst>
              </p:cNvPr>
              <p:cNvSpPr>
                <a:spLocks noGrp="1"/>
              </p:cNvSpPr>
              <p:nvPr>
                <p:ph idx="1"/>
              </p:nvPr>
            </p:nvSpPr>
            <p:spPr/>
            <p:txBody>
              <a:bodyPr/>
              <a:lstStyle/>
              <a:p>
                <a:r>
                  <a:rPr lang="en-AU" sz="1600" dirty="0"/>
                  <a:t>Cumulative hazard: </a:t>
                </a:r>
                <a14:m>
                  <m:oMath xmlns:m="http://schemas.openxmlformats.org/officeDocument/2006/math">
                    <m:r>
                      <a:rPr lang="en-AU" sz="1600" b="0" i="1" smtClean="0">
                        <a:latin typeface="Cambria Math" panose="02040503050406030204" pitchFamily="18" charset="0"/>
                      </a:rPr>
                      <m:t>𝐻</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𝑡</m:t>
                        </m:r>
                      </m:e>
                    </m:d>
                    <m:r>
                      <a:rPr lang="en-AU" sz="1600" b="0" i="1" smtClean="0">
                        <a:latin typeface="Cambria Math" panose="02040503050406030204" pitchFamily="18" charset="0"/>
                      </a:rPr>
                      <m:t>=</m:t>
                    </m:r>
                    <m:nary>
                      <m:naryPr>
                        <m:limLoc m:val="undOvr"/>
                        <m:ctrlPr>
                          <a:rPr lang="en-AU" sz="1600" b="0" i="1" smtClean="0">
                            <a:latin typeface="Cambria Math" panose="02040503050406030204" pitchFamily="18" charset="0"/>
                          </a:rPr>
                        </m:ctrlPr>
                      </m:naryPr>
                      <m:sub>
                        <m:r>
                          <m:rPr>
                            <m:brk m:alnAt="24"/>
                          </m:rPr>
                          <a:rPr lang="en-AU" sz="1600" b="0" i="1" smtClean="0">
                            <a:latin typeface="Cambria Math" panose="02040503050406030204" pitchFamily="18" charset="0"/>
                          </a:rPr>
                          <m:t>0</m:t>
                        </m:r>
                      </m:sub>
                      <m:sup>
                        <m:r>
                          <a:rPr lang="en-AU" sz="1600" b="0" i="1" smtClean="0">
                            <a:latin typeface="Cambria Math" panose="02040503050406030204" pitchFamily="18" charset="0"/>
                          </a:rPr>
                          <m:t>𝑡</m:t>
                        </m:r>
                      </m:sup>
                      <m:e>
                        <m:r>
                          <a:rPr lang="en-AU" sz="1600" b="0" i="1" smtClean="0">
                            <a:latin typeface="Cambria Math" panose="02040503050406030204" pitchFamily="18" charset="0"/>
                          </a:rPr>
                          <m:t>h</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𝑢</m:t>
                            </m:r>
                          </m:e>
                        </m:d>
                        <m:r>
                          <a:rPr lang="en-AU" sz="1600" b="0" i="1" smtClean="0">
                            <a:latin typeface="Cambria Math" panose="02040503050406030204" pitchFamily="18" charset="0"/>
                          </a:rPr>
                          <m:t>𝑑𝑢</m:t>
                        </m:r>
                      </m:e>
                    </m:nary>
                  </m:oMath>
                </a14:m>
                <a:endParaRPr lang="en-AU" sz="1600" b="0" dirty="0"/>
              </a:p>
              <a:p>
                <a:r>
                  <a:rPr lang="en-AU" sz="1600" dirty="0"/>
                  <a:t>Survival curve: </a:t>
                </a:r>
                <a14:m>
                  <m:oMath xmlns:m="http://schemas.openxmlformats.org/officeDocument/2006/math">
                    <m:r>
                      <a:rPr lang="en-AU" sz="1600" b="0" i="1" smtClean="0">
                        <a:latin typeface="Cambria Math" panose="02040503050406030204" pitchFamily="18" charset="0"/>
                      </a:rPr>
                      <m:t>𝑆</m:t>
                    </m:r>
                    <m:d>
                      <m:dPr>
                        <m:ctrlPr>
                          <a:rPr lang="en-AU" sz="1600" b="0" i="1" smtClean="0">
                            <a:latin typeface="Cambria Math" panose="02040503050406030204" pitchFamily="18" charset="0"/>
                          </a:rPr>
                        </m:ctrlPr>
                      </m:dPr>
                      <m:e>
                        <m:r>
                          <a:rPr lang="en-AU" sz="1600" b="0" i="1" smtClean="0">
                            <a:latin typeface="Cambria Math" panose="02040503050406030204" pitchFamily="18" charset="0"/>
                          </a:rPr>
                          <m:t>𝑡</m:t>
                        </m:r>
                      </m:e>
                    </m:d>
                    <m:r>
                      <a:rPr lang="en-AU" sz="1600" b="0" i="1" smtClean="0">
                        <a:latin typeface="Cambria Math" panose="02040503050406030204" pitchFamily="18" charset="0"/>
                      </a:rPr>
                      <m:t>=</m:t>
                    </m:r>
                    <m:r>
                      <m:rPr>
                        <m:sty m:val="p"/>
                      </m:rPr>
                      <a:rPr lang="en-AU" sz="1600" b="0" i="0" smtClean="0">
                        <a:latin typeface="Cambria Math" panose="02040503050406030204" pitchFamily="18" charset="0"/>
                      </a:rPr>
                      <m:t>exp</m:t>
                    </m:r>
                    <m:r>
                      <a:rPr lang="en-AU" sz="1600" b="0" i="1" smtClean="0">
                        <a:latin typeface="Cambria Math" panose="02040503050406030204" pitchFamily="18" charset="0"/>
                      </a:rPr>
                      <m:t>⁡{−</m:t>
                    </m:r>
                    <m:r>
                      <a:rPr lang="en-AU" sz="1600" b="0" i="1" smtClean="0">
                        <a:latin typeface="Cambria Math" panose="02040503050406030204" pitchFamily="18" charset="0"/>
                      </a:rPr>
                      <m:t>𝐻</m:t>
                    </m:r>
                    <m:r>
                      <a:rPr lang="en-AU" sz="1600" b="0" i="1" smtClean="0">
                        <a:latin typeface="Cambria Math" panose="02040503050406030204" pitchFamily="18" charset="0"/>
                      </a:rPr>
                      <m:t>(</m:t>
                    </m:r>
                    <m:r>
                      <a:rPr lang="en-AU" sz="1600" b="0" i="1" smtClean="0">
                        <a:latin typeface="Cambria Math" panose="02040503050406030204" pitchFamily="18" charset="0"/>
                      </a:rPr>
                      <m:t>𝑡</m:t>
                    </m:r>
                    <m:r>
                      <a:rPr lang="en-AU" sz="1600" b="0" i="1" smtClean="0">
                        <a:latin typeface="Cambria Math" panose="02040503050406030204" pitchFamily="18" charset="0"/>
                      </a:rPr>
                      <m:t>)}</m:t>
                    </m:r>
                  </m:oMath>
                </a14:m>
                <a:endParaRPr lang="en-AU" sz="1600" dirty="0"/>
              </a:p>
              <a:p>
                <a:endParaRPr lang="en-AU" dirty="0"/>
              </a:p>
              <a:p>
                <a:pPr marL="0" indent="0">
                  <a:buNone/>
                </a:pPr>
                <a:r>
                  <a:rPr lang="en-US" b="1" dirty="0"/>
                  <a:t>The speedometer (hazard) determines the odometer (survival):</a:t>
                </a:r>
              </a:p>
              <a:p>
                <a:pPr marL="0" indent="0">
                  <a:buNone/>
                </a:pPr>
                <a:r>
                  <a:rPr lang="en-US" sz="1800" dirty="0"/>
                  <a:t>If we know the speed at each second, we can calculate the total distance travelled in one hour by adding up (integrating) those speeds over time. Similarly, if we know the hazard at each moment, we can calculate the cumulative hazard over a period of time. From the cumulative hazard, we can then determine the survival probability — how far we’ve made it without experiencing the event since the initial starting point.</a:t>
                </a:r>
                <a:endParaRPr lang="en-AU" sz="1800" b="1" dirty="0"/>
              </a:p>
            </p:txBody>
          </p:sp>
        </mc:Choice>
        <mc:Fallback xmlns="">
          <p:sp>
            <p:nvSpPr>
              <p:cNvPr id="3" name="Content Placeholder 2">
                <a:extLst>
                  <a:ext uri="{FF2B5EF4-FFF2-40B4-BE49-F238E27FC236}">
                    <a16:creationId xmlns:a16="http://schemas.microsoft.com/office/drawing/2014/main" id="{A31CD27B-BA02-4738-3D23-5C4A980AA5A6}"/>
                  </a:ext>
                </a:extLst>
              </p:cNvPr>
              <p:cNvSpPr>
                <a:spLocks noGrp="1" noRot="1" noChangeAspect="1" noMove="1" noResize="1" noEditPoints="1" noAdjustHandles="1" noChangeArrowheads="1" noChangeShapeType="1" noTextEdit="1"/>
              </p:cNvSpPr>
              <p:nvPr>
                <p:ph idx="1"/>
              </p:nvPr>
            </p:nvSpPr>
            <p:spPr>
              <a:blipFill>
                <a:blip r:embed="rId2"/>
                <a:stretch>
                  <a:fillRect l="-627" t="-1076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01CFF6E1-E6B7-972A-0F9A-CF71FB52BCF3}"/>
              </a:ext>
            </a:extLst>
          </p:cNvPr>
          <p:cNvSpPr>
            <a:spLocks noGrp="1"/>
          </p:cNvSpPr>
          <p:nvPr>
            <p:ph type="ftr" sz="quarter" idx="11"/>
          </p:nvPr>
        </p:nvSpPr>
        <p:spPr/>
        <p:txBody>
          <a:bodyPr/>
          <a:lstStyle/>
          <a:p>
            <a:r>
              <a:rPr lang="en-US"/>
              <a:t>Farzaneh.Boroumand@Sydney.edu.au</a:t>
            </a:r>
            <a:endParaRPr lang="en-US" dirty="0"/>
          </a:p>
        </p:txBody>
      </p:sp>
      <p:pic>
        <p:nvPicPr>
          <p:cNvPr id="5" name="Picture 4">
            <a:extLst>
              <a:ext uri="{FF2B5EF4-FFF2-40B4-BE49-F238E27FC236}">
                <a16:creationId xmlns:a16="http://schemas.microsoft.com/office/drawing/2014/main" id="{EA032A06-833E-C157-6AA6-243233D930E0}"/>
              </a:ext>
            </a:extLst>
          </p:cNvPr>
          <p:cNvPicPr>
            <a:picLocks noChangeAspect="1"/>
          </p:cNvPicPr>
          <p:nvPr/>
        </p:nvPicPr>
        <p:blipFill>
          <a:blip r:embed="rId3"/>
          <a:stretch>
            <a:fillRect/>
          </a:stretch>
        </p:blipFill>
        <p:spPr>
          <a:xfrm>
            <a:off x="7051182" y="1783159"/>
            <a:ext cx="2872740" cy="1645841"/>
          </a:xfrm>
          <a:prstGeom prst="rect">
            <a:avLst/>
          </a:prstGeom>
        </p:spPr>
      </p:pic>
      <p:sp>
        <p:nvSpPr>
          <p:cNvPr id="6" name="Arrow: Left 5">
            <a:extLst>
              <a:ext uri="{FF2B5EF4-FFF2-40B4-BE49-F238E27FC236}">
                <a16:creationId xmlns:a16="http://schemas.microsoft.com/office/drawing/2014/main" id="{B897096A-1E95-399E-15D7-AF48F661CD73}"/>
              </a:ext>
            </a:extLst>
          </p:cNvPr>
          <p:cNvSpPr/>
          <p:nvPr/>
        </p:nvSpPr>
        <p:spPr>
          <a:xfrm>
            <a:off x="6504367" y="2427668"/>
            <a:ext cx="470079" cy="457200"/>
          </a:xfrm>
          <a:prstGeom prst="lef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Arrow: Left 8">
            <a:extLst>
              <a:ext uri="{FF2B5EF4-FFF2-40B4-BE49-F238E27FC236}">
                <a16:creationId xmlns:a16="http://schemas.microsoft.com/office/drawing/2014/main" id="{4955318C-BEC3-C72B-1FB9-1AE2C440B270}"/>
              </a:ext>
            </a:extLst>
          </p:cNvPr>
          <p:cNvSpPr/>
          <p:nvPr/>
        </p:nvSpPr>
        <p:spPr>
          <a:xfrm rot="10800000">
            <a:off x="10000658" y="2464350"/>
            <a:ext cx="470079" cy="457200"/>
          </a:xfrm>
          <a:prstGeom prst="lef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Cloud 9">
            <a:extLst>
              <a:ext uri="{FF2B5EF4-FFF2-40B4-BE49-F238E27FC236}">
                <a16:creationId xmlns:a16="http://schemas.microsoft.com/office/drawing/2014/main" id="{60FF1B08-013C-F961-BF1F-CCFD931B66F5}"/>
              </a:ext>
            </a:extLst>
          </p:cNvPr>
          <p:cNvSpPr/>
          <p:nvPr/>
        </p:nvSpPr>
        <p:spPr>
          <a:xfrm>
            <a:off x="10547473" y="2103071"/>
            <a:ext cx="1275009" cy="1179755"/>
          </a:xfrm>
          <a:prstGeom prst="cloud">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50" b="1" dirty="0"/>
              <a:t>Hazard at each moment</a:t>
            </a:r>
          </a:p>
        </p:txBody>
      </p:sp>
      <p:sp>
        <p:nvSpPr>
          <p:cNvPr id="11" name="Cloud 10">
            <a:extLst>
              <a:ext uri="{FF2B5EF4-FFF2-40B4-BE49-F238E27FC236}">
                <a16:creationId xmlns:a16="http://schemas.microsoft.com/office/drawing/2014/main" id="{4F947CD2-12ED-9F3E-CB4B-17F8BC4A528A}"/>
              </a:ext>
            </a:extLst>
          </p:cNvPr>
          <p:cNvSpPr/>
          <p:nvPr/>
        </p:nvSpPr>
        <p:spPr>
          <a:xfrm>
            <a:off x="5229358" y="2026576"/>
            <a:ext cx="1275009" cy="1179755"/>
          </a:xfrm>
          <a:prstGeom prst="cloud">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400" b="1" dirty="0"/>
              <a:t>survival</a:t>
            </a:r>
          </a:p>
        </p:txBody>
      </p:sp>
    </p:spTree>
    <p:extLst>
      <p:ext uri="{BB962C8B-B14F-4D97-AF65-F5344CB8AC3E}">
        <p14:creationId xmlns:p14="http://schemas.microsoft.com/office/powerpoint/2010/main" val="3996052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25E23-F2C9-5060-DDAE-01EDE1B3358B}"/>
              </a:ext>
            </a:extLst>
          </p:cNvPr>
          <p:cNvSpPr>
            <a:spLocks noGrp="1"/>
          </p:cNvSpPr>
          <p:nvPr>
            <p:ph type="title"/>
          </p:nvPr>
        </p:nvSpPr>
        <p:spPr/>
        <p:txBody>
          <a:bodyPr/>
          <a:lstStyle/>
          <a:p>
            <a:r>
              <a:rPr lang="en-AU" dirty="0"/>
              <a:t>The link between Hazard to Survival</a:t>
            </a:r>
          </a:p>
        </p:txBody>
      </p:sp>
      <p:pic>
        <p:nvPicPr>
          <p:cNvPr id="14" name="Content Placeholder 13" descr="Car with solid fill">
            <a:extLst>
              <a:ext uri="{FF2B5EF4-FFF2-40B4-BE49-F238E27FC236}">
                <a16:creationId xmlns:a16="http://schemas.microsoft.com/office/drawing/2014/main" id="{37477F27-DC7E-2707-7355-2CFA84BE19F2}"/>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1730789" y="2752538"/>
            <a:ext cx="1558981" cy="1558981"/>
          </a:xfrm>
        </p:spPr>
      </p:pic>
      <p:sp>
        <p:nvSpPr>
          <p:cNvPr id="4" name="Footer Placeholder 3">
            <a:extLst>
              <a:ext uri="{FF2B5EF4-FFF2-40B4-BE49-F238E27FC236}">
                <a16:creationId xmlns:a16="http://schemas.microsoft.com/office/drawing/2014/main" id="{325BA987-413A-9586-CDC9-05D0CDD509D1}"/>
              </a:ext>
            </a:extLst>
          </p:cNvPr>
          <p:cNvSpPr>
            <a:spLocks noGrp="1"/>
          </p:cNvSpPr>
          <p:nvPr>
            <p:ph type="ftr" sz="quarter" idx="11"/>
          </p:nvPr>
        </p:nvSpPr>
        <p:spPr/>
        <p:txBody>
          <a:bodyPr/>
          <a:lstStyle/>
          <a:p>
            <a:r>
              <a:rPr lang="en-US"/>
              <a:t>Farzaneh.Boroumand@Sydney.edu.au</a:t>
            </a:r>
            <a:endParaRPr lang="en-US" dirty="0"/>
          </a:p>
        </p:txBody>
      </p:sp>
      <p:pic>
        <p:nvPicPr>
          <p:cNvPr id="15" name="Content Placeholder 13" descr="Car with solid fill">
            <a:extLst>
              <a:ext uri="{FF2B5EF4-FFF2-40B4-BE49-F238E27FC236}">
                <a16:creationId xmlns:a16="http://schemas.microsoft.com/office/drawing/2014/main" id="{FAAEB61F-55B0-917C-E469-1DABC409C3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1261" y="2744490"/>
            <a:ext cx="1558981" cy="1558981"/>
          </a:xfrm>
          <a:prstGeom prst="rect">
            <a:avLst/>
          </a:prstGeom>
        </p:spPr>
      </p:pic>
      <p:pic>
        <p:nvPicPr>
          <p:cNvPr id="16" name="Content Placeholder 13" descr="Car with solid fill">
            <a:extLst>
              <a:ext uri="{FF2B5EF4-FFF2-40B4-BE49-F238E27FC236}">
                <a16:creationId xmlns:a16="http://schemas.microsoft.com/office/drawing/2014/main" id="{E43B0521-8E64-7180-C37D-66888340552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927554" y="2752538"/>
            <a:ext cx="1558981" cy="1558981"/>
          </a:xfrm>
          <a:prstGeom prst="rect">
            <a:avLst/>
          </a:prstGeom>
        </p:spPr>
      </p:pic>
      <p:cxnSp>
        <p:nvCxnSpPr>
          <p:cNvPr id="18" name="Straight Connector 17">
            <a:extLst>
              <a:ext uri="{FF2B5EF4-FFF2-40B4-BE49-F238E27FC236}">
                <a16:creationId xmlns:a16="http://schemas.microsoft.com/office/drawing/2014/main" id="{7A380316-B6BA-E9B8-531B-1713BAC620DB}"/>
              </a:ext>
            </a:extLst>
          </p:cNvPr>
          <p:cNvCxnSpPr>
            <a:cxnSpLocks/>
          </p:cNvCxnSpPr>
          <p:nvPr/>
        </p:nvCxnSpPr>
        <p:spPr>
          <a:xfrm>
            <a:off x="1730789" y="3918555"/>
            <a:ext cx="9016625" cy="3062"/>
          </a:xfrm>
          <a:prstGeom prst="line">
            <a:avLst/>
          </a:prstGeom>
        </p:spPr>
        <p:style>
          <a:lnRef idx="3">
            <a:schemeClr val="dk1"/>
          </a:lnRef>
          <a:fillRef idx="0">
            <a:schemeClr val="dk1"/>
          </a:fillRef>
          <a:effectRef idx="2">
            <a:schemeClr val="dk1"/>
          </a:effectRef>
          <a:fontRef idx="minor">
            <a:schemeClr val="tx1"/>
          </a:fontRef>
        </p:style>
      </p:cxnSp>
      <p:sp>
        <p:nvSpPr>
          <p:cNvPr id="19" name="Arrow: Left 18">
            <a:extLst>
              <a:ext uri="{FF2B5EF4-FFF2-40B4-BE49-F238E27FC236}">
                <a16:creationId xmlns:a16="http://schemas.microsoft.com/office/drawing/2014/main" id="{C0BB7FDE-6D51-A452-AAAD-F8C25736C93B}"/>
              </a:ext>
            </a:extLst>
          </p:cNvPr>
          <p:cNvSpPr/>
          <p:nvPr/>
        </p:nvSpPr>
        <p:spPr>
          <a:xfrm rot="16200000">
            <a:off x="2349294" y="3905676"/>
            <a:ext cx="321972" cy="359694"/>
          </a:xfrm>
          <a:prstGeom prst="lef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Arrow: Left 19">
            <a:extLst>
              <a:ext uri="{FF2B5EF4-FFF2-40B4-BE49-F238E27FC236}">
                <a16:creationId xmlns:a16="http://schemas.microsoft.com/office/drawing/2014/main" id="{F998691E-7154-646B-15D6-F0B5E860522C}"/>
              </a:ext>
            </a:extLst>
          </p:cNvPr>
          <p:cNvSpPr/>
          <p:nvPr/>
        </p:nvSpPr>
        <p:spPr>
          <a:xfrm rot="16200000">
            <a:off x="9610237" y="3899694"/>
            <a:ext cx="321972" cy="359694"/>
          </a:xfrm>
          <a:prstGeom prst="lef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2BE3EAE6-0B0E-D837-8DA5-1511DB065782}"/>
              </a:ext>
            </a:extLst>
          </p:cNvPr>
          <p:cNvSpPr txBox="1"/>
          <p:nvPr/>
        </p:nvSpPr>
        <p:spPr>
          <a:xfrm>
            <a:off x="2330433" y="4240527"/>
            <a:ext cx="362600" cy="369332"/>
          </a:xfrm>
          <a:prstGeom prst="rect">
            <a:avLst/>
          </a:prstGeom>
          <a:noFill/>
        </p:spPr>
        <p:txBody>
          <a:bodyPr wrap="none" rtlCol="0">
            <a:spAutoFit/>
          </a:bodyPr>
          <a:lstStyle/>
          <a:p>
            <a:r>
              <a:rPr lang="en-AU" dirty="0"/>
              <a:t>A</a:t>
            </a:r>
          </a:p>
        </p:txBody>
      </p:sp>
      <p:sp>
        <p:nvSpPr>
          <p:cNvPr id="22" name="TextBox 21">
            <a:extLst>
              <a:ext uri="{FF2B5EF4-FFF2-40B4-BE49-F238E27FC236}">
                <a16:creationId xmlns:a16="http://schemas.microsoft.com/office/drawing/2014/main" id="{8CD70F29-58D2-A4A8-C6FF-62467A665A15}"/>
              </a:ext>
            </a:extLst>
          </p:cNvPr>
          <p:cNvSpPr txBox="1"/>
          <p:nvPr/>
        </p:nvSpPr>
        <p:spPr>
          <a:xfrm>
            <a:off x="9588470" y="4240527"/>
            <a:ext cx="333746" cy="369332"/>
          </a:xfrm>
          <a:prstGeom prst="rect">
            <a:avLst/>
          </a:prstGeom>
          <a:noFill/>
        </p:spPr>
        <p:txBody>
          <a:bodyPr wrap="none" rtlCol="0">
            <a:spAutoFit/>
          </a:bodyPr>
          <a:lstStyle/>
          <a:p>
            <a:r>
              <a:rPr lang="en-AU" dirty="0"/>
              <a:t>B</a:t>
            </a:r>
          </a:p>
        </p:txBody>
      </p:sp>
      <p:sp>
        <p:nvSpPr>
          <p:cNvPr id="23" name="Left Brace 22">
            <a:extLst>
              <a:ext uri="{FF2B5EF4-FFF2-40B4-BE49-F238E27FC236}">
                <a16:creationId xmlns:a16="http://schemas.microsoft.com/office/drawing/2014/main" id="{F7E57846-D89A-06C8-1C10-7A0FF8206202}"/>
              </a:ext>
            </a:extLst>
          </p:cNvPr>
          <p:cNvSpPr/>
          <p:nvPr/>
        </p:nvSpPr>
        <p:spPr>
          <a:xfrm rot="16200000">
            <a:off x="5968258" y="1137379"/>
            <a:ext cx="296213" cy="7212171"/>
          </a:xfrm>
          <a:prstGeom prst="leftBrace">
            <a:avLst>
              <a:gd name="adj1" fmla="val 0"/>
              <a:gd name="adj2" fmla="val 50625"/>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B634E7-5DF1-28A2-6492-EE73D2D82E0C}"/>
                  </a:ext>
                </a:extLst>
              </p:cNvPr>
              <p:cNvSpPr txBox="1"/>
              <p:nvPr/>
            </p:nvSpPr>
            <p:spPr>
              <a:xfrm>
                <a:off x="2624365" y="4964690"/>
                <a:ext cx="7625849" cy="465127"/>
              </a:xfrm>
              <a:prstGeom prst="rect">
                <a:avLst/>
              </a:prstGeom>
              <a:noFill/>
            </p:spPr>
            <p:txBody>
              <a:bodyPr wrap="square" rtlCol="0">
                <a:spAutoFit/>
              </a:bodyPr>
              <a:lstStyle/>
              <a:p>
                <a:r>
                  <a:rPr lang="en-AU" dirty="0"/>
                  <a:t>Distance between A to B = travel time * overall speed </a:t>
                </a:r>
                <a14:m>
                  <m:oMath xmlns:m="http://schemas.openxmlformats.org/officeDocument/2006/math">
                    <m:r>
                      <a:rPr lang="en-AU" i="1">
                        <a:latin typeface="Cambria Math" panose="02040503050406030204" pitchFamily="18" charset="0"/>
                      </a:rPr>
                      <m:t>𝐻</m:t>
                    </m:r>
                    <m:d>
                      <m:dPr>
                        <m:ctrlPr>
                          <a:rPr lang="en-AU" i="1">
                            <a:latin typeface="Cambria Math" panose="02040503050406030204" pitchFamily="18" charset="0"/>
                          </a:rPr>
                        </m:ctrlPr>
                      </m:dPr>
                      <m:e>
                        <m:r>
                          <a:rPr lang="en-AU" i="1">
                            <a:latin typeface="Cambria Math" panose="02040503050406030204" pitchFamily="18" charset="0"/>
                          </a:rPr>
                          <m:t>𝑡</m:t>
                        </m:r>
                      </m:e>
                    </m:d>
                  </m:oMath>
                </a14:m>
                <a:r>
                  <a:rPr lang="en-AU" dirty="0"/>
                  <a:t> = </a:t>
                </a:r>
                <a14:m>
                  <m:oMath xmlns:m="http://schemas.openxmlformats.org/officeDocument/2006/math">
                    <m:nary>
                      <m:naryPr>
                        <m:limLoc m:val="undOvr"/>
                        <m:ctrlPr>
                          <a:rPr lang="en-AU" i="1">
                            <a:latin typeface="Cambria Math" panose="02040503050406030204" pitchFamily="18" charset="0"/>
                          </a:rPr>
                        </m:ctrlPr>
                      </m:naryPr>
                      <m:sub>
                        <m:r>
                          <m:rPr>
                            <m:brk m:alnAt="24"/>
                          </m:rPr>
                          <a:rPr lang="en-AU" i="1">
                            <a:latin typeface="Cambria Math" panose="02040503050406030204" pitchFamily="18" charset="0"/>
                          </a:rPr>
                          <m:t>0</m:t>
                        </m:r>
                      </m:sub>
                      <m:sup>
                        <m:r>
                          <a:rPr lang="en-AU" i="1">
                            <a:latin typeface="Cambria Math" panose="02040503050406030204" pitchFamily="18" charset="0"/>
                          </a:rPr>
                          <m:t>𝑡</m:t>
                        </m:r>
                      </m:sup>
                      <m:e>
                        <m:r>
                          <a:rPr lang="en-AU" i="1">
                            <a:latin typeface="Cambria Math" panose="02040503050406030204" pitchFamily="18" charset="0"/>
                          </a:rPr>
                          <m:t>h</m:t>
                        </m:r>
                        <m:d>
                          <m:dPr>
                            <m:ctrlPr>
                              <a:rPr lang="en-AU" i="1">
                                <a:latin typeface="Cambria Math" panose="02040503050406030204" pitchFamily="18" charset="0"/>
                              </a:rPr>
                            </m:ctrlPr>
                          </m:dPr>
                          <m:e>
                            <m:r>
                              <a:rPr lang="en-AU" i="1">
                                <a:latin typeface="Cambria Math" panose="02040503050406030204" pitchFamily="18" charset="0"/>
                              </a:rPr>
                              <m:t>𝑢</m:t>
                            </m:r>
                          </m:e>
                        </m:d>
                        <m:r>
                          <a:rPr lang="en-AU" i="1">
                            <a:latin typeface="Cambria Math" panose="02040503050406030204" pitchFamily="18" charset="0"/>
                          </a:rPr>
                          <m:t>𝑑𝑢</m:t>
                        </m:r>
                      </m:e>
                    </m:nary>
                  </m:oMath>
                </a14:m>
                <a:endParaRPr lang="en-AU" dirty="0"/>
              </a:p>
            </p:txBody>
          </p:sp>
        </mc:Choice>
        <mc:Fallback xmlns="">
          <p:sp>
            <p:nvSpPr>
              <p:cNvPr id="26" name="TextBox 25">
                <a:extLst>
                  <a:ext uri="{FF2B5EF4-FFF2-40B4-BE49-F238E27FC236}">
                    <a16:creationId xmlns:a16="http://schemas.microsoft.com/office/drawing/2014/main" id="{20B634E7-5DF1-28A2-6492-EE73D2D82E0C}"/>
                  </a:ext>
                </a:extLst>
              </p:cNvPr>
              <p:cNvSpPr txBox="1">
                <a:spLocks noRot="1" noChangeAspect="1" noMove="1" noResize="1" noEditPoints="1" noAdjustHandles="1" noChangeArrowheads="1" noChangeShapeType="1" noTextEdit="1"/>
              </p:cNvSpPr>
              <p:nvPr/>
            </p:nvSpPr>
            <p:spPr>
              <a:xfrm>
                <a:off x="2624365" y="4964690"/>
                <a:ext cx="7625849" cy="465127"/>
              </a:xfrm>
              <a:prstGeom prst="rect">
                <a:avLst/>
              </a:prstGeom>
              <a:blipFill>
                <a:blip r:embed="rId8"/>
                <a:stretch>
                  <a:fillRect l="-720" t="-105195" b="-168831"/>
                </a:stretch>
              </a:blipFill>
            </p:spPr>
            <p:txBody>
              <a:bodyPr/>
              <a:lstStyle/>
              <a:p>
                <a:r>
                  <a:rPr lang="en-AU">
                    <a:noFill/>
                  </a:rPr>
                  <a:t> </a:t>
                </a:r>
              </a:p>
            </p:txBody>
          </p:sp>
        </mc:Fallback>
      </mc:AlternateContent>
      <p:sp>
        <p:nvSpPr>
          <p:cNvPr id="27" name="TextBox 26">
            <a:extLst>
              <a:ext uri="{FF2B5EF4-FFF2-40B4-BE49-F238E27FC236}">
                <a16:creationId xmlns:a16="http://schemas.microsoft.com/office/drawing/2014/main" id="{6FD21FE5-6D2E-D4AE-1430-524755025B48}"/>
              </a:ext>
            </a:extLst>
          </p:cNvPr>
          <p:cNvSpPr txBox="1"/>
          <p:nvPr/>
        </p:nvSpPr>
        <p:spPr>
          <a:xfrm>
            <a:off x="1996225" y="2516523"/>
            <a:ext cx="882203" cy="369332"/>
          </a:xfrm>
          <a:prstGeom prst="rect">
            <a:avLst/>
          </a:prstGeom>
          <a:noFill/>
        </p:spPr>
        <p:txBody>
          <a:bodyPr wrap="square" rtlCol="0">
            <a:spAutoFit/>
          </a:bodyPr>
          <a:lstStyle/>
          <a:p>
            <a:r>
              <a:rPr lang="en-AU" dirty="0"/>
              <a:t>h(t=1)</a:t>
            </a:r>
          </a:p>
        </p:txBody>
      </p:sp>
      <p:sp>
        <p:nvSpPr>
          <p:cNvPr id="28" name="TextBox 27">
            <a:extLst>
              <a:ext uri="{FF2B5EF4-FFF2-40B4-BE49-F238E27FC236}">
                <a16:creationId xmlns:a16="http://schemas.microsoft.com/office/drawing/2014/main" id="{761C43C1-77FA-9693-99A2-983309E90FA7}"/>
              </a:ext>
            </a:extLst>
          </p:cNvPr>
          <p:cNvSpPr txBox="1"/>
          <p:nvPr/>
        </p:nvSpPr>
        <p:spPr>
          <a:xfrm>
            <a:off x="5555087" y="2534147"/>
            <a:ext cx="882203" cy="369332"/>
          </a:xfrm>
          <a:prstGeom prst="rect">
            <a:avLst/>
          </a:prstGeom>
          <a:noFill/>
        </p:spPr>
        <p:txBody>
          <a:bodyPr wrap="square" rtlCol="0">
            <a:spAutoFit/>
          </a:bodyPr>
          <a:lstStyle/>
          <a:p>
            <a:r>
              <a:rPr lang="en-AU" dirty="0"/>
              <a:t>h(t=5)</a:t>
            </a:r>
          </a:p>
        </p:txBody>
      </p:sp>
      <p:sp>
        <p:nvSpPr>
          <p:cNvPr id="29" name="TextBox 28">
            <a:extLst>
              <a:ext uri="{FF2B5EF4-FFF2-40B4-BE49-F238E27FC236}">
                <a16:creationId xmlns:a16="http://schemas.microsoft.com/office/drawing/2014/main" id="{1501B2CA-C4AB-E172-3FA7-5E29EAA6601C}"/>
              </a:ext>
            </a:extLst>
          </p:cNvPr>
          <p:cNvSpPr txBox="1"/>
          <p:nvPr/>
        </p:nvSpPr>
        <p:spPr>
          <a:xfrm>
            <a:off x="9068867" y="2592496"/>
            <a:ext cx="1126908" cy="369332"/>
          </a:xfrm>
          <a:prstGeom prst="rect">
            <a:avLst/>
          </a:prstGeom>
          <a:noFill/>
        </p:spPr>
        <p:txBody>
          <a:bodyPr wrap="square" rtlCol="0">
            <a:spAutoFit/>
          </a:bodyPr>
          <a:lstStyle/>
          <a:p>
            <a:r>
              <a:rPr lang="en-AU" dirty="0"/>
              <a:t>h(t=10)</a:t>
            </a:r>
          </a:p>
        </p:txBody>
      </p:sp>
    </p:spTree>
    <p:extLst>
      <p:ext uri="{BB962C8B-B14F-4D97-AF65-F5344CB8AC3E}">
        <p14:creationId xmlns:p14="http://schemas.microsoft.com/office/powerpoint/2010/main" val="3253742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C6DAC-9F7F-4D22-C088-5E90BC602487}"/>
              </a:ext>
            </a:extLst>
          </p:cNvPr>
          <p:cNvSpPr>
            <a:spLocks noGrp="1"/>
          </p:cNvSpPr>
          <p:nvPr>
            <p:ph type="title"/>
          </p:nvPr>
        </p:nvSpPr>
        <p:spPr/>
        <p:txBody>
          <a:bodyPr/>
          <a:lstStyle/>
          <a:p>
            <a:r>
              <a:rPr lang="en-AU" dirty="0"/>
              <a:t>PH Assumption </a:t>
            </a:r>
          </a:p>
        </p:txBody>
      </p:sp>
      <p:sp>
        <p:nvSpPr>
          <p:cNvPr id="4" name="Footer Placeholder 3">
            <a:extLst>
              <a:ext uri="{FF2B5EF4-FFF2-40B4-BE49-F238E27FC236}">
                <a16:creationId xmlns:a16="http://schemas.microsoft.com/office/drawing/2014/main" id="{96D15855-BEE7-594E-EFF6-44EC7C880B40}"/>
              </a:ext>
            </a:extLst>
          </p:cNvPr>
          <p:cNvSpPr>
            <a:spLocks noGrp="1"/>
          </p:cNvSpPr>
          <p:nvPr>
            <p:ph type="ftr" sz="quarter" idx="11"/>
          </p:nvPr>
        </p:nvSpPr>
        <p:spPr/>
        <p:txBody>
          <a:bodyPr/>
          <a:lstStyle/>
          <a:p>
            <a:r>
              <a:rPr lang="en-US"/>
              <a:t>Farzaneh.Boroumand@Sydney.edu.au</a:t>
            </a:r>
            <a:endParaRPr lang="en-US" dirty="0"/>
          </a:p>
        </p:txBody>
      </p:sp>
      <p:pic>
        <p:nvPicPr>
          <p:cNvPr id="5" name="Content Placeholder 13" descr="Car with solid fill">
            <a:extLst>
              <a:ext uri="{FF2B5EF4-FFF2-40B4-BE49-F238E27FC236}">
                <a16:creationId xmlns:a16="http://schemas.microsoft.com/office/drawing/2014/main" id="{4015A0D7-EF06-CB4E-E19A-A05CAE7D13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30789" y="2037768"/>
            <a:ext cx="1558981" cy="1558981"/>
          </a:xfrm>
          <a:prstGeom prst="rect">
            <a:avLst/>
          </a:prstGeom>
        </p:spPr>
      </p:pic>
      <p:pic>
        <p:nvPicPr>
          <p:cNvPr id="6" name="Content Placeholder 13" descr="Car with solid fill">
            <a:extLst>
              <a:ext uri="{FF2B5EF4-FFF2-40B4-BE49-F238E27FC236}">
                <a16:creationId xmlns:a16="http://schemas.microsoft.com/office/drawing/2014/main" id="{7CFB8449-4F9C-FD83-0BB1-A094B0EADF1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1261" y="2029720"/>
            <a:ext cx="1558981" cy="1558981"/>
          </a:xfrm>
          <a:prstGeom prst="rect">
            <a:avLst/>
          </a:prstGeom>
        </p:spPr>
      </p:pic>
      <p:pic>
        <p:nvPicPr>
          <p:cNvPr id="7" name="Content Placeholder 13" descr="Car with solid fill">
            <a:extLst>
              <a:ext uri="{FF2B5EF4-FFF2-40B4-BE49-F238E27FC236}">
                <a16:creationId xmlns:a16="http://schemas.microsoft.com/office/drawing/2014/main" id="{A0BF2DC8-3C5A-47C4-6890-74271A68F38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27554" y="2037768"/>
            <a:ext cx="1558981" cy="1558981"/>
          </a:xfrm>
          <a:prstGeom prst="rect">
            <a:avLst/>
          </a:prstGeom>
        </p:spPr>
      </p:pic>
      <p:cxnSp>
        <p:nvCxnSpPr>
          <p:cNvPr id="8" name="Straight Connector 7">
            <a:extLst>
              <a:ext uri="{FF2B5EF4-FFF2-40B4-BE49-F238E27FC236}">
                <a16:creationId xmlns:a16="http://schemas.microsoft.com/office/drawing/2014/main" id="{D734D352-7B51-BA6C-0E89-021C579D5FED}"/>
              </a:ext>
            </a:extLst>
          </p:cNvPr>
          <p:cNvCxnSpPr>
            <a:cxnSpLocks/>
          </p:cNvCxnSpPr>
          <p:nvPr/>
        </p:nvCxnSpPr>
        <p:spPr>
          <a:xfrm>
            <a:off x="1730789" y="3203785"/>
            <a:ext cx="9016625" cy="3062"/>
          </a:xfrm>
          <a:prstGeom prst="line">
            <a:avLst/>
          </a:prstGeom>
        </p:spPr>
        <p:style>
          <a:lnRef idx="3">
            <a:schemeClr val="dk1"/>
          </a:lnRef>
          <a:fillRef idx="0">
            <a:schemeClr val="dk1"/>
          </a:fillRef>
          <a:effectRef idx="2">
            <a:schemeClr val="dk1"/>
          </a:effectRef>
          <a:fontRef idx="minor">
            <a:schemeClr val="tx1"/>
          </a:fontRef>
        </p:style>
      </p:cxnSp>
      <p:pic>
        <p:nvPicPr>
          <p:cNvPr id="9" name="Content Placeholder 13" descr="Car with solid fill">
            <a:extLst>
              <a:ext uri="{FF2B5EF4-FFF2-40B4-BE49-F238E27FC236}">
                <a16:creationId xmlns:a16="http://schemas.microsoft.com/office/drawing/2014/main" id="{B0484954-F841-1C4F-DF88-EC552E70FFCA}"/>
              </a:ext>
            </a:extLst>
          </p:cNvPr>
          <p:cNvPicPr>
            <a:picLocks noGrp="1" noChangeAspect="1"/>
          </p:cNvPicPr>
          <p:nvPr>
            <p:ph idx="1"/>
          </p:nvPr>
        </p:nvPicPr>
        <p:blipFill>
          <a:blip r:embed="rId9">
            <a:extLst>
              <a:ext uri="{96DAC541-7B7A-43D3-8B79-37D633B846F1}">
                <asvg:svgBlip xmlns:asvg="http://schemas.microsoft.com/office/drawing/2016/SVG/main" r:embed="rId10"/>
              </a:ext>
            </a:extLst>
          </a:blip>
          <a:stretch>
            <a:fillRect/>
          </a:stretch>
        </p:blipFill>
        <p:spPr>
          <a:xfrm>
            <a:off x="1730789" y="3085076"/>
            <a:ext cx="1558981" cy="1558981"/>
          </a:xfrm>
        </p:spPr>
      </p:pic>
      <p:pic>
        <p:nvPicPr>
          <p:cNvPr id="10" name="Content Placeholder 13" descr="Car with solid fill">
            <a:extLst>
              <a:ext uri="{FF2B5EF4-FFF2-40B4-BE49-F238E27FC236}">
                <a16:creationId xmlns:a16="http://schemas.microsoft.com/office/drawing/2014/main" id="{F409B11A-4ED4-70E5-5E56-47C8BFF9CEA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361261" y="3077028"/>
            <a:ext cx="1558981" cy="1558981"/>
          </a:xfrm>
          <a:prstGeom prst="rect">
            <a:avLst/>
          </a:prstGeom>
        </p:spPr>
      </p:pic>
      <p:pic>
        <p:nvPicPr>
          <p:cNvPr id="11" name="Content Placeholder 13" descr="Car with solid fill">
            <a:extLst>
              <a:ext uri="{FF2B5EF4-FFF2-40B4-BE49-F238E27FC236}">
                <a16:creationId xmlns:a16="http://schemas.microsoft.com/office/drawing/2014/main" id="{56A2EE59-B1BE-0042-A536-C2326232919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27554" y="3085076"/>
            <a:ext cx="1558981" cy="1558981"/>
          </a:xfrm>
          <a:prstGeom prst="rect">
            <a:avLst/>
          </a:prstGeom>
        </p:spPr>
      </p:pic>
      <p:cxnSp>
        <p:nvCxnSpPr>
          <p:cNvPr id="12" name="Straight Connector 11">
            <a:extLst>
              <a:ext uri="{FF2B5EF4-FFF2-40B4-BE49-F238E27FC236}">
                <a16:creationId xmlns:a16="http://schemas.microsoft.com/office/drawing/2014/main" id="{F1BBD4A4-B815-46BF-F06A-3D7304A4BB6A}"/>
              </a:ext>
            </a:extLst>
          </p:cNvPr>
          <p:cNvCxnSpPr>
            <a:cxnSpLocks/>
          </p:cNvCxnSpPr>
          <p:nvPr/>
        </p:nvCxnSpPr>
        <p:spPr>
          <a:xfrm>
            <a:off x="1730789" y="4251093"/>
            <a:ext cx="9016625" cy="3062"/>
          </a:xfrm>
          <a:prstGeom prst="line">
            <a:avLst/>
          </a:prstGeom>
        </p:spPr>
        <p:style>
          <a:lnRef idx="3">
            <a:schemeClr val="dk1"/>
          </a:lnRef>
          <a:fillRef idx="0">
            <a:schemeClr val="dk1"/>
          </a:fillRef>
          <a:effectRef idx="2">
            <a:schemeClr val="dk1"/>
          </a:effectRef>
          <a:fontRef idx="minor">
            <a:schemeClr val="tx1"/>
          </a:fontRef>
        </p:style>
      </p:cxnSp>
      <p:sp>
        <p:nvSpPr>
          <p:cNvPr id="13" name="Arrow: Down 12">
            <a:extLst>
              <a:ext uri="{FF2B5EF4-FFF2-40B4-BE49-F238E27FC236}">
                <a16:creationId xmlns:a16="http://schemas.microsoft.com/office/drawing/2014/main" id="{F1D05C12-C16D-2DE3-D43B-83BA912CE887}"/>
              </a:ext>
            </a:extLst>
          </p:cNvPr>
          <p:cNvSpPr/>
          <p:nvPr/>
        </p:nvSpPr>
        <p:spPr>
          <a:xfrm>
            <a:off x="2345606" y="4324187"/>
            <a:ext cx="321972" cy="384916"/>
          </a:xfrm>
          <a:prstGeom prst="down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14" name="Arrow: Down 13">
            <a:extLst>
              <a:ext uri="{FF2B5EF4-FFF2-40B4-BE49-F238E27FC236}">
                <a16:creationId xmlns:a16="http://schemas.microsoft.com/office/drawing/2014/main" id="{E6D9361E-2ADF-2733-C84F-0D92C7AC2267}"/>
              </a:ext>
            </a:extLst>
          </p:cNvPr>
          <p:cNvSpPr/>
          <p:nvPr/>
        </p:nvSpPr>
        <p:spPr>
          <a:xfrm>
            <a:off x="5936800" y="4319105"/>
            <a:ext cx="321972" cy="384916"/>
          </a:xfrm>
          <a:prstGeom prst="down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15" name="Arrow: Down 14">
            <a:extLst>
              <a:ext uri="{FF2B5EF4-FFF2-40B4-BE49-F238E27FC236}">
                <a16:creationId xmlns:a16="http://schemas.microsoft.com/office/drawing/2014/main" id="{5C156395-4548-26E4-564A-64D23DDD187B}"/>
              </a:ext>
            </a:extLst>
          </p:cNvPr>
          <p:cNvSpPr/>
          <p:nvPr/>
        </p:nvSpPr>
        <p:spPr>
          <a:xfrm>
            <a:off x="9589024" y="4319105"/>
            <a:ext cx="321972" cy="384916"/>
          </a:xfrm>
          <a:prstGeom prst="down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16" name="TextBox 15">
            <a:extLst>
              <a:ext uri="{FF2B5EF4-FFF2-40B4-BE49-F238E27FC236}">
                <a16:creationId xmlns:a16="http://schemas.microsoft.com/office/drawing/2014/main" id="{98569652-8B67-58D2-6192-39B6C69DD564}"/>
              </a:ext>
            </a:extLst>
          </p:cNvPr>
          <p:cNvSpPr txBox="1"/>
          <p:nvPr/>
        </p:nvSpPr>
        <p:spPr>
          <a:xfrm>
            <a:off x="2232916" y="4804762"/>
            <a:ext cx="547352" cy="369332"/>
          </a:xfrm>
          <a:prstGeom prst="rect">
            <a:avLst/>
          </a:prstGeom>
          <a:noFill/>
        </p:spPr>
        <p:txBody>
          <a:bodyPr wrap="square" rtlCol="0">
            <a:spAutoFit/>
          </a:bodyPr>
          <a:lstStyle/>
          <a:p>
            <a:r>
              <a:rPr lang="en-AU" dirty="0"/>
              <a:t>t=1</a:t>
            </a:r>
          </a:p>
        </p:txBody>
      </p:sp>
      <p:sp>
        <p:nvSpPr>
          <p:cNvPr id="17" name="TextBox 16">
            <a:extLst>
              <a:ext uri="{FF2B5EF4-FFF2-40B4-BE49-F238E27FC236}">
                <a16:creationId xmlns:a16="http://schemas.microsoft.com/office/drawing/2014/main" id="{57C1EFD5-93A7-71EB-E1E1-04CB1BE3E45B}"/>
              </a:ext>
            </a:extLst>
          </p:cNvPr>
          <p:cNvSpPr txBox="1"/>
          <p:nvPr/>
        </p:nvSpPr>
        <p:spPr>
          <a:xfrm>
            <a:off x="5867075" y="4805897"/>
            <a:ext cx="547352" cy="369332"/>
          </a:xfrm>
          <a:prstGeom prst="rect">
            <a:avLst/>
          </a:prstGeom>
          <a:noFill/>
        </p:spPr>
        <p:txBody>
          <a:bodyPr wrap="square" rtlCol="0">
            <a:spAutoFit/>
          </a:bodyPr>
          <a:lstStyle/>
          <a:p>
            <a:r>
              <a:rPr lang="en-AU" dirty="0"/>
              <a:t>t=5</a:t>
            </a:r>
          </a:p>
        </p:txBody>
      </p:sp>
      <p:sp>
        <p:nvSpPr>
          <p:cNvPr id="18" name="TextBox 17">
            <a:extLst>
              <a:ext uri="{FF2B5EF4-FFF2-40B4-BE49-F238E27FC236}">
                <a16:creationId xmlns:a16="http://schemas.microsoft.com/office/drawing/2014/main" id="{143A3167-A848-7BA6-CDFB-909218603585}"/>
              </a:ext>
            </a:extLst>
          </p:cNvPr>
          <p:cNvSpPr txBox="1"/>
          <p:nvPr/>
        </p:nvSpPr>
        <p:spPr>
          <a:xfrm>
            <a:off x="9476334" y="4782316"/>
            <a:ext cx="691536" cy="369332"/>
          </a:xfrm>
          <a:prstGeom prst="rect">
            <a:avLst/>
          </a:prstGeom>
          <a:noFill/>
        </p:spPr>
        <p:txBody>
          <a:bodyPr wrap="square" rtlCol="0">
            <a:spAutoFit/>
          </a:bodyPr>
          <a:lstStyle/>
          <a:p>
            <a:r>
              <a:rPr lang="en-AU" dirty="0"/>
              <a:t>t=10</a:t>
            </a:r>
          </a:p>
        </p:txBody>
      </p:sp>
    </p:spTree>
    <p:extLst>
      <p:ext uri="{BB962C8B-B14F-4D97-AF65-F5344CB8AC3E}">
        <p14:creationId xmlns:p14="http://schemas.microsoft.com/office/powerpoint/2010/main" val="695633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30EFC-B7DD-EB8A-3935-55D86FCCFF97}"/>
              </a:ext>
            </a:extLst>
          </p:cNvPr>
          <p:cNvSpPr>
            <a:spLocks noGrp="1"/>
          </p:cNvSpPr>
          <p:nvPr>
            <p:ph type="title"/>
          </p:nvPr>
        </p:nvSpPr>
        <p:spPr/>
        <p:txBody>
          <a:bodyPr/>
          <a:lstStyle/>
          <a:p>
            <a:r>
              <a:rPr lang="en-AU" dirty="0"/>
              <a:t>PH Assumption </a:t>
            </a:r>
          </a:p>
        </p:txBody>
      </p:sp>
      <p:sp>
        <p:nvSpPr>
          <p:cNvPr id="3" name="Content Placeholder 2">
            <a:extLst>
              <a:ext uri="{FF2B5EF4-FFF2-40B4-BE49-F238E27FC236}">
                <a16:creationId xmlns:a16="http://schemas.microsoft.com/office/drawing/2014/main" id="{87E59F14-C8E2-8775-377A-4BFA51577DC4}"/>
              </a:ext>
            </a:extLst>
          </p:cNvPr>
          <p:cNvSpPr>
            <a:spLocks noGrp="1"/>
          </p:cNvSpPr>
          <p:nvPr>
            <p:ph idx="1"/>
          </p:nvPr>
        </p:nvSpPr>
        <p:spPr>
          <a:xfrm>
            <a:off x="700635" y="2811213"/>
            <a:ext cx="10691265" cy="3150675"/>
          </a:xfrm>
        </p:spPr>
        <p:txBody>
          <a:bodyPr/>
          <a:lstStyle/>
          <a:p>
            <a:pPr marL="0" indent="0">
              <a:buNone/>
            </a:pPr>
            <a:r>
              <a:rPr lang="en-US" dirty="0"/>
              <a:t>The </a:t>
            </a:r>
            <a:r>
              <a:rPr lang="en-US" i="1" dirty="0"/>
              <a:t>proportion</a:t>
            </a:r>
            <a:r>
              <a:rPr lang="en-US" dirty="0"/>
              <a:t> of the pink car’s speed compared to the blue car’s speed remains </a:t>
            </a:r>
            <a:r>
              <a:rPr lang="en-US" b="1" dirty="0"/>
              <a:t>constant over time</a:t>
            </a:r>
            <a:r>
              <a:rPr lang="en-US" dirty="0"/>
              <a:t>.</a:t>
            </a:r>
            <a:br>
              <a:rPr lang="en-US" dirty="0"/>
            </a:br>
            <a:r>
              <a:rPr lang="en-US" dirty="0"/>
              <a:t>For example, if the pink car is twice as fast as the blue car at any moment, it stays twice as fast throughout the journey.</a:t>
            </a:r>
            <a:br>
              <a:rPr lang="en-US" dirty="0"/>
            </a:br>
            <a:r>
              <a:rPr lang="en-US" dirty="0"/>
              <a:t>This doesn’t mean their speeds are fixed — both can change over time.</a:t>
            </a:r>
            <a:br>
              <a:rPr lang="en-US" dirty="0"/>
            </a:br>
            <a:r>
              <a:rPr lang="en-US" dirty="0"/>
              <a:t>For instance, at </a:t>
            </a:r>
            <a:r>
              <a:rPr lang="en-US" i="1" dirty="0"/>
              <a:t>t = 1</a:t>
            </a:r>
            <a:r>
              <a:rPr lang="en-US" dirty="0"/>
              <a:t> the pink car may be going 4 km/h while the blue car is going 2 km/h,</a:t>
            </a:r>
            <a:br>
              <a:rPr lang="en-US" dirty="0"/>
            </a:br>
            <a:r>
              <a:rPr lang="en-US" dirty="0"/>
              <a:t>and at </a:t>
            </a:r>
            <a:r>
              <a:rPr lang="en-US" i="1" dirty="0"/>
              <a:t>t = 10</a:t>
            </a:r>
            <a:r>
              <a:rPr lang="en-US" dirty="0"/>
              <a:t> the pink car might be going 16 km/h while the blue car is going 8 km/h.</a:t>
            </a:r>
            <a:br>
              <a:rPr lang="en-US" dirty="0"/>
            </a:br>
            <a:r>
              <a:rPr lang="en-US" dirty="0"/>
              <a:t>The </a:t>
            </a:r>
            <a:r>
              <a:rPr lang="en-US" b="1" dirty="0"/>
              <a:t>ratio</a:t>
            </a:r>
            <a:r>
              <a:rPr lang="en-US" dirty="0"/>
              <a:t> (2:1) stays the same — that’s the essence of the proportional hazards assumption.</a:t>
            </a:r>
            <a:endParaRPr lang="en-AU" dirty="0"/>
          </a:p>
        </p:txBody>
      </p:sp>
      <p:sp>
        <p:nvSpPr>
          <p:cNvPr id="4" name="Footer Placeholder 3">
            <a:extLst>
              <a:ext uri="{FF2B5EF4-FFF2-40B4-BE49-F238E27FC236}">
                <a16:creationId xmlns:a16="http://schemas.microsoft.com/office/drawing/2014/main" id="{F0FE6FE4-1199-C2CC-33EE-2DAA828C4FA7}"/>
              </a:ext>
            </a:extLst>
          </p:cNvPr>
          <p:cNvSpPr>
            <a:spLocks noGrp="1"/>
          </p:cNvSpPr>
          <p:nvPr>
            <p:ph type="ftr" sz="quarter" idx="11"/>
          </p:nvPr>
        </p:nvSpPr>
        <p:spPr/>
        <p:txBody>
          <a:bodyPr/>
          <a:lstStyle/>
          <a:p>
            <a:r>
              <a:rPr lang="en-US"/>
              <a:t>Farzaneh.Boroumand@Sydney.edu.au</a:t>
            </a:r>
            <a:endParaRPr lang="en-US" dirty="0"/>
          </a:p>
        </p:txBody>
      </p:sp>
      <p:pic>
        <p:nvPicPr>
          <p:cNvPr id="22" name="Picture 21">
            <a:extLst>
              <a:ext uri="{FF2B5EF4-FFF2-40B4-BE49-F238E27FC236}">
                <a16:creationId xmlns:a16="http://schemas.microsoft.com/office/drawing/2014/main" id="{D97E8DE4-6A1F-7B2A-3D59-4ED2DBFF1C59}"/>
              </a:ext>
            </a:extLst>
          </p:cNvPr>
          <p:cNvPicPr>
            <a:picLocks noChangeAspect="1"/>
          </p:cNvPicPr>
          <p:nvPr/>
        </p:nvPicPr>
        <p:blipFill>
          <a:blip r:embed="rId2"/>
          <a:srcRect t="9635" b="12686"/>
          <a:stretch>
            <a:fillRect/>
          </a:stretch>
        </p:blipFill>
        <p:spPr>
          <a:xfrm>
            <a:off x="5476383" y="914400"/>
            <a:ext cx="5564550" cy="1609647"/>
          </a:xfrm>
          <a:prstGeom prst="rect">
            <a:avLst/>
          </a:prstGeom>
        </p:spPr>
      </p:pic>
    </p:spTree>
    <p:extLst>
      <p:ext uri="{BB962C8B-B14F-4D97-AF65-F5344CB8AC3E}">
        <p14:creationId xmlns:p14="http://schemas.microsoft.com/office/powerpoint/2010/main" val="2030034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64FF-0BC2-D6A3-035E-8D7215B91DD4}"/>
              </a:ext>
            </a:extLst>
          </p:cNvPr>
          <p:cNvSpPr>
            <a:spLocks noGrp="1"/>
          </p:cNvSpPr>
          <p:nvPr>
            <p:ph type="title"/>
          </p:nvPr>
        </p:nvSpPr>
        <p:spPr/>
        <p:txBody>
          <a:bodyPr/>
          <a:lstStyle/>
          <a:p>
            <a:r>
              <a:rPr lang="en-AU" dirty="0"/>
              <a:t>PH Assumption violation </a:t>
            </a:r>
          </a:p>
        </p:txBody>
      </p:sp>
      <p:sp>
        <p:nvSpPr>
          <p:cNvPr id="4" name="Footer Placeholder 3">
            <a:extLst>
              <a:ext uri="{FF2B5EF4-FFF2-40B4-BE49-F238E27FC236}">
                <a16:creationId xmlns:a16="http://schemas.microsoft.com/office/drawing/2014/main" id="{B0C10979-1B59-53EC-A727-CE140BBF021F}"/>
              </a:ext>
            </a:extLst>
          </p:cNvPr>
          <p:cNvSpPr>
            <a:spLocks noGrp="1"/>
          </p:cNvSpPr>
          <p:nvPr>
            <p:ph type="ftr" sz="quarter" idx="11"/>
          </p:nvPr>
        </p:nvSpPr>
        <p:spPr/>
        <p:txBody>
          <a:bodyPr/>
          <a:lstStyle/>
          <a:p>
            <a:r>
              <a:rPr lang="en-US"/>
              <a:t>Farzaneh.Boroumand@Sydney.edu.au</a:t>
            </a:r>
            <a:endParaRPr lang="en-US" dirty="0"/>
          </a:p>
        </p:txBody>
      </p:sp>
      <p:pic>
        <p:nvPicPr>
          <p:cNvPr id="5" name="Content Placeholder 13" descr="Car with solid fill">
            <a:extLst>
              <a:ext uri="{FF2B5EF4-FFF2-40B4-BE49-F238E27FC236}">
                <a16:creationId xmlns:a16="http://schemas.microsoft.com/office/drawing/2014/main" id="{F6660FC6-71F7-C205-1B85-6A3BFD5C3E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30789" y="2037768"/>
            <a:ext cx="1558981" cy="1558981"/>
          </a:xfrm>
          <a:prstGeom prst="rect">
            <a:avLst/>
          </a:prstGeom>
        </p:spPr>
      </p:pic>
      <p:pic>
        <p:nvPicPr>
          <p:cNvPr id="6" name="Content Placeholder 13" descr="Car with solid fill">
            <a:extLst>
              <a:ext uri="{FF2B5EF4-FFF2-40B4-BE49-F238E27FC236}">
                <a16:creationId xmlns:a16="http://schemas.microsoft.com/office/drawing/2014/main" id="{84632A48-0D3D-7DDF-A340-2B6FB5EE56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0789" y="3085076"/>
            <a:ext cx="1558981" cy="1558981"/>
          </a:xfrm>
          <a:prstGeom prst="rect">
            <a:avLst/>
          </a:prstGeom>
        </p:spPr>
      </p:pic>
      <p:cxnSp>
        <p:nvCxnSpPr>
          <p:cNvPr id="7" name="Straight Connector 6">
            <a:extLst>
              <a:ext uri="{FF2B5EF4-FFF2-40B4-BE49-F238E27FC236}">
                <a16:creationId xmlns:a16="http://schemas.microsoft.com/office/drawing/2014/main" id="{92BDC75C-63AC-9C78-8B02-D4A79AA48DA9}"/>
              </a:ext>
            </a:extLst>
          </p:cNvPr>
          <p:cNvCxnSpPr>
            <a:cxnSpLocks/>
          </p:cNvCxnSpPr>
          <p:nvPr/>
        </p:nvCxnSpPr>
        <p:spPr>
          <a:xfrm>
            <a:off x="1730789" y="4251093"/>
            <a:ext cx="9016625" cy="3062"/>
          </a:xfrm>
          <a:prstGeom prst="line">
            <a:avLst/>
          </a:prstGeom>
        </p:spPr>
        <p:style>
          <a:lnRef idx="3">
            <a:schemeClr val="dk1"/>
          </a:lnRef>
          <a:fillRef idx="0">
            <a:schemeClr val="dk1"/>
          </a:fillRef>
          <a:effectRef idx="2">
            <a:schemeClr val="dk1"/>
          </a:effectRef>
          <a:fontRef idx="minor">
            <a:schemeClr val="tx1"/>
          </a:fontRef>
        </p:style>
      </p:cxnSp>
      <p:sp>
        <p:nvSpPr>
          <p:cNvPr id="8" name="Arrow: Down 7">
            <a:extLst>
              <a:ext uri="{FF2B5EF4-FFF2-40B4-BE49-F238E27FC236}">
                <a16:creationId xmlns:a16="http://schemas.microsoft.com/office/drawing/2014/main" id="{F307DC13-1E3A-5267-9AB3-D413B8E6D078}"/>
              </a:ext>
            </a:extLst>
          </p:cNvPr>
          <p:cNvSpPr/>
          <p:nvPr/>
        </p:nvSpPr>
        <p:spPr>
          <a:xfrm>
            <a:off x="2345606" y="4324187"/>
            <a:ext cx="321972" cy="384916"/>
          </a:xfrm>
          <a:prstGeom prst="down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9" name="Arrow: Down 8">
            <a:extLst>
              <a:ext uri="{FF2B5EF4-FFF2-40B4-BE49-F238E27FC236}">
                <a16:creationId xmlns:a16="http://schemas.microsoft.com/office/drawing/2014/main" id="{D77F154B-603B-A2D8-1B61-CBC82130A2E1}"/>
              </a:ext>
            </a:extLst>
          </p:cNvPr>
          <p:cNvSpPr/>
          <p:nvPr/>
        </p:nvSpPr>
        <p:spPr>
          <a:xfrm>
            <a:off x="5936800" y="4319105"/>
            <a:ext cx="321972" cy="384916"/>
          </a:xfrm>
          <a:prstGeom prst="down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10" name="Arrow: Down 9">
            <a:extLst>
              <a:ext uri="{FF2B5EF4-FFF2-40B4-BE49-F238E27FC236}">
                <a16:creationId xmlns:a16="http://schemas.microsoft.com/office/drawing/2014/main" id="{97670CCB-652B-F705-3F1E-8AF0F5EB22A0}"/>
              </a:ext>
            </a:extLst>
          </p:cNvPr>
          <p:cNvSpPr/>
          <p:nvPr/>
        </p:nvSpPr>
        <p:spPr>
          <a:xfrm>
            <a:off x="9589024" y="4319105"/>
            <a:ext cx="321972" cy="384916"/>
          </a:xfrm>
          <a:prstGeom prst="downArrow">
            <a:avLst/>
          </a:prstGeom>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11" name="TextBox 10">
            <a:extLst>
              <a:ext uri="{FF2B5EF4-FFF2-40B4-BE49-F238E27FC236}">
                <a16:creationId xmlns:a16="http://schemas.microsoft.com/office/drawing/2014/main" id="{086455DA-6014-401A-C25C-587D36E33DE7}"/>
              </a:ext>
            </a:extLst>
          </p:cNvPr>
          <p:cNvSpPr txBox="1"/>
          <p:nvPr/>
        </p:nvSpPr>
        <p:spPr>
          <a:xfrm>
            <a:off x="2232916" y="4804762"/>
            <a:ext cx="547352" cy="369332"/>
          </a:xfrm>
          <a:prstGeom prst="rect">
            <a:avLst/>
          </a:prstGeom>
          <a:noFill/>
        </p:spPr>
        <p:txBody>
          <a:bodyPr wrap="square" rtlCol="0">
            <a:spAutoFit/>
          </a:bodyPr>
          <a:lstStyle/>
          <a:p>
            <a:r>
              <a:rPr lang="en-AU" dirty="0"/>
              <a:t>t=1</a:t>
            </a:r>
          </a:p>
        </p:txBody>
      </p:sp>
      <p:sp>
        <p:nvSpPr>
          <p:cNvPr id="12" name="TextBox 11">
            <a:extLst>
              <a:ext uri="{FF2B5EF4-FFF2-40B4-BE49-F238E27FC236}">
                <a16:creationId xmlns:a16="http://schemas.microsoft.com/office/drawing/2014/main" id="{689F3584-A038-348B-82F7-85E04A9C51A9}"/>
              </a:ext>
            </a:extLst>
          </p:cNvPr>
          <p:cNvSpPr txBox="1"/>
          <p:nvPr/>
        </p:nvSpPr>
        <p:spPr>
          <a:xfrm>
            <a:off x="5867075" y="4805897"/>
            <a:ext cx="547352" cy="369332"/>
          </a:xfrm>
          <a:prstGeom prst="rect">
            <a:avLst/>
          </a:prstGeom>
          <a:noFill/>
        </p:spPr>
        <p:txBody>
          <a:bodyPr wrap="square" rtlCol="0">
            <a:spAutoFit/>
          </a:bodyPr>
          <a:lstStyle/>
          <a:p>
            <a:r>
              <a:rPr lang="en-AU" dirty="0"/>
              <a:t>t=5</a:t>
            </a:r>
          </a:p>
        </p:txBody>
      </p:sp>
      <p:sp>
        <p:nvSpPr>
          <p:cNvPr id="13" name="TextBox 12">
            <a:extLst>
              <a:ext uri="{FF2B5EF4-FFF2-40B4-BE49-F238E27FC236}">
                <a16:creationId xmlns:a16="http://schemas.microsoft.com/office/drawing/2014/main" id="{3235F6C3-B3B4-F793-58E0-201D80AA2ACC}"/>
              </a:ext>
            </a:extLst>
          </p:cNvPr>
          <p:cNvSpPr txBox="1"/>
          <p:nvPr/>
        </p:nvSpPr>
        <p:spPr>
          <a:xfrm>
            <a:off x="9476334" y="4782316"/>
            <a:ext cx="691536" cy="369332"/>
          </a:xfrm>
          <a:prstGeom prst="rect">
            <a:avLst/>
          </a:prstGeom>
          <a:noFill/>
        </p:spPr>
        <p:txBody>
          <a:bodyPr wrap="square" rtlCol="0">
            <a:spAutoFit/>
          </a:bodyPr>
          <a:lstStyle/>
          <a:p>
            <a:r>
              <a:rPr lang="en-AU" dirty="0"/>
              <a:t>t=10</a:t>
            </a:r>
          </a:p>
        </p:txBody>
      </p:sp>
      <p:cxnSp>
        <p:nvCxnSpPr>
          <p:cNvPr id="15" name="Straight Connector 14">
            <a:extLst>
              <a:ext uri="{FF2B5EF4-FFF2-40B4-BE49-F238E27FC236}">
                <a16:creationId xmlns:a16="http://schemas.microsoft.com/office/drawing/2014/main" id="{28A48877-0AA6-8C77-5F14-F8F35E4D9254}"/>
              </a:ext>
            </a:extLst>
          </p:cNvPr>
          <p:cNvCxnSpPr>
            <a:cxnSpLocks/>
          </p:cNvCxnSpPr>
          <p:nvPr/>
        </p:nvCxnSpPr>
        <p:spPr>
          <a:xfrm flipV="1">
            <a:off x="3255504" y="2616454"/>
            <a:ext cx="6333520" cy="1417659"/>
          </a:xfrm>
          <a:prstGeom prst="line">
            <a:avLst/>
          </a:prstGeom>
        </p:spPr>
        <p:style>
          <a:lnRef idx="3">
            <a:schemeClr val="accent3"/>
          </a:lnRef>
          <a:fillRef idx="0">
            <a:schemeClr val="accent3"/>
          </a:fillRef>
          <a:effectRef idx="2">
            <a:schemeClr val="accent3"/>
          </a:effectRef>
          <a:fontRef idx="minor">
            <a:schemeClr val="tx1"/>
          </a:fontRef>
        </p:style>
      </p:cxnSp>
      <p:cxnSp>
        <p:nvCxnSpPr>
          <p:cNvPr id="17" name="Straight Connector 16">
            <a:extLst>
              <a:ext uri="{FF2B5EF4-FFF2-40B4-BE49-F238E27FC236}">
                <a16:creationId xmlns:a16="http://schemas.microsoft.com/office/drawing/2014/main" id="{9186E3C9-3F66-3083-3B9D-C4A5A311F959}"/>
              </a:ext>
            </a:extLst>
          </p:cNvPr>
          <p:cNvCxnSpPr/>
          <p:nvPr/>
        </p:nvCxnSpPr>
        <p:spPr>
          <a:xfrm>
            <a:off x="3226850" y="2901898"/>
            <a:ext cx="6544383" cy="1194009"/>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42499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2314B-9DC4-DC7B-5D1A-15A4931F1C84}"/>
              </a:ext>
            </a:extLst>
          </p:cNvPr>
          <p:cNvSpPr>
            <a:spLocks noGrp="1"/>
          </p:cNvSpPr>
          <p:nvPr>
            <p:ph type="title"/>
          </p:nvPr>
        </p:nvSpPr>
        <p:spPr/>
        <p:txBody>
          <a:bodyPr/>
          <a:lstStyle/>
          <a:p>
            <a:r>
              <a:rPr lang="en-AU" dirty="0"/>
              <a:t>PH Assumption violation </a:t>
            </a:r>
          </a:p>
        </p:txBody>
      </p:sp>
      <p:sp>
        <p:nvSpPr>
          <p:cNvPr id="3" name="Content Placeholder 2">
            <a:extLst>
              <a:ext uri="{FF2B5EF4-FFF2-40B4-BE49-F238E27FC236}">
                <a16:creationId xmlns:a16="http://schemas.microsoft.com/office/drawing/2014/main" id="{AEA0DD4B-6BC1-CE91-922A-D0D14CC225DF}"/>
              </a:ext>
            </a:extLst>
          </p:cNvPr>
          <p:cNvSpPr>
            <a:spLocks noGrp="1"/>
          </p:cNvSpPr>
          <p:nvPr>
            <p:ph idx="1"/>
          </p:nvPr>
        </p:nvSpPr>
        <p:spPr/>
        <p:txBody>
          <a:bodyPr>
            <a:normAutofit lnSpcReduction="10000"/>
          </a:bodyPr>
          <a:lstStyle/>
          <a:p>
            <a:r>
              <a:rPr lang="en-US" dirty="0"/>
              <a:t>When the </a:t>
            </a:r>
            <a:r>
              <a:rPr lang="en-US" b="1" dirty="0"/>
              <a:t>proportional hazards assumption is violated</a:t>
            </a:r>
            <a:r>
              <a:rPr lang="en-US" dirty="0"/>
              <a:t>,</a:t>
            </a:r>
            <a:br>
              <a:rPr lang="en-US" dirty="0"/>
            </a:br>
            <a:r>
              <a:rPr lang="en-US" dirty="0"/>
              <a:t>the </a:t>
            </a:r>
            <a:r>
              <a:rPr lang="en-US" i="1" dirty="0"/>
              <a:t>proportion</a:t>
            </a:r>
            <a:r>
              <a:rPr lang="en-US" dirty="0"/>
              <a:t> (or ratio) of the pink car’s speed compared to the blue car’s speed </a:t>
            </a:r>
            <a:r>
              <a:rPr lang="en-US" b="1" dirty="0"/>
              <a:t>changes over time</a:t>
            </a:r>
            <a:r>
              <a:rPr lang="en-US" dirty="0"/>
              <a:t>.</a:t>
            </a:r>
          </a:p>
          <a:p>
            <a:r>
              <a:rPr lang="en-US" dirty="0"/>
              <a:t>For example, at the beginning of the journey (</a:t>
            </a:r>
            <a:r>
              <a:rPr lang="en-US" i="1" dirty="0"/>
              <a:t>t = 1</a:t>
            </a:r>
            <a:r>
              <a:rPr lang="en-US" dirty="0"/>
              <a:t>),</a:t>
            </a:r>
            <a:br>
              <a:rPr lang="en-US" dirty="0"/>
            </a:br>
            <a:r>
              <a:rPr lang="en-US" dirty="0"/>
              <a:t>the pink car might be twice as fast as the blue car (4 km/h vs. 2 km/h).</a:t>
            </a:r>
            <a:br>
              <a:rPr lang="en-US" dirty="0"/>
            </a:br>
            <a:r>
              <a:rPr lang="en-US" dirty="0"/>
              <a:t>But later, at </a:t>
            </a:r>
            <a:r>
              <a:rPr lang="en-US" i="1" dirty="0"/>
              <a:t>t = 10</a:t>
            </a:r>
            <a:r>
              <a:rPr lang="en-US" dirty="0"/>
              <a:t>, the blue car might catch up or even go faster (pink = 8 km/h, blue = 10 km/h).</a:t>
            </a:r>
          </a:p>
          <a:p>
            <a:r>
              <a:rPr lang="en-US" dirty="0"/>
              <a:t>This means the </a:t>
            </a:r>
            <a:r>
              <a:rPr lang="en-US" b="1" dirty="0"/>
              <a:t>hazard ratio is not constant</a:t>
            </a:r>
            <a:r>
              <a:rPr lang="en-US" dirty="0"/>
              <a:t> — the relative difference between the two cars varies as time progresses.</a:t>
            </a:r>
            <a:br>
              <a:rPr lang="en-US" dirty="0"/>
            </a:br>
            <a:r>
              <a:rPr lang="en-US" dirty="0"/>
              <a:t>In survival analysis, this indicates that the </a:t>
            </a:r>
            <a:r>
              <a:rPr lang="en-US" b="1" dirty="0"/>
              <a:t>effect of the covariate changes over time</a:t>
            </a:r>
            <a:r>
              <a:rPr lang="en-US" dirty="0"/>
              <a:t>, violating the PH assumption.</a:t>
            </a:r>
          </a:p>
          <a:p>
            <a:pPr marL="0" indent="0">
              <a:buNone/>
            </a:pPr>
            <a:endParaRPr lang="en-AU" dirty="0"/>
          </a:p>
        </p:txBody>
      </p:sp>
      <p:sp>
        <p:nvSpPr>
          <p:cNvPr id="4" name="Footer Placeholder 3">
            <a:extLst>
              <a:ext uri="{FF2B5EF4-FFF2-40B4-BE49-F238E27FC236}">
                <a16:creationId xmlns:a16="http://schemas.microsoft.com/office/drawing/2014/main" id="{286A5F18-1C70-17BA-5DF4-898C5A626A6D}"/>
              </a:ext>
            </a:extLst>
          </p:cNvPr>
          <p:cNvSpPr>
            <a:spLocks noGrp="1"/>
          </p:cNvSpPr>
          <p:nvPr>
            <p:ph type="ftr" sz="quarter" idx="11"/>
          </p:nvPr>
        </p:nvSpPr>
        <p:spPr/>
        <p:txBody>
          <a:bodyPr/>
          <a:lstStyle/>
          <a:p>
            <a:r>
              <a:rPr lang="en-US"/>
              <a:t>Farzaneh.Boroumand@Sydney.edu.au</a:t>
            </a:r>
            <a:endParaRPr lang="en-US" dirty="0"/>
          </a:p>
        </p:txBody>
      </p:sp>
      <p:pic>
        <p:nvPicPr>
          <p:cNvPr id="6" name="Picture 5">
            <a:extLst>
              <a:ext uri="{FF2B5EF4-FFF2-40B4-BE49-F238E27FC236}">
                <a16:creationId xmlns:a16="http://schemas.microsoft.com/office/drawing/2014/main" id="{BB59F0EA-F4CA-6CDE-4106-2BB71EB4CBD1}"/>
              </a:ext>
            </a:extLst>
          </p:cNvPr>
          <p:cNvPicPr>
            <a:picLocks noChangeAspect="1"/>
          </p:cNvPicPr>
          <p:nvPr/>
        </p:nvPicPr>
        <p:blipFill>
          <a:blip r:embed="rId2"/>
          <a:stretch>
            <a:fillRect/>
          </a:stretch>
        </p:blipFill>
        <p:spPr>
          <a:xfrm>
            <a:off x="7496470" y="967857"/>
            <a:ext cx="3514115" cy="1200679"/>
          </a:xfrm>
          <a:prstGeom prst="rect">
            <a:avLst/>
          </a:prstGeom>
        </p:spPr>
      </p:pic>
    </p:spTree>
    <p:extLst>
      <p:ext uri="{BB962C8B-B14F-4D97-AF65-F5344CB8AC3E}">
        <p14:creationId xmlns:p14="http://schemas.microsoft.com/office/powerpoint/2010/main" val="4039482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609B2-3328-6BA1-E33D-94A48077D065}"/>
              </a:ext>
            </a:extLst>
          </p:cNvPr>
          <p:cNvSpPr>
            <a:spLocks noGrp="1"/>
          </p:cNvSpPr>
          <p:nvPr>
            <p:ph type="title"/>
          </p:nvPr>
        </p:nvSpPr>
        <p:spPr/>
        <p:txBody>
          <a:bodyPr/>
          <a:lstStyle/>
          <a:p>
            <a:r>
              <a:rPr lang="en-US" dirty="0"/>
              <a:t>How Would You Address the Violation?</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BE5E2D-4810-432C-860A-B79BC2FADF8C}"/>
                  </a:ext>
                </a:extLst>
              </p:cNvPr>
              <p:cNvSpPr>
                <a:spLocks noGrp="1"/>
              </p:cNvSpPr>
              <p:nvPr>
                <p:ph idx="1"/>
              </p:nvPr>
            </p:nvSpPr>
            <p:spPr/>
            <p:txBody>
              <a:bodyPr/>
              <a:lstStyle/>
              <a:p>
                <a:pPr marL="0" indent="0">
                  <a:buNone/>
                </a:pPr>
                <a:r>
                  <a:rPr lang="en-US" dirty="0"/>
                  <a:t>We’ve seen that the hazard ratio between the pink and blue cars changes over time — the PH assumption is </a:t>
                </a:r>
                <a:r>
                  <a:rPr lang="en-US" i="1" dirty="0"/>
                  <a:t>violated</a:t>
                </a:r>
                <a:r>
                  <a:rPr lang="en-US" dirty="0"/>
                  <a:t>.</a:t>
                </a:r>
              </a:p>
              <a:p>
                <a:endParaRPr lang="en-US" dirty="0"/>
              </a:p>
              <a:p>
                <a:r>
                  <a:rPr lang="en-US" dirty="0"/>
                  <a:t>If this happened, what would you do?</a:t>
                </a:r>
              </a:p>
              <a:p>
                <a:pPr lvl="1"/>
                <a:r>
                  <a:rPr lang="en-US" b="1" dirty="0">
                    <a:solidFill>
                      <a:schemeClr val="accent6">
                        <a:lumMod val="75000"/>
                      </a:schemeClr>
                    </a:solidFill>
                  </a:rPr>
                  <a:t>Stratified Cox model:</a:t>
                </a:r>
                <a:r>
                  <a:rPr lang="en-US" dirty="0">
                    <a:solidFill>
                      <a:schemeClr val="accent6">
                        <a:lumMod val="75000"/>
                      </a:schemeClr>
                    </a:solidFill>
                  </a:rPr>
                  <a:t> </a:t>
                </a:r>
                <a:r>
                  <a:rPr lang="en-US" dirty="0"/>
                  <a:t>allow baseline hazards to differ by group.</a:t>
                </a:r>
              </a:p>
              <a:p>
                <a:pPr lvl="1"/>
                <a:r>
                  <a:rPr lang="en-US" b="1" dirty="0">
                    <a:solidFill>
                      <a:schemeClr val="accent6">
                        <a:lumMod val="75000"/>
                      </a:schemeClr>
                    </a:solidFill>
                  </a:rPr>
                  <a:t>Include time-varying effect:</a:t>
                </a:r>
                <a:r>
                  <a:rPr lang="en-US" dirty="0">
                    <a:solidFill>
                      <a:schemeClr val="accent6">
                        <a:lumMod val="75000"/>
                      </a:schemeClr>
                    </a:solidFill>
                  </a:rPr>
                  <a:t> </a:t>
                </a:r>
                <a:r>
                  <a:rPr lang="en-US" dirty="0"/>
                  <a:t>model changing effects over time, include interaction between covariate and time (e.g. </a:t>
                </a:r>
                <a14:m>
                  <m:oMath xmlns:m="http://schemas.openxmlformats.org/officeDocument/2006/math">
                    <m:r>
                      <a:rPr lang="en-US" i="1">
                        <a:latin typeface="Cambria Math" panose="02040503050406030204" pitchFamily="18" charset="0"/>
                      </a:rPr>
                      <m:t>𝑥</m:t>
                    </m:r>
                    <m:r>
                      <a:rPr lang="en-US">
                        <a:latin typeface="Cambria Math" panose="02040503050406030204" pitchFamily="18" charset="0"/>
                      </a:rPr>
                      <m:t>×</m:t>
                    </m:r>
                    <m:r>
                      <a:rPr lang="en-US" i="1">
                        <a:latin typeface="Cambria Math" panose="02040503050406030204" pitchFamily="18" charset="0"/>
                      </a:rPr>
                      <m:t>𝑡</m:t>
                    </m:r>
                  </m:oMath>
                </a14:m>
                <a:r>
                  <a:rPr lang="en-US" dirty="0"/>
                  <a:t>). </a:t>
                </a:r>
              </a:p>
              <a:p>
                <a:pPr lvl="1"/>
                <a:r>
                  <a:rPr lang="en-US" b="1" dirty="0">
                    <a:solidFill>
                      <a:schemeClr val="accent6">
                        <a:lumMod val="75000"/>
                      </a:schemeClr>
                    </a:solidFill>
                  </a:rPr>
                  <a:t>Use extended Cox model:</a:t>
                </a:r>
                <a:r>
                  <a:rPr lang="en-US" dirty="0">
                    <a:solidFill>
                      <a:schemeClr val="accent6">
                        <a:lumMod val="75000"/>
                      </a:schemeClr>
                    </a:solidFill>
                  </a:rPr>
                  <a:t> </a:t>
                </a:r>
                <a:r>
                  <a:rPr lang="en-US" dirty="0"/>
                  <a:t>allow a covariate’s </a:t>
                </a:r>
                <a:r>
                  <a:rPr lang="en-US" b="1" dirty="0"/>
                  <a:t>value itself</a:t>
                </a:r>
                <a:r>
                  <a:rPr lang="en-US" dirty="0"/>
                  <a:t> to change over time.</a:t>
                </a:r>
                <a:endParaRPr lang="en-AU" dirty="0"/>
              </a:p>
            </p:txBody>
          </p:sp>
        </mc:Choice>
        <mc:Fallback xmlns="">
          <p:sp>
            <p:nvSpPr>
              <p:cNvPr id="3" name="Content Placeholder 2">
                <a:extLst>
                  <a:ext uri="{FF2B5EF4-FFF2-40B4-BE49-F238E27FC236}">
                    <a16:creationId xmlns:a16="http://schemas.microsoft.com/office/drawing/2014/main" id="{3FBE5E2D-4810-432C-860A-B79BC2FADF8C}"/>
                  </a:ext>
                </a:extLst>
              </p:cNvPr>
              <p:cNvSpPr>
                <a:spLocks noGrp="1" noRot="1" noChangeAspect="1" noMove="1" noResize="1" noEditPoints="1" noAdjustHandles="1" noChangeArrowheads="1" noChangeShapeType="1" noTextEdit="1"/>
              </p:cNvSpPr>
              <p:nvPr>
                <p:ph idx="1"/>
              </p:nvPr>
            </p:nvSpPr>
            <p:spPr>
              <a:blipFill>
                <a:blip r:embed="rId2"/>
                <a:stretch>
                  <a:fillRect l="-627" t="-816"/>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F4D2BDCD-AF57-F305-4F7C-22816DDF8478}"/>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305750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2EA4F-A99C-75B3-99B4-14F311A47F97}"/>
              </a:ext>
            </a:extLst>
          </p:cNvPr>
          <p:cNvSpPr>
            <a:spLocks noGrp="1"/>
          </p:cNvSpPr>
          <p:nvPr>
            <p:ph type="title"/>
          </p:nvPr>
        </p:nvSpPr>
        <p:spPr/>
        <p:txBody>
          <a:bodyPr/>
          <a:lstStyle/>
          <a:p>
            <a:r>
              <a:rPr lang="en-AU" dirty="0"/>
              <a:t>Example:</a:t>
            </a:r>
          </a:p>
        </p:txBody>
      </p:sp>
      <p:sp>
        <p:nvSpPr>
          <p:cNvPr id="3" name="Content Placeholder 2">
            <a:extLst>
              <a:ext uri="{FF2B5EF4-FFF2-40B4-BE49-F238E27FC236}">
                <a16:creationId xmlns:a16="http://schemas.microsoft.com/office/drawing/2014/main" id="{604A87B0-6FC4-F1E0-46E3-7D55B9ABA99C}"/>
              </a:ext>
            </a:extLst>
          </p:cNvPr>
          <p:cNvSpPr>
            <a:spLocks noGrp="1"/>
          </p:cNvSpPr>
          <p:nvPr>
            <p:ph idx="1"/>
          </p:nvPr>
        </p:nvSpPr>
        <p:spPr>
          <a:xfrm>
            <a:off x="700635" y="1803163"/>
            <a:ext cx="10691265" cy="4158725"/>
          </a:xfrm>
        </p:spPr>
        <p:txBody>
          <a:bodyPr/>
          <a:lstStyle/>
          <a:p>
            <a:pPr marL="0" indent="0">
              <a:buNone/>
            </a:pPr>
            <a:r>
              <a:rPr lang="en-AU" dirty="0"/>
              <a:t>Outcome: </a:t>
            </a:r>
          </a:p>
          <a:p>
            <a:pPr lvl="1"/>
            <a:r>
              <a:rPr lang="en-AU" dirty="0"/>
              <a:t>time from the transplantation surgery to a graft failure</a:t>
            </a:r>
          </a:p>
          <a:p>
            <a:pPr lvl="1"/>
            <a:r>
              <a:rPr lang="en-AU" dirty="0"/>
              <a:t>Status of graft failure</a:t>
            </a:r>
          </a:p>
          <a:p>
            <a:pPr marL="0" indent="0">
              <a:buNone/>
            </a:pPr>
            <a:r>
              <a:rPr lang="en-AU" dirty="0"/>
              <a:t>Main Exposure : type of donor</a:t>
            </a:r>
          </a:p>
          <a:p>
            <a:pPr marL="0" indent="0">
              <a:buNone/>
            </a:pPr>
            <a:r>
              <a:rPr lang="en-AU" dirty="0"/>
              <a:t>Covariates:</a:t>
            </a:r>
          </a:p>
          <a:p>
            <a:pPr lvl="1"/>
            <a:r>
              <a:rPr lang="en-AU" dirty="0"/>
              <a:t>Age of donor</a:t>
            </a:r>
          </a:p>
          <a:p>
            <a:pPr lvl="1"/>
            <a:r>
              <a:rPr lang="en-AU" dirty="0"/>
              <a:t>Recipient gender</a:t>
            </a:r>
          </a:p>
          <a:p>
            <a:pPr lvl="1"/>
            <a:r>
              <a:rPr lang="en-AU" dirty="0"/>
              <a:t> eGFR at time of transplant</a:t>
            </a:r>
          </a:p>
          <a:p>
            <a:pPr marL="457200" lvl="1" indent="0">
              <a:buNone/>
            </a:pPr>
            <a:endParaRPr lang="en-AU" dirty="0"/>
          </a:p>
        </p:txBody>
      </p:sp>
      <p:sp>
        <p:nvSpPr>
          <p:cNvPr id="4" name="Footer Placeholder 3">
            <a:extLst>
              <a:ext uri="{FF2B5EF4-FFF2-40B4-BE49-F238E27FC236}">
                <a16:creationId xmlns:a16="http://schemas.microsoft.com/office/drawing/2014/main" id="{C08A65FE-04D0-BAA4-13F4-E49DAFB9C954}"/>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2724358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7074C-5F99-3D06-04B2-19E18562961E}"/>
              </a:ext>
            </a:extLst>
          </p:cNvPr>
          <p:cNvSpPr>
            <a:spLocks noGrp="1"/>
          </p:cNvSpPr>
          <p:nvPr>
            <p:ph type="title"/>
          </p:nvPr>
        </p:nvSpPr>
        <p:spPr/>
        <p:txBody>
          <a:bodyPr>
            <a:normAutofit/>
          </a:bodyPr>
          <a:lstStyle/>
          <a:p>
            <a:r>
              <a:rPr lang="en-US" dirty="0"/>
              <a:t>stratified Cox model </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1088D7-63E7-DEA5-9A07-25B92666B56D}"/>
                  </a:ext>
                </a:extLst>
              </p:cNvPr>
              <p:cNvSpPr>
                <a:spLocks noGrp="1"/>
              </p:cNvSpPr>
              <p:nvPr>
                <p:ph idx="1"/>
              </p:nvPr>
            </p:nvSpPr>
            <p:spPr>
              <a:xfrm>
                <a:off x="700634" y="1897040"/>
                <a:ext cx="10691265" cy="3739896"/>
              </a:xfrm>
            </p:spPr>
            <p:txBody>
              <a:bodyPr/>
              <a:lstStyle/>
              <a:p>
                <a:pPr marL="0" indent="0">
                  <a:buNone/>
                </a:pPr>
                <a:r>
                  <a:rPr lang="en-US" dirty="0"/>
                  <a:t>A standard Cox model:</a:t>
                </a:r>
              </a:p>
              <a:p>
                <a:pPr marL="0" indent="0">
                  <a:buNone/>
                </a:pPr>
                <a14:m>
                  <m:oMathPara xmlns:m="http://schemas.openxmlformats.org/officeDocument/2006/math">
                    <m:oMathParaPr>
                      <m:jc m:val="centerGroup"/>
                    </m:oMathParaPr>
                    <m:oMath xmlns:m="http://schemas.openxmlformats.org/officeDocument/2006/math">
                      <m:r>
                        <a:rPr lang="pt-BR" i="1" dirty="0" smtClean="0">
                          <a:latin typeface="Cambria Math" panose="02040503050406030204" pitchFamily="18" charset="0"/>
                        </a:rPr>
                        <m:t>h</m:t>
                      </m:r>
                      <m:r>
                        <a:rPr lang="pt-BR" i="1" dirty="0" smtClean="0">
                          <a:latin typeface="Cambria Math" panose="02040503050406030204" pitchFamily="18" charset="0"/>
                        </a:rPr>
                        <m:t>(</m:t>
                      </m:r>
                      <m:r>
                        <a:rPr lang="pt-BR" i="1" dirty="0" smtClean="0">
                          <a:latin typeface="Cambria Math" panose="02040503050406030204" pitchFamily="18" charset="0"/>
                        </a:rPr>
                        <m:t>𝑡</m:t>
                      </m:r>
                      <m:r>
                        <a:rPr lang="pt-BR" i="1" dirty="0" smtClean="0">
                          <a:latin typeface="Cambria Math" panose="02040503050406030204" pitchFamily="18" charset="0"/>
                        </a:rPr>
                        <m:t>∣</m:t>
                      </m:r>
                      <m:r>
                        <a:rPr lang="pt-BR" i="1" dirty="0" smtClean="0">
                          <a:latin typeface="Cambria Math" panose="02040503050406030204" pitchFamily="18" charset="0"/>
                        </a:rPr>
                        <m:t>𝑋</m:t>
                      </m:r>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h</m:t>
                          </m:r>
                        </m:e>
                        <m:sub>
                          <m:r>
                            <a:rPr lang="pt-BR" i="1" dirty="0" smtClean="0">
                              <a:latin typeface="Cambria Math" panose="02040503050406030204" pitchFamily="18" charset="0"/>
                            </a:rPr>
                            <m:t>0</m:t>
                          </m:r>
                        </m:sub>
                      </m:sSub>
                      <m:r>
                        <a:rPr lang="pt-BR" i="1" dirty="0" smtClean="0">
                          <a:latin typeface="Cambria Math" panose="02040503050406030204" pitchFamily="18" charset="0"/>
                        </a:rPr>
                        <m:t>​(</m:t>
                      </m:r>
                      <m:r>
                        <a:rPr lang="pt-BR" i="1" dirty="0" smtClean="0">
                          <a:latin typeface="Cambria Math" panose="02040503050406030204" pitchFamily="18" charset="0"/>
                        </a:rPr>
                        <m:t>𝑡</m:t>
                      </m:r>
                      <m:r>
                        <a:rPr lang="pt-BR" i="1" dirty="0" smtClean="0">
                          <a:latin typeface="Cambria Math" panose="02040503050406030204" pitchFamily="18" charset="0"/>
                        </a:rPr>
                        <m:t>)</m:t>
                      </m:r>
                      <m:r>
                        <m:rPr>
                          <m:sty m:val="p"/>
                        </m:rPr>
                        <a:rPr lang="pt-BR" i="1" dirty="0" smtClean="0">
                          <a:latin typeface="Cambria Math" panose="02040503050406030204" pitchFamily="18" charset="0"/>
                        </a:rPr>
                        <m:t>exp</m:t>
                      </m:r>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𝛽</m:t>
                          </m:r>
                        </m:e>
                        <m:sub>
                          <m:r>
                            <a:rPr lang="pt-BR" i="1" dirty="0" smtClean="0">
                              <a:latin typeface="Cambria Math" panose="02040503050406030204" pitchFamily="18" charset="0"/>
                            </a:rPr>
                            <m:t>1</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𝑋</m:t>
                          </m:r>
                        </m:e>
                        <m:sub>
                          <m:r>
                            <a:rPr lang="pt-BR" i="1" dirty="0" smtClean="0">
                              <a:latin typeface="Cambria Math" panose="02040503050406030204" pitchFamily="18" charset="0"/>
                            </a:rPr>
                            <m:t>1</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𝛽</m:t>
                          </m:r>
                        </m:e>
                        <m:sub>
                          <m:r>
                            <a:rPr lang="pt-BR" i="1" dirty="0" smtClean="0">
                              <a:latin typeface="Cambria Math" panose="02040503050406030204" pitchFamily="18" charset="0"/>
                            </a:rPr>
                            <m:t>2</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𝑋</m:t>
                          </m:r>
                        </m:e>
                        <m:sub>
                          <m:r>
                            <a:rPr lang="pt-BR" i="1" dirty="0" smtClean="0">
                              <a:latin typeface="Cambria Math" panose="02040503050406030204" pitchFamily="18" charset="0"/>
                            </a:rPr>
                            <m:t>2</m:t>
                          </m:r>
                        </m:sub>
                      </m:sSub>
                      <m:r>
                        <a:rPr lang="pt-BR" i="1" dirty="0" smtClean="0">
                          <a:latin typeface="Cambria Math" panose="02040503050406030204" pitchFamily="18" charset="0"/>
                        </a:rPr>
                        <m:t>​+…)</m:t>
                      </m:r>
                    </m:oMath>
                  </m:oMathPara>
                </a14:m>
                <a:endParaRPr lang="en-AU" dirty="0"/>
              </a:p>
              <a:p>
                <a:r>
                  <a:rPr lang="en-AU" dirty="0"/>
                  <a:t>There is </a:t>
                </a:r>
                <a:r>
                  <a:rPr lang="en-AU" b="1" dirty="0"/>
                  <a:t>one</a:t>
                </a:r>
                <a:r>
                  <a:rPr lang="en-AU" dirty="0"/>
                  <a:t> baseline hazard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0</m:t>
                        </m:r>
                      </m:sub>
                    </m:sSub>
                    <m:d>
                      <m:dPr>
                        <m:ctrlPr>
                          <a:rPr lang="ar-AE" i="1">
                            <a:latin typeface="Cambria Math" panose="02040503050406030204" pitchFamily="18" charset="0"/>
                          </a:rPr>
                        </m:ctrlPr>
                      </m:dPr>
                      <m:e>
                        <m:r>
                          <a:rPr lang="ar-AE" i="1">
                            <a:latin typeface="Cambria Math" panose="02040503050406030204" pitchFamily="18" charset="0"/>
                          </a:rPr>
                          <m:t>𝑡</m:t>
                        </m:r>
                      </m:e>
                    </m:d>
                  </m:oMath>
                </a14:m>
                <a:r>
                  <a:rPr lang="ar-AE" dirty="0"/>
                  <a:t>, </a:t>
                </a:r>
                <a:r>
                  <a:rPr lang="en-AU" dirty="0"/>
                  <a:t>shared by everyone.</a:t>
                </a:r>
              </a:p>
              <a:p>
                <a:r>
                  <a:rPr lang="en-US" dirty="0"/>
                  <a:t>The hazard ratios are assumed to be </a:t>
                </a:r>
                <a:r>
                  <a:rPr lang="en-US" b="1" dirty="0"/>
                  <a:t>constant over time</a:t>
                </a:r>
                <a:r>
                  <a:rPr lang="en-US" dirty="0"/>
                  <a:t> → proportional hazards</a:t>
                </a:r>
              </a:p>
              <a:p>
                <a:endParaRPr lang="en-US" dirty="0"/>
              </a:p>
              <a:p>
                <a:pPr marL="0" indent="0">
                  <a:buNone/>
                </a:pPr>
                <a:r>
                  <a:rPr lang="en-US" dirty="0"/>
                  <a:t>If the PH assumption is violated for one variable (e.g. “type of donor”), it means:</a:t>
                </a:r>
              </a:p>
              <a:p>
                <a:r>
                  <a:rPr lang="en-US" dirty="0"/>
                  <a:t>The separation between groups is not staying at a constant ratio</a:t>
                </a:r>
              </a:p>
              <a:p>
                <a:r>
                  <a:rPr lang="en-US" dirty="0"/>
                  <a:t>In your car analogy: pink vs blue cars' speed ratio is not flat.</a:t>
                </a:r>
                <a:endParaRPr lang="en-AU" dirty="0"/>
              </a:p>
            </p:txBody>
          </p:sp>
        </mc:Choice>
        <mc:Fallback xmlns="">
          <p:sp>
            <p:nvSpPr>
              <p:cNvPr id="3" name="Content Placeholder 2">
                <a:extLst>
                  <a:ext uri="{FF2B5EF4-FFF2-40B4-BE49-F238E27FC236}">
                    <a16:creationId xmlns:a16="http://schemas.microsoft.com/office/drawing/2014/main" id="{B01088D7-63E7-DEA5-9A07-25B92666B56D}"/>
                  </a:ext>
                </a:extLst>
              </p:cNvPr>
              <p:cNvSpPr>
                <a:spLocks noGrp="1" noRot="1" noChangeAspect="1" noMove="1" noResize="1" noEditPoints="1" noAdjustHandles="1" noChangeArrowheads="1" noChangeShapeType="1" noTextEdit="1"/>
              </p:cNvSpPr>
              <p:nvPr>
                <p:ph idx="1"/>
              </p:nvPr>
            </p:nvSpPr>
            <p:spPr>
              <a:xfrm>
                <a:off x="700634" y="1897040"/>
                <a:ext cx="10691265" cy="3739896"/>
              </a:xfrm>
              <a:blipFill>
                <a:blip r:embed="rId2"/>
                <a:stretch>
                  <a:fillRect l="-627" t="-651"/>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F461CBB2-E4B1-7633-219D-550064101551}"/>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4246292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B213B-1D36-80B6-9C05-2F623B00B1F5}"/>
              </a:ext>
            </a:extLst>
          </p:cNvPr>
          <p:cNvSpPr>
            <a:spLocks noGrp="1"/>
          </p:cNvSpPr>
          <p:nvPr>
            <p:ph type="title"/>
          </p:nvPr>
        </p:nvSpPr>
        <p:spPr/>
        <p:txBody>
          <a:bodyPr/>
          <a:lstStyle/>
          <a:p>
            <a:r>
              <a:rPr lang="en-US" dirty="0"/>
              <a:t>stratified Cox model </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BC9C1E2-3805-3E17-86DD-7EFFF51ECD17}"/>
                  </a:ext>
                </a:extLst>
              </p:cNvPr>
              <p:cNvSpPr>
                <a:spLocks noGrp="1"/>
              </p:cNvSpPr>
              <p:nvPr>
                <p:ph idx="1"/>
              </p:nvPr>
            </p:nvSpPr>
            <p:spPr>
              <a:xfrm>
                <a:off x="700634" y="1844141"/>
                <a:ext cx="10691265" cy="3739896"/>
              </a:xfrm>
            </p:spPr>
            <p:txBody>
              <a:bodyPr/>
              <a:lstStyle/>
              <a:p>
                <a:pPr marL="0" indent="0">
                  <a:buNone/>
                </a:pPr>
                <a14:m>
                  <m:oMathPara xmlns:m="http://schemas.openxmlformats.org/officeDocument/2006/math">
                    <m:oMathParaPr>
                      <m:jc m:val="centerGroup"/>
                    </m:oMathParaPr>
                    <m:oMath xmlns:m="http://schemas.openxmlformats.org/officeDocument/2006/math">
                      <m:sSub>
                        <m:sSubPr>
                          <m:ctrlPr>
                            <a:rPr lang="en-US" b="1" i="1" dirty="0" smtClean="0">
                              <a:latin typeface="Cambria Math" panose="02040503050406030204" pitchFamily="18" charset="0"/>
                            </a:rPr>
                          </m:ctrlPr>
                        </m:sSubPr>
                        <m:e>
                          <m:r>
                            <a:rPr lang="pt-BR" b="1" i="1" dirty="0" smtClean="0">
                              <a:latin typeface="Cambria Math" panose="02040503050406030204" pitchFamily="18" charset="0"/>
                            </a:rPr>
                            <m:t>𝒉</m:t>
                          </m:r>
                        </m:e>
                        <m:sub>
                          <m:r>
                            <a:rPr lang="pt-BR" b="1" i="1" dirty="0" smtClean="0">
                              <a:solidFill>
                                <a:schemeClr val="accent6">
                                  <a:lumMod val="75000"/>
                                </a:schemeClr>
                              </a:solidFill>
                              <a:latin typeface="Cambria Math" panose="02040503050406030204" pitchFamily="18" charset="0"/>
                            </a:rPr>
                            <m:t>𝒔</m:t>
                          </m:r>
                        </m:sub>
                      </m:sSub>
                      <m:r>
                        <a:rPr lang="pt-BR" b="1" i="1" dirty="0" smtClean="0">
                          <a:latin typeface="Cambria Math" panose="02040503050406030204" pitchFamily="18" charset="0"/>
                        </a:rPr>
                        <m:t>​</m:t>
                      </m:r>
                      <m:r>
                        <a:rPr lang="pt-BR" i="1" dirty="0" smtClean="0">
                          <a:latin typeface="Cambria Math" panose="02040503050406030204" pitchFamily="18" charset="0"/>
                        </a:rPr>
                        <m:t>(</m:t>
                      </m:r>
                      <m:r>
                        <a:rPr lang="pt-BR" i="1" dirty="0" smtClean="0">
                          <a:latin typeface="Cambria Math" panose="02040503050406030204" pitchFamily="18" charset="0"/>
                        </a:rPr>
                        <m:t>𝑡</m:t>
                      </m:r>
                      <m:r>
                        <a:rPr lang="pt-BR" i="1" dirty="0" smtClean="0">
                          <a:latin typeface="Cambria Math" panose="02040503050406030204" pitchFamily="18" charset="0"/>
                        </a:rPr>
                        <m:t>∣</m:t>
                      </m:r>
                      <m:r>
                        <a:rPr lang="pt-BR" i="1" dirty="0" smtClean="0">
                          <a:latin typeface="Cambria Math" panose="02040503050406030204" pitchFamily="18" charset="0"/>
                        </a:rPr>
                        <m:t>𝑋</m:t>
                      </m:r>
                      <m:r>
                        <a:rPr lang="pt-BR" i="1" dirty="0" smtClean="0">
                          <a:latin typeface="Cambria Math" panose="02040503050406030204" pitchFamily="18" charset="0"/>
                        </a:rPr>
                        <m:t>)=</m:t>
                      </m:r>
                      <m:sSub>
                        <m:sSubPr>
                          <m:ctrlPr>
                            <a:rPr lang="en-US" b="1" i="1" dirty="0" smtClean="0">
                              <a:latin typeface="Cambria Math" panose="02040503050406030204" pitchFamily="18" charset="0"/>
                            </a:rPr>
                          </m:ctrlPr>
                        </m:sSubPr>
                        <m:e>
                          <m:r>
                            <a:rPr lang="pt-BR" b="1" i="1" dirty="0" smtClean="0">
                              <a:latin typeface="Cambria Math" panose="02040503050406030204" pitchFamily="18" charset="0"/>
                            </a:rPr>
                            <m:t>𝒉</m:t>
                          </m:r>
                        </m:e>
                        <m:sub>
                          <m:r>
                            <a:rPr lang="pt-BR" b="1" i="1" dirty="0" smtClean="0">
                              <a:latin typeface="Cambria Math" panose="02040503050406030204" pitchFamily="18" charset="0"/>
                            </a:rPr>
                            <m:t>𝟎</m:t>
                          </m:r>
                          <m:r>
                            <a:rPr lang="pt-BR" b="1" i="1" dirty="0" smtClean="0">
                              <a:solidFill>
                                <a:schemeClr val="accent6">
                                  <a:lumMod val="75000"/>
                                </a:schemeClr>
                              </a:solidFill>
                              <a:latin typeface="Cambria Math" panose="02040503050406030204" pitchFamily="18" charset="0"/>
                            </a:rPr>
                            <m:t>𝒔</m:t>
                          </m:r>
                        </m:sub>
                      </m:sSub>
                      <m:r>
                        <a:rPr lang="pt-BR" b="1" i="1" dirty="0" smtClean="0">
                          <a:latin typeface="Cambria Math" panose="02040503050406030204" pitchFamily="18" charset="0"/>
                        </a:rPr>
                        <m:t>​(</m:t>
                      </m:r>
                      <m:r>
                        <a:rPr lang="pt-BR" b="1" i="1" dirty="0" smtClean="0">
                          <a:latin typeface="Cambria Math" panose="02040503050406030204" pitchFamily="18" charset="0"/>
                        </a:rPr>
                        <m:t>𝒕</m:t>
                      </m:r>
                      <m:r>
                        <a:rPr lang="pt-BR" b="1" i="1" dirty="0" smtClean="0">
                          <a:latin typeface="Cambria Math" panose="02040503050406030204" pitchFamily="18" charset="0"/>
                        </a:rPr>
                        <m:t>)</m:t>
                      </m:r>
                      <m:r>
                        <m:rPr>
                          <m:sty m:val="p"/>
                        </m:rPr>
                        <a:rPr lang="pt-BR" i="1" dirty="0" smtClean="0">
                          <a:latin typeface="Cambria Math" panose="02040503050406030204" pitchFamily="18" charset="0"/>
                        </a:rPr>
                        <m:t>exp</m:t>
                      </m:r>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𝛽</m:t>
                          </m:r>
                        </m:e>
                        <m:sub>
                          <m:r>
                            <a:rPr lang="pt-BR" i="1" dirty="0" smtClean="0">
                              <a:latin typeface="Cambria Math" panose="02040503050406030204" pitchFamily="18" charset="0"/>
                            </a:rPr>
                            <m:t>1</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𝑋</m:t>
                          </m:r>
                        </m:e>
                        <m:sub>
                          <m:r>
                            <a:rPr lang="pt-BR" i="1" dirty="0" smtClean="0">
                              <a:latin typeface="Cambria Math" panose="02040503050406030204" pitchFamily="18" charset="0"/>
                            </a:rPr>
                            <m:t>1</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𝛽</m:t>
                          </m:r>
                        </m:e>
                        <m:sub>
                          <m:r>
                            <a:rPr lang="pt-BR" i="1" dirty="0" smtClean="0">
                              <a:latin typeface="Cambria Math" panose="02040503050406030204" pitchFamily="18" charset="0"/>
                            </a:rPr>
                            <m:t>2</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𝑋</m:t>
                          </m:r>
                        </m:e>
                        <m:sub>
                          <m:r>
                            <a:rPr lang="pt-BR" i="1" dirty="0" smtClean="0">
                              <a:latin typeface="Cambria Math" panose="02040503050406030204" pitchFamily="18" charset="0"/>
                            </a:rPr>
                            <m:t>2</m:t>
                          </m:r>
                        </m:sub>
                      </m:sSub>
                      <m:r>
                        <a:rPr lang="pt-BR" i="1" dirty="0" smtClean="0">
                          <a:latin typeface="Cambria Math" panose="02040503050406030204" pitchFamily="18" charset="0"/>
                        </a:rPr>
                        <m:t>​+…)</m:t>
                      </m:r>
                    </m:oMath>
                  </m:oMathPara>
                </a14:m>
                <a:endParaRPr lang="en-AU" dirty="0"/>
              </a:p>
              <a:p>
                <a:pPr marL="0" indent="0">
                  <a:buNone/>
                </a:pPr>
                <a:r>
                  <a:rPr lang="en-US" dirty="0"/>
                  <a:t>where </a:t>
                </a:r>
                <a14:m>
                  <m:oMath xmlns:m="http://schemas.openxmlformats.org/officeDocument/2006/math">
                    <m:r>
                      <a:rPr lang="en-US" b="1" i="1" smtClean="0">
                        <a:solidFill>
                          <a:schemeClr val="accent6">
                            <a:lumMod val="75000"/>
                          </a:schemeClr>
                        </a:solidFill>
                        <a:latin typeface="Cambria Math" panose="02040503050406030204" pitchFamily="18" charset="0"/>
                      </a:rPr>
                      <m:t>𝒔</m:t>
                    </m:r>
                  </m:oMath>
                </a14:m>
                <a:r>
                  <a:rPr lang="en-US" dirty="0"/>
                  <a:t> is the stratum.</a:t>
                </a:r>
              </a:p>
              <a:p>
                <a:r>
                  <a:rPr lang="en-US" dirty="0"/>
                  <a:t>We </a:t>
                </a:r>
                <a:r>
                  <a:rPr lang="en-US" b="1" dirty="0"/>
                  <a:t>do not</a:t>
                </a:r>
                <a:r>
                  <a:rPr lang="en-US" dirty="0"/>
                  <a:t> estimate a single hazard ratio for the stratifying variable anymore. We’re not saying “living donor vs deceased donor = HR 0.7”. That main exposure is now used to define the strata.</a:t>
                </a:r>
              </a:p>
              <a:p>
                <a:r>
                  <a:rPr lang="en-US" dirty="0"/>
                  <a:t>We’re saying: “Patients with living donors and patients with deceased donors are allowed to have completely different baseline risk trajectories over time.”</a:t>
                </a:r>
              </a:p>
              <a:p>
                <a:r>
                  <a:rPr lang="en-US" dirty="0"/>
                  <a:t>We still estimate effects of </a:t>
                </a:r>
                <a:r>
                  <a:rPr lang="en-US" i="1" dirty="0"/>
                  <a:t>other covariates</a:t>
                </a:r>
                <a:r>
                  <a:rPr lang="en-US" dirty="0"/>
                  <a:t> (age of donor, recipient gender, eGFR at transplant) assuming those effects are proportional </a:t>
                </a:r>
                <a:r>
                  <a:rPr lang="en-US" i="1" dirty="0"/>
                  <a:t>within each stratum</a:t>
                </a:r>
                <a:r>
                  <a:rPr lang="en-US" dirty="0"/>
                  <a:t>.</a:t>
                </a:r>
              </a:p>
              <a:p>
                <a:pPr marL="0" indent="0">
                  <a:buNone/>
                </a:pPr>
                <a:endParaRPr lang="en-AU" dirty="0"/>
              </a:p>
            </p:txBody>
          </p:sp>
        </mc:Choice>
        <mc:Fallback xmlns="">
          <p:sp>
            <p:nvSpPr>
              <p:cNvPr id="3" name="Content Placeholder 2">
                <a:extLst>
                  <a:ext uri="{FF2B5EF4-FFF2-40B4-BE49-F238E27FC236}">
                    <a16:creationId xmlns:a16="http://schemas.microsoft.com/office/drawing/2014/main" id="{DBC9C1E2-3805-3E17-86DD-7EFFF51ECD17}"/>
                  </a:ext>
                </a:extLst>
              </p:cNvPr>
              <p:cNvSpPr>
                <a:spLocks noGrp="1" noRot="1" noChangeAspect="1" noMove="1" noResize="1" noEditPoints="1" noAdjustHandles="1" noChangeArrowheads="1" noChangeShapeType="1" noTextEdit="1"/>
              </p:cNvSpPr>
              <p:nvPr>
                <p:ph idx="1"/>
              </p:nvPr>
            </p:nvSpPr>
            <p:spPr>
              <a:xfrm>
                <a:off x="700634" y="1844141"/>
                <a:ext cx="10691265" cy="3739896"/>
              </a:xfrm>
              <a:blipFill>
                <a:blip r:embed="rId3"/>
                <a:stretch>
                  <a:fillRect l="-627"/>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73C7FA4F-1BC6-A110-5948-E7CA00845438}"/>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1160867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9124-B6DA-7B8B-B541-A475AB46C351}"/>
              </a:ext>
            </a:extLst>
          </p:cNvPr>
          <p:cNvSpPr>
            <a:spLocks noGrp="1"/>
          </p:cNvSpPr>
          <p:nvPr>
            <p:ph type="title"/>
          </p:nvPr>
        </p:nvSpPr>
        <p:spPr/>
        <p:txBody>
          <a:bodyPr/>
          <a:lstStyle/>
          <a:p>
            <a:r>
              <a:rPr lang="en-US" dirty="0"/>
              <a:t>stratified Cox model </a:t>
            </a:r>
            <a:endParaRPr lang="en-AU" dirty="0"/>
          </a:p>
        </p:txBody>
      </p:sp>
      <p:sp>
        <p:nvSpPr>
          <p:cNvPr id="3" name="Content Placeholder 2">
            <a:extLst>
              <a:ext uri="{FF2B5EF4-FFF2-40B4-BE49-F238E27FC236}">
                <a16:creationId xmlns:a16="http://schemas.microsoft.com/office/drawing/2014/main" id="{56FDCB8D-31C1-788C-5FAE-66FAE3B5A220}"/>
              </a:ext>
            </a:extLst>
          </p:cNvPr>
          <p:cNvSpPr>
            <a:spLocks noGrp="1"/>
          </p:cNvSpPr>
          <p:nvPr>
            <p:ph idx="1"/>
          </p:nvPr>
        </p:nvSpPr>
        <p:spPr>
          <a:xfrm>
            <a:off x="750367" y="1965053"/>
            <a:ext cx="10691265" cy="3739896"/>
          </a:xfrm>
        </p:spPr>
        <p:txBody>
          <a:bodyPr>
            <a:normAutofit/>
          </a:bodyPr>
          <a:lstStyle/>
          <a:p>
            <a:pPr marL="0" indent="0">
              <a:buNone/>
            </a:pPr>
            <a:r>
              <a:rPr lang="en-US" b="1" dirty="0">
                <a:solidFill>
                  <a:schemeClr val="accent6">
                    <a:lumMod val="75000"/>
                  </a:schemeClr>
                </a:solidFill>
              </a:rPr>
              <a:t>Stratification</a:t>
            </a:r>
            <a:r>
              <a:rPr lang="en-US" dirty="0"/>
              <a:t> = “parallel Cox models with different baselines, but same slopes for the other covariates.”</a:t>
            </a:r>
          </a:p>
          <a:p>
            <a:r>
              <a:rPr lang="en-US" b="1" dirty="0">
                <a:solidFill>
                  <a:srgbClr val="00B050"/>
                </a:solidFill>
              </a:rPr>
              <a:t>When to use:</a:t>
            </a:r>
          </a:p>
          <a:p>
            <a:pPr lvl="1">
              <a:buFont typeface="Wingdings" panose="05000000000000000000" pitchFamily="2" charset="2"/>
              <a:buChar char="ü"/>
            </a:pPr>
            <a:r>
              <a:rPr lang="en-US" dirty="0"/>
              <a:t>The PH violation is driven by that one variable (donor type).</a:t>
            </a:r>
          </a:p>
          <a:p>
            <a:pPr lvl="1">
              <a:buFont typeface="Wingdings" panose="05000000000000000000" pitchFamily="2" charset="2"/>
              <a:buChar char="ü"/>
            </a:pPr>
            <a:r>
              <a:rPr lang="en-US" dirty="0"/>
              <a:t>You still care about adjusting for it, but you don't necessarily need its hazard ratio.</a:t>
            </a:r>
          </a:p>
          <a:p>
            <a:r>
              <a:rPr lang="en-US" b="1" dirty="0">
                <a:solidFill>
                  <a:srgbClr val="C00000"/>
                </a:solidFill>
              </a:rPr>
              <a:t>When not to use:</a:t>
            </a:r>
          </a:p>
          <a:p>
            <a:pPr lvl="1">
              <a:buFont typeface="Wingdings" panose="05000000000000000000" pitchFamily="2" charset="2"/>
              <a:buChar char="ü"/>
            </a:pPr>
            <a:r>
              <a:rPr lang="en-US" dirty="0"/>
              <a:t>You actually want the hazard ratio for that exposure as your primary scientific question.</a:t>
            </a:r>
          </a:p>
          <a:p>
            <a:pPr marL="457200" lvl="1" indent="0">
              <a:buNone/>
            </a:pPr>
            <a:r>
              <a:rPr lang="en-US" dirty="0"/>
              <a:t>(Because after stratifying on donor type, you no longer get a single HR comparing donor types.)</a:t>
            </a:r>
          </a:p>
        </p:txBody>
      </p:sp>
      <p:sp>
        <p:nvSpPr>
          <p:cNvPr id="4" name="Footer Placeholder 3">
            <a:extLst>
              <a:ext uri="{FF2B5EF4-FFF2-40B4-BE49-F238E27FC236}">
                <a16:creationId xmlns:a16="http://schemas.microsoft.com/office/drawing/2014/main" id="{8BBD30B8-8B84-6678-E6A5-D10C13584B9B}"/>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4244018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75712-1F1F-B5C1-4A97-C4CDB65AE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BD1657-7FE3-1BBA-B718-0DE58DF713FA}"/>
              </a:ext>
            </a:extLst>
          </p:cNvPr>
          <p:cNvSpPr>
            <a:spLocks noGrp="1"/>
          </p:cNvSpPr>
          <p:nvPr>
            <p:ph type="title"/>
          </p:nvPr>
        </p:nvSpPr>
        <p:spPr/>
        <p:txBody>
          <a:bodyPr/>
          <a:lstStyle/>
          <a:p>
            <a:r>
              <a:rPr lang="en-AU" dirty="0"/>
              <a:t>Example:</a:t>
            </a:r>
          </a:p>
        </p:txBody>
      </p:sp>
      <p:sp>
        <p:nvSpPr>
          <p:cNvPr id="3" name="Content Placeholder 2">
            <a:extLst>
              <a:ext uri="{FF2B5EF4-FFF2-40B4-BE49-F238E27FC236}">
                <a16:creationId xmlns:a16="http://schemas.microsoft.com/office/drawing/2014/main" id="{6BCA7D07-53CF-4E8D-05E3-15FFCCC2E7C7}"/>
              </a:ext>
            </a:extLst>
          </p:cNvPr>
          <p:cNvSpPr>
            <a:spLocks noGrp="1"/>
          </p:cNvSpPr>
          <p:nvPr>
            <p:ph idx="1"/>
          </p:nvPr>
        </p:nvSpPr>
        <p:spPr>
          <a:xfrm>
            <a:off x="700635" y="1803163"/>
            <a:ext cx="10691265" cy="4158725"/>
          </a:xfrm>
        </p:spPr>
        <p:txBody>
          <a:bodyPr/>
          <a:lstStyle/>
          <a:p>
            <a:pPr marL="0" indent="0">
              <a:buNone/>
            </a:pPr>
            <a:r>
              <a:rPr lang="en-AU" dirty="0"/>
              <a:t>Outcome: </a:t>
            </a:r>
          </a:p>
          <a:p>
            <a:pPr lvl="1"/>
            <a:r>
              <a:rPr lang="en-AU" dirty="0"/>
              <a:t>time from the transplantation surgery to a graft failure</a:t>
            </a:r>
          </a:p>
          <a:p>
            <a:pPr lvl="1"/>
            <a:r>
              <a:rPr lang="en-AU" dirty="0"/>
              <a:t>Status of graft failure</a:t>
            </a:r>
          </a:p>
          <a:p>
            <a:pPr marL="0" indent="0">
              <a:buNone/>
            </a:pPr>
            <a:r>
              <a:rPr lang="en-AU" dirty="0"/>
              <a:t>Main Exposure : type of donor</a:t>
            </a:r>
          </a:p>
          <a:p>
            <a:pPr marL="0" indent="0">
              <a:buNone/>
            </a:pPr>
            <a:r>
              <a:rPr lang="en-AU" dirty="0"/>
              <a:t>Covariates:</a:t>
            </a:r>
          </a:p>
          <a:p>
            <a:pPr lvl="1"/>
            <a:r>
              <a:rPr lang="en-AU" dirty="0"/>
              <a:t>Age of donor</a:t>
            </a:r>
          </a:p>
          <a:p>
            <a:pPr lvl="1"/>
            <a:r>
              <a:rPr lang="en-AU" dirty="0"/>
              <a:t>Recipient gender</a:t>
            </a:r>
          </a:p>
          <a:p>
            <a:pPr lvl="1"/>
            <a:r>
              <a:rPr lang="en-AU" dirty="0"/>
              <a:t> eGFR at time of transplant</a:t>
            </a:r>
          </a:p>
          <a:p>
            <a:pPr marL="457200" lvl="1" indent="0">
              <a:buNone/>
            </a:pPr>
            <a:endParaRPr lang="en-AU" dirty="0"/>
          </a:p>
        </p:txBody>
      </p:sp>
      <p:sp>
        <p:nvSpPr>
          <p:cNvPr id="4" name="Footer Placeholder 3">
            <a:extLst>
              <a:ext uri="{FF2B5EF4-FFF2-40B4-BE49-F238E27FC236}">
                <a16:creationId xmlns:a16="http://schemas.microsoft.com/office/drawing/2014/main" id="{7AA5373D-BE7B-64A0-4674-375CC8E87F9D}"/>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89082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AE6A6-A15B-EC3E-0963-15882229061C}"/>
              </a:ext>
            </a:extLst>
          </p:cNvPr>
          <p:cNvSpPr>
            <a:spLocks noGrp="1"/>
          </p:cNvSpPr>
          <p:nvPr>
            <p:ph type="title"/>
          </p:nvPr>
        </p:nvSpPr>
        <p:spPr/>
        <p:txBody>
          <a:bodyPr/>
          <a:lstStyle/>
          <a:p>
            <a:r>
              <a:rPr lang="en-US" dirty="0"/>
              <a:t>Standard Cox model </a:t>
            </a:r>
            <a:endParaRPr lang="en-AU" dirty="0"/>
          </a:p>
        </p:txBody>
      </p:sp>
      <p:sp>
        <p:nvSpPr>
          <p:cNvPr id="4" name="Footer Placeholder 3">
            <a:extLst>
              <a:ext uri="{FF2B5EF4-FFF2-40B4-BE49-F238E27FC236}">
                <a16:creationId xmlns:a16="http://schemas.microsoft.com/office/drawing/2014/main" id="{FB44BEFC-39FF-C818-D912-F71803C520FB}"/>
              </a:ext>
            </a:extLst>
          </p:cNvPr>
          <p:cNvSpPr>
            <a:spLocks noGrp="1"/>
          </p:cNvSpPr>
          <p:nvPr>
            <p:ph type="ftr" sz="quarter" idx="11"/>
          </p:nvPr>
        </p:nvSpPr>
        <p:spPr/>
        <p:txBody>
          <a:bodyPr/>
          <a:lstStyle/>
          <a:p>
            <a:r>
              <a:rPr lang="en-US"/>
              <a:t>Farzaneh.Boroumand@Sydney.edu.au</a:t>
            </a:r>
            <a:endParaRPr lang="en-US" dirty="0"/>
          </a:p>
        </p:txBody>
      </p:sp>
      <p:pic>
        <p:nvPicPr>
          <p:cNvPr id="10" name="Content Placeholder 9">
            <a:extLst>
              <a:ext uri="{FF2B5EF4-FFF2-40B4-BE49-F238E27FC236}">
                <a16:creationId xmlns:a16="http://schemas.microsoft.com/office/drawing/2014/main" id="{B2DF5C3C-E773-100D-4319-EEC664D5BE63}"/>
              </a:ext>
            </a:extLst>
          </p:cNvPr>
          <p:cNvPicPr>
            <a:picLocks noGrp="1" noChangeAspect="1"/>
          </p:cNvPicPr>
          <p:nvPr>
            <p:ph idx="1"/>
          </p:nvPr>
        </p:nvPicPr>
        <p:blipFill>
          <a:blip r:embed="rId2"/>
          <a:stretch>
            <a:fillRect/>
          </a:stretch>
        </p:blipFill>
        <p:spPr>
          <a:xfrm>
            <a:off x="700635" y="2221992"/>
            <a:ext cx="3991532" cy="2800741"/>
          </a:xfrm>
          <a:prstGeom prst="rect">
            <a:avLst/>
          </a:prstGeom>
        </p:spPr>
      </p:pic>
      <p:pic>
        <p:nvPicPr>
          <p:cNvPr id="12" name="Picture 11">
            <a:extLst>
              <a:ext uri="{FF2B5EF4-FFF2-40B4-BE49-F238E27FC236}">
                <a16:creationId xmlns:a16="http://schemas.microsoft.com/office/drawing/2014/main" id="{24A0B22A-7A5A-EE1A-0C0C-A8B82B686B00}"/>
              </a:ext>
            </a:extLst>
          </p:cNvPr>
          <p:cNvPicPr>
            <a:picLocks noChangeAspect="1"/>
          </p:cNvPicPr>
          <p:nvPr/>
        </p:nvPicPr>
        <p:blipFill>
          <a:blip r:embed="rId3"/>
          <a:stretch>
            <a:fillRect/>
          </a:stretch>
        </p:blipFill>
        <p:spPr>
          <a:xfrm>
            <a:off x="6521712" y="1755991"/>
            <a:ext cx="5053737" cy="3610880"/>
          </a:xfrm>
          <a:prstGeom prst="rect">
            <a:avLst/>
          </a:prstGeom>
        </p:spPr>
      </p:pic>
      <p:sp>
        <p:nvSpPr>
          <p:cNvPr id="13" name="Arrow: Right 12">
            <a:extLst>
              <a:ext uri="{FF2B5EF4-FFF2-40B4-BE49-F238E27FC236}">
                <a16:creationId xmlns:a16="http://schemas.microsoft.com/office/drawing/2014/main" id="{F215BD30-3916-CB11-5AB9-661C90EAD307}"/>
              </a:ext>
            </a:extLst>
          </p:cNvPr>
          <p:cNvSpPr/>
          <p:nvPr/>
        </p:nvSpPr>
        <p:spPr>
          <a:xfrm>
            <a:off x="5002750" y="3166393"/>
            <a:ext cx="1148668" cy="740589"/>
          </a:xfrm>
          <a:prstGeom prst="righ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68481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A9FEE-C566-A843-C71D-3A3D0DC47F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A9B26A-FE27-8F2B-DDBF-6DD32FE1E247}"/>
              </a:ext>
            </a:extLst>
          </p:cNvPr>
          <p:cNvSpPr>
            <a:spLocks noGrp="1"/>
          </p:cNvSpPr>
          <p:nvPr>
            <p:ph type="title"/>
          </p:nvPr>
        </p:nvSpPr>
        <p:spPr/>
        <p:txBody>
          <a:bodyPr/>
          <a:lstStyle/>
          <a:p>
            <a:r>
              <a:rPr lang="en-US" dirty="0"/>
              <a:t>Standard Cox model </a:t>
            </a:r>
            <a:endParaRPr lang="en-AU" dirty="0"/>
          </a:p>
        </p:txBody>
      </p:sp>
      <p:sp>
        <p:nvSpPr>
          <p:cNvPr id="4" name="Footer Placeholder 3">
            <a:extLst>
              <a:ext uri="{FF2B5EF4-FFF2-40B4-BE49-F238E27FC236}">
                <a16:creationId xmlns:a16="http://schemas.microsoft.com/office/drawing/2014/main" id="{7DAF5521-9E64-A054-A80B-4ECA6E6509BA}"/>
              </a:ext>
            </a:extLst>
          </p:cNvPr>
          <p:cNvSpPr>
            <a:spLocks noGrp="1"/>
          </p:cNvSpPr>
          <p:nvPr>
            <p:ph type="ftr" sz="quarter" idx="11"/>
          </p:nvPr>
        </p:nvSpPr>
        <p:spPr/>
        <p:txBody>
          <a:bodyPr/>
          <a:lstStyle/>
          <a:p>
            <a:r>
              <a:rPr lang="en-US"/>
              <a:t>Farzaneh.Boroumand@Sydney.edu.au</a:t>
            </a:r>
            <a:endParaRPr lang="en-US" dirty="0"/>
          </a:p>
        </p:txBody>
      </p:sp>
      <p:sp>
        <p:nvSpPr>
          <p:cNvPr id="13" name="Arrow: Right 12">
            <a:extLst>
              <a:ext uri="{FF2B5EF4-FFF2-40B4-BE49-F238E27FC236}">
                <a16:creationId xmlns:a16="http://schemas.microsoft.com/office/drawing/2014/main" id="{A756798F-96FF-F179-5296-FAA3F106C54F}"/>
              </a:ext>
            </a:extLst>
          </p:cNvPr>
          <p:cNvSpPr/>
          <p:nvPr/>
        </p:nvSpPr>
        <p:spPr>
          <a:xfrm>
            <a:off x="4337731" y="3178286"/>
            <a:ext cx="1148668" cy="740589"/>
          </a:xfrm>
          <a:prstGeom prst="righ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Content Placeholder 6">
            <a:extLst>
              <a:ext uri="{FF2B5EF4-FFF2-40B4-BE49-F238E27FC236}">
                <a16:creationId xmlns:a16="http://schemas.microsoft.com/office/drawing/2014/main" id="{E16873E0-0BF5-5C52-40A8-1F963AE49B7C}"/>
              </a:ext>
            </a:extLst>
          </p:cNvPr>
          <p:cNvPicPr>
            <a:picLocks noGrp="1" noChangeAspect="1"/>
          </p:cNvPicPr>
          <p:nvPr>
            <p:ph idx="1"/>
          </p:nvPr>
        </p:nvPicPr>
        <p:blipFill>
          <a:blip r:embed="rId2"/>
          <a:stretch>
            <a:fillRect/>
          </a:stretch>
        </p:blipFill>
        <p:spPr>
          <a:xfrm>
            <a:off x="700635" y="2552577"/>
            <a:ext cx="3448531" cy="1752845"/>
          </a:xfrm>
          <a:prstGeom prst="rect">
            <a:avLst/>
          </a:prstGeom>
        </p:spPr>
      </p:pic>
      <p:pic>
        <p:nvPicPr>
          <p:cNvPr id="9" name="Picture 8">
            <a:extLst>
              <a:ext uri="{FF2B5EF4-FFF2-40B4-BE49-F238E27FC236}">
                <a16:creationId xmlns:a16="http://schemas.microsoft.com/office/drawing/2014/main" id="{6E3E3087-F3C6-621E-B45E-C58987DCB08B}"/>
              </a:ext>
            </a:extLst>
          </p:cNvPr>
          <p:cNvPicPr>
            <a:picLocks noChangeAspect="1"/>
          </p:cNvPicPr>
          <p:nvPr/>
        </p:nvPicPr>
        <p:blipFill>
          <a:blip r:embed="rId3"/>
          <a:stretch>
            <a:fillRect/>
          </a:stretch>
        </p:blipFill>
        <p:spPr>
          <a:xfrm>
            <a:off x="6046267" y="2221992"/>
            <a:ext cx="5482101" cy="2851201"/>
          </a:xfrm>
          <a:prstGeom prst="rect">
            <a:avLst/>
          </a:prstGeom>
        </p:spPr>
      </p:pic>
      <p:sp>
        <p:nvSpPr>
          <p:cNvPr id="11" name="Rectangle: Rounded Corners 10">
            <a:extLst>
              <a:ext uri="{FF2B5EF4-FFF2-40B4-BE49-F238E27FC236}">
                <a16:creationId xmlns:a16="http://schemas.microsoft.com/office/drawing/2014/main" id="{CC30B076-7122-3C77-7823-C992CCA8C85E}"/>
              </a:ext>
            </a:extLst>
          </p:cNvPr>
          <p:cNvSpPr/>
          <p:nvPr/>
        </p:nvSpPr>
        <p:spPr>
          <a:xfrm>
            <a:off x="700635" y="3178286"/>
            <a:ext cx="3168562" cy="184590"/>
          </a:xfrm>
          <a:prstGeom prst="roundRect">
            <a:avLst/>
          </a:prstGeom>
          <a:no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83858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74FE9-215E-3FC1-329E-D6E5625A0F51}"/>
              </a:ext>
            </a:extLst>
          </p:cNvPr>
          <p:cNvSpPr>
            <a:spLocks noGrp="1"/>
          </p:cNvSpPr>
          <p:nvPr>
            <p:ph type="title"/>
          </p:nvPr>
        </p:nvSpPr>
        <p:spPr/>
        <p:txBody>
          <a:bodyPr/>
          <a:lstStyle/>
          <a:p>
            <a:r>
              <a:rPr lang="en-US" dirty="0"/>
              <a:t>stratified Cox model </a:t>
            </a:r>
            <a:endParaRPr lang="en-AU" dirty="0"/>
          </a:p>
        </p:txBody>
      </p:sp>
      <p:pic>
        <p:nvPicPr>
          <p:cNvPr id="6" name="Content Placeholder 5">
            <a:extLst>
              <a:ext uri="{FF2B5EF4-FFF2-40B4-BE49-F238E27FC236}">
                <a16:creationId xmlns:a16="http://schemas.microsoft.com/office/drawing/2014/main" id="{505F234B-EC39-6B87-5E78-6BBDE5EF5233}"/>
              </a:ext>
            </a:extLst>
          </p:cNvPr>
          <p:cNvPicPr>
            <a:picLocks noGrp="1" noChangeAspect="1"/>
          </p:cNvPicPr>
          <p:nvPr>
            <p:ph idx="1"/>
          </p:nvPr>
        </p:nvPicPr>
        <p:blipFill>
          <a:blip r:embed="rId2"/>
          <a:stretch>
            <a:fillRect/>
          </a:stretch>
        </p:blipFill>
        <p:spPr>
          <a:xfrm>
            <a:off x="700635" y="2737267"/>
            <a:ext cx="3820058" cy="1743318"/>
          </a:xfrm>
          <a:prstGeom prst="rect">
            <a:avLst/>
          </a:prstGeom>
        </p:spPr>
      </p:pic>
      <p:sp>
        <p:nvSpPr>
          <p:cNvPr id="4" name="Footer Placeholder 3">
            <a:extLst>
              <a:ext uri="{FF2B5EF4-FFF2-40B4-BE49-F238E27FC236}">
                <a16:creationId xmlns:a16="http://schemas.microsoft.com/office/drawing/2014/main" id="{55D9B973-8FF7-0EB4-35A2-8EFDC2199475}"/>
              </a:ext>
            </a:extLst>
          </p:cNvPr>
          <p:cNvSpPr>
            <a:spLocks noGrp="1"/>
          </p:cNvSpPr>
          <p:nvPr>
            <p:ph type="ftr" sz="quarter" idx="11"/>
          </p:nvPr>
        </p:nvSpPr>
        <p:spPr/>
        <p:txBody>
          <a:bodyPr/>
          <a:lstStyle/>
          <a:p>
            <a:r>
              <a:rPr lang="en-US"/>
              <a:t>Farzaneh.Boroumand@Sydney.edu.au</a:t>
            </a:r>
            <a:endParaRPr lang="en-US" dirty="0"/>
          </a:p>
        </p:txBody>
      </p:sp>
      <p:sp>
        <p:nvSpPr>
          <p:cNvPr id="7" name="Arrow: Right 6">
            <a:extLst>
              <a:ext uri="{FF2B5EF4-FFF2-40B4-BE49-F238E27FC236}">
                <a16:creationId xmlns:a16="http://schemas.microsoft.com/office/drawing/2014/main" id="{83C83EB4-F3D0-43F3-1719-CA0C082FF78A}"/>
              </a:ext>
            </a:extLst>
          </p:cNvPr>
          <p:cNvSpPr/>
          <p:nvPr/>
        </p:nvSpPr>
        <p:spPr>
          <a:xfrm>
            <a:off x="4762680" y="3132237"/>
            <a:ext cx="853944" cy="801045"/>
          </a:xfrm>
          <a:prstGeom prst="righ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Picture 8">
            <a:extLst>
              <a:ext uri="{FF2B5EF4-FFF2-40B4-BE49-F238E27FC236}">
                <a16:creationId xmlns:a16="http://schemas.microsoft.com/office/drawing/2014/main" id="{5ECDEFC6-4FC4-2408-159C-52FC7CB7D4DA}"/>
              </a:ext>
            </a:extLst>
          </p:cNvPr>
          <p:cNvPicPr>
            <a:picLocks noChangeAspect="1"/>
          </p:cNvPicPr>
          <p:nvPr/>
        </p:nvPicPr>
        <p:blipFill>
          <a:blip r:embed="rId3"/>
          <a:stretch>
            <a:fillRect/>
          </a:stretch>
        </p:blipFill>
        <p:spPr>
          <a:xfrm>
            <a:off x="5858611" y="1730559"/>
            <a:ext cx="5533289" cy="3604402"/>
          </a:xfrm>
          <a:prstGeom prst="rect">
            <a:avLst/>
          </a:prstGeom>
        </p:spPr>
      </p:pic>
      <p:sp>
        <p:nvSpPr>
          <p:cNvPr id="10" name="Rectangle: Rounded Corners 9">
            <a:extLst>
              <a:ext uri="{FF2B5EF4-FFF2-40B4-BE49-F238E27FC236}">
                <a16:creationId xmlns:a16="http://schemas.microsoft.com/office/drawing/2014/main" id="{80AD51AC-1B39-67B5-0687-89BC4704759F}"/>
              </a:ext>
            </a:extLst>
          </p:cNvPr>
          <p:cNvSpPr/>
          <p:nvPr/>
        </p:nvSpPr>
        <p:spPr>
          <a:xfrm>
            <a:off x="2440918" y="3532759"/>
            <a:ext cx="1904371" cy="184590"/>
          </a:xfrm>
          <a:prstGeom prst="roundRect">
            <a:avLst/>
          </a:prstGeom>
          <a:noFill/>
          <a:ln w="19050" cap="flat" cmpd="sng" algn="ctr">
            <a:solidFill>
              <a:srgbClr val="FF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59110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AB20A-6C70-F77D-D700-624D5D2566C8}"/>
              </a:ext>
            </a:extLst>
          </p:cNvPr>
          <p:cNvSpPr>
            <a:spLocks noGrp="1"/>
          </p:cNvSpPr>
          <p:nvPr>
            <p:ph type="title"/>
          </p:nvPr>
        </p:nvSpPr>
        <p:spPr/>
        <p:txBody>
          <a:bodyPr/>
          <a:lstStyle/>
          <a:p>
            <a:r>
              <a:rPr lang="en-US" dirty="0"/>
              <a:t>stratified Cox model (interpretation)</a:t>
            </a:r>
            <a:endParaRPr lang="en-AU" dirty="0"/>
          </a:p>
        </p:txBody>
      </p:sp>
      <p:graphicFrame>
        <p:nvGraphicFramePr>
          <p:cNvPr id="5" name="Content Placeholder 4">
            <a:extLst>
              <a:ext uri="{FF2B5EF4-FFF2-40B4-BE49-F238E27FC236}">
                <a16:creationId xmlns:a16="http://schemas.microsoft.com/office/drawing/2014/main" id="{3F4D2DF5-5A04-0C38-E9CA-1F9755379D61}"/>
              </a:ext>
            </a:extLst>
          </p:cNvPr>
          <p:cNvGraphicFramePr>
            <a:graphicFrameLocks noGrp="1"/>
          </p:cNvGraphicFramePr>
          <p:nvPr>
            <p:ph idx="1"/>
            <p:extLst>
              <p:ext uri="{D42A27DB-BD31-4B8C-83A1-F6EECF244321}">
                <p14:modId xmlns:p14="http://schemas.microsoft.com/office/powerpoint/2010/main" val="4273145038"/>
              </p:ext>
            </p:extLst>
          </p:nvPr>
        </p:nvGraphicFramePr>
        <p:xfrm>
          <a:off x="1519924" y="1791750"/>
          <a:ext cx="9354633" cy="3996973"/>
        </p:xfrm>
        <a:graphic>
          <a:graphicData uri="http://schemas.openxmlformats.org/drawingml/2006/table">
            <a:tbl>
              <a:tblPr>
                <a:tableStyleId>{7DF18680-E054-41AD-8BC1-D1AEF772440D}</a:tableStyleId>
              </a:tblPr>
              <a:tblGrid>
                <a:gridCol w="1298846">
                  <a:extLst>
                    <a:ext uri="{9D8B030D-6E8A-4147-A177-3AD203B41FA5}">
                      <a16:colId xmlns:a16="http://schemas.microsoft.com/office/drawing/2014/main" val="2339277879"/>
                    </a:ext>
                  </a:extLst>
                </a:gridCol>
                <a:gridCol w="846387">
                  <a:extLst>
                    <a:ext uri="{9D8B030D-6E8A-4147-A177-3AD203B41FA5}">
                      <a16:colId xmlns:a16="http://schemas.microsoft.com/office/drawing/2014/main" val="203280886"/>
                    </a:ext>
                  </a:extLst>
                </a:gridCol>
                <a:gridCol w="831272">
                  <a:extLst>
                    <a:ext uri="{9D8B030D-6E8A-4147-A177-3AD203B41FA5}">
                      <a16:colId xmlns:a16="http://schemas.microsoft.com/office/drawing/2014/main" val="116630485"/>
                    </a:ext>
                  </a:extLst>
                </a:gridCol>
                <a:gridCol w="808602">
                  <a:extLst>
                    <a:ext uri="{9D8B030D-6E8A-4147-A177-3AD203B41FA5}">
                      <a16:colId xmlns:a16="http://schemas.microsoft.com/office/drawing/2014/main" val="2920838805"/>
                    </a:ext>
                  </a:extLst>
                </a:gridCol>
                <a:gridCol w="5569526">
                  <a:extLst>
                    <a:ext uri="{9D8B030D-6E8A-4147-A177-3AD203B41FA5}">
                      <a16:colId xmlns:a16="http://schemas.microsoft.com/office/drawing/2014/main" val="2239425573"/>
                    </a:ext>
                  </a:extLst>
                </a:gridCol>
              </a:tblGrid>
              <a:tr h="145249">
                <a:tc>
                  <a:txBody>
                    <a:bodyPr/>
                    <a:lstStyle/>
                    <a:p>
                      <a:pPr>
                        <a:buNone/>
                      </a:pPr>
                      <a:r>
                        <a:rPr lang="en-AU" sz="1200" b="1"/>
                        <a:t>Variable</a:t>
                      </a:r>
                    </a:p>
                  </a:txBody>
                  <a:tcPr marL="36312" marR="36312" marT="18156" marB="18156" anchor="ctr"/>
                </a:tc>
                <a:tc>
                  <a:txBody>
                    <a:bodyPr/>
                    <a:lstStyle/>
                    <a:p>
                      <a:pPr>
                        <a:buNone/>
                      </a:pPr>
                      <a:r>
                        <a:rPr lang="en-AU" sz="1200" b="1"/>
                        <a:t>HR (exp(coef))</a:t>
                      </a:r>
                    </a:p>
                  </a:txBody>
                  <a:tcPr marL="36312" marR="36312" marT="18156" marB="18156" anchor="ctr"/>
                </a:tc>
                <a:tc>
                  <a:txBody>
                    <a:bodyPr/>
                    <a:lstStyle/>
                    <a:p>
                      <a:pPr>
                        <a:buNone/>
                      </a:pPr>
                      <a:r>
                        <a:rPr lang="en-AU" sz="1200" b="1"/>
                        <a:t>95% CI</a:t>
                      </a:r>
                    </a:p>
                  </a:txBody>
                  <a:tcPr marL="36312" marR="36312" marT="18156" marB="18156" anchor="ctr"/>
                </a:tc>
                <a:tc>
                  <a:txBody>
                    <a:bodyPr/>
                    <a:lstStyle/>
                    <a:p>
                      <a:pPr>
                        <a:buNone/>
                      </a:pPr>
                      <a:r>
                        <a:rPr lang="en-AU" sz="1200" b="1"/>
                        <a:t>p-value</a:t>
                      </a:r>
                    </a:p>
                  </a:txBody>
                  <a:tcPr marL="36312" marR="36312" marT="18156" marB="18156" anchor="ctr"/>
                </a:tc>
                <a:tc>
                  <a:txBody>
                    <a:bodyPr/>
                    <a:lstStyle/>
                    <a:p>
                      <a:pPr>
                        <a:buNone/>
                      </a:pPr>
                      <a:r>
                        <a:rPr lang="en-AU" sz="1200" b="1"/>
                        <a:t>Interpretation</a:t>
                      </a:r>
                    </a:p>
                  </a:txBody>
                  <a:tcPr marL="36312" marR="36312" marT="18156" marB="18156" anchor="ctr"/>
                </a:tc>
                <a:extLst>
                  <a:ext uri="{0D108BD9-81ED-4DB2-BD59-A6C34878D82A}">
                    <a16:rowId xmlns:a16="http://schemas.microsoft.com/office/drawing/2014/main" val="437352352"/>
                  </a:ext>
                </a:extLst>
              </a:tr>
              <a:tr h="907803">
                <a:tc>
                  <a:txBody>
                    <a:bodyPr/>
                    <a:lstStyle/>
                    <a:p>
                      <a:pPr>
                        <a:buNone/>
                      </a:pPr>
                      <a:r>
                        <a:rPr lang="en-AU" sz="1200" b="1"/>
                        <a:t>Donor age</a:t>
                      </a:r>
                    </a:p>
                  </a:txBody>
                  <a:tcPr marL="36312" marR="36312" marT="18156" marB="18156" anchor="ctr"/>
                </a:tc>
                <a:tc>
                  <a:txBody>
                    <a:bodyPr/>
                    <a:lstStyle/>
                    <a:p>
                      <a:pPr>
                        <a:buNone/>
                      </a:pPr>
                      <a:r>
                        <a:rPr lang="en-AU" sz="1200" b="0"/>
                        <a:t>1.01</a:t>
                      </a:r>
                    </a:p>
                  </a:txBody>
                  <a:tcPr marL="36312" marR="36312" marT="18156" marB="18156" anchor="ctr"/>
                </a:tc>
                <a:tc>
                  <a:txBody>
                    <a:bodyPr/>
                    <a:lstStyle/>
                    <a:p>
                      <a:pPr>
                        <a:buNone/>
                      </a:pPr>
                      <a:r>
                        <a:rPr lang="en-AU" sz="1200" b="0"/>
                        <a:t>0.997–1.03</a:t>
                      </a:r>
                    </a:p>
                  </a:txBody>
                  <a:tcPr marL="36312" marR="36312" marT="18156" marB="18156" anchor="ctr"/>
                </a:tc>
                <a:tc>
                  <a:txBody>
                    <a:bodyPr/>
                    <a:lstStyle/>
                    <a:p>
                      <a:pPr>
                        <a:buNone/>
                      </a:pPr>
                      <a:r>
                        <a:rPr lang="en-AU" sz="1200" b="0"/>
                        <a:t>0.14</a:t>
                      </a:r>
                    </a:p>
                  </a:txBody>
                  <a:tcPr marL="36312" marR="36312" marT="18156" marB="18156" anchor="ctr"/>
                </a:tc>
                <a:tc>
                  <a:txBody>
                    <a:bodyPr/>
                    <a:lstStyle/>
                    <a:p>
                      <a:pPr>
                        <a:buNone/>
                      </a:pPr>
                      <a:r>
                        <a:rPr lang="en-US" sz="1200" b="0"/>
                        <a:t>Not statistically significant. Within each donor type, the donor’s age has a small, non-significant tendency toward higher risk of graft failure.</a:t>
                      </a:r>
                    </a:p>
                  </a:txBody>
                  <a:tcPr marL="36312" marR="36312" marT="18156" marB="18156" anchor="ctr"/>
                </a:tc>
                <a:extLst>
                  <a:ext uri="{0D108BD9-81ED-4DB2-BD59-A6C34878D82A}">
                    <a16:rowId xmlns:a16="http://schemas.microsoft.com/office/drawing/2014/main" val="4107701101"/>
                  </a:ext>
                </a:extLst>
              </a:tr>
              <a:tr h="1343549">
                <a:tc>
                  <a:txBody>
                    <a:bodyPr/>
                    <a:lstStyle/>
                    <a:p>
                      <a:pPr>
                        <a:buNone/>
                      </a:pPr>
                      <a:r>
                        <a:rPr lang="en-AU" sz="1200" b="1"/>
                        <a:t>Recipient gender (male)</a:t>
                      </a:r>
                    </a:p>
                  </a:txBody>
                  <a:tcPr marL="36312" marR="36312" marT="18156" marB="18156" anchor="ctr"/>
                </a:tc>
                <a:tc>
                  <a:txBody>
                    <a:bodyPr/>
                    <a:lstStyle/>
                    <a:p>
                      <a:pPr>
                        <a:buNone/>
                      </a:pPr>
                      <a:r>
                        <a:rPr lang="en-AU" sz="1200" b="0"/>
                        <a:t>1.58</a:t>
                      </a:r>
                    </a:p>
                  </a:txBody>
                  <a:tcPr marL="36312" marR="36312" marT="18156" marB="18156" anchor="ctr"/>
                </a:tc>
                <a:tc>
                  <a:txBody>
                    <a:bodyPr/>
                    <a:lstStyle/>
                    <a:p>
                      <a:pPr>
                        <a:buNone/>
                      </a:pPr>
                      <a:r>
                        <a:rPr lang="en-AU" sz="1200" b="0"/>
                        <a:t>1.16–2.13</a:t>
                      </a:r>
                    </a:p>
                  </a:txBody>
                  <a:tcPr marL="36312" marR="36312" marT="18156" marB="18156" anchor="ctr"/>
                </a:tc>
                <a:tc>
                  <a:txBody>
                    <a:bodyPr/>
                    <a:lstStyle/>
                    <a:p>
                      <a:pPr>
                        <a:buNone/>
                      </a:pPr>
                      <a:r>
                        <a:rPr lang="en-AU" sz="1200" b="0"/>
                        <a:t>0.003</a:t>
                      </a:r>
                    </a:p>
                  </a:txBody>
                  <a:tcPr marL="36312" marR="36312" marT="18156" marB="18156" anchor="ctr"/>
                </a:tc>
                <a:tc>
                  <a:txBody>
                    <a:bodyPr/>
                    <a:lstStyle/>
                    <a:p>
                      <a:pPr>
                        <a:buNone/>
                      </a:pPr>
                      <a:r>
                        <a:rPr lang="en-US" sz="1200" b="0" dirty="0"/>
                        <a:t>Statistically significant. Male recipients have about 58% higher hazard of graft failure compared with female recipients, after adjusting for donor age and eGFR and within each donor type.</a:t>
                      </a:r>
                    </a:p>
                  </a:txBody>
                  <a:tcPr marL="36312" marR="36312" marT="18156" marB="18156" anchor="ctr"/>
                </a:tc>
                <a:extLst>
                  <a:ext uri="{0D108BD9-81ED-4DB2-BD59-A6C34878D82A}">
                    <a16:rowId xmlns:a16="http://schemas.microsoft.com/office/drawing/2014/main" val="1471932416"/>
                  </a:ext>
                </a:extLst>
              </a:tr>
              <a:tr h="1343549">
                <a:tc>
                  <a:txBody>
                    <a:bodyPr/>
                    <a:lstStyle/>
                    <a:p>
                      <a:pPr>
                        <a:buNone/>
                      </a:pPr>
                      <a:r>
                        <a:rPr lang="en-AU" sz="1200" b="1"/>
                        <a:t>eGFR at transplant</a:t>
                      </a:r>
                    </a:p>
                  </a:txBody>
                  <a:tcPr marL="36312" marR="36312" marT="18156" marB="18156" anchor="ctr"/>
                </a:tc>
                <a:tc>
                  <a:txBody>
                    <a:bodyPr/>
                    <a:lstStyle/>
                    <a:p>
                      <a:pPr>
                        <a:buNone/>
                      </a:pPr>
                      <a:r>
                        <a:rPr lang="en-AU" sz="1200" b="0"/>
                        <a:t>0.99</a:t>
                      </a:r>
                    </a:p>
                  </a:txBody>
                  <a:tcPr marL="36312" marR="36312" marT="18156" marB="18156" anchor="ctr"/>
                </a:tc>
                <a:tc>
                  <a:txBody>
                    <a:bodyPr/>
                    <a:lstStyle/>
                    <a:p>
                      <a:pPr>
                        <a:buNone/>
                      </a:pPr>
                      <a:r>
                        <a:rPr lang="en-AU" sz="1200" b="0"/>
                        <a:t>0.97–1.00</a:t>
                      </a:r>
                    </a:p>
                  </a:txBody>
                  <a:tcPr marL="36312" marR="36312" marT="18156" marB="18156" anchor="ctr"/>
                </a:tc>
                <a:tc>
                  <a:txBody>
                    <a:bodyPr/>
                    <a:lstStyle/>
                    <a:p>
                      <a:pPr>
                        <a:buNone/>
                      </a:pPr>
                      <a:r>
                        <a:rPr lang="en-AU" sz="1200" b="0"/>
                        <a:t>0.033</a:t>
                      </a:r>
                    </a:p>
                  </a:txBody>
                  <a:tcPr marL="36312" marR="36312" marT="18156" marB="18156" anchor="ctr"/>
                </a:tc>
                <a:tc>
                  <a:txBody>
                    <a:bodyPr/>
                    <a:lstStyle/>
                    <a:p>
                      <a:pPr>
                        <a:buNone/>
                      </a:pPr>
                      <a:r>
                        <a:rPr lang="en-US" sz="1200" b="0" dirty="0"/>
                        <a:t>Statistically significant. Each one-unit increase in baseline eGFR is associated with roughly a 1.5% lower hazard of graft failure, holding other factors constant and within each donor type.</a:t>
                      </a:r>
                    </a:p>
                  </a:txBody>
                  <a:tcPr marL="36312" marR="36312" marT="18156" marB="18156" anchor="ctr"/>
                </a:tc>
                <a:extLst>
                  <a:ext uri="{0D108BD9-81ED-4DB2-BD59-A6C34878D82A}">
                    <a16:rowId xmlns:a16="http://schemas.microsoft.com/office/drawing/2014/main" val="2065125134"/>
                  </a:ext>
                </a:extLst>
              </a:tr>
            </a:tbl>
          </a:graphicData>
        </a:graphic>
      </p:graphicFrame>
      <p:sp>
        <p:nvSpPr>
          <p:cNvPr id="4" name="Footer Placeholder 3">
            <a:extLst>
              <a:ext uri="{FF2B5EF4-FFF2-40B4-BE49-F238E27FC236}">
                <a16:creationId xmlns:a16="http://schemas.microsoft.com/office/drawing/2014/main" id="{8729BE4C-3A93-00F3-C85C-24766F60D696}"/>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1328693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C52C-2352-E3AC-E176-A0C2ED7EDA54}"/>
              </a:ext>
            </a:extLst>
          </p:cNvPr>
          <p:cNvSpPr>
            <a:spLocks noGrp="1"/>
          </p:cNvSpPr>
          <p:nvPr>
            <p:ph type="title"/>
          </p:nvPr>
        </p:nvSpPr>
        <p:spPr/>
        <p:txBody>
          <a:bodyPr/>
          <a:lstStyle/>
          <a:p>
            <a:r>
              <a:rPr lang="en-US" dirty="0"/>
              <a:t>stratified Cox model </a:t>
            </a:r>
            <a:endParaRPr lang="en-AU" dirty="0"/>
          </a:p>
        </p:txBody>
      </p:sp>
      <p:sp>
        <p:nvSpPr>
          <p:cNvPr id="3" name="Content Placeholder 2">
            <a:extLst>
              <a:ext uri="{FF2B5EF4-FFF2-40B4-BE49-F238E27FC236}">
                <a16:creationId xmlns:a16="http://schemas.microsoft.com/office/drawing/2014/main" id="{68BED24B-535E-45AE-5FF1-DBABE999E448}"/>
              </a:ext>
            </a:extLst>
          </p:cNvPr>
          <p:cNvSpPr>
            <a:spLocks noGrp="1"/>
          </p:cNvSpPr>
          <p:nvPr>
            <p:ph idx="1"/>
          </p:nvPr>
        </p:nvSpPr>
        <p:spPr>
          <a:xfrm>
            <a:off x="647736" y="1897040"/>
            <a:ext cx="5125831" cy="3739896"/>
          </a:xfrm>
        </p:spPr>
        <p:txBody>
          <a:bodyPr>
            <a:normAutofit lnSpcReduction="10000"/>
          </a:bodyPr>
          <a:lstStyle/>
          <a:p>
            <a:r>
              <a:rPr lang="en-US" dirty="0"/>
              <a:t>What about donor type?</a:t>
            </a:r>
          </a:p>
          <a:p>
            <a:pPr marL="0" indent="0">
              <a:buNone/>
            </a:pPr>
            <a:endParaRPr lang="en-US" dirty="0"/>
          </a:p>
          <a:p>
            <a:pPr marL="0" indent="0">
              <a:buNone/>
            </a:pPr>
            <a:r>
              <a:rPr lang="en-US" sz="1800" dirty="0"/>
              <a:t>Stratifying by </a:t>
            </a:r>
            <a:r>
              <a:rPr lang="en-US" sz="1800" i="1" dirty="0"/>
              <a:t>donor type</a:t>
            </a:r>
            <a:r>
              <a:rPr lang="en-US" sz="1800" dirty="0"/>
              <a:t> allows each group to have its </a:t>
            </a:r>
            <a:r>
              <a:rPr lang="en-US" sz="1800" b="1" dirty="0"/>
              <a:t>own baseline hazard curve</a:t>
            </a:r>
            <a:r>
              <a:rPr lang="en-US" sz="1800" dirty="0"/>
              <a:t>, effectively removing the need to assume a constant hazard ratio over time.</a:t>
            </a:r>
          </a:p>
          <a:p>
            <a:pPr marL="0" indent="0">
              <a:buNone/>
            </a:pPr>
            <a:br>
              <a:rPr lang="en-US" sz="1800" dirty="0"/>
            </a:br>
            <a:r>
              <a:rPr lang="en-US" sz="1800" dirty="0"/>
              <a:t>The curves demonstrate that living and deceased donor grafts follow </a:t>
            </a:r>
            <a:r>
              <a:rPr lang="en-US" sz="1800" b="1" dirty="0"/>
              <a:t>different survival trajectories</a:t>
            </a:r>
            <a:r>
              <a:rPr lang="en-US" sz="1800" dirty="0"/>
              <a:t> — exactly what we expect when the PH assumption is violated.</a:t>
            </a:r>
            <a:endParaRPr lang="en-AU" sz="1800" dirty="0"/>
          </a:p>
        </p:txBody>
      </p:sp>
      <p:sp>
        <p:nvSpPr>
          <p:cNvPr id="4" name="Footer Placeholder 3">
            <a:extLst>
              <a:ext uri="{FF2B5EF4-FFF2-40B4-BE49-F238E27FC236}">
                <a16:creationId xmlns:a16="http://schemas.microsoft.com/office/drawing/2014/main" id="{A9E5F3AB-2121-BF63-3D71-6E4F36BD36D9}"/>
              </a:ext>
            </a:extLst>
          </p:cNvPr>
          <p:cNvSpPr>
            <a:spLocks noGrp="1"/>
          </p:cNvSpPr>
          <p:nvPr>
            <p:ph type="ftr" sz="quarter" idx="11"/>
          </p:nvPr>
        </p:nvSpPr>
        <p:spPr/>
        <p:txBody>
          <a:bodyPr/>
          <a:lstStyle/>
          <a:p>
            <a:r>
              <a:rPr lang="en-US"/>
              <a:t>Farzaneh.Boroumand@Sydney.edu.au</a:t>
            </a:r>
            <a:endParaRPr lang="en-US" dirty="0"/>
          </a:p>
        </p:txBody>
      </p:sp>
      <p:pic>
        <p:nvPicPr>
          <p:cNvPr id="12" name="Picture 11">
            <a:extLst>
              <a:ext uri="{FF2B5EF4-FFF2-40B4-BE49-F238E27FC236}">
                <a16:creationId xmlns:a16="http://schemas.microsoft.com/office/drawing/2014/main" id="{09F9B267-465C-C0E3-DCA6-DB27406DBC79}"/>
              </a:ext>
            </a:extLst>
          </p:cNvPr>
          <p:cNvPicPr>
            <a:picLocks noChangeAspect="1"/>
          </p:cNvPicPr>
          <p:nvPr/>
        </p:nvPicPr>
        <p:blipFill>
          <a:blip r:embed="rId2"/>
          <a:stretch>
            <a:fillRect/>
          </a:stretch>
        </p:blipFill>
        <p:spPr>
          <a:xfrm>
            <a:off x="5826466" y="1842891"/>
            <a:ext cx="5530363" cy="3627789"/>
          </a:xfrm>
          <a:prstGeom prst="rect">
            <a:avLst/>
          </a:prstGeom>
        </p:spPr>
      </p:pic>
    </p:spTree>
    <p:extLst>
      <p:ext uri="{BB962C8B-B14F-4D97-AF65-F5344CB8AC3E}">
        <p14:creationId xmlns:p14="http://schemas.microsoft.com/office/powerpoint/2010/main" val="2405810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BE3D8-60E1-9F9C-D425-EA4B5FF08EDB}"/>
              </a:ext>
            </a:extLst>
          </p:cNvPr>
          <p:cNvSpPr>
            <a:spLocks noGrp="1"/>
          </p:cNvSpPr>
          <p:nvPr>
            <p:ph type="title"/>
          </p:nvPr>
        </p:nvSpPr>
        <p:spPr/>
        <p:txBody>
          <a:bodyPr>
            <a:normAutofit fontScale="90000"/>
          </a:bodyPr>
          <a:lstStyle/>
          <a:p>
            <a:r>
              <a:rPr lang="en-US" dirty="0"/>
              <a:t>Standard cox vs stratified cox (PH violated)</a:t>
            </a:r>
            <a:endParaRPr lang="en-AU" dirty="0"/>
          </a:p>
        </p:txBody>
      </p:sp>
      <p:sp>
        <p:nvSpPr>
          <p:cNvPr id="4" name="Footer Placeholder 3">
            <a:extLst>
              <a:ext uri="{FF2B5EF4-FFF2-40B4-BE49-F238E27FC236}">
                <a16:creationId xmlns:a16="http://schemas.microsoft.com/office/drawing/2014/main" id="{8C5A1845-4AAD-A993-5480-7C3FB1A8176F}"/>
              </a:ext>
            </a:extLst>
          </p:cNvPr>
          <p:cNvSpPr>
            <a:spLocks noGrp="1"/>
          </p:cNvSpPr>
          <p:nvPr>
            <p:ph type="ftr" sz="quarter" idx="11"/>
          </p:nvPr>
        </p:nvSpPr>
        <p:spPr/>
        <p:txBody>
          <a:bodyPr/>
          <a:lstStyle/>
          <a:p>
            <a:r>
              <a:rPr lang="en-US"/>
              <a:t>Farzaneh.Boroumand@Sydney.edu.au</a:t>
            </a:r>
            <a:endParaRPr lang="en-US" dirty="0"/>
          </a:p>
        </p:txBody>
      </p:sp>
      <p:pic>
        <p:nvPicPr>
          <p:cNvPr id="10" name="Picture 9">
            <a:extLst>
              <a:ext uri="{FF2B5EF4-FFF2-40B4-BE49-F238E27FC236}">
                <a16:creationId xmlns:a16="http://schemas.microsoft.com/office/drawing/2014/main" id="{7A379BDE-4B2C-8CD3-F08D-9E3E58AC4DFF}"/>
              </a:ext>
            </a:extLst>
          </p:cNvPr>
          <p:cNvPicPr>
            <a:picLocks noChangeAspect="1"/>
          </p:cNvPicPr>
          <p:nvPr/>
        </p:nvPicPr>
        <p:blipFill>
          <a:blip r:embed="rId2"/>
          <a:stretch>
            <a:fillRect/>
          </a:stretch>
        </p:blipFill>
        <p:spPr>
          <a:xfrm>
            <a:off x="6096000" y="1924210"/>
            <a:ext cx="5343958" cy="3505512"/>
          </a:xfrm>
          <a:prstGeom prst="rect">
            <a:avLst/>
          </a:prstGeom>
        </p:spPr>
      </p:pic>
      <p:pic>
        <p:nvPicPr>
          <p:cNvPr id="12" name="Picture 11">
            <a:extLst>
              <a:ext uri="{FF2B5EF4-FFF2-40B4-BE49-F238E27FC236}">
                <a16:creationId xmlns:a16="http://schemas.microsoft.com/office/drawing/2014/main" id="{EC8AE1DA-C903-CF38-04F3-1A8D3911937A}"/>
              </a:ext>
            </a:extLst>
          </p:cNvPr>
          <p:cNvPicPr>
            <a:picLocks noChangeAspect="1"/>
          </p:cNvPicPr>
          <p:nvPr/>
        </p:nvPicPr>
        <p:blipFill>
          <a:blip r:embed="rId3"/>
          <a:stretch>
            <a:fillRect/>
          </a:stretch>
        </p:blipFill>
        <p:spPr>
          <a:xfrm>
            <a:off x="752042" y="1971023"/>
            <a:ext cx="5201229" cy="3411885"/>
          </a:xfrm>
          <a:prstGeom prst="rect">
            <a:avLst/>
          </a:prstGeom>
        </p:spPr>
      </p:pic>
    </p:spTree>
    <p:extLst>
      <p:ext uri="{BB962C8B-B14F-4D97-AF65-F5344CB8AC3E}">
        <p14:creationId xmlns:p14="http://schemas.microsoft.com/office/powerpoint/2010/main" val="1594042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432B-3B52-E316-D3C3-07837B579956}"/>
              </a:ext>
            </a:extLst>
          </p:cNvPr>
          <p:cNvSpPr>
            <a:spLocks noGrp="1"/>
          </p:cNvSpPr>
          <p:nvPr>
            <p:ph type="title"/>
          </p:nvPr>
        </p:nvSpPr>
        <p:spPr/>
        <p:txBody>
          <a:bodyPr/>
          <a:lstStyle/>
          <a:p>
            <a:r>
              <a:rPr lang="en-AU" dirty="0"/>
              <a:t>Including Time-Varying effects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757A78-65E2-CC09-09AD-0453B692A79D}"/>
                  </a:ext>
                </a:extLst>
              </p:cNvPr>
              <p:cNvSpPr>
                <a:spLocks noGrp="1"/>
              </p:cNvSpPr>
              <p:nvPr>
                <p:ph idx="1"/>
              </p:nvPr>
            </p:nvSpPr>
            <p:spPr>
              <a:xfrm>
                <a:off x="700635" y="1964826"/>
                <a:ext cx="10691265" cy="3997062"/>
              </a:xfrm>
            </p:spPr>
            <p:txBody>
              <a:bodyPr/>
              <a:lstStyle/>
              <a:p>
                <a:pPr marL="0" indent="0">
                  <a:buNone/>
                </a:pPr>
                <a:r>
                  <a:rPr lang="en-US" dirty="0"/>
                  <a:t>In the standard Cox model:</a:t>
                </a:r>
              </a:p>
              <a:p>
                <a:pPr marL="0" indent="0">
                  <a:buNone/>
                </a:pPr>
                <a14:m>
                  <m:oMathPara xmlns:m="http://schemas.openxmlformats.org/officeDocument/2006/math">
                    <m:oMathParaPr>
                      <m:jc m:val="centerGroup"/>
                    </m:oMathParaPr>
                    <m:oMath xmlns:m="http://schemas.openxmlformats.org/officeDocument/2006/math">
                      <m:r>
                        <a:rPr lang="pt-BR" i="1" dirty="0" smtClean="0">
                          <a:latin typeface="Cambria Math" panose="02040503050406030204" pitchFamily="18" charset="0"/>
                        </a:rPr>
                        <m:t>h</m:t>
                      </m:r>
                      <m:r>
                        <a:rPr lang="pt-BR" i="1" dirty="0" smtClean="0">
                          <a:latin typeface="Cambria Math" panose="02040503050406030204" pitchFamily="18" charset="0"/>
                        </a:rPr>
                        <m:t>(</m:t>
                      </m:r>
                      <m:r>
                        <a:rPr lang="pt-BR" i="1" dirty="0" smtClean="0">
                          <a:latin typeface="Cambria Math" panose="02040503050406030204" pitchFamily="18" charset="0"/>
                        </a:rPr>
                        <m:t>𝑡</m:t>
                      </m:r>
                      <m:r>
                        <a:rPr lang="pt-BR" i="1" dirty="0" smtClean="0">
                          <a:latin typeface="Cambria Math" panose="02040503050406030204" pitchFamily="18" charset="0"/>
                        </a:rPr>
                        <m:t>∣</m:t>
                      </m:r>
                      <m:r>
                        <a:rPr lang="pt-BR" i="1" dirty="0" smtClean="0">
                          <a:latin typeface="Cambria Math" panose="02040503050406030204" pitchFamily="18" charset="0"/>
                        </a:rPr>
                        <m:t>𝑋</m:t>
                      </m:r>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h</m:t>
                          </m:r>
                        </m:e>
                        <m:sub>
                          <m:r>
                            <a:rPr lang="pt-BR" i="1" dirty="0" smtClean="0">
                              <a:latin typeface="Cambria Math" panose="02040503050406030204" pitchFamily="18" charset="0"/>
                            </a:rPr>
                            <m:t>0</m:t>
                          </m:r>
                        </m:sub>
                      </m:sSub>
                      <m:r>
                        <a:rPr lang="pt-BR" i="1" dirty="0" smtClean="0">
                          <a:latin typeface="Cambria Math" panose="02040503050406030204" pitchFamily="18" charset="0"/>
                        </a:rPr>
                        <m:t>​(</m:t>
                      </m:r>
                      <m:r>
                        <a:rPr lang="pt-BR" i="1" dirty="0" smtClean="0">
                          <a:latin typeface="Cambria Math" panose="02040503050406030204" pitchFamily="18" charset="0"/>
                        </a:rPr>
                        <m:t>𝑡</m:t>
                      </m:r>
                      <m:r>
                        <a:rPr lang="pt-BR" i="1" dirty="0" smtClean="0">
                          <a:latin typeface="Cambria Math" panose="02040503050406030204" pitchFamily="18" charset="0"/>
                        </a:rPr>
                        <m:t>)</m:t>
                      </m:r>
                      <m:r>
                        <m:rPr>
                          <m:sty m:val="p"/>
                        </m:rPr>
                        <a:rPr lang="pt-BR" i="1" dirty="0" smtClean="0">
                          <a:latin typeface="Cambria Math" panose="02040503050406030204" pitchFamily="18" charset="0"/>
                        </a:rPr>
                        <m:t>exp</m:t>
                      </m:r>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𝛽</m:t>
                          </m:r>
                        </m:e>
                        <m:sub>
                          <m:r>
                            <a:rPr lang="pt-BR" i="1" dirty="0" smtClean="0">
                              <a:latin typeface="Cambria Math" panose="02040503050406030204" pitchFamily="18" charset="0"/>
                            </a:rPr>
                            <m:t>1</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𝑋</m:t>
                          </m:r>
                        </m:e>
                        <m:sub>
                          <m:r>
                            <a:rPr lang="pt-BR" i="1" dirty="0" smtClean="0">
                              <a:latin typeface="Cambria Math" panose="02040503050406030204" pitchFamily="18" charset="0"/>
                            </a:rPr>
                            <m:t>1</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𝛽</m:t>
                          </m:r>
                        </m:e>
                        <m:sub>
                          <m:r>
                            <a:rPr lang="pt-BR" i="1" dirty="0" smtClean="0">
                              <a:latin typeface="Cambria Math" panose="02040503050406030204" pitchFamily="18" charset="0"/>
                            </a:rPr>
                            <m:t>2</m:t>
                          </m:r>
                        </m:sub>
                      </m:sSub>
                      <m:r>
                        <a:rPr lang="pt-B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pt-BR" i="1" dirty="0" smtClean="0">
                              <a:latin typeface="Cambria Math" panose="02040503050406030204" pitchFamily="18" charset="0"/>
                            </a:rPr>
                            <m:t>𝑋</m:t>
                          </m:r>
                        </m:e>
                        <m:sub>
                          <m:r>
                            <a:rPr lang="pt-BR" i="1" dirty="0" smtClean="0">
                              <a:latin typeface="Cambria Math" panose="02040503050406030204" pitchFamily="18" charset="0"/>
                            </a:rPr>
                            <m:t>2</m:t>
                          </m:r>
                        </m:sub>
                      </m:sSub>
                      <m:r>
                        <a:rPr lang="pt-BR" i="1" dirty="0" smtClean="0">
                          <a:latin typeface="Cambria Math" panose="02040503050406030204" pitchFamily="18" charset="0"/>
                        </a:rPr>
                        <m:t>​+…)</m:t>
                      </m:r>
                    </m:oMath>
                  </m:oMathPara>
                </a14:m>
                <a:endParaRPr lang="en-AU" dirty="0"/>
              </a:p>
              <a:p>
                <a:pPr marL="0" indent="0">
                  <a:buNone/>
                </a:pPr>
                <a:r>
                  <a:rPr lang="en-US" dirty="0"/>
                  <a:t>the coefficients (</a:t>
                </a:r>
                <a14:m>
                  <m:oMath xmlns:m="http://schemas.openxmlformats.org/officeDocument/2006/math">
                    <m:r>
                      <a:rPr lang="en-US" i="1">
                        <a:latin typeface="Cambria Math" panose="02040503050406030204" pitchFamily="18" charset="0"/>
                      </a:rPr>
                      <m:t>𝛽</m:t>
                    </m:r>
                  </m:oMath>
                </a14:m>
                <a:r>
                  <a:rPr lang="en-US" dirty="0"/>
                  <a:t>) are assumed to be </a:t>
                </a:r>
                <a:r>
                  <a:rPr lang="en-US" i="1" dirty="0"/>
                  <a:t>constant over time</a:t>
                </a:r>
                <a:r>
                  <a:rPr lang="en-US" dirty="0"/>
                  <a:t> → proportional hazards.</a:t>
                </a:r>
              </a:p>
              <a:p>
                <a:pPr marL="0" indent="0">
                  <a:buNone/>
                </a:pPr>
                <a:endParaRPr lang="en-US" dirty="0"/>
              </a:p>
              <a:p>
                <a:pPr marL="0" indent="0">
                  <a:buNone/>
                </a:pPr>
                <a:r>
                  <a:rPr lang="en-US" dirty="0"/>
                  <a:t>But if a covariate’s effect </a:t>
                </a:r>
                <a:r>
                  <a:rPr lang="en-US" b="1" dirty="0">
                    <a:solidFill>
                      <a:schemeClr val="accent6">
                        <a:lumMod val="75000"/>
                      </a:schemeClr>
                    </a:solidFill>
                  </a:rPr>
                  <a:t>changes over time</a:t>
                </a:r>
                <a:r>
                  <a:rPr lang="en-US" dirty="0"/>
                  <a:t>, we can let its coefficient depend on time,</a:t>
                </a:r>
              </a:p>
              <a:p>
                <a:pPr marL="0" indent="0">
                  <a:buNone/>
                </a:pPr>
                <a14:m>
                  <m:oMathPara xmlns:m="http://schemas.openxmlformats.org/officeDocument/2006/math">
                    <m:oMathParaPr>
                      <m:jc m:val="centerGroup"/>
                    </m:oMathParaPr>
                    <m:oMath xmlns:m="http://schemas.openxmlformats.org/officeDocument/2006/math">
                      <m:r>
                        <a:rPr lang="en-AU" i="1" dirty="0" smtClean="0">
                          <a:latin typeface="Cambria Math" panose="02040503050406030204" pitchFamily="18" charset="0"/>
                        </a:rPr>
                        <m:t>h</m:t>
                      </m:r>
                      <m:r>
                        <a:rPr lang="en-AU" i="1" dirty="0" smtClean="0">
                          <a:latin typeface="Cambria Math" panose="02040503050406030204" pitchFamily="18" charset="0"/>
                        </a:rPr>
                        <m:t>(</m:t>
                      </m:r>
                      <m:r>
                        <a:rPr lang="en-AU" i="1" dirty="0" err="1">
                          <a:latin typeface="Cambria Math" panose="02040503050406030204" pitchFamily="18" charset="0"/>
                        </a:rPr>
                        <m:t>𝑡</m:t>
                      </m:r>
                      <m:r>
                        <a:rPr lang="en-AU" i="1" dirty="0" err="1">
                          <a:latin typeface="Cambria Math" panose="02040503050406030204" pitchFamily="18" charset="0"/>
                        </a:rPr>
                        <m:t>∣</m:t>
                      </m:r>
                      <m:r>
                        <a:rPr lang="en-AU" i="1" dirty="0" err="1">
                          <a:latin typeface="Cambria Math" panose="02040503050406030204" pitchFamily="18" charset="0"/>
                        </a:rPr>
                        <m:t>𝑋</m:t>
                      </m:r>
                      <m:r>
                        <a:rPr lang="en-AU" i="1" dirty="0">
                          <a:latin typeface="Cambria Math" panose="02040503050406030204" pitchFamily="18" charset="0"/>
                        </a:rPr>
                        <m:t>)=</m:t>
                      </m:r>
                      <m:sSub>
                        <m:sSubPr>
                          <m:ctrlPr>
                            <a:rPr lang="en-US" b="0" i="1" dirty="0" smtClean="0">
                              <a:latin typeface="Cambria Math" panose="02040503050406030204" pitchFamily="18" charset="0"/>
                            </a:rPr>
                          </m:ctrlPr>
                        </m:sSubPr>
                        <m:e>
                          <m:r>
                            <a:rPr lang="en-AU" i="1" dirty="0">
                              <a:latin typeface="Cambria Math" panose="02040503050406030204" pitchFamily="18" charset="0"/>
                            </a:rPr>
                            <m:t>h</m:t>
                          </m:r>
                        </m:e>
                        <m:sub>
                          <m:r>
                            <a:rPr lang="en-AU" i="1" dirty="0">
                              <a:latin typeface="Cambria Math" panose="02040503050406030204" pitchFamily="18" charset="0"/>
                            </a:rPr>
                            <m:t>0</m:t>
                          </m:r>
                        </m:sub>
                      </m:sSub>
                      <m:r>
                        <a:rPr lang="en-AU" i="1" dirty="0">
                          <a:latin typeface="Cambria Math" panose="02040503050406030204" pitchFamily="18" charset="0"/>
                        </a:rPr>
                        <m:t>​(</m:t>
                      </m:r>
                      <m:r>
                        <a:rPr lang="en-AU" i="1" dirty="0">
                          <a:latin typeface="Cambria Math" panose="02040503050406030204" pitchFamily="18" charset="0"/>
                        </a:rPr>
                        <m:t>𝑡</m:t>
                      </m:r>
                      <m:r>
                        <a:rPr lang="en-AU" i="1" dirty="0">
                          <a:latin typeface="Cambria Math" panose="02040503050406030204" pitchFamily="18" charset="0"/>
                        </a:rPr>
                        <m:t>)</m:t>
                      </m:r>
                      <m:r>
                        <m:rPr>
                          <m:sty m:val="p"/>
                        </m:rPr>
                        <a:rPr lang="en-AU" i="1" dirty="0">
                          <a:latin typeface="Cambria Math" panose="02040503050406030204" pitchFamily="18" charset="0"/>
                        </a:rPr>
                        <m:t>exp</m:t>
                      </m:r>
                      <m:r>
                        <a:rPr lang="en-AU" i="1" dirty="0">
                          <a:latin typeface="Cambria Math" panose="02040503050406030204" pitchFamily="18" charset="0"/>
                        </a:rPr>
                        <m:t>⁡[</m:t>
                      </m:r>
                      <m:sSub>
                        <m:sSubPr>
                          <m:ctrlPr>
                            <a:rPr lang="en-US" b="1" i="1" dirty="0" smtClean="0">
                              <a:solidFill>
                                <a:schemeClr val="accent6">
                                  <a:lumMod val="75000"/>
                                </a:schemeClr>
                              </a:solidFill>
                              <a:latin typeface="Cambria Math" panose="02040503050406030204" pitchFamily="18" charset="0"/>
                            </a:rPr>
                          </m:ctrlPr>
                        </m:sSubPr>
                        <m:e>
                          <m:r>
                            <a:rPr lang="el-GR" b="1" i="1" dirty="0">
                              <a:solidFill>
                                <a:schemeClr val="accent6">
                                  <a:lumMod val="75000"/>
                                </a:schemeClr>
                              </a:solidFill>
                              <a:latin typeface="Cambria Math" panose="02040503050406030204" pitchFamily="18" charset="0"/>
                            </a:rPr>
                            <m:t>𝜷</m:t>
                          </m:r>
                        </m:e>
                        <m:sub>
                          <m:r>
                            <a:rPr lang="el-GR" b="1" i="1" dirty="0">
                              <a:solidFill>
                                <a:schemeClr val="accent6">
                                  <a:lumMod val="75000"/>
                                </a:schemeClr>
                              </a:solidFill>
                              <a:latin typeface="Cambria Math" panose="02040503050406030204" pitchFamily="18" charset="0"/>
                            </a:rPr>
                            <m:t>𝟏</m:t>
                          </m:r>
                        </m:sub>
                      </m:sSub>
                      <m:r>
                        <a:rPr lang="el-GR" b="1" i="1" dirty="0">
                          <a:solidFill>
                            <a:schemeClr val="accent6">
                              <a:lumMod val="75000"/>
                            </a:schemeClr>
                          </a:solidFill>
                          <a:latin typeface="Cambria Math" panose="02040503050406030204" pitchFamily="18" charset="0"/>
                        </a:rPr>
                        <m:t>​</m:t>
                      </m:r>
                      <m:d>
                        <m:dPr>
                          <m:ctrlPr>
                            <a:rPr lang="el-GR" b="1" i="1" dirty="0">
                              <a:solidFill>
                                <a:schemeClr val="accent6">
                                  <a:lumMod val="75000"/>
                                </a:schemeClr>
                              </a:solidFill>
                              <a:latin typeface="Cambria Math" panose="02040503050406030204" pitchFamily="18" charset="0"/>
                            </a:rPr>
                          </m:ctrlPr>
                        </m:dPr>
                        <m:e>
                          <m:r>
                            <a:rPr lang="en-AU" b="1" i="1" dirty="0">
                              <a:solidFill>
                                <a:schemeClr val="accent6">
                                  <a:lumMod val="75000"/>
                                </a:schemeClr>
                              </a:solidFill>
                              <a:latin typeface="Cambria Math" panose="02040503050406030204" pitchFamily="18" charset="0"/>
                            </a:rPr>
                            <m:t>𝒕</m:t>
                          </m:r>
                        </m:e>
                      </m:d>
                      <m:sSub>
                        <m:sSubPr>
                          <m:ctrlPr>
                            <a:rPr lang="en-US" i="1" dirty="0" smtClean="0">
                              <a:solidFill>
                                <a:schemeClr val="tx1"/>
                              </a:solidFill>
                              <a:latin typeface="Cambria Math" panose="02040503050406030204" pitchFamily="18" charset="0"/>
                            </a:rPr>
                          </m:ctrlPr>
                        </m:sSubPr>
                        <m:e>
                          <m:r>
                            <a:rPr lang="en-AU" b="0" i="1" dirty="0">
                              <a:solidFill>
                                <a:schemeClr val="tx1"/>
                              </a:solidFill>
                              <a:latin typeface="Cambria Math" panose="02040503050406030204" pitchFamily="18" charset="0"/>
                            </a:rPr>
                            <m:t>𝑋</m:t>
                          </m:r>
                        </m:e>
                        <m:sub>
                          <m:r>
                            <a:rPr lang="en-AU" b="0" i="1" dirty="0">
                              <a:solidFill>
                                <a:schemeClr val="tx1"/>
                              </a:solidFill>
                              <a:latin typeface="Cambria Math" panose="02040503050406030204" pitchFamily="18" charset="0"/>
                            </a:rPr>
                            <m:t>1</m:t>
                          </m:r>
                        </m:sub>
                      </m:sSub>
                      <m:r>
                        <a:rPr lang="en-AU" i="1" dirty="0">
                          <a:latin typeface="Cambria Math" panose="02040503050406030204" pitchFamily="18" charset="0"/>
                        </a:rPr>
                        <m:t>​+</m:t>
                      </m:r>
                      <m:sSub>
                        <m:sSubPr>
                          <m:ctrlPr>
                            <a:rPr lang="en-US" b="0" i="1" dirty="0" smtClean="0">
                              <a:latin typeface="Cambria Math" panose="02040503050406030204" pitchFamily="18" charset="0"/>
                            </a:rPr>
                          </m:ctrlPr>
                        </m:sSubPr>
                        <m:e>
                          <m:r>
                            <a:rPr lang="el-GR" i="1" dirty="0">
                              <a:latin typeface="Cambria Math" panose="02040503050406030204" pitchFamily="18" charset="0"/>
                            </a:rPr>
                            <m:t>𝛽</m:t>
                          </m:r>
                        </m:e>
                        <m:sub>
                          <m:r>
                            <a:rPr lang="el-GR" i="1" dirty="0">
                              <a:latin typeface="Cambria Math" panose="02040503050406030204" pitchFamily="18" charset="0"/>
                            </a:rPr>
                            <m:t>2</m:t>
                          </m:r>
                        </m:sub>
                      </m:sSub>
                      <m:r>
                        <a:rPr lang="el-GR" i="1" dirty="0">
                          <a:latin typeface="Cambria Math" panose="02040503050406030204" pitchFamily="18" charset="0"/>
                        </a:rPr>
                        <m:t>​</m:t>
                      </m:r>
                      <m:sSub>
                        <m:sSubPr>
                          <m:ctrlPr>
                            <a:rPr lang="en-US" b="0" i="1" dirty="0" smtClean="0">
                              <a:latin typeface="Cambria Math" panose="02040503050406030204" pitchFamily="18" charset="0"/>
                            </a:rPr>
                          </m:ctrlPr>
                        </m:sSubPr>
                        <m:e>
                          <m:r>
                            <a:rPr lang="en-AU" i="1" dirty="0">
                              <a:latin typeface="Cambria Math" panose="02040503050406030204" pitchFamily="18" charset="0"/>
                            </a:rPr>
                            <m:t>𝑋</m:t>
                          </m:r>
                        </m:e>
                        <m:sub>
                          <m:r>
                            <a:rPr lang="en-AU" i="1" dirty="0">
                              <a:latin typeface="Cambria Math" panose="02040503050406030204" pitchFamily="18" charset="0"/>
                            </a:rPr>
                            <m:t>2</m:t>
                          </m:r>
                        </m:sub>
                      </m:sSub>
                      <m:r>
                        <a:rPr lang="en-AU" i="1" dirty="0">
                          <a:latin typeface="Cambria Math" panose="02040503050406030204" pitchFamily="18" charset="0"/>
                        </a:rPr>
                        <m:t>​+…]</m:t>
                      </m:r>
                    </m:oMath>
                  </m:oMathPara>
                </a14:m>
                <a:endParaRPr lang="en-AU" dirty="0"/>
              </a:p>
              <a:p>
                <a:pPr marL="0" indent="0">
                  <a:buNone/>
                </a:pPr>
                <a:r>
                  <a:rPr lang="en-AU" dirty="0"/>
                  <a:t>This allows the hazard ratio for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𝑋</m:t>
                        </m:r>
                      </m:e>
                      <m:sub>
                        <m:r>
                          <a:rPr lang="ar-AE">
                            <a:latin typeface="Cambria Math" panose="02040503050406030204" pitchFamily="18" charset="0"/>
                          </a:rPr>
                          <m:t>1</m:t>
                        </m:r>
                      </m:sub>
                    </m:sSub>
                  </m:oMath>
                </a14:m>
                <a:r>
                  <a:rPr lang="en-AU" dirty="0"/>
                  <a:t>to </a:t>
                </a:r>
                <a:r>
                  <a:rPr lang="en-AU" b="1" dirty="0">
                    <a:solidFill>
                      <a:schemeClr val="accent6">
                        <a:lumMod val="75000"/>
                      </a:schemeClr>
                    </a:solidFill>
                  </a:rPr>
                  <a:t>vary with time</a:t>
                </a:r>
                <a:r>
                  <a:rPr lang="en-AU" dirty="0"/>
                  <a:t>.</a:t>
                </a:r>
              </a:p>
            </p:txBody>
          </p:sp>
        </mc:Choice>
        <mc:Fallback xmlns="">
          <p:sp>
            <p:nvSpPr>
              <p:cNvPr id="3" name="Content Placeholder 2">
                <a:extLst>
                  <a:ext uri="{FF2B5EF4-FFF2-40B4-BE49-F238E27FC236}">
                    <a16:creationId xmlns:a16="http://schemas.microsoft.com/office/drawing/2014/main" id="{89757A78-65E2-CC09-09AD-0453B692A79D}"/>
                  </a:ext>
                </a:extLst>
              </p:cNvPr>
              <p:cNvSpPr>
                <a:spLocks noGrp="1" noRot="1" noChangeAspect="1" noMove="1" noResize="1" noEditPoints="1" noAdjustHandles="1" noChangeArrowheads="1" noChangeShapeType="1" noTextEdit="1"/>
              </p:cNvSpPr>
              <p:nvPr>
                <p:ph idx="1"/>
              </p:nvPr>
            </p:nvSpPr>
            <p:spPr>
              <a:xfrm>
                <a:off x="700635" y="1964826"/>
                <a:ext cx="10691265" cy="3997062"/>
              </a:xfrm>
              <a:blipFill>
                <a:blip r:embed="rId2"/>
                <a:stretch>
                  <a:fillRect l="-627" t="-610"/>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7F6B79F4-EB96-5F48-6B4C-164FF79196AE}"/>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914159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B48C8-4BDF-21C0-91F5-B03157252CF2}"/>
              </a:ext>
            </a:extLst>
          </p:cNvPr>
          <p:cNvSpPr>
            <a:spLocks noGrp="1"/>
          </p:cNvSpPr>
          <p:nvPr>
            <p:ph type="title"/>
          </p:nvPr>
        </p:nvSpPr>
        <p:spPr/>
        <p:txBody>
          <a:bodyPr/>
          <a:lstStyle/>
          <a:p>
            <a:r>
              <a:rPr lang="en-AU" dirty="0"/>
              <a:t>Including Time-Varying effects</a:t>
            </a:r>
          </a:p>
        </p:txBody>
      </p:sp>
      <p:sp>
        <p:nvSpPr>
          <p:cNvPr id="3" name="Content Placeholder 2">
            <a:extLst>
              <a:ext uri="{FF2B5EF4-FFF2-40B4-BE49-F238E27FC236}">
                <a16:creationId xmlns:a16="http://schemas.microsoft.com/office/drawing/2014/main" id="{25E6C97E-CD7C-1A4C-4BD5-05F780577B92}"/>
              </a:ext>
            </a:extLst>
          </p:cNvPr>
          <p:cNvSpPr>
            <a:spLocks noGrp="1"/>
          </p:cNvSpPr>
          <p:nvPr>
            <p:ph idx="1"/>
          </p:nvPr>
        </p:nvSpPr>
        <p:spPr/>
        <p:txBody>
          <a:bodyPr/>
          <a:lstStyle/>
          <a:p>
            <a:pPr marL="0" indent="0">
              <a:buNone/>
            </a:pPr>
            <a:r>
              <a:rPr lang="en-AU" b="1" dirty="0">
                <a:solidFill>
                  <a:srgbClr val="00B050"/>
                </a:solidFill>
              </a:rPr>
              <a:t>When to Use It: </a:t>
            </a:r>
          </a:p>
          <a:p>
            <a:pPr lvl="1">
              <a:buFont typeface="Wingdings" panose="05000000000000000000" pitchFamily="2" charset="2"/>
              <a:buChar char="ü"/>
            </a:pPr>
            <a:r>
              <a:rPr lang="en-US" dirty="0"/>
              <a:t>You detect a </a:t>
            </a:r>
            <a:r>
              <a:rPr lang="en-US" b="1" dirty="0"/>
              <a:t>PH violation</a:t>
            </a:r>
            <a:r>
              <a:rPr lang="en-US" dirty="0"/>
              <a:t> for a variable (e.g. </a:t>
            </a:r>
            <a:r>
              <a:rPr lang="en-US" dirty="0" err="1"/>
              <a:t>donor_type</a:t>
            </a:r>
            <a:r>
              <a:rPr lang="en-US" dirty="0"/>
              <a:t>) but you </a:t>
            </a:r>
            <a:r>
              <a:rPr lang="en-US" b="1" dirty="0"/>
              <a:t>still want an explicit effect estimate</a:t>
            </a:r>
            <a:r>
              <a:rPr lang="en-US" dirty="0"/>
              <a:t> rather than stratifying it away.</a:t>
            </a:r>
          </a:p>
          <a:p>
            <a:pPr lvl="1">
              <a:buFont typeface="Wingdings" panose="05000000000000000000" pitchFamily="2" charset="2"/>
              <a:buChar char="ü"/>
            </a:pPr>
            <a:r>
              <a:rPr lang="en-US" dirty="0"/>
              <a:t>For example, early after transplant, living donors may be protective; later, that advantage may diminish or reverse.</a:t>
            </a:r>
            <a:endParaRPr lang="en-AU" dirty="0"/>
          </a:p>
        </p:txBody>
      </p:sp>
      <p:sp>
        <p:nvSpPr>
          <p:cNvPr id="4" name="Footer Placeholder 3">
            <a:extLst>
              <a:ext uri="{FF2B5EF4-FFF2-40B4-BE49-F238E27FC236}">
                <a16:creationId xmlns:a16="http://schemas.microsoft.com/office/drawing/2014/main" id="{FB9B9C90-1317-E3D4-62EB-331FC4F70F77}"/>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378084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BB391-C143-F347-46C9-22A12EC823A1}"/>
              </a:ext>
            </a:extLst>
          </p:cNvPr>
          <p:cNvSpPr>
            <a:spLocks noGrp="1"/>
          </p:cNvSpPr>
          <p:nvPr>
            <p:ph type="title"/>
          </p:nvPr>
        </p:nvSpPr>
        <p:spPr>
          <a:xfrm>
            <a:off x="700635" y="914400"/>
            <a:ext cx="10691265" cy="913130"/>
          </a:xfrm>
        </p:spPr>
        <p:txBody>
          <a:bodyPr/>
          <a:lstStyle/>
          <a:p>
            <a:r>
              <a:rPr lang="en-AU" dirty="0"/>
              <a:t>Including Time-Varying effects</a:t>
            </a:r>
          </a:p>
        </p:txBody>
      </p:sp>
      <p:sp>
        <p:nvSpPr>
          <p:cNvPr id="3" name="Content Placeholder 2">
            <a:extLst>
              <a:ext uri="{FF2B5EF4-FFF2-40B4-BE49-F238E27FC236}">
                <a16:creationId xmlns:a16="http://schemas.microsoft.com/office/drawing/2014/main" id="{BA9C426B-CAFD-0C7D-81BC-22C6AED6EA21}"/>
              </a:ext>
            </a:extLst>
          </p:cNvPr>
          <p:cNvSpPr>
            <a:spLocks noGrp="1"/>
          </p:cNvSpPr>
          <p:nvPr>
            <p:ph idx="1"/>
          </p:nvPr>
        </p:nvSpPr>
        <p:spPr>
          <a:xfrm>
            <a:off x="700636" y="2221992"/>
            <a:ext cx="3894036" cy="3739896"/>
          </a:xfrm>
        </p:spPr>
        <p:txBody>
          <a:bodyPr/>
          <a:lstStyle/>
          <a:p>
            <a:pPr marL="0" indent="0">
              <a:buNone/>
            </a:pPr>
            <a:r>
              <a:rPr lang="en-US" dirty="0"/>
              <a:t>“Instead of assuming the pink and blue cars keep the same speed ratio forever,</a:t>
            </a:r>
            <a:br>
              <a:rPr lang="en-US" dirty="0"/>
            </a:br>
            <a:r>
              <a:rPr lang="en-US" dirty="0"/>
              <a:t>we now let the ratio change as the road gets longer — maybe the pink car starts faster, but the blue one catches up.” </a:t>
            </a:r>
            <a:endParaRPr lang="en-AU" dirty="0"/>
          </a:p>
        </p:txBody>
      </p:sp>
      <p:sp>
        <p:nvSpPr>
          <p:cNvPr id="4" name="Footer Placeholder 3">
            <a:extLst>
              <a:ext uri="{FF2B5EF4-FFF2-40B4-BE49-F238E27FC236}">
                <a16:creationId xmlns:a16="http://schemas.microsoft.com/office/drawing/2014/main" id="{3B971C0C-101A-5C52-A418-FADBD6C69429}"/>
              </a:ext>
            </a:extLst>
          </p:cNvPr>
          <p:cNvSpPr>
            <a:spLocks noGrp="1"/>
          </p:cNvSpPr>
          <p:nvPr>
            <p:ph type="ftr" sz="quarter" idx="11"/>
          </p:nvPr>
        </p:nvSpPr>
        <p:spPr/>
        <p:txBody>
          <a:bodyPr/>
          <a:lstStyle/>
          <a:p>
            <a:r>
              <a:rPr lang="en-US"/>
              <a:t>Farzaneh.Boroumand@Sydney.edu.au</a:t>
            </a:r>
            <a:endParaRPr lang="en-US" dirty="0"/>
          </a:p>
        </p:txBody>
      </p:sp>
      <p:pic>
        <p:nvPicPr>
          <p:cNvPr id="8" name="Picture 7">
            <a:extLst>
              <a:ext uri="{FF2B5EF4-FFF2-40B4-BE49-F238E27FC236}">
                <a16:creationId xmlns:a16="http://schemas.microsoft.com/office/drawing/2014/main" id="{5248C686-7F46-ADB7-97AC-57D771BFEC6A}"/>
              </a:ext>
            </a:extLst>
          </p:cNvPr>
          <p:cNvPicPr>
            <a:picLocks noChangeAspect="1"/>
          </p:cNvPicPr>
          <p:nvPr/>
        </p:nvPicPr>
        <p:blipFill>
          <a:blip r:embed="rId3"/>
          <a:stretch>
            <a:fillRect/>
          </a:stretch>
        </p:blipFill>
        <p:spPr>
          <a:xfrm>
            <a:off x="4831955" y="2616454"/>
            <a:ext cx="6659410" cy="2527079"/>
          </a:xfrm>
          <a:prstGeom prst="rect">
            <a:avLst/>
          </a:prstGeom>
        </p:spPr>
      </p:pic>
    </p:spTree>
    <p:extLst>
      <p:ext uri="{BB962C8B-B14F-4D97-AF65-F5344CB8AC3E}">
        <p14:creationId xmlns:p14="http://schemas.microsoft.com/office/powerpoint/2010/main" val="1038900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1F39A-0711-8919-184B-97CB4C541811}"/>
              </a:ext>
            </a:extLst>
          </p:cNvPr>
          <p:cNvSpPr>
            <a:spLocks noGrp="1"/>
          </p:cNvSpPr>
          <p:nvPr>
            <p:ph type="title"/>
          </p:nvPr>
        </p:nvSpPr>
        <p:spPr/>
        <p:txBody>
          <a:bodyPr/>
          <a:lstStyle/>
          <a:p>
            <a:r>
              <a:rPr lang="en-AU" dirty="0"/>
              <a:t>Including Time-Varying effects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601695-A5FA-92CB-5BA8-A8AB53B48DAE}"/>
                  </a:ext>
                </a:extLst>
              </p:cNvPr>
              <p:cNvSpPr>
                <a:spLocks noGrp="1"/>
              </p:cNvSpPr>
              <p:nvPr>
                <p:ph idx="1"/>
              </p:nvPr>
            </p:nvSpPr>
            <p:spPr>
              <a:xfrm>
                <a:off x="700635" y="1866585"/>
                <a:ext cx="10691265" cy="4095303"/>
              </a:xfrm>
            </p:spPr>
            <p:txBody>
              <a:bodyPr>
                <a:normAutofit/>
              </a:bodyPr>
              <a:lstStyle/>
              <a:p>
                <a:pPr marL="0" indent="0">
                  <a:buNone/>
                </a:pPr>
                <a:r>
                  <a:rPr lang="en-US" dirty="0"/>
                  <a:t>How It Works in Practice?</a:t>
                </a:r>
              </a:p>
              <a:p>
                <a:pPr marL="0" indent="0">
                  <a:buNone/>
                </a:pPr>
                <a:r>
                  <a:rPr lang="en-US" dirty="0"/>
                  <a:t>We introduce an </a:t>
                </a:r>
                <a:r>
                  <a:rPr lang="en-US" b="1" dirty="0"/>
                  <a:t>interaction between the covariate and time</a:t>
                </a:r>
                <a:r>
                  <a:rPr lang="en-US" dirty="0"/>
                  <a:t> — most commonly:</a:t>
                </a:r>
              </a:p>
              <a:p>
                <a:pPr lvl="1"/>
                <a:r>
                  <a:rPr lang="en-US" dirty="0" err="1"/>
                  <a:t>donor_type</a:t>
                </a:r>
                <a:r>
                  <a:rPr lang="en-US" dirty="0"/>
                  <a:t> × log(time) or</a:t>
                </a:r>
              </a:p>
              <a:p>
                <a:pPr lvl="1"/>
                <a:r>
                  <a:rPr lang="en-US" dirty="0" err="1"/>
                  <a:t>donor_type</a:t>
                </a:r>
                <a:r>
                  <a:rPr lang="en-US" dirty="0"/>
                  <a:t> × time</a:t>
                </a:r>
              </a:p>
              <a:p>
                <a:pPr marL="0" indent="0">
                  <a:buNone/>
                </a:pPr>
                <a:r>
                  <a:rPr lang="en-US" dirty="0"/>
                  <a:t>so that the model can estimate how the effect changes with time.</a:t>
                </a:r>
              </a:p>
              <a:p>
                <a:pPr marL="0" indent="0">
                  <a:buNone/>
                </a:pPr>
                <a14:m>
                  <m:oMathPara xmlns:m="http://schemas.openxmlformats.org/officeDocument/2006/math">
                    <m:oMathParaPr>
                      <m:jc m:val="centerGroup"/>
                    </m:oMathParaPr>
                    <m:oMath xmlns:m="http://schemas.openxmlformats.org/officeDocument/2006/math">
                      <m:r>
                        <a:rPr lang="fr-FR" i="1" dirty="0" smtClean="0">
                          <a:latin typeface="Cambria Math" panose="02040503050406030204" pitchFamily="18" charset="0"/>
                        </a:rPr>
                        <m:t>h</m:t>
                      </m:r>
                      <m:d>
                        <m:dPr>
                          <m:ctrlPr>
                            <a:rPr lang="fr-FR" i="1" dirty="0" smtClean="0">
                              <a:latin typeface="Cambria Math" panose="02040503050406030204" pitchFamily="18" charset="0"/>
                            </a:rPr>
                          </m:ctrlPr>
                        </m:dPr>
                        <m:e>
                          <m:r>
                            <a:rPr lang="fr-FR" i="1" dirty="0" smtClean="0">
                              <a:latin typeface="Cambria Math" panose="02040503050406030204" pitchFamily="18" charset="0"/>
                            </a:rPr>
                            <m:t>𝑡</m:t>
                          </m:r>
                        </m:e>
                      </m:d>
                      <m:r>
                        <a:rPr lang="fr-F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fr-FR" i="1" dirty="0" smtClean="0">
                              <a:latin typeface="Cambria Math" panose="02040503050406030204" pitchFamily="18" charset="0"/>
                            </a:rPr>
                            <m:t>h</m:t>
                          </m:r>
                        </m:e>
                        <m:sub>
                          <m:r>
                            <a:rPr lang="fr-FR" i="1" dirty="0" smtClean="0">
                              <a:latin typeface="Cambria Math" panose="02040503050406030204" pitchFamily="18" charset="0"/>
                            </a:rPr>
                            <m:t>0</m:t>
                          </m:r>
                        </m:sub>
                      </m:sSub>
                      <m:r>
                        <a:rPr lang="fr-FR" i="1" dirty="0" smtClean="0">
                          <a:latin typeface="Cambria Math" panose="02040503050406030204" pitchFamily="18" charset="0"/>
                        </a:rPr>
                        <m:t>​</m:t>
                      </m:r>
                      <m:d>
                        <m:dPr>
                          <m:ctrlPr>
                            <a:rPr lang="fr-FR" i="1" dirty="0" smtClean="0">
                              <a:latin typeface="Cambria Math" panose="02040503050406030204" pitchFamily="18" charset="0"/>
                            </a:rPr>
                          </m:ctrlPr>
                        </m:dPr>
                        <m:e>
                          <m:r>
                            <a:rPr lang="fr-FR" i="1" dirty="0" smtClean="0">
                              <a:latin typeface="Cambria Math" panose="02040503050406030204" pitchFamily="18" charset="0"/>
                            </a:rPr>
                            <m:t>𝑡</m:t>
                          </m:r>
                        </m:e>
                      </m:d>
                      <m:func>
                        <m:funcPr>
                          <m:ctrlPr>
                            <a:rPr lang="fr-FR" i="1" dirty="0" smtClean="0">
                              <a:latin typeface="Cambria Math" panose="02040503050406030204" pitchFamily="18" charset="0"/>
                            </a:rPr>
                          </m:ctrlPr>
                        </m:funcPr>
                        <m:fName>
                          <m:r>
                            <m:rPr>
                              <m:sty m:val="p"/>
                            </m:rPr>
                            <a:rPr lang="fr-FR" i="0" dirty="0" err="1">
                              <a:latin typeface="Cambria Math" panose="02040503050406030204" pitchFamily="18" charset="0"/>
                            </a:rPr>
                            <m:t>exp</m:t>
                          </m:r>
                        </m:fName>
                        <m:e>
                          <m:d>
                            <m:dPr>
                              <m:begChr m:val="["/>
                              <m:endChr m:val="]"/>
                              <m:ctrlPr>
                                <a:rPr lang="fr-FR" i="1" dirty="0">
                                  <a:latin typeface="Cambria Math" panose="02040503050406030204" pitchFamily="18" charset="0"/>
                                </a:rPr>
                              </m:ctrlPr>
                            </m:dPr>
                            <m:e>
                              <m:sSub>
                                <m:sSubPr>
                                  <m:ctrlPr>
                                    <a:rPr lang="en-US" b="1" i="1" dirty="0" smtClean="0">
                                      <a:solidFill>
                                        <a:schemeClr val="accent6">
                                          <a:lumMod val="75000"/>
                                        </a:schemeClr>
                                      </a:solidFill>
                                      <a:latin typeface="Cambria Math" panose="02040503050406030204" pitchFamily="18" charset="0"/>
                                    </a:rPr>
                                  </m:ctrlPr>
                                </m:sSubPr>
                                <m:e>
                                  <m:r>
                                    <a:rPr lang="fr-FR" b="1" i="1" dirty="0">
                                      <a:solidFill>
                                        <a:schemeClr val="accent6">
                                          <a:lumMod val="75000"/>
                                        </a:schemeClr>
                                      </a:solidFill>
                                      <a:latin typeface="Cambria Math" panose="02040503050406030204" pitchFamily="18" charset="0"/>
                                    </a:rPr>
                                    <m:t>𝜷</m:t>
                                  </m:r>
                                </m:e>
                                <m:sub>
                                  <m:r>
                                    <a:rPr lang="fr-FR" b="1" i="1" dirty="0">
                                      <a:solidFill>
                                        <a:schemeClr val="accent6">
                                          <a:lumMod val="75000"/>
                                        </a:schemeClr>
                                      </a:solidFill>
                                      <a:latin typeface="Cambria Math" panose="02040503050406030204" pitchFamily="18" charset="0"/>
                                    </a:rPr>
                                    <m:t>𝟏</m:t>
                                  </m:r>
                                </m:sub>
                              </m:sSub>
                              <m:r>
                                <a:rPr lang="fr-FR" b="1" i="1" dirty="0">
                                  <a:solidFill>
                                    <a:schemeClr val="accent6">
                                      <a:lumMod val="75000"/>
                                    </a:schemeClr>
                                  </a:solidFill>
                                  <a:latin typeface="Cambria Math" panose="02040503050406030204" pitchFamily="18" charset="0"/>
                                </a:rPr>
                                <m:t>​</m:t>
                              </m:r>
                              <m:r>
                                <a:rPr lang="fr-FR" b="1" i="1" dirty="0" err="1">
                                  <a:solidFill>
                                    <a:schemeClr val="accent6">
                                      <a:lumMod val="75000"/>
                                    </a:schemeClr>
                                  </a:solidFill>
                                  <a:latin typeface="Cambria Math" panose="02040503050406030204" pitchFamily="18" charset="0"/>
                                </a:rPr>
                                <m:t>𝒅𝒐𝒏𝒐</m:t>
                              </m:r>
                              <m:sSub>
                                <m:sSubPr>
                                  <m:ctrlPr>
                                    <a:rPr lang="fr-FR" b="1" i="1" dirty="0" err="1">
                                      <a:solidFill>
                                        <a:schemeClr val="accent6">
                                          <a:lumMod val="75000"/>
                                        </a:schemeClr>
                                      </a:solidFill>
                                      <a:latin typeface="Cambria Math" panose="02040503050406030204" pitchFamily="18" charset="0"/>
                                    </a:rPr>
                                  </m:ctrlPr>
                                </m:sSubPr>
                                <m:e>
                                  <m:r>
                                    <a:rPr lang="fr-FR" b="1" i="1" dirty="0" err="1">
                                      <a:solidFill>
                                        <a:schemeClr val="accent6">
                                          <a:lumMod val="75000"/>
                                        </a:schemeClr>
                                      </a:solidFill>
                                      <a:latin typeface="Cambria Math" panose="02040503050406030204" pitchFamily="18" charset="0"/>
                                    </a:rPr>
                                    <m:t>𝒓</m:t>
                                  </m:r>
                                </m:e>
                                <m:sub>
                                  <m:r>
                                    <a:rPr lang="fr-FR" b="1" i="1" dirty="0" err="1">
                                      <a:solidFill>
                                        <a:schemeClr val="accent6">
                                          <a:lumMod val="75000"/>
                                        </a:schemeClr>
                                      </a:solidFill>
                                      <a:latin typeface="Cambria Math" panose="02040503050406030204" pitchFamily="18" charset="0"/>
                                    </a:rPr>
                                    <m:t>𝒕𝒚𝒑𝒆</m:t>
                                  </m:r>
                                </m:sub>
                              </m:sSub>
                              <m:r>
                                <a:rPr lang="fr-FR" b="1" i="1" dirty="0">
                                  <a:solidFill>
                                    <a:schemeClr val="accent6">
                                      <a:lumMod val="75000"/>
                                    </a:schemeClr>
                                  </a:solidFill>
                                  <a:latin typeface="Cambria Math" panose="02040503050406030204" pitchFamily="18" charset="0"/>
                                </a:rPr>
                                <m:t>+</m:t>
                              </m:r>
                              <m:sSub>
                                <m:sSubPr>
                                  <m:ctrlPr>
                                    <a:rPr lang="en-US" b="1" i="1" dirty="0" smtClean="0">
                                      <a:solidFill>
                                        <a:schemeClr val="accent6">
                                          <a:lumMod val="75000"/>
                                        </a:schemeClr>
                                      </a:solidFill>
                                      <a:latin typeface="Cambria Math" panose="02040503050406030204" pitchFamily="18" charset="0"/>
                                    </a:rPr>
                                  </m:ctrlPr>
                                </m:sSubPr>
                                <m:e>
                                  <m:r>
                                    <a:rPr lang="fr-FR" b="1" i="1" dirty="0">
                                      <a:solidFill>
                                        <a:schemeClr val="accent6">
                                          <a:lumMod val="75000"/>
                                        </a:schemeClr>
                                      </a:solidFill>
                                      <a:latin typeface="Cambria Math" panose="02040503050406030204" pitchFamily="18" charset="0"/>
                                    </a:rPr>
                                    <m:t>𝜷</m:t>
                                  </m:r>
                                </m:e>
                                <m:sub>
                                  <m:r>
                                    <a:rPr lang="fr-FR" b="1" i="1" dirty="0">
                                      <a:solidFill>
                                        <a:schemeClr val="accent6">
                                          <a:lumMod val="75000"/>
                                        </a:schemeClr>
                                      </a:solidFill>
                                      <a:latin typeface="Cambria Math" panose="02040503050406030204" pitchFamily="18" charset="0"/>
                                    </a:rPr>
                                    <m:t>𝟐</m:t>
                                  </m:r>
                                </m:sub>
                              </m:sSub>
                              <m:r>
                                <a:rPr lang="fr-FR" b="1" i="1" dirty="0">
                                  <a:solidFill>
                                    <a:schemeClr val="accent6">
                                      <a:lumMod val="75000"/>
                                    </a:schemeClr>
                                  </a:solidFill>
                                  <a:latin typeface="Cambria Math" panose="02040503050406030204" pitchFamily="18" charset="0"/>
                                </a:rPr>
                                <m:t>​</m:t>
                              </m:r>
                              <m:d>
                                <m:dPr>
                                  <m:ctrlPr>
                                    <a:rPr lang="fr-FR" b="1" i="1" dirty="0">
                                      <a:solidFill>
                                        <a:schemeClr val="accent6">
                                          <a:lumMod val="75000"/>
                                        </a:schemeClr>
                                      </a:solidFill>
                                      <a:latin typeface="Cambria Math" panose="02040503050406030204" pitchFamily="18" charset="0"/>
                                    </a:rPr>
                                  </m:ctrlPr>
                                </m:dPr>
                                <m:e>
                                  <m:r>
                                    <a:rPr lang="fr-FR" b="1" i="1" dirty="0" err="1">
                                      <a:solidFill>
                                        <a:schemeClr val="accent6">
                                          <a:lumMod val="75000"/>
                                        </a:schemeClr>
                                      </a:solidFill>
                                      <a:latin typeface="Cambria Math" panose="02040503050406030204" pitchFamily="18" charset="0"/>
                                    </a:rPr>
                                    <m:t>𝒅𝒐𝒏𝒐</m:t>
                                  </m:r>
                                  <m:sSub>
                                    <m:sSubPr>
                                      <m:ctrlPr>
                                        <a:rPr lang="fr-FR" b="1" i="1" dirty="0" err="1">
                                          <a:solidFill>
                                            <a:schemeClr val="accent6">
                                              <a:lumMod val="75000"/>
                                            </a:schemeClr>
                                          </a:solidFill>
                                          <a:latin typeface="Cambria Math" panose="02040503050406030204" pitchFamily="18" charset="0"/>
                                        </a:rPr>
                                      </m:ctrlPr>
                                    </m:sSubPr>
                                    <m:e>
                                      <m:r>
                                        <a:rPr lang="fr-FR" b="1" i="1" dirty="0" err="1">
                                          <a:solidFill>
                                            <a:schemeClr val="accent6">
                                              <a:lumMod val="75000"/>
                                            </a:schemeClr>
                                          </a:solidFill>
                                          <a:latin typeface="Cambria Math" panose="02040503050406030204" pitchFamily="18" charset="0"/>
                                        </a:rPr>
                                        <m:t>𝒓</m:t>
                                      </m:r>
                                    </m:e>
                                    <m:sub>
                                      <m:r>
                                        <a:rPr lang="fr-FR" b="1" i="1" dirty="0" err="1">
                                          <a:solidFill>
                                            <a:schemeClr val="accent6">
                                              <a:lumMod val="75000"/>
                                            </a:schemeClr>
                                          </a:solidFill>
                                          <a:latin typeface="Cambria Math" panose="02040503050406030204" pitchFamily="18" charset="0"/>
                                        </a:rPr>
                                        <m:t>𝒕𝒚𝒑𝒆</m:t>
                                      </m:r>
                                    </m:sub>
                                  </m:sSub>
                                  <m:r>
                                    <a:rPr lang="fr-FR" b="1" i="1" dirty="0" err="1">
                                      <a:solidFill>
                                        <a:schemeClr val="accent6">
                                          <a:lumMod val="75000"/>
                                        </a:schemeClr>
                                      </a:solidFill>
                                      <a:latin typeface="Cambria Math" panose="02040503050406030204" pitchFamily="18" charset="0"/>
                                    </a:rPr>
                                    <m:t>×</m:t>
                                  </m:r>
                                  <m:r>
                                    <a:rPr lang="fr-FR" b="1" i="1" dirty="0" err="1">
                                      <a:solidFill>
                                        <a:schemeClr val="accent6">
                                          <a:lumMod val="75000"/>
                                        </a:schemeClr>
                                      </a:solidFill>
                                      <a:latin typeface="Cambria Math" panose="02040503050406030204" pitchFamily="18" charset="0"/>
                                    </a:rPr>
                                    <m:t>𝒍𝒐𝒈𝒕</m:t>
                                  </m:r>
                                </m:e>
                              </m:d>
                              <m:r>
                                <a:rPr lang="fr-FR" i="1" dirty="0">
                                  <a:latin typeface="Cambria Math" panose="02040503050406030204" pitchFamily="18" charset="0"/>
                                </a:rPr>
                                <m:t>+…</m:t>
                              </m:r>
                            </m:e>
                          </m:d>
                        </m:e>
                      </m:func>
                      <m:r>
                        <a:rPr lang="en-US" b="0" i="1" dirty="0" smtClean="0">
                          <a:latin typeface="Cambria Math" panose="02040503050406030204" pitchFamily="18" charset="0"/>
                        </a:rPr>
                        <m:t>.</m:t>
                      </m:r>
                    </m:oMath>
                  </m:oMathPara>
                </a14:m>
                <a:endParaRPr lang="en-AU" dirty="0"/>
              </a:p>
              <a:p>
                <a:pPr marL="0" indent="0">
                  <a:buNone/>
                </a:pPr>
                <a:r>
                  <a:rPr lang="en-AU" dirty="0"/>
                  <a:t>Where: </a:t>
                </a:r>
              </a:p>
              <a:p>
                <a:pPr lvl="1"/>
                <a:r>
                  <a:rPr lang="en-US" dirty="0"/>
                  <a:t>β₁ = baseline (early) effect of donor type</a:t>
                </a:r>
              </a:p>
              <a:p>
                <a:pPr lvl="1"/>
                <a:r>
                  <a:rPr lang="en-US" dirty="0"/>
                  <a:t>β₂ = how that effect </a:t>
                </a:r>
                <a:r>
                  <a:rPr lang="en-US" i="1" dirty="0"/>
                  <a:t>changes</a:t>
                </a:r>
                <a:r>
                  <a:rPr lang="en-US" dirty="0"/>
                  <a:t> with time</a:t>
                </a:r>
              </a:p>
              <a:p>
                <a:pPr marL="0" indent="0">
                  <a:buNone/>
                </a:pPr>
                <a:endParaRPr lang="en-AU" dirty="0"/>
              </a:p>
            </p:txBody>
          </p:sp>
        </mc:Choice>
        <mc:Fallback xmlns="">
          <p:sp>
            <p:nvSpPr>
              <p:cNvPr id="3" name="Content Placeholder 2">
                <a:extLst>
                  <a:ext uri="{FF2B5EF4-FFF2-40B4-BE49-F238E27FC236}">
                    <a16:creationId xmlns:a16="http://schemas.microsoft.com/office/drawing/2014/main" id="{45601695-A5FA-92CB-5BA8-A8AB53B48DAE}"/>
                  </a:ext>
                </a:extLst>
              </p:cNvPr>
              <p:cNvSpPr>
                <a:spLocks noGrp="1" noRot="1" noChangeAspect="1" noMove="1" noResize="1" noEditPoints="1" noAdjustHandles="1" noChangeArrowheads="1" noChangeShapeType="1" noTextEdit="1"/>
              </p:cNvSpPr>
              <p:nvPr>
                <p:ph idx="1"/>
              </p:nvPr>
            </p:nvSpPr>
            <p:spPr>
              <a:xfrm>
                <a:off x="700635" y="1866585"/>
                <a:ext cx="10691265" cy="4095303"/>
              </a:xfrm>
              <a:blipFill>
                <a:blip r:embed="rId2"/>
                <a:stretch>
                  <a:fillRect l="-627" t="-595"/>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AEC929FE-1E53-38D4-A7A5-0454C8972B60}"/>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2699051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2E683-8502-4561-8773-33D114B01F2A}"/>
              </a:ext>
            </a:extLst>
          </p:cNvPr>
          <p:cNvSpPr>
            <a:spLocks noGrp="1"/>
          </p:cNvSpPr>
          <p:nvPr>
            <p:ph type="title"/>
          </p:nvPr>
        </p:nvSpPr>
        <p:spPr/>
        <p:txBody>
          <a:bodyPr/>
          <a:lstStyle/>
          <a:p>
            <a:r>
              <a:rPr lang="en-AU" dirty="0"/>
              <a:t>Including Time-Varying effects</a:t>
            </a:r>
          </a:p>
        </p:txBody>
      </p:sp>
      <p:sp>
        <p:nvSpPr>
          <p:cNvPr id="4" name="Footer Placeholder 3">
            <a:extLst>
              <a:ext uri="{FF2B5EF4-FFF2-40B4-BE49-F238E27FC236}">
                <a16:creationId xmlns:a16="http://schemas.microsoft.com/office/drawing/2014/main" id="{D3A2C0BF-FC2A-7843-E262-C1624D954279}"/>
              </a:ext>
            </a:extLst>
          </p:cNvPr>
          <p:cNvSpPr>
            <a:spLocks noGrp="1"/>
          </p:cNvSpPr>
          <p:nvPr>
            <p:ph type="ftr" sz="quarter" idx="11"/>
          </p:nvPr>
        </p:nvSpPr>
        <p:spPr/>
        <p:txBody>
          <a:bodyPr/>
          <a:lstStyle/>
          <a:p>
            <a:r>
              <a:rPr lang="en-US"/>
              <a:t>Farzaneh.Boroumand@Sydney.edu.au</a:t>
            </a:r>
            <a:endParaRPr lang="en-US" dirty="0"/>
          </a:p>
        </p:txBody>
      </p:sp>
      <p:pic>
        <p:nvPicPr>
          <p:cNvPr id="10" name="Picture 9">
            <a:extLst>
              <a:ext uri="{FF2B5EF4-FFF2-40B4-BE49-F238E27FC236}">
                <a16:creationId xmlns:a16="http://schemas.microsoft.com/office/drawing/2014/main" id="{1622A62A-5B45-433D-CDB6-ED6FC191A830}"/>
              </a:ext>
            </a:extLst>
          </p:cNvPr>
          <p:cNvPicPr>
            <a:picLocks noChangeAspect="1"/>
          </p:cNvPicPr>
          <p:nvPr/>
        </p:nvPicPr>
        <p:blipFill>
          <a:blip r:embed="rId2"/>
          <a:stretch>
            <a:fillRect/>
          </a:stretch>
        </p:blipFill>
        <p:spPr>
          <a:xfrm>
            <a:off x="700635" y="2773428"/>
            <a:ext cx="4836441" cy="2166775"/>
          </a:xfrm>
          <a:prstGeom prst="rect">
            <a:avLst/>
          </a:prstGeom>
        </p:spPr>
      </p:pic>
      <p:sp>
        <p:nvSpPr>
          <p:cNvPr id="11" name="Arrow: Right 10">
            <a:extLst>
              <a:ext uri="{FF2B5EF4-FFF2-40B4-BE49-F238E27FC236}">
                <a16:creationId xmlns:a16="http://schemas.microsoft.com/office/drawing/2014/main" id="{4A101745-DB91-0C78-ECFE-94557D8FD8B1}"/>
              </a:ext>
            </a:extLst>
          </p:cNvPr>
          <p:cNvSpPr/>
          <p:nvPr/>
        </p:nvSpPr>
        <p:spPr>
          <a:xfrm>
            <a:off x="5695391" y="3599876"/>
            <a:ext cx="710360" cy="513878"/>
          </a:xfrm>
          <a:prstGeom prst="righ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3" name="Picture 12">
            <a:extLst>
              <a:ext uri="{FF2B5EF4-FFF2-40B4-BE49-F238E27FC236}">
                <a16:creationId xmlns:a16="http://schemas.microsoft.com/office/drawing/2014/main" id="{DD2EF9D6-9B94-EF7C-70D5-A72C70DC79EE}"/>
              </a:ext>
            </a:extLst>
          </p:cNvPr>
          <p:cNvPicPr>
            <a:picLocks noChangeAspect="1"/>
          </p:cNvPicPr>
          <p:nvPr/>
        </p:nvPicPr>
        <p:blipFill>
          <a:blip r:embed="rId3"/>
          <a:stretch>
            <a:fillRect/>
          </a:stretch>
        </p:blipFill>
        <p:spPr>
          <a:xfrm>
            <a:off x="6564066" y="1824567"/>
            <a:ext cx="4851728" cy="3721607"/>
          </a:xfrm>
          <a:prstGeom prst="rect">
            <a:avLst/>
          </a:prstGeom>
        </p:spPr>
      </p:pic>
    </p:spTree>
    <p:extLst>
      <p:ext uri="{BB962C8B-B14F-4D97-AF65-F5344CB8AC3E}">
        <p14:creationId xmlns:p14="http://schemas.microsoft.com/office/powerpoint/2010/main" val="1962890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4B73-9EF1-C914-C8B6-93E93F1B53A3}"/>
              </a:ext>
            </a:extLst>
          </p:cNvPr>
          <p:cNvSpPr>
            <a:spLocks noGrp="1"/>
          </p:cNvSpPr>
          <p:nvPr>
            <p:ph type="title"/>
          </p:nvPr>
        </p:nvSpPr>
        <p:spPr>
          <a:xfrm>
            <a:off x="700635" y="914400"/>
            <a:ext cx="10691265" cy="891729"/>
          </a:xfrm>
        </p:spPr>
        <p:txBody>
          <a:bodyPr/>
          <a:lstStyle/>
          <a:p>
            <a:r>
              <a:rPr lang="en-AU" dirty="0"/>
              <a:t>Including Time-Varying effects</a:t>
            </a:r>
          </a:p>
        </p:txBody>
      </p:sp>
      <p:graphicFrame>
        <p:nvGraphicFramePr>
          <p:cNvPr id="5" name="Content Placeholder 4">
            <a:extLst>
              <a:ext uri="{FF2B5EF4-FFF2-40B4-BE49-F238E27FC236}">
                <a16:creationId xmlns:a16="http://schemas.microsoft.com/office/drawing/2014/main" id="{FD07236F-4F65-1A82-A4FE-0F8697973B85}"/>
              </a:ext>
            </a:extLst>
          </p:cNvPr>
          <p:cNvGraphicFramePr>
            <a:graphicFrameLocks noGrp="1"/>
          </p:cNvGraphicFramePr>
          <p:nvPr>
            <p:ph idx="1"/>
            <p:extLst>
              <p:ext uri="{D42A27DB-BD31-4B8C-83A1-F6EECF244321}">
                <p14:modId xmlns:p14="http://schemas.microsoft.com/office/powerpoint/2010/main" val="244419950"/>
              </p:ext>
            </p:extLst>
          </p:nvPr>
        </p:nvGraphicFramePr>
        <p:xfrm>
          <a:off x="1148669" y="1806129"/>
          <a:ext cx="9559635" cy="3995852"/>
        </p:xfrm>
        <a:graphic>
          <a:graphicData uri="http://schemas.openxmlformats.org/drawingml/2006/table">
            <a:tbl>
              <a:tblPr>
                <a:tableStyleId>{16D9F66E-5EB9-4882-86FB-DCBF35E3C3E4}</a:tableStyleId>
              </a:tblPr>
              <a:tblGrid>
                <a:gridCol w="1911927">
                  <a:extLst>
                    <a:ext uri="{9D8B030D-6E8A-4147-A177-3AD203B41FA5}">
                      <a16:colId xmlns:a16="http://schemas.microsoft.com/office/drawing/2014/main" val="1443748490"/>
                    </a:ext>
                  </a:extLst>
                </a:gridCol>
                <a:gridCol w="846386">
                  <a:extLst>
                    <a:ext uri="{9D8B030D-6E8A-4147-A177-3AD203B41FA5}">
                      <a16:colId xmlns:a16="http://schemas.microsoft.com/office/drawing/2014/main" val="3063993005"/>
                    </a:ext>
                  </a:extLst>
                </a:gridCol>
                <a:gridCol w="808602">
                  <a:extLst>
                    <a:ext uri="{9D8B030D-6E8A-4147-A177-3AD203B41FA5}">
                      <a16:colId xmlns:a16="http://schemas.microsoft.com/office/drawing/2014/main" val="2346988241"/>
                    </a:ext>
                  </a:extLst>
                </a:gridCol>
                <a:gridCol w="1050426">
                  <a:extLst>
                    <a:ext uri="{9D8B030D-6E8A-4147-A177-3AD203B41FA5}">
                      <a16:colId xmlns:a16="http://schemas.microsoft.com/office/drawing/2014/main" val="3111985865"/>
                    </a:ext>
                  </a:extLst>
                </a:gridCol>
                <a:gridCol w="4942294">
                  <a:extLst>
                    <a:ext uri="{9D8B030D-6E8A-4147-A177-3AD203B41FA5}">
                      <a16:colId xmlns:a16="http://schemas.microsoft.com/office/drawing/2014/main" val="1676100461"/>
                    </a:ext>
                  </a:extLst>
                </a:gridCol>
              </a:tblGrid>
              <a:tr h="106104">
                <a:tc>
                  <a:txBody>
                    <a:bodyPr/>
                    <a:lstStyle/>
                    <a:p>
                      <a:pPr>
                        <a:buNone/>
                      </a:pPr>
                      <a:r>
                        <a:rPr lang="en-AU" sz="1100"/>
                        <a:t>Variable</a:t>
                      </a:r>
                    </a:p>
                  </a:txBody>
                  <a:tcPr marL="26526" marR="26526" marT="13263" marB="13263" anchor="ctr"/>
                </a:tc>
                <a:tc>
                  <a:txBody>
                    <a:bodyPr/>
                    <a:lstStyle/>
                    <a:p>
                      <a:pPr>
                        <a:buNone/>
                      </a:pPr>
                      <a:r>
                        <a:rPr lang="en-AU" sz="1100"/>
                        <a:t>HR (exp(coef))</a:t>
                      </a:r>
                    </a:p>
                  </a:txBody>
                  <a:tcPr marL="26526" marR="26526" marT="13263" marB="13263" anchor="ctr"/>
                </a:tc>
                <a:tc>
                  <a:txBody>
                    <a:bodyPr/>
                    <a:lstStyle/>
                    <a:p>
                      <a:pPr>
                        <a:buNone/>
                      </a:pPr>
                      <a:r>
                        <a:rPr lang="en-AU" sz="1100"/>
                        <a:t>95% CI</a:t>
                      </a:r>
                    </a:p>
                  </a:txBody>
                  <a:tcPr marL="26526" marR="26526" marT="13263" marB="13263" anchor="ctr"/>
                </a:tc>
                <a:tc>
                  <a:txBody>
                    <a:bodyPr/>
                    <a:lstStyle/>
                    <a:p>
                      <a:pPr>
                        <a:buNone/>
                      </a:pPr>
                      <a:r>
                        <a:rPr lang="en-AU" sz="1100"/>
                        <a:t>p-value</a:t>
                      </a:r>
                    </a:p>
                  </a:txBody>
                  <a:tcPr marL="26526" marR="26526" marT="13263" marB="13263" anchor="ctr"/>
                </a:tc>
                <a:tc>
                  <a:txBody>
                    <a:bodyPr/>
                    <a:lstStyle/>
                    <a:p>
                      <a:pPr>
                        <a:buNone/>
                      </a:pPr>
                      <a:r>
                        <a:rPr lang="en-AU" sz="1100"/>
                        <a:t>Interpretation</a:t>
                      </a:r>
                    </a:p>
                  </a:txBody>
                  <a:tcPr marL="26526" marR="26526" marT="13263" marB="13263" anchor="ctr"/>
                </a:tc>
                <a:extLst>
                  <a:ext uri="{0D108BD9-81ED-4DB2-BD59-A6C34878D82A}">
                    <a16:rowId xmlns:a16="http://schemas.microsoft.com/office/drawing/2014/main" val="1338932447"/>
                  </a:ext>
                </a:extLst>
              </a:tr>
              <a:tr h="822302">
                <a:tc>
                  <a:txBody>
                    <a:bodyPr/>
                    <a:lstStyle/>
                    <a:p>
                      <a:pPr>
                        <a:buNone/>
                      </a:pPr>
                      <a:r>
                        <a:rPr lang="en-AU" sz="1100" b="1"/>
                        <a:t>donor_live</a:t>
                      </a:r>
                      <a:endParaRPr lang="en-AU" sz="1100"/>
                    </a:p>
                  </a:txBody>
                  <a:tcPr marL="26526" marR="26526" marT="13263" marB="13263" anchor="ctr"/>
                </a:tc>
                <a:tc>
                  <a:txBody>
                    <a:bodyPr/>
                    <a:lstStyle/>
                    <a:p>
                      <a:pPr>
                        <a:buNone/>
                      </a:pPr>
                      <a:r>
                        <a:rPr lang="en-AU" sz="1100"/>
                        <a:t>0.50</a:t>
                      </a:r>
                    </a:p>
                  </a:txBody>
                  <a:tcPr marL="26526" marR="26526" marT="13263" marB="13263" anchor="ctr"/>
                </a:tc>
                <a:tc>
                  <a:txBody>
                    <a:bodyPr/>
                    <a:lstStyle/>
                    <a:p>
                      <a:pPr>
                        <a:buNone/>
                      </a:pPr>
                      <a:r>
                        <a:rPr lang="en-AU" sz="1100"/>
                        <a:t>0.25 – 1.01</a:t>
                      </a:r>
                    </a:p>
                  </a:txBody>
                  <a:tcPr marL="26526" marR="26526" marT="13263" marB="13263" anchor="ctr"/>
                </a:tc>
                <a:tc>
                  <a:txBody>
                    <a:bodyPr/>
                    <a:lstStyle/>
                    <a:p>
                      <a:pPr>
                        <a:buNone/>
                      </a:pPr>
                      <a:r>
                        <a:rPr lang="en-AU" sz="1100"/>
                        <a:t>0.054 (≈ 0.05)</a:t>
                      </a:r>
                    </a:p>
                  </a:txBody>
                  <a:tcPr marL="26526" marR="26526" marT="13263" marB="13263" anchor="ctr"/>
                </a:tc>
                <a:tc>
                  <a:txBody>
                    <a:bodyPr/>
                    <a:lstStyle/>
                    <a:p>
                      <a:pPr>
                        <a:buNone/>
                      </a:pPr>
                      <a:r>
                        <a:rPr lang="en-US" sz="1100"/>
                        <a:t>At the start of follow-up (when log t ≈ 0), recipients of a </a:t>
                      </a:r>
                      <a:r>
                        <a:rPr lang="en-US" sz="1100" b="1"/>
                        <a:t>living donor kidney</a:t>
                      </a:r>
                      <a:r>
                        <a:rPr lang="en-US" sz="1100"/>
                        <a:t> have about </a:t>
                      </a:r>
                      <a:r>
                        <a:rPr lang="en-US" sz="1100" b="1"/>
                        <a:t>50 % lower hazard</a:t>
                      </a:r>
                      <a:r>
                        <a:rPr lang="en-US" sz="1100"/>
                        <a:t> of graft failure compared to deceased-donor recipients.</a:t>
                      </a:r>
                    </a:p>
                  </a:txBody>
                  <a:tcPr marL="26526" marR="26526" marT="13263" marB="13263" anchor="ctr"/>
                </a:tc>
                <a:extLst>
                  <a:ext uri="{0D108BD9-81ED-4DB2-BD59-A6C34878D82A}">
                    <a16:rowId xmlns:a16="http://schemas.microsoft.com/office/drawing/2014/main" val="3752152054"/>
                  </a:ext>
                </a:extLst>
              </a:tr>
              <a:tr h="1140613">
                <a:tc>
                  <a:txBody>
                    <a:bodyPr/>
                    <a:lstStyle/>
                    <a:p>
                      <a:pPr>
                        <a:buNone/>
                      </a:pPr>
                      <a:r>
                        <a:rPr lang="en-AU" sz="1100" b="1"/>
                        <a:t>tt(donor_live)</a:t>
                      </a:r>
                      <a:endParaRPr lang="en-AU" sz="1100"/>
                    </a:p>
                  </a:txBody>
                  <a:tcPr marL="26526" marR="26526" marT="13263" marB="13263" anchor="ctr"/>
                </a:tc>
                <a:tc>
                  <a:txBody>
                    <a:bodyPr/>
                    <a:lstStyle/>
                    <a:p>
                      <a:pPr>
                        <a:buNone/>
                      </a:pPr>
                      <a:r>
                        <a:rPr lang="en-AU" sz="1100"/>
                        <a:t>3.53</a:t>
                      </a:r>
                    </a:p>
                  </a:txBody>
                  <a:tcPr marL="26526" marR="26526" marT="13263" marB="13263" anchor="ctr"/>
                </a:tc>
                <a:tc>
                  <a:txBody>
                    <a:bodyPr/>
                    <a:lstStyle/>
                    <a:p>
                      <a:pPr>
                        <a:buNone/>
                      </a:pPr>
                      <a:r>
                        <a:rPr lang="en-AU" sz="1100"/>
                        <a:t>2.15 – 5.79</a:t>
                      </a:r>
                    </a:p>
                  </a:txBody>
                  <a:tcPr marL="26526" marR="26526" marT="13263" marB="13263" anchor="ctr"/>
                </a:tc>
                <a:tc>
                  <a:txBody>
                    <a:bodyPr/>
                    <a:lstStyle/>
                    <a:p>
                      <a:pPr>
                        <a:buNone/>
                      </a:pPr>
                      <a:r>
                        <a:rPr lang="en-AU" sz="1100"/>
                        <a:t>&lt; 0.001 ***</a:t>
                      </a:r>
                    </a:p>
                  </a:txBody>
                  <a:tcPr marL="26526" marR="26526" marT="13263" marB="13263" anchor="ctr"/>
                </a:tc>
                <a:tc>
                  <a:txBody>
                    <a:bodyPr/>
                    <a:lstStyle/>
                    <a:p>
                      <a:pPr>
                        <a:buNone/>
                      </a:pPr>
                      <a:r>
                        <a:rPr lang="en-US" sz="1100"/>
                        <a:t>The </a:t>
                      </a:r>
                      <a:r>
                        <a:rPr lang="en-US" sz="1100" b="1"/>
                        <a:t>effect of living donor</a:t>
                      </a:r>
                      <a:r>
                        <a:rPr lang="en-US" sz="1100"/>
                        <a:t> changes significantly over time: the HR increases by roughly a factor of 3.5 for each unit increase in log(time). In other words, the early advantage from living donors </a:t>
                      </a:r>
                      <a:r>
                        <a:rPr lang="en-US" sz="1100" b="1"/>
                        <a:t>diminishes as time goes on</a:t>
                      </a:r>
                      <a:r>
                        <a:rPr lang="en-US" sz="1100"/>
                        <a:t>.</a:t>
                      </a:r>
                    </a:p>
                  </a:txBody>
                  <a:tcPr marL="26526" marR="26526" marT="13263" marB="13263" anchor="ctr"/>
                </a:tc>
                <a:extLst>
                  <a:ext uri="{0D108BD9-81ED-4DB2-BD59-A6C34878D82A}">
                    <a16:rowId xmlns:a16="http://schemas.microsoft.com/office/drawing/2014/main" val="1984881391"/>
                  </a:ext>
                </a:extLst>
              </a:tr>
              <a:tr h="424414">
                <a:tc>
                  <a:txBody>
                    <a:bodyPr/>
                    <a:lstStyle/>
                    <a:p>
                      <a:pPr>
                        <a:buNone/>
                      </a:pPr>
                      <a:r>
                        <a:rPr lang="en-AU" sz="1100" b="1"/>
                        <a:t>donor_age</a:t>
                      </a:r>
                      <a:endParaRPr lang="en-AU" sz="1100"/>
                    </a:p>
                  </a:txBody>
                  <a:tcPr marL="26526" marR="26526" marT="13263" marB="13263" anchor="ctr"/>
                </a:tc>
                <a:tc>
                  <a:txBody>
                    <a:bodyPr/>
                    <a:lstStyle/>
                    <a:p>
                      <a:pPr>
                        <a:buNone/>
                      </a:pPr>
                      <a:r>
                        <a:rPr lang="en-AU" sz="1100"/>
                        <a:t>1.01</a:t>
                      </a:r>
                    </a:p>
                  </a:txBody>
                  <a:tcPr marL="26526" marR="26526" marT="13263" marB="13263" anchor="ctr"/>
                </a:tc>
                <a:tc>
                  <a:txBody>
                    <a:bodyPr/>
                    <a:lstStyle/>
                    <a:p>
                      <a:pPr>
                        <a:buNone/>
                      </a:pPr>
                      <a:r>
                        <a:rPr lang="en-AU" sz="1100"/>
                        <a:t>1.00 – 1.03</a:t>
                      </a:r>
                    </a:p>
                  </a:txBody>
                  <a:tcPr marL="26526" marR="26526" marT="13263" marB="13263" anchor="ctr"/>
                </a:tc>
                <a:tc>
                  <a:txBody>
                    <a:bodyPr/>
                    <a:lstStyle/>
                    <a:p>
                      <a:pPr>
                        <a:buNone/>
                      </a:pPr>
                      <a:r>
                        <a:rPr lang="en-AU" sz="1100"/>
                        <a:t>0.14</a:t>
                      </a:r>
                    </a:p>
                  </a:txBody>
                  <a:tcPr marL="26526" marR="26526" marT="13263" marB="13263" anchor="ctr"/>
                </a:tc>
                <a:tc>
                  <a:txBody>
                    <a:bodyPr/>
                    <a:lstStyle/>
                    <a:p>
                      <a:pPr>
                        <a:buNone/>
                      </a:pPr>
                      <a:r>
                        <a:rPr lang="en-US" sz="1100" dirty="0"/>
                        <a:t>Older donor age shows a small, non-significant trend toward higher hazard.</a:t>
                      </a:r>
                    </a:p>
                  </a:txBody>
                  <a:tcPr marL="26526" marR="26526" marT="13263" marB="13263" anchor="ctr"/>
                </a:tc>
                <a:extLst>
                  <a:ext uri="{0D108BD9-81ED-4DB2-BD59-A6C34878D82A}">
                    <a16:rowId xmlns:a16="http://schemas.microsoft.com/office/drawing/2014/main" val="2393638119"/>
                  </a:ext>
                </a:extLst>
              </a:tr>
              <a:tr h="503992">
                <a:tc>
                  <a:txBody>
                    <a:bodyPr/>
                    <a:lstStyle/>
                    <a:p>
                      <a:pPr>
                        <a:buNone/>
                      </a:pPr>
                      <a:r>
                        <a:rPr lang="en-AU" sz="1100" b="1"/>
                        <a:t>recipient_gender (male)</a:t>
                      </a:r>
                      <a:endParaRPr lang="en-AU" sz="1100"/>
                    </a:p>
                  </a:txBody>
                  <a:tcPr marL="26526" marR="26526" marT="13263" marB="13263" anchor="ctr"/>
                </a:tc>
                <a:tc>
                  <a:txBody>
                    <a:bodyPr/>
                    <a:lstStyle/>
                    <a:p>
                      <a:pPr>
                        <a:buNone/>
                      </a:pPr>
                      <a:r>
                        <a:rPr lang="en-AU" sz="1100"/>
                        <a:t>1.58</a:t>
                      </a:r>
                    </a:p>
                  </a:txBody>
                  <a:tcPr marL="26526" marR="26526" marT="13263" marB="13263" anchor="ctr"/>
                </a:tc>
                <a:tc>
                  <a:txBody>
                    <a:bodyPr/>
                    <a:lstStyle/>
                    <a:p>
                      <a:pPr>
                        <a:buNone/>
                      </a:pPr>
                      <a:r>
                        <a:rPr lang="en-AU" sz="1100"/>
                        <a:t>1.16 – 2.13</a:t>
                      </a:r>
                    </a:p>
                  </a:txBody>
                  <a:tcPr marL="26526" marR="26526" marT="13263" marB="13263" anchor="ctr"/>
                </a:tc>
                <a:tc>
                  <a:txBody>
                    <a:bodyPr/>
                    <a:lstStyle/>
                    <a:p>
                      <a:pPr>
                        <a:buNone/>
                      </a:pPr>
                      <a:r>
                        <a:rPr lang="en-AU" sz="1100"/>
                        <a:t>0.003 **</a:t>
                      </a:r>
                    </a:p>
                  </a:txBody>
                  <a:tcPr marL="26526" marR="26526" marT="13263" marB="13263" anchor="ctr"/>
                </a:tc>
                <a:tc>
                  <a:txBody>
                    <a:bodyPr/>
                    <a:lstStyle/>
                    <a:p>
                      <a:pPr>
                        <a:buNone/>
                      </a:pPr>
                      <a:r>
                        <a:rPr lang="en-US" sz="1100"/>
                        <a:t>Male recipients have about </a:t>
                      </a:r>
                      <a:r>
                        <a:rPr lang="en-US" sz="1100" b="1"/>
                        <a:t>58 % higher hazard</a:t>
                      </a:r>
                      <a:r>
                        <a:rPr lang="en-US" sz="1100"/>
                        <a:t> of graft failure than females, adjusting for other factors.</a:t>
                      </a:r>
                    </a:p>
                  </a:txBody>
                  <a:tcPr marL="26526" marR="26526" marT="13263" marB="13263" anchor="ctr"/>
                </a:tc>
                <a:extLst>
                  <a:ext uri="{0D108BD9-81ED-4DB2-BD59-A6C34878D82A}">
                    <a16:rowId xmlns:a16="http://schemas.microsoft.com/office/drawing/2014/main" val="1712099007"/>
                  </a:ext>
                </a:extLst>
              </a:tr>
              <a:tr h="742725">
                <a:tc>
                  <a:txBody>
                    <a:bodyPr/>
                    <a:lstStyle/>
                    <a:p>
                      <a:pPr>
                        <a:buNone/>
                      </a:pPr>
                      <a:r>
                        <a:rPr lang="en-AU" sz="1100" b="1"/>
                        <a:t>egfr_baseline</a:t>
                      </a:r>
                      <a:endParaRPr lang="en-AU" sz="1100"/>
                    </a:p>
                  </a:txBody>
                  <a:tcPr marL="26526" marR="26526" marT="13263" marB="13263" anchor="ctr"/>
                </a:tc>
                <a:tc>
                  <a:txBody>
                    <a:bodyPr/>
                    <a:lstStyle/>
                    <a:p>
                      <a:pPr>
                        <a:buNone/>
                      </a:pPr>
                      <a:r>
                        <a:rPr lang="en-AU" sz="1100"/>
                        <a:t>0.99</a:t>
                      </a:r>
                    </a:p>
                  </a:txBody>
                  <a:tcPr marL="26526" marR="26526" marT="13263" marB="13263" anchor="ctr"/>
                </a:tc>
                <a:tc>
                  <a:txBody>
                    <a:bodyPr/>
                    <a:lstStyle/>
                    <a:p>
                      <a:pPr>
                        <a:buNone/>
                      </a:pPr>
                      <a:r>
                        <a:rPr lang="en-AU" sz="1100"/>
                        <a:t>0.97 – 1.00</a:t>
                      </a:r>
                    </a:p>
                  </a:txBody>
                  <a:tcPr marL="26526" marR="26526" marT="13263" marB="13263" anchor="ctr"/>
                </a:tc>
                <a:tc>
                  <a:txBody>
                    <a:bodyPr/>
                    <a:lstStyle/>
                    <a:p>
                      <a:pPr>
                        <a:buNone/>
                      </a:pPr>
                      <a:r>
                        <a:rPr lang="en-AU" sz="1100"/>
                        <a:t>0.032 *</a:t>
                      </a:r>
                    </a:p>
                  </a:txBody>
                  <a:tcPr marL="26526" marR="26526" marT="13263" marB="13263" anchor="ctr"/>
                </a:tc>
                <a:tc>
                  <a:txBody>
                    <a:bodyPr/>
                    <a:lstStyle/>
                    <a:p>
                      <a:pPr>
                        <a:buNone/>
                      </a:pPr>
                      <a:r>
                        <a:rPr lang="en-US" sz="1100" dirty="0"/>
                        <a:t>Each 1-unit higher baseline eGFR reduces the hazard of graft failure by roughly </a:t>
                      </a:r>
                      <a:r>
                        <a:rPr lang="en-US" sz="1100" b="1" dirty="0"/>
                        <a:t>1.5 %</a:t>
                      </a:r>
                      <a:r>
                        <a:rPr lang="en-US" sz="1100" dirty="0"/>
                        <a:t>, indicating better baseline kidney function is protective.</a:t>
                      </a:r>
                    </a:p>
                  </a:txBody>
                  <a:tcPr marL="26526" marR="26526" marT="13263" marB="13263" anchor="ctr"/>
                </a:tc>
                <a:extLst>
                  <a:ext uri="{0D108BD9-81ED-4DB2-BD59-A6C34878D82A}">
                    <a16:rowId xmlns:a16="http://schemas.microsoft.com/office/drawing/2014/main" val="222947868"/>
                  </a:ext>
                </a:extLst>
              </a:tr>
            </a:tbl>
          </a:graphicData>
        </a:graphic>
      </p:graphicFrame>
      <p:sp>
        <p:nvSpPr>
          <p:cNvPr id="4" name="Footer Placeholder 3">
            <a:extLst>
              <a:ext uri="{FF2B5EF4-FFF2-40B4-BE49-F238E27FC236}">
                <a16:creationId xmlns:a16="http://schemas.microsoft.com/office/drawing/2014/main" id="{21E02A99-F674-097A-5B94-24C53202E84D}"/>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529227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434E1-6C28-D819-8443-DF3EB06D5AC5}"/>
              </a:ext>
            </a:extLst>
          </p:cNvPr>
          <p:cNvSpPr>
            <a:spLocks noGrp="1"/>
          </p:cNvSpPr>
          <p:nvPr>
            <p:ph type="title"/>
          </p:nvPr>
        </p:nvSpPr>
        <p:spPr/>
        <p:txBody>
          <a:bodyPr/>
          <a:lstStyle/>
          <a:p>
            <a:r>
              <a:rPr lang="en-AU" dirty="0"/>
              <a:t>Including Time-Varying effects</a:t>
            </a:r>
          </a:p>
        </p:txBody>
      </p:sp>
      <p:sp>
        <p:nvSpPr>
          <p:cNvPr id="4" name="Footer Placeholder 3">
            <a:extLst>
              <a:ext uri="{FF2B5EF4-FFF2-40B4-BE49-F238E27FC236}">
                <a16:creationId xmlns:a16="http://schemas.microsoft.com/office/drawing/2014/main" id="{A294D0C5-88CA-34F3-9DB9-52AC852CCF10}"/>
              </a:ext>
            </a:extLst>
          </p:cNvPr>
          <p:cNvSpPr>
            <a:spLocks noGrp="1"/>
          </p:cNvSpPr>
          <p:nvPr>
            <p:ph type="ftr" sz="quarter" idx="11"/>
          </p:nvPr>
        </p:nvSpPr>
        <p:spPr/>
        <p:txBody>
          <a:bodyPr/>
          <a:lstStyle/>
          <a:p>
            <a:r>
              <a:rPr lang="en-US"/>
              <a:t>Farzaneh.Boroumand@Sydney.edu.au</a:t>
            </a:r>
            <a:endParaRPr lang="en-US" dirty="0"/>
          </a:p>
        </p:txBody>
      </p:sp>
      <p:sp>
        <p:nvSpPr>
          <p:cNvPr id="5" name="AutoShape 2">
            <a:extLst>
              <a:ext uri="{FF2B5EF4-FFF2-40B4-BE49-F238E27FC236}">
                <a16:creationId xmlns:a16="http://schemas.microsoft.com/office/drawing/2014/main" id="{39746948-D2AD-E000-BFAE-3BE2A6D15075}"/>
              </a:ext>
            </a:extLst>
          </p:cNvPr>
          <p:cNvSpPr>
            <a:spLocks noGrp="1" noChangeAspect="1" noChangeArrowheads="1"/>
          </p:cNvSpPr>
          <p:nvPr>
            <p:ph idx="1"/>
          </p:nvPr>
        </p:nvSpPr>
        <p:spPr bwMode="auto">
          <a:xfrm>
            <a:off x="579723" y="1833183"/>
            <a:ext cx="4409061" cy="411041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fontScale="92500"/>
          </a:bodyPr>
          <a:lstStyle/>
          <a:p>
            <a:r>
              <a:rPr lang="en-US" dirty="0"/>
              <a:t>The HR steadily </a:t>
            </a:r>
            <a:r>
              <a:rPr lang="en-US" b="1" dirty="0"/>
              <a:t>increases</a:t>
            </a:r>
            <a:r>
              <a:rPr lang="en-US" dirty="0"/>
              <a:t> and crosses 1 after roughly 1–2 years, indicating the early survival advantage of living donors </a:t>
            </a:r>
            <a:r>
              <a:rPr lang="en-US" b="1" dirty="0"/>
              <a:t>diminishes</a:t>
            </a:r>
            <a:r>
              <a:rPr lang="en-US" dirty="0"/>
              <a:t>.</a:t>
            </a:r>
          </a:p>
          <a:p>
            <a:r>
              <a:rPr lang="en-US" dirty="0"/>
              <a:t>By 5–8 years, the HR &gt; 2–3, suggesting </a:t>
            </a:r>
            <a:r>
              <a:rPr lang="en-US" b="1" dirty="0"/>
              <a:t>higher hazard</a:t>
            </a:r>
            <a:r>
              <a:rPr lang="en-US" dirty="0"/>
              <a:t> among living-donor grafts in the later period.</a:t>
            </a:r>
          </a:p>
          <a:p>
            <a:r>
              <a:rPr lang="en-US" dirty="0"/>
              <a:t>The confidence band widens with time because there are fewer events and greater uncertainty at longer follow-up. </a:t>
            </a:r>
            <a:endParaRPr lang="en-AU" dirty="0"/>
          </a:p>
        </p:txBody>
      </p:sp>
      <p:pic>
        <p:nvPicPr>
          <p:cNvPr id="11" name="Picture 10">
            <a:extLst>
              <a:ext uri="{FF2B5EF4-FFF2-40B4-BE49-F238E27FC236}">
                <a16:creationId xmlns:a16="http://schemas.microsoft.com/office/drawing/2014/main" id="{D7C6C45B-00DC-6EE7-85CF-72956CB98FC2}"/>
              </a:ext>
            </a:extLst>
          </p:cNvPr>
          <p:cNvPicPr>
            <a:picLocks noChangeAspect="1"/>
          </p:cNvPicPr>
          <p:nvPr/>
        </p:nvPicPr>
        <p:blipFill>
          <a:blip r:embed="rId2"/>
          <a:stretch>
            <a:fillRect/>
          </a:stretch>
        </p:blipFill>
        <p:spPr>
          <a:xfrm>
            <a:off x="5167034" y="1833183"/>
            <a:ext cx="6224866" cy="3472374"/>
          </a:xfrm>
          <a:prstGeom prst="rect">
            <a:avLst/>
          </a:prstGeom>
        </p:spPr>
      </p:pic>
    </p:spTree>
    <p:extLst>
      <p:ext uri="{BB962C8B-B14F-4D97-AF65-F5344CB8AC3E}">
        <p14:creationId xmlns:p14="http://schemas.microsoft.com/office/powerpoint/2010/main" val="1220893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C4DF6-1C90-E889-B130-791E2CBCD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3625D5-D570-AB98-ED90-4940C57E99C0}"/>
              </a:ext>
            </a:extLst>
          </p:cNvPr>
          <p:cNvSpPr>
            <a:spLocks noGrp="1"/>
          </p:cNvSpPr>
          <p:nvPr>
            <p:ph type="title"/>
          </p:nvPr>
        </p:nvSpPr>
        <p:spPr/>
        <p:txBody>
          <a:bodyPr/>
          <a:lstStyle/>
          <a:p>
            <a:r>
              <a:rPr lang="en-AU" dirty="0"/>
              <a:t>Example:</a:t>
            </a:r>
          </a:p>
        </p:txBody>
      </p:sp>
      <p:sp>
        <p:nvSpPr>
          <p:cNvPr id="3" name="Content Placeholder 2">
            <a:extLst>
              <a:ext uri="{FF2B5EF4-FFF2-40B4-BE49-F238E27FC236}">
                <a16:creationId xmlns:a16="http://schemas.microsoft.com/office/drawing/2014/main" id="{BA51BFCE-DEBF-C4FC-FA07-1A62E655ACD4}"/>
              </a:ext>
            </a:extLst>
          </p:cNvPr>
          <p:cNvSpPr>
            <a:spLocks noGrp="1"/>
          </p:cNvSpPr>
          <p:nvPr>
            <p:ph idx="1"/>
          </p:nvPr>
        </p:nvSpPr>
        <p:spPr>
          <a:xfrm>
            <a:off x="700635" y="1803163"/>
            <a:ext cx="10691265" cy="4158725"/>
          </a:xfrm>
        </p:spPr>
        <p:txBody>
          <a:bodyPr/>
          <a:lstStyle/>
          <a:p>
            <a:pPr marL="0" indent="0">
              <a:buNone/>
            </a:pPr>
            <a:r>
              <a:rPr lang="en-AU" dirty="0"/>
              <a:t>Outcome: </a:t>
            </a:r>
          </a:p>
          <a:p>
            <a:pPr lvl="1"/>
            <a:r>
              <a:rPr lang="en-AU" dirty="0"/>
              <a:t>time from the transplantation surgery to a graft failure</a:t>
            </a:r>
          </a:p>
          <a:p>
            <a:pPr lvl="1"/>
            <a:r>
              <a:rPr lang="en-AU" dirty="0"/>
              <a:t>Status of graft failure</a:t>
            </a:r>
          </a:p>
          <a:p>
            <a:pPr marL="0" indent="0">
              <a:buNone/>
            </a:pPr>
            <a:r>
              <a:rPr lang="en-AU" dirty="0"/>
              <a:t>Main Exposure : type of donor</a:t>
            </a:r>
          </a:p>
          <a:p>
            <a:pPr marL="0" indent="0">
              <a:buNone/>
            </a:pPr>
            <a:r>
              <a:rPr lang="en-AU" dirty="0"/>
              <a:t>Covariates:</a:t>
            </a:r>
          </a:p>
          <a:p>
            <a:pPr lvl="1"/>
            <a:r>
              <a:rPr lang="en-AU" dirty="0"/>
              <a:t>Age of donor</a:t>
            </a:r>
          </a:p>
          <a:p>
            <a:pPr lvl="1"/>
            <a:r>
              <a:rPr lang="en-AU" dirty="0"/>
              <a:t>Recipient gender</a:t>
            </a:r>
          </a:p>
          <a:p>
            <a:pPr lvl="1"/>
            <a:r>
              <a:rPr lang="en-AU" dirty="0"/>
              <a:t> eGFR at time of transplant</a:t>
            </a:r>
          </a:p>
          <a:p>
            <a:pPr marL="457200" lvl="1" indent="0">
              <a:buNone/>
            </a:pPr>
            <a:endParaRPr lang="en-AU" dirty="0"/>
          </a:p>
        </p:txBody>
      </p:sp>
      <p:sp>
        <p:nvSpPr>
          <p:cNvPr id="4" name="Footer Placeholder 3">
            <a:extLst>
              <a:ext uri="{FF2B5EF4-FFF2-40B4-BE49-F238E27FC236}">
                <a16:creationId xmlns:a16="http://schemas.microsoft.com/office/drawing/2014/main" id="{FB0A5B5A-84B6-9154-A765-9570270949F8}"/>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2363994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AD736-8A1D-DEAB-6AC3-30040D03A2C4}"/>
              </a:ext>
            </a:extLst>
          </p:cNvPr>
          <p:cNvSpPr>
            <a:spLocks noGrp="1"/>
          </p:cNvSpPr>
          <p:nvPr>
            <p:ph type="title"/>
          </p:nvPr>
        </p:nvSpPr>
        <p:spPr/>
        <p:txBody>
          <a:bodyPr>
            <a:normAutofit/>
          </a:bodyPr>
          <a:lstStyle/>
          <a:p>
            <a:r>
              <a:rPr lang="en-US" dirty="0"/>
              <a:t>time-varying vs Time- fixed covariates</a:t>
            </a:r>
            <a:endParaRPr lang="en-AU" dirty="0"/>
          </a:p>
        </p:txBody>
      </p:sp>
      <p:pic>
        <p:nvPicPr>
          <p:cNvPr id="10" name="Content Placeholder 9" descr="Kidneys with solid fill">
            <a:extLst>
              <a:ext uri="{FF2B5EF4-FFF2-40B4-BE49-F238E27FC236}">
                <a16:creationId xmlns:a16="http://schemas.microsoft.com/office/drawing/2014/main" id="{C4A5B061-995F-5300-A8E2-203D5002A9FD}"/>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2636587" y="4700038"/>
            <a:ext cx="914400" cy="914400"/>
          </a:xfrm>
        </p:spPr>
      </p:pic>
      <p:sp>
        <p:nvSpPr>
          <p:cNvPr id="4" name="Footer Placeholder 3">
            <a:extLst>
              <a:ext uri="{FF2B5EF4-FFF2-40B4-BE49-F238E27FC236}">
                <a16:creationId xmlns:a16="http://schemas.microsoft.com/office/drawing/2014/main" id="{888A3164-DD65-F572-8C86-98BEAE59AF23}"/>
              </a:ext>
            </a:extLst>
          </p:cNvPr>
          <p:cNvSpPr>
            <a:spLocks noGrp="1"/>
          </p:cNvSpPr>
          <p:nvPr>
            <p:ph type="ftr" sz="quarter" idx="11"/>
          </p:nvPr>
        </p:nvSpPr>
        <p:spPr/>
        <p:txBody>
          <a:bodyPr/>
          <a:lstStyle/>
          <a:p>
            <a:r>
              <a:rPr lang="en-US"/>
              <a:t>Farzaneh.Boroumand@Sydney.edu.au</a:t>
            </a:r>
            <a:endParaRPr lang="en-US" dirty="0"/>
          </a:p>
        </p:txBody>
      </p:sp>
      <p:cxnSp>
        <p:nvCxnSpPr>
          <p:cNvPr id="6" name="Straight Arrow Connector 5">
            <a:extLst>
              <a:ext uri="{FF2B5EF4-FFF2-40B4-BE49-F238E27FC236}">
                <a16:creationId xmlns:a16="http://schemas.microsoft.com/office/drawing/2014/main" id="{B14A02AD-BE58-752C-D5CF-879BA9FF0F06}"/>
              </a:ext>
            </a:extLst>
          </p:cNvPr>
          <p:cNvCxnSpPr/>
          <p:nvPr/>
        </p:nvCxnSpPr>
        <p:spPr>
          <a:xfrm>
            <a:off x="1293223" y="5551700"/>
            <a:ext cx="9183188" cy="0"/>
          </a:xfrm>
          <a:prstGeom prst="straightConnector1">
            <a:avLst/>
          </a:prstGeom>
          <a:ln w="571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08DCDEB1-9E67-1558-FDC6-A2B9057923EC}"/>
              </a:ext>
            </a:extLst>
          </p:cNvPr>
          <p:cNvSpPr txBox="1"/>
          <p:nvPr/>
        </p:nvSpPr>
        <p:spPr>
          <a:xfrm>
            <a:off x="8210006" y="5729053"/>
            <a:ext cx="1884157" cy="369332"/>
          </a:xfrm>
          <a:prstGeom prst="rect">
            <a:avLst/>
          </a:prstGeom>
          <a:noFill/>
        </p:spPr>
        <p:txBody>
          <a:bodyPr wrap="square" rtlCol="0">
            <a:spAutoFit/>
          </a:bodyPr>
          <a:lstStyle/>
          <a:p>
            <a:r>
              <a:rPr lang="en-AU" dirty="0"/>
              <a:t>End of the study </a:t>
            </a:r>
          </a:p>
        </p:txBody>
      </p:sp>
      <p:sp>
        <p:nvSpPr>
          <p:cNvPr id="8" name="TextBox 7">
            <a:extLst>
              <a:ext uri="{FF2B5EF4-FFF2-40B4-BE49-F238E27FC236}">
                <a16:creationId xmlns:a16="http://schemas.microsoft.com/office/drawing/2014/main" id="{13264B0A-9248-0734-F399-7CF136D36EDE}"/>
              </a:ext>
            </a:extLst>
          </p:cNvPr>
          <p:cNvSpPr txBox="1"/>
          <p:nvPr/>
        </p:nvSpPr>
        <p:spPr>
          <a:xfrm>
            <a:off x="1197462" y="4631508"/>
            <a:ext cx="1534886" cy="369332"/>
          </a:xfrm>
          <a:prstGeom prst="rect">
            <a:avLst/>
          </a:prstGeom>
          <a:noFill/>
        </p:spPr>
        <p:txBody>
          <a:bodyPr wrap="square" rtlCol="0">
            <a:spAutoFit/>
          </a:bodyPr>
          <a:lstStyle/>
          <a:p>
            <a:r>
              <a:rPr lang="en-AU" dirty="0"/>
              <a:t>Donor type  </a:t>
            </a:r>
          </a:p>
        </p:txBody>
      </p:sp>
      <p:pic>
        <p:nvPicPr>
          <p:cNvPr id="12" name="Graphic 11" descr="Kidneys outline">
            <a:extLst>
              <a:ext uri="{FF2B5EF4-FFF2-40B4-BE49-F238E27FC236}">
                <a16:creationId xmlns:a16="http://schemas.microsoft.com/office/drawing/2014/main" id="{3093E35A-816A-3583-401C-636F66F8EDB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36587" y="3930836"/>
            <a:ext cx="914400" cy="914400"/>
          </a:xfrm>
          <a:prstGeom prst="rect">
            <a:avLst/>
          </a:prstGeom>
        </p:spPr>
      </p:pic>
      <p:sp>
        <p:nvSpPr>
          <p:cNvPr id="13" name="TextBox 12">
            <a:extLst>
              <a:ext uri="{FF2B5EF4-FFF2-40B4-BE49-F238E27FC236}">
                <a16:creationId xmlns:a16="http://schemas.microsoft.com/office/drawing/2014/main" id="{44630073-EF8F-64DD-BBB5-0E80D4D37741}"/>
              </a:ext>
            </a:extLst>
          </p:cNvPr>
          <p:cNvSpPr txBox="1"/>
          <p:nvPr/>
        </p:nvSpPr>
        <p:spPr>
          <a:xfrm>
            <a:off x="1344546" y="5675016"/>
            <a:ext cx="2397963" cy="369332"/>
          </a:xfrm>
          <a:prstGeom prst="rect">
            <a:avLst/>
          </a:prstGeom>
          <a:noFill/>
        </p:spPr>
        <p:txBody>
          <a:bodyPr wrap="square" rtlCol="0">
            <a:spAutoFit/>
          </a:bodyPr>
          <a:lstStyle/>
          <a:p>
            <a:r>
              <a:rPr lang="en-AU" dirty="0"/>
              <a:t>Time of Transplant </a:t>
            </a:r>
          </a:p>
        </p:txBody>
      </p:sp>
      <p:pic>
        <p:nvPicPr>
          <p:cNvPr id="14" name="Content Placeholder 9" descr="Kidneys with solid fill">
            <a:extLst>
              <a:ext uri="{FF2B5EF4-FFF2-40B4-BE49-F238E27FC236}">
                <a16:creationId xmlns:a16="http://schemas.microsoft.com/office/drawing/2014/main" id="{F447950D-DBD1-DB72-E44C-55B04F4227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889341" y="4637300"/>
            <a:ext cx="914400" cy="914400"/>
          </a:xfrm>
          <a:prstGeom prst="rect">
            <a:avLst/>
          </a:prstGeom>
        </p:spPr>
      </p:pic>
      <p:sp>
        <p:nvSpPr>
          <p:cNvPr id="15" name="TextBox 14">
            <a:extLst>
              <a:ext uri="{FF2B5EF4-FFF2-40B4-BE49-F238E27FC236}">
                <a16:creationId xmlns:a16="http://schemas.microsoft.com/office/drawing/2014/main" id="{945D5C88-D8DF-DA01-0877-7024FD6323A0}"/>
              </a:ext>
            </a:extLst>
          </p:cNvPr>
          <p:cNvSpPr txBox="1"/>
          <p:nvPr/>
        </p:nvSpPr>
        <p:spPr>
          <a:xfrm>
            <a:off x="7442563" y="4540503"/>
            <a:ext cx="1534886" cy="369332"/>
          </a:xfrm>
          <a:prstGeom prst="rect">
            <a:avLst/>
          </a:prstGeom>
          <a:noFill/>
        </p:spPr>
        <p:txBody>
          <a:bodyPr wrap="square" rtlCol="0">
            <a:spAutoFit/>
          </a:bodyPr>
          <a:lstStyle/>
          <a:p>
            <a:r>
              <a:rPr lang="en-AU" dirty="0"/>
              <a:t>Donor type  </a:t>
            </a:r>
          </a:p>
        </p:txBody>
      </p:sp>
      <p:pic>
        <p:nvPicPr>
          <p:cNvPr id="16" name="Graphic 15" descr="Kidneys outline">
            <a:extLst>
              <a:ext uri="{FF2B5EF4-FFF2-40B4-BE49-F238E27FC236}">
                <a16:creationId xmlns:a16="http://schemas.microsoft.com/office/drawing/2014/main" id="{3BE1E287-F99C-3E8D-D48B-606571215E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889341" y="3995434"/>
            <a:ext cx="914400" cy="914400"/>
          </a:xfrm>
          <a:prstGeom prst="rect">
            <a:avLst/>
          </a:prstGeom>
        </p:spPr>
      </p:pic>
      <p:pic>
        <p:nvPicPr>
          <p:cNvPr id="18" name="Graphic 17" descr="Beaker with solid fill">
            <a:extLst>
              <a:ext uri="{FF2B5EF4-FFF2-40B4-BE49-F238E27FC236}">
                <a16:creationId xmlns:a16="http://schemas.microsoft.com/office/drawing/2014/main" id="{033224EE-A0FC-27ED-08C1-29D52B7A2F7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802256" y="2555086"/>
            <a:ext cx="590443" cy="590443"/>
          </a:xfrm>
          <a:prstGeom prst="rect">
            <a:avLst/>
          </a:prstGeom>
        </p:spPr>
      </p:pic>
      <p:sp>
        <p:nvSpPr>
          <p:cNvPr id="21" name="TextBox 20">
            <a:extLst>
              <a:ext uri="{FF2B5EF4-FFF2-40B4-BE49-F238E27FC236}">
                <a16:creationId xmlns:a16="http://schemas.microsoft.com/office/drawing/2014/main" id="{642F9BD9-9020-B44B-72A1-A1F78FD3DF55}"/>
              </a:ext>
            </a:extLst>
          </p:cNvPr>
          <p:cNvSpPr txBox="1"/>
          <p:nvPr/>
        </p:nvSpPr>
        <p:spPr>
          <a:xfrm>
            <a:off x="1470181" y="2707082"/>
            <a:ext cx="1534886" cy="369332"/>
          </a:xfrm>
          <a:prstGeom prst="rect">
            <a:avLst/>
          </a:prstGeom>
          <a:noFill/>
        </p:spPr>
        <p:txBody>
          <a:bodyPr wrap="square" rtlCol="0">
            <a:spAutoFit/>
          </a:bodyPr>
          <a:lstStyle/>
          <a:p>
            <a:r>
              <a:rPr lang="en-AU" dirty="0"/>
              <a:t>eGFR</a:t>
            </a:r>
          </a:p>
        </p:txBody>
      </p:sp>
      <p:cxnSp>
        <p:nvCxnSpPr>
          <p:cNvPr id="23" name="Straight Arrow Connector 22">
            <a:extLst>
              <a:ext uri="{FF2B5EF4-FFF2-40B4-BE49-F238E27FC236}">
                <a16:creationId xmlns:a16="http://schemas.microsoft.com/office/drawing/2014/main" id="{2BB07E4F-54AC-BD60-B49B-65B74C233635}"/>
              </a:ext>
            </a:extLst>
          </p:cNvPr>
          <p:cNvCxnSpPr>
            <a:cxnSpLocks/>
          </p:cNvCxnSpPr>
          <p:nvPr/>
        </p:nvCxnSpPr>
        <p:spPr>
          <a:xfrm flipV="1">
            <a:off x="3345290" y="2350530"/>
            <a:ext cx="1347584" cy="499778"/>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5" name="Graphic 24" descr="Beaker with solid fill">
            <a:extLst>
              <a:ext uri="{FF2B5EF4-FFF2-40B4-BE49-F238E27FC236}">
                <a16:creationId xmlns:a16="http://schemas.microsoft.com/office/drawing/2014/main" id="{995FA632-588A-D8F6-DEF2-75A37C9C58C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58756" y="1926770"/>
            <a:ext cx="590443" cy="590443"/>
          </a:xfrm>
          <a:prstGeom prst="rect">
            <a:avLst/>
          </a:prstGeom>
        </p:spPr>
      </p:pic>
      <p:cxnSp>
        <p:nvCxnSpPr>
          <p:cNvPr id="26" name="Straight Arrow Connector 25">
            <a:extLst>
              <a:ext uri="{FF2B5EF4-FFF2-40B4-BE49-F238E27FC236}">
                <a16:creationId xmlns:a16="http://schemas.microsoft.com/office/drawing/2014/main" id="{AB44857D-5462-9494-506A-9346D93AD042}"/>
              </a:ext>
            </a:extLst>
          </p:cNvPr>
          <p:cNvCxnSpPr>
            <a:cxnSpLocks/>
          </p:cNvCxnSpPr>
          <p:nvPr/>
        </p:nvCxnSpPr>
        <p:spPr>
          <a:xfrm>
            <a:off x="5405342" y="2309046"/>
            <a:ext cx="1346529" cy="31527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8" name="Graphic 27" descr="Beaker with solid fill">
            <a:extLst>
              <a:ext uri="{FF2B5EF4-FFF2-40B4-BE49-F238E27FC236}">
                <a16:creationId xmlns:a16="http://schemas.microsoft.com/office/drawing/2014/main" id="{C48BAE96-DB7F-00FD-A08D-68CA348212A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60377" y="2329094"/>
            <a:ext cx="590443" cy="590443"/>
          </a:xfrm>
          <a:prstGeom prst="rect">
            <a:avLst/>
          </a:prstGeom>
        </p:spPr>
      </p:pic>
      <p:pic>
        <p:nvPicPr>
          <p:cNvPr id="30" name="Graphic 29" descr="Beaker with solid fill">
            <a:extLst>
              <a:ext uri="{FF2B5EF4-FFF2-40B4-BE49-F238E27FC236}">
                <a16:creationId xmlns:a16="http://schemas.microsoft.com/office/drawing/2014/main" id="{72BD5E80-3EEA-0854-1723-304898D84DA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89341" y="2862566"/>
            <a:ext cx="590443" cy="590443"/>
          </a:xfrm>
          <a:prstGeom prst="rect">
            <a:avLst/>
          </a:prstGeom>
        </p:spPr>
      </p:pic>
      <p:cxnSp>
        <p:nvCxnSpPr>
          <p:cNvPr id="31" name="Straight Arrow Connector 30">
            <a:extLst>
              <a:ext uri="{FF2B5EF4-FFF2-40B4-BE49-F238E27FC236}">
                <a16:creationId xmlns:a16="http://schemas.microsoft.com/office/drawing/2014/main" id="{786B81BE-BF60-49A0-D1A9-763384BEA698}"/>
              </a:ext>
            </a:extLst>
          </p:cNvPr>
          <p:cNvCxnSpPr>
            <a:cxnSpLocks/>
          </p:cNvCxnSpPr>
          <p:nvPr/>
        </p:nvCxnSpPr>
        <p:spPr>
          <a:xfrm>
            <a:off x="7496816" y="2839872"/>
            <a:ext cx="1346529" cy="315270"/>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8147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p:bldP spid="15" grpId="0"/>
      <p:bldP spid="2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A258E-ADF5-96CA-BA57-31150A4302B0}"/>
              </a:ext>
            </a:extLst>
          </p:cNvPr>
          <p:cNvSpPr>
            <a:spLocks noGrp="1"/>
          </p:cNvSpPr>
          <p:nvPr>
            <p:ph type="title"/>
          </p:nvPr>
        </p:nvSpPr>
        <p:spPr>
          <a:xfrm>
            <a:off x="1421675" y="1624967"/>
            <a:ext cx="10632067" cy="2852737"/>
          </a:xfrm>
        </p:spPr>
        <p:txBody>
          <a:bodyPr>
            <a:normAutofit/>
          </a:bodyPr>
          <a:lstStyle/>
          <a:p>
            <a:r>
              <a:rPr lang="en-US" dirty="0"/>
              <a:t>time-varying covariates can cause PH Violation!</a:t>
            </a:r>
            <a:endParaRPr lang="en-AU" dirty="0"/>
          </a:p>
        </p:txBody>
      </p:sp>
      <p:sp>
        <p:nvSpPr>
          <p:cNvPr id="4" name="Footer Placeholder 3">
            <a:extLst>
              <a:ext uri="{FF2B5EF4-FFF2-40B4-BE49-F238E27FC236}">
                <a16:creationId xmlns:a16="http://schemas.microsoft.com/office/drawing/2014/main" id="{CAF57DFB-4FDF-7CAF-FB8E-D9DB106CF0B4}"/>
              </a:ext>
            </a:extLst>
          </p:cNvPr>
          <p:cNvSpPr>
            <a:spLocks noGrp="1"/>
          </p:cNvSpPr>
          <p:nvPr>
            <p:ph type="ftr" sz="quarter" idx="11"/>
          </p:nvPr>
        </p:nvSpPr>
        <p:spPr/>
        <p:txBody>
          <a:bodyPr/>
          <a:lstStyle/>
          <a:p>
            <a:r>
              <a:rPr lang="en-US"/>
              <a:t>Farzaneh.Boroumand@Sydney.edu.au</a:t>
            </a:r>
            <a:endParaRPr lang="en-US" dirty="0"/>
          </a:p>
        </p:txBody>
      </p:sp>
      <p:pic>
        <p:nvPicPr>
          <p:cNvPr id="7" name="Graphic 6" descr="Warning with solid fill">
            <a:extLst>
              <a:ext uri="{FF2B5EF4-FFF2-40B4-BE49-F238E27FC236}">
                <a16:creationId xmlns:a16="http://schemas.microsoft.com/office/drawing/2014/main" id="{6EF4A80F-A87F-E43F-C3DE-3D3BD47CC7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90314" y="1200286"/>
            <a:ext cx="1180011" cy="1180011"/>
          </a:xfrm>
          <a:prstGeom prst="rect">
            <a:avLst/>
          </a:prstGeom>
        </p:spPr>
      </p:pic>
    </p:spTree>
    <p:extLst>
      <p:ext uri="{BB962C8B-B14F-4D97-AF65-F5344CB8AC3E}">
        <p14:creationId xmlns:p14="http://schemas.microsoft.com/office/powerpoint/2010/main" val="41681011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32A2C-765C-A621-F051-706487408D33}"/>
              </a:ext>
            </a:extLst>
          </p:cNvPr>
          <p:cNvSpPr>
            <a:spLocks noGrp="1"/>
          </p:cNvSpPr>
          <p:nvPr>
            <p:ph type="title"/>
          </p:nvPr>
        </p:nvSpPr>
        <p:spPr/>
        <p:txBody>
          <a:bodyPr>
            <a:normAutofit fontScale="90000"/>
          </a:bodyPr>
          <a:lstStyle/>
          <a:p>
            <a:r>
              <a:rPr lang="en-US" dirty="0"/>
              <a:t>Extended Cox model (time-varying covariates)</a:t>
            </a:r>
            <a:endParaRPr lang="en-AU" dirty="0"/>
          </a:p>
        </p:txBody>
      </p:sp>
      <p:sp>
        <p:nvSpPr>
          <p:cNvPr id="3" name="Content Placeholder 2">
            <a:extLst>
              <a:ext uri="{FF2B5EF4-FFF2-40B4-BE49-F238E27FC236}">
                <a16:creationId xmlns:a16="http://schemas.microsoft.com/office/drawing/2014/main" id="{872B255C-09F9-9FB7-CD9C-11AD5666D785}"/>
              </a:ext>
            </a:extLst>
          </p:cNvPr>
          <p:cNvSpPr>
            <a:spLocks noGrp="1"/>
          </p:cNvSpPr>
          <p:nvPr>
            <p:ph idx="1"/>
          </p:nvPr>
        </p:nvSpPr>
        <p:spPr>
          <a:xfrm>
            <a:off x="700635" y="1838528"/>
            <a:ext cx="10691265" cy="4123360"/>
          </a:xfrm>
        </p:spPr>
        <p:txBody>
          <a:bodyPr>
            <a:normAutofit/>
          </a:bodyPr>
          <a:lstStyle/>
          <a:p>
            <a:pPr marL="0" indent="0">
              <a:buNone/>
            </a:pPr>
            <a:r>
              <a:rPr lang="en-US" b="1" dirty="0">
                <a:solidFill>
                  <a:srgbClr val="00B050"/>
                </a:solidFill>
              </a:rPr>
              <a:t>When do we use this?</a:t>
            </a:r>
          </a:p>
          <a:p>
            <a:pPr lvl="1"/>
            <a:r>
              <a:rPr lang="en-AU" dirty="0"/>
              <a:t>S</a:t>
            </a:r>
            <a:r>
              <a:rPr lang="en-US" dirty="0" err="1"/>
              <a:t>ome</a:t>
            </a:r>
            <a:r>
              <a:rPr lang="en-US" dirty="0"/>
              <a:t> predictors actually </a:t>
            </a:r>
            <a:r>
              <a:rPr lang="en-US" i="1" dirty="0"/>
              <a:t>change over time</a:t>
            </a:r>
            <a:r>
              <a:rPr lang="en-US" dirty="0"/>
              <a:t> (e.g. kidney function, BP, medication use)</a:t>
            </a:r>
          </a:p>
          <a:p>
            <a:pPr lvl="1"/>
            <a:r>
              <a:rPr lang="en-US" dirty="0"/>
              <a:t>We believe “current value” of that predictor matters for risk </a:t>
            </a:r>
            <a:r>
              <a:rPr lang="en-US" i="1" dirty="0"/>
              <a:t>right now</a:t>
            </a:r>
            <a:r>
              <a:rPr lang="en-US" dirty="0"/>
              <a:t>, not just the baseline value</a:t>
            </a:r>
            <a:endParaRPr lang="en-AU" dirty="0"/>
          </a:p>
          <a:p>
            <a:pPr marL="0" indent="0">
              <a:buNone/>
            </a:pPr>
            <a:endParaRPr lang="en-US" b="1" dirty="0"/>
          </a:p>
          <a:p>
            <a:pPr marL="0" indent="0">
              <a:buNone/>
            </a:pPr>
            <a:r>
              <a:rPr lang="en-US" b="1" dirty="0"/>
              <a:t>Key idea:</a:t>
            </a:r>
            <a:br>
              <a:rPr lang="en-US" dirty="0"/>
            </a:br>
            <a:r>
              <a:rPr lang="en-US" dirty="0"/>
              <a:t>We split each patient’s follow-up into intervals and update the covariate value for each interval.</a:t>
            </a:r>
          </a:p>
          <a:p>
            <a:pPr lvl="1"/>
            <a:r>
              <a:rPr lang="en-US" dirty="0"/>
              <a:t>“eGFR at year 1 predicts risk between year 1–2… and if eGFR worsens, your risk changes after that.”</a:t>
            </a:r>
          </a:p>
        </p:txBody>
      </p:sp>
      <p:sp>
        <p:nvSpPr>
          <p:cNvPr id="4" name="Footer Placeholder 3">
            <a:extLst>
              <a:ext uri="{FF2B5EF4-FFF2-40B4-BE49-F238E27FC236}">
                <a16:creationId xmlns:a16="http://schemas.microsoft.com/office/drawing/2014/main" id="{C2E232A3-F083-4D7E-495C-D282A466E4B1}"/>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8580844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8BB4-9FED-CCB6-DB9E-8F8DC23AFADD}"/>
              </a:ext>
            </a:extLst>
          </p:cNvPr>
          <p:cNvSpPr>
            <a:spLocks noGrp="1"/>
          </p:cNvSpPr>
          <p:nvPr>
            <p:ph type="title"/>
          </p:nvPr>
        </p:nvSpPr>
        <p:spPr/>
        <p:txBody>
          <a:bodyPr>
            <a:normAutofit fontScale="90000"/>
          </a:bodyPr>
          <a:lstStyle/>
          <a:p>
            <a:r>
              <a:rPr lang="en-US" dirty="0"/>
              <a:t>Extended Cox model (time-varying covariates)</a:t>
            </a:r>
            <a:endParaRPr lang="en-AU"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562B02-A432-D1DC-5994-5EE233EACFBA}"/>
                  </a:ext>
                </a:extLst>
              </p:cNvPr>
              <p:cNvSpPr>
                <a:spLocks noGrp="1"/>
              </p:cNvSpPr>
              <p:nvPr>
                <p:ph idx="1"/>
              </p:nvPr>
            </p:nvSpPr>
            <p:spPr>
              <a:xfrm>
                <a:off x="700635" y="1848255"/>
                <a:ext cx="10691265" cy="4113633"/>
              </a:xfrm>
            </p:spPr>
            <p:txBody>
              <a:bodyPr/>
              <a:lstStyle/>
              <a:p>
                <a:pPr marL="0" indent="0">
                  <a:buNone/>
                </a:pPr>
                <a:r>
                  <a:rPr lang="en-US" dirty="0"/>
                  <a:t>How it works?</a:t>
                </a:r>
              </a:p>
              <a:p>
                <a:r>
                  <a:rPr lang="en-US" dirty="0"/>
                  <a:t>We create a dataset in “start–stop” format:</a:t>
                </a:r>
              </a:p>
              <a:p>
                <a:pPr lvl="1">
                  <a:buFont typeface="Courier New" panose="02070309020205020404" pitchFamily="49" charset="0"/>
                  <a:buChar char="o"/>
                </a:pPr>
                <a:r>
                  <a:rPr lang="en-US" dirty="0"/>
                  <a:t>start: time interval start</a:t>
                </a:r>
              </a:p>
              <a:p>
                <a:pPr lvl="1">
                  <a:buFont typeface="Courier New" panose="02070309020205020404" pitchFamily="49" charset="0"/>
                  <a:buChar char="o"/>
                </a:pPr>
                <a:r>
                  <a:rPr lang="en-US" dirty="0"/>
                  <a:t>stop: time interval end</a:t>
                </a:r>
              </a:p>
              <a:p>
                <a:pPr lvl="1">
                  <a:buFont typeface="Courier New" panose="02070309020205020404" pitchFamily="49" charset="0"/>
                  <a:buChar char="o"/>
                </a:pPr>
                <a:r>
                  <a:rPr lang="en-US" dirty="0"/>
                  <a:t>event: did graft fail at stop?</a:t>
                </a:r>
              </a:p>
              <a:p>
                <a:pPr lvl="1">
                  <a:buFont typeface="Courier New" panose="02070309020205020404" pitchFamily="49" charset="0"/>
                  <a:buChar char="o"/>
                </a:pPr>
                <a:r>
                  <a:rPr lang="en-US" dirty="0" err="1"/>
                  <a:t>egfr_current</a:t>
                </a:r>
                <a:r>
                  <a:rPr lang="en-US" dirty="0"/>
                  <a:t>: eGFR measured at the </a:t>
                </a:r>
                <a:r>
                  <a:rPr lang="en-US" i="1" dirty="0"/>
                  <a:t>start</a:t>
                </a:r>
                <a:r>
                  <a:rPr lang="en-US" dirty="0"/>
                  <a:t> of that interval</a:t>
                </a:r>
              </a:p>
              <a:p>
                <a:r>
                  <a:rPr lang="en-AU" dirty="0"/>
                  <a:t>Then we fit </a:t>
                </a:r>
              </a:p>
              <a:p>
                <a:pPr marL="0" indent="0">
                  <a:buNone/>
                </a:pPr>
                <a14:m>
                  <m:oMathPara xmlns:m="http://schemas.openxmlformats.org/officeDocument/2006/math">
                    <m:oMathParaPr>
                      <m:jc m:val="centerGroup"/>
                    </m:oMathParaPr>
                    <m:oMath xmlns:m="http://schemas.openxmlformats.org/officeDocument/2006/math">
                      <m:r>
                        <a:rPr lang="fr-FR" i="1" dirty="0" smtClean="0">
                          <a:latin typeface="Cambria Math" panose="02040503050406030204" pitchFamily="18" charset="0"/>
                        </a:rPr>
                        <m:t>h</m:t>
                      </m:r>
                      <m:r>
                        <a:rPr lang="fr-FR" i="1" dirty="0" smtClean="0">
                          <a:latin typeface="Cambria Math" panose="02040503050406030204" pitchFamily="18" charset="0"/>
                        </a:rPr>
                        <m:t>(</m:t>
                      </m:r>
                      <m:r>
                        <a:rPr lang="fr-FR" i="1" dirty="0" smtClean="0">
                          <a:latin typeface="Cambria Math" panose="02040503050406030204" pitchFamily="18" charset="0"/>
                        </a:rPr>
                        <m:t>𝑡</m:t>
                      </m:r>
                      <m:r>
                        <a:rPr lang="fr-FR"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fr-FR" i="1" dirty="0" smtClean="0">
                              <a:latin typeface="Cambria Math" panose="02040503050406030204" pitchFamily="18" charset="0"/>
                            </a:rPr>
                            <m:t>h</m:t>
                          </m:r>
                        </m:e>
                        <m:sub>
                          <m:r>
                            <a:rPr lang="fr-FR" i="1" dirty="0" smtClean="0">
                              <a:latin typeface="Cambria Math" panose="02040503050406030204" pitchFamily="18" charset="0"/>
                            </a:rPr>
                            <m:t>0</m:t>
                          </m:r>
                        </m:sub>
                      </m:sSub>
                      <m:r>
                        <a:rPr lang="fr-FR" i="1" dirty="0" smtClean="0">
                          <a:latin typeface="Cambria Math" panose="02040503050406030204" pitchFamily="18" charset="0"/>
                        </a:rPr>
                        <m:t>​(</m:t>
                      </m:r>
                      <m:r>
                        <a:rPr lang="fr-FR" i="1" dirty="0" smtClean="0">
                          <a:latin typeface="Cambria Math" panose="02040503050406030204" pitchFamily="18" charset="0"/>
                        </a:rPr>
                        <m:t>𝑡</m:t>
                      </m:r>
                      <m:r>
                        <a:rPr lang="fr-FR" i="1" dirty="0" smtClean="0">
                          <a:latin typeface="Cambria Math" panose="02040503050406030204" pitchFamily="18" charset="0"/>
                        </a:rPr>
                        <m:t>)</m:t>
                      </m:r>
                      <m:r>
                        <m:rPr>
                          <m:sty m:val="p"/>
                        </m:rPr>
                        <a:rPr lang="fr-FR" i="1" dirty="0" err="1">
                          <a:latin typeface="Cambria Math" panose="02040503050406030204" pitchFamily="18" charset="0"/>
                        </a:rPr>
                        <m:t>exp</m:t>
                      </m:r>
                      <m:r>
                        <a:rPr lang="fr-FR" i="1" dirty="0">
                          <a:latin typeface="Cambria Math" panose="02040503050406030204" pitchFamily="18" charset="0"/>
                        </a:rPr>
                        <m:t>⁡(</m:t>
                      </m:r>
                      <m:sSub>
                        <m:sSubPr>
                          <m:ctrlPr>
                            <a:rPr lang="en-US" b="0" i="1" dirty="0" smtClean="0">
                              <a:latin typeface="Cambria Math" panose="02040503050406030204" pitchFamily="18" charset="0"/>
                            </a:rPr>
                          </m:ctrlPr>
                        </m:sSubPr>
                        <m:e>
                          <m:r>
                            <a:rPr lang="fr-FR" i="1" dirty="0">
                              <a:latin typeface="Cambria Math" panose="02040503050406030204" pitchFamily="18" charset="0"/>
                            </a:rPr>
                            <m:t>𝛽</m:t>
                          </m:r>
                        </m:e>
                        <m:sub>
                          <m:r>
                            <a:rPr lang="fr-FR" i="1" dirty="0">
                              <a:latin typeface="Cambria Math" panose="02040503050406030204" pitchFamily="18" charset="0"/>
                            </a:rPr>
                            <m:t>1</m:t>
                          </m:r>
                        </m:sub>
                      </m:sSub>
                      <m:r>
                        <a:rPr lang="fr-FR" i="1" dirty="0">
                          <a:latin typeface="Cambria Math" panose="02040503050406030204" pitchFamily="18" charset="0"/>
                        </a:rPr>
                        <m:t>​</m:t>
                      </m:r>
                      <m:r>
                        <a:rPr lang="fr-FR" i="1" dirty="0" err="1">
                          <a:latin typeface="Cambria Math" panose="02040503050406030204" pitchFamily="18" charset="0"/>
                        </a:rPr>
                        <m:t>𝑒𝑔𝑓𝑟</m:t>
                      </m:r>
                      <m:r>
                        <a:rPr lang="fr-FR" i="1" dirty="0" err="1">
                          <a:latin typeface="Cambria Math" panose="02040503050406030204" pitchFamily="18" charset="0"/>
                        </a:rPr>
                        <m:t>_</m:t>
                      </m:r>
                      <m:r>
                        <a:rPr lang="fr-FR" i="1" dirty="0" err="1">
                          <a:latin typeface="Cambria Math" panose="02040503050406030204" pitchFamily="18" charset="0"/>
                        </a:rPr>
                        <m:t>𝑐𝑢𝑟𝑟𝑒𝑛𝑡</m:t>
                      </m:r>
                      <m:r>
                        <a:rPr lang="fr-FR" i="1" dirty="0">
                          <a:latin typeface="Cambria Math" panose="02040503050406030204" pitchFamily="18" charset="0"/>
                        </a:rPr>
                        <m:t>(</m:t>
                      </m:r>
                      <m:r>
                        <a:rPr lang="fr-FR" i="1" dirty="0">
                          <a:latin typeface="Cambria Math" panose="02040503050406030204" pitchFamily="18" charset="0"/>
                        </a:rPr>
                        <m:t>𝑡</m:t>
                      </m:r>
                      <m:r>
                        <a:rPr lang="fr-FR" i="1" dirty="0">
                          <a:latin typeface="Cambria Math" panose="02040503050406030204" pitchFamily="18" charset="0"/>
                        </a:rPr>
                        <m:t>)+</m:t>
                      </m:r>
                      <m:sSub>
                        <m:sSubPr>
                          <m:ctrlPr>
                            <a:rPr lang="en-US" b="0" i="1" dirty="0" smtClean="0">
                              <a:latin typeface="Cambria Math" panose="02040503050406030204" pitchFamily="18" charset="0"/>
                            </a:rPr>
                          </m:ctrlPr>
                        </m:sSubPr>
                        <m:e>
                          <m:r>
                            <a:rPr lang="fr-FR" i="1" dirty="0">
                              <a:latin typeface="Cambria Math" panose="02040503050406030204" pitchFamily="18" charset="0"/>
                            </a:rPr>
                            <m:t>𝛽</m:t>
                          </m:r>
                        </m:e>
                        <m:sub>
                          <m:r>
                            <a:rPr lang="fr-FR" i="1" dirty="0">
                              <a:latin typeface="Cambria Math" panose="02040503050406030204" pitchFamily="18" charset="0"/>
                            </a:rPr>
                            <m:t>2</m:t>
                          </m:r>
                        </m:sub>
                      </m:sSub>
                      <m:r>
                        <a:rPr lang="fr-FR" i="1" dirty="0">
                          <a:latin typeface="Cambria Math" panose="02040503050406030204" pitchFamily="18" charset="0"/>
                        </a:rPr>
                        <m:t>​</m:t>
                      </m:r>
                      <m:r>
                        <a:rPr lang="fr-FR" i="1" dirty="0" err="1">
                          <a:latin typeface="Cambria Math" panose="02040503050406030204" pitchFamily="18" charset="0"/>
                        </a:rPr>
                        <m:t>𝑑𝑜𝑛𝑜𝑟</m:t>
                      </m:r>
                      <m:r>
                        <a:rPr lang="fr-FR" i="1" dirty="0" err="1">
                          <a:latin typeface="Cambria Math" panose="02040503050406030204" pitchFamily="18" charset="0"/>
                        </a:rPr>
                        <m:t>_</m:t>
                      </m:r>
                      <m:r>
                        <a:rPr lang="fr-FR" i="1" dirty="0" err="1">
                          <a:latin typeface="Cambria Math" panose="02040503050406030204" pitchFamily="18" charset="0"/>
                        </a:rPr>
                        <m:t>𝑡𝑦𝑝𝑒</m:t>
                      </m:r>
                      <m:r>
                        <a:rPr lang="fr-FR" i="1" dirty="0">
                          <a:latin typeface="Cambria Math" panose="02040503050406030204" pitchFamily="18" charset="0"/>
                        </a:rPr>
                        <m:t>+…)</m:t>
                      </m:r>
                    </m:oMath>
                  </m:oMathPara>
                </a14:m>
                <a:endParaRPr lang="en-AU" dirty="0"/>
              </a:p>
            </p:txBody>
          </p:sp>
        </mc:Choice>
        <mc:Fallback xmlns="">
          <p:sp>
            <p:nvSpPr>
              <p:cNvPr id="3" name="Content Placeholder 2">
                <a:extLst>
                  <a:ext uri="{FF2B5EF4-FFF2-40B4-BE49-F238E27FC236}">
                    <a16:creationId xmlns:a16="http://schemas.microsoft.com/office/drawing/2014/main" id="{4F562B02-A432-D1DC-5994-5EE233EACFBA}"/>
                  </a:ext>
                </a:extLst>
              </p:cNvPr>
              <p:cNvSpPr>
                <a:spLocks noGrp="1" noRot="1" noChangeAspect="1" noMove="1" noResize="1" noEditPoints="1" noAdjustHandles="1" noChangeArrowheads="1" noChangeShapeType="1" noTextEdit="1"/>
              </p:cNvSpPr>
              <p:nvPr>
                <p:ph idx="1"/>
              </p:nvPr>
            </p:nvSpPr>
            <p:spPr>
              <a:xfrm>
                <a:off x="700635" y="1848255"/>
                <a:ext cx="10691265" cy="4113633"/>
              </a:xfrm>
              <a:blipFill>
                <a:blip r:embed="rId2"/>
                <a:stretch>
                  <a:fillRect l="-627" t="-593"/>
                </a:stretch>
              </a:blipFill>
            </p:spPr>
            <p:txBody>
              <a:bodyPr/>
              <a:lstStyle/>
              <a:p>
                <a:r>
                  <a:rPr lang="en-AU">
                    <a:noFill/>
                  </a:rPr>
                  <a:t> </a:t>
                </a:r>
              </a:p>
            </p:txBody>
          </p:sp>
        </mc:Fallback>
      </mc:AlternateContent>
      <p:sp>
        <p:nvSpPr>
          <p:cNvPr id="4" name="Footer Placeholder 3">
            <a:extLst>
              <a:ext uri="{FF2B5EF4-FFF2-40B4-BE49-F238E27FC236}">
                <a16:creationId xmlns:a16="http://schemas.microsoft.com/office/drawing/2014/main" id="{188AA27E-30D1-2E6E-684A-7C3E1B874242}"/>
              </a:ext>
            </a:extLst>
          </p:cNvPr>
          <p:cNvSpPr>
            <a:spLocks noGrp="1"/>
          </p:cNvSpPr>
          <p:nvPr>
            <p:ph type="ftr" sz="quarter" idx="11"/>
          </p:nvPr>
        </p:nvSpPr>
        <p:spPr/>
        <p:txBody>
          <a:bodyPr/>
          <a:lstStyle/>
          <a:p>
            <a:r>
              <a:rPr lang="en-US"/>
              <a:t>Farzaneh.Boroumand@Sydney.edu.au</a:t>
            </a:r>
            <a:endParaRPr lang="en-US" dirty="0"/>
          </a:p>
        </p:txBody>
      </p:sp>
      <p:pic>
        <p:nvPicPr>
          <p:cNvPr id="5" name="Graphic 4" descr="Beaker with solid fill">
            <a:extLst>
              <a:ext uri="{FF2B5EF4-FFF2-40B4-BE49-F238E27FC236}">
                <a16:creationId xmlns:a16="http://schemas.microsoft.com/office/drawing/2014/main" id="{EEF1C4ED-E628-1B24-1991-DE10AB2AFD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70728" y="2505911"/>
            <a:ext cx="590443" cy="590443"/>
          </a:xfrm>
          <a:prstGeom prst="rect">
            <a:avLst/>
          </a:prstGeom>
        </p:spPr>
      </p:pic>
      <p:sp>
        <p:nvSpPr>
          <p:cNvPr id="6" name="TextBox 5">
            <a:extLst>
              <a:ext uri="{FF2B5EF4-FFF2-40B4-BE49-F238E27FC236}">
                <a16:creationId xmlns:a16="http://schemas.microsoft.com/office/drawing/2014/main" id="{4D5B95A4-CCE1-C809-7E9F-967BBBECEB50}"/>
              </a:ext>
            </a:extLst>
          </p:cNvPr>
          <p:cNvSpPr txBox="1"/>
          <p:nvPr/>
        </p:nvSpPr>
        <p:spPr>
          <a:xfrm>
            <a:off x="6758972" y="2721025"/>
            <a:ext cx="849242" cy="369332"/>
          </a:xfrm>
          <a:prstGeom prst="rect">
            <a:avLst/>
          </a:prstGeom>
          <a:noFill/>
        </p:spPr>
        <p:txBody>
          <a:bodyPr wrap="square" rtlCol="0">
            <a:spAutoFit/>
          </a:bodyPr>
          <a:lstStyle/>
          <a:p>
            <a:r>
              <a:rPr lang="en-AU" dirty="0"/>
              <a:t>eGFR</a:t>
            </a:r>
          </a:p>
        </p:txBody>
      </p:sp>
      <p:cxnSp>
        <p:nvCxnSpPr>
          <p:cNvPr id="7" name="Straight Arrow Connector 6">
            <a:extLst>
              <a:ext uri="{FF2B5EF4-FFF2-40B4-BE49-F238E27FC236}">
                <a16:creationId xmlns:a16="http://schemas.microsoft.com/office/drawing/2014/main" id="{70B4A6D6-95CE-5ABE-EEF4-46411E3D2B6A}"/>
              </a:ext>
            </a:extLst>
          </p:cNvPr>
          <p:cNvCxnSpPr>
            <a:cxnSpLocks/>
          </p:cNvCxnSpPr>
          <p:nvPr/>
        </p:nvCxnSpPr>
        <p:spPr>
          <a:xfrm flipV="1">
            <a:off x="8091929" y="2654443"/>
            <a:ext cx="574138" cy="204557"/>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8" name="Graphic 7" descr="Beaker with solid fill">
            <a:extLst>
              <a:ext uri="{FF2B5EF4-FFF2-40B4-BE49-F238E27FC236}">
                <a16:creationId xmlns:a16="http://schemas.microsoft.com/office/drawing/2014/main" id="{A7D0491E-E4FD-2726-A785-C6FA9F11C2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20855" y="2222457"/>
            <a:ext cx="590443" cy="590443"/>
          </a:xfrm>
          <a:prstGeom prst="rect">
            <a:avLst/>
          </a:prstGeom>
        </p:spPr>
      </p:pic>
      <p:cxnSp>
        <p:nvCxnSpPr>
          <p:cNvPr id="9" name="Straight Arrow Connector 8">
            <a:extLst>
              <a:ext uri="{FF2B5EF4-FFF2-40B4-BE49-F238E27FC236}">
                <a16:creationId xmlns:a16="http://schemas.microsoft.com/office/drawing/2014/main" id="{A7A335B6-942D-D1DA-E469-BC9D4A031A8C}"/>
              </a:ext>
            </a:extLst>
          </p:cNvPr>
          <p:cNvCxnSpPr>
            <a:cxnSpLocks/>
          </p:cNvCxnSpPr>
          <p:nvPr/>
        </p:nvCxnSpPr>
        <p:spPr>
          <a:xfrm>
            <a:off x="9138458" y="2660904"/>
            <a:ext cx="556555" cy="95818"/>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 name="Graphic 9" descr="Beaker with solid fill">
            <a:extLst>
              <a:ext uri="{FF2B5EF4-FFF2-40B4-BE49-F238E27FC236}">
                <a16:creationId xmlns:a16="http://schemas.microsoft.com/office/drawing/2014/main" id="{F7EDC42E-FFE8-8EAC-6452-EDBB4B5ACDA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95013" y="2434912"/>
            <a:ext cx="590443" cy="590443"/>
          </a:xfrm>
          <a:prstGeom prst="rect">
            <a:avLst/>
          </a:prstGeom>
        </p:spPr>
      </p:pic>
      <p:pic>
        <p:nvPicPr>
          <p:cNvPr id="11" name="Graphic 10" descr="Beaker with solid fill">
            <a:extLst>
              <a:ext uri="{FF2B5EF4-FFF2-40B4-BE49-F238E27FC236}">
                <a16:creationId xmlns:a16="http://schemas.microsoft.com/office/drawing/2014/main" id="{6666789A-F390-BCF4-EF5E-71DB8B4FFA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03059" y="2812900"/>
            <a:ext cx="590443" cy="590443"/>
          </a:xfrm>
          <a:prstGeom prst="rect">
            <a:avLst/>
          </a:prstGeom>
        </p:spPr>
      </p:pic>
      <p:cxnSp>
        <p:nvCxnSpPr>
          <p:cNvPr id="12" name="Straight Arrow Connector 11">
            <a:extLst>
              <a:ext uri="{FF2B5EF4-FFF2-40B4-BE49-F238E27FC236}">
                <a16:creationId xmlns:a16="http://schemas.microsoft.com/office/drawing/2014/main" id="{E681C6D9-B004-DF0F-DDDB-A72597E3AC91}"/>
              </a:ext>
            </a:extLst>
          </p:cNvPr>
          <p:cNvCxnSpPr>
            <a:cxnSpLocks/>
          </p:cNvCxnSpPr>
          <p:nvPr/>
        </p:nvCxnSpPr>
        <p:spPr>
          <a:xfrm>
            <a:off x="10331452" y="2945690"/>
            <a:ext cx="485436" cy="79665"/>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37814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8587C-C2FC-FB9F-3DBE-E0EBA8B16675}"/>
              </a:ext>
            </a:extLst>
          </p:cNvPr>
          <p:cNvSpPr>
            <a:spLocks noGrp="1"/>
          </p:cNvSpPr>
          <p:nvPr>
            <p:ph type="title"/>
          </p:nvPr>
        </p:nvSpPr>
        <p:spPr/>
        <p:txBody>
          <a:bodyPr>
            <a:normAutofit fontScale="90000"/>
          </a:bodyPr>
          <a:lstStyle/>
          <a:p>
            <a:r>
              <a:rPr lang="en-US" dirty="0"/>
              <a:t>Extended Cox model (time-varying covariates)</a:t>
            </a:r>
            <a:endParaRPr lang="en-AU" dirty="0"/>
          </a:p>
        </p:txBody>
      </p:sp>
      <p:sp>
        <p:nvSpPr>
          <p:cNvPr id="3" name="Content Placeholder 2">
            <a:extLst>
              <a:ext uri="{FF2B5EF4-FFF2-40B4-BE49-F238E27FC236}">
                <a16:creationId xmlns:a16="http://schemas.microsoft.com/office/drawing/2014/main" id="{3827EE4E-7A5F-B803-1A8A-CC3542B56DC5}"/>
              </a:ext>
            </a:extLst>
          </p:cNvPr>
          <p:cNvSpPr>
            <a:spLocks noGrp="1"/>
          </p:cNvSpPr>
          <p:nvPr>
            <p:ph idx="1"/>
          </p:nvPr>
        </p:nvSpPr>
        <p:spPr>
          <a:xfrm>
            <a:off x="700635" y="1906621"/>
            <a:ext cx="10691265" cy="4055267"/>
          </a:xfrm>
        </p:spPr>
        <p:txBody>
          <a:bodyPr/>
          <a:lstStyle/>
          <a:p>
            <a:pPr marL="0" indent="0">
              <a:buNone/>
            </a:pPr>
            <a:r>
              <a:rPr lang="en-US" dirty="0"/>
              <a:t>Why this addresses PH violation:</a:t>
            </a:r>
          </a:p>
          <a:p>
            <a:pPr marL="800100" lvl="1" indent="-342900" eaLnBrk="0" fontAlgn="base" hangingPunct="0">
              <a:spcBef>
                <a:spcPct val="0"/>
              </a:spcBef>
              <a:spcAft>
                <a:spcPct val="0"/>
              </a:spcAft>
            </a:pPr>
            <a:r>
              <a:rPr lang="en-US" altLang="en-US" dirty="0"/>
              <a:t>PH was violated partly because “risk profile changes over time.”</a:t>
            </a:r>
          </a:p>
          <a:p>
            <a:pPr marL="800100" lvl="1" indent="-342900" eaLnBrk="0" fontAlgn="base" hangingPunct="0">
              <a:spcBef>
                <a:spcPct val="0"/>
              </a:spcBef>
              <a:spcAft>
                <a:spcPct val="0"/>
              </a:spcAft>
            </a:pPr>
            <a:r>
              <a:rPr lang="en-US" altLang="en-US" dirty="0"/>
              <a:t>The extended Cox model explicitly updates the covariates over time instead of pretending they’re frozen at baseline.</a:t>
            </a:r>
          </a:p>
          <a:p>
            <a:pPr marL="800100" lvl="1" indent="-342900" eaLnBrk="0" fontAlgn="base" hangingPunct="0">
              <a:spcBef>
                <a:spcPct val="0"/>
              </a:spcBef>
              <a:spcAft>
                <a:spcPct val="0"/>
              </a:spcAft>
            </a:pPr>
            <a:r>
              <a:rPr lang="en-US" altLang="en-US" dirty="0"/>
              <a:t>This is different from stratification and different from adding </a:t>
            </a:r>
            <a:r>
              <a:rPr lang="en-US" altLang="en-US" b="1" u="sng" dirty="0">
                <a:solidFill>
                  <a:schemeClr val="accent5">
                    <a:lumMod val="75000"/>
                  </a:schemeClr>
                </a:solidFill>
              </a:rPr>
              <a:t>x × time</a:t>
            </a:r>
            <a:r>
              <a:rPr lang="en-US" altLang="en-US" dirty="0"/>
              <a:t>: here the value itself is time-dependent</a:t>
            </a:r>
          </a:p>
          <a:p>
            <a:pPr marL="0" indent="0">
              <a:buNone/>
            </a:pPr>
            <a:endParaRPr lang="en-US" dirty="0"/>
          </a:p>
          <a:p>
            <a:pPr marL="0" indent="0">
              <a:buNone/>
            </a:pPr>
            <a:endParaRPr lang="en-AU" dirty="0"/>
          </a:p>
        </p:txBody>
      </p:sp>
      <p:sp>
        <p:nvSpPr>
          <p:cNvPr id="4" name="Footer Placeholder 3">
            <a:extLst>
              <a:ext uri="{FF2B5EF4-FFF2-40B4-BE49-F238E27FC236}">
                <a16:creationId xmlns:a16="http://schemas.microsoft.com/office/drawing/2014/main" id="{3932CB4E-421B-EAC1-ABA1-E80E93E0853B}"/>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288705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01A49-5701-E02C-738F-48EE28BB73DA}"/>
              </a:ext>
            </a:extLst>
          </p:cNvPr>
          <p:cNvSpPr>
            <a:spLocks noGrp="1"/>
          </p:cNvSpPr>
          <p:nvPr>
            <p:ph type="title"/>
          </p:nvPr>
        </p:nvSpPr>
        <p:spPr>
          <a:xfrm>
            <a:off x="700635" y="914400"/>
            <a:ext cx="10691265" cy="778213"/>
          </a:xfrm>
        </p:spPr>
        <p:txBody>
          <a:bodyPr>
            <a:normAutofit fontScale="90000"/>
          </a:bodyPr>
          <a:lstStyle/>
          <a:p>
            <a:r>
              <a:rPr lang="en-US" dirty="0"/>
              <a:t>Extended Cox model (time-varying covariates)</a:t>
            </a:r>
            <a:endParaRPr lang="en-AU" dirty="0"/>
          </a:p>
        </p:txBody>
      </p:sp>
      <p:sp>
        <p:nvSpPr>
          <p:cNvPr id="4" name="Footer Placeholder 3">
            <a:extLst>
              <a:ext uri="{FF2B5EF4-FFF2-40B4-BE49-F238E27FC236}">
                <a16:creationId xmlns:a16="http://schemas.microsoft.com/office/drawing/2014/main" id="{7E268331-DFAA-D6C6-E050-BAE0EC4E82C9}"/>
              </a:ext>
            </a:extLst>
          </p:cNvPr>
          <p:cNvSpPr>
            <a:spLocks noGrp="1"/>
          </p:cNvSpPr>
          <p:nvPr>
            <p:ph type="ftr" sz="quarter" idx="11"/>
          </p:nvPr>
        </p:nvSpPr>
        <p:spPr/>
        <p:txBody>
          <a:bodyPr/>
          <a:lstStyle/>
          <a:p>
            <a:r>
              <a:rPr lang="en-US"/>
              <a:t>Farzaneh.Boroumand@Sydney.edu.au</a:t>
            </a:r>
            <a:endParaRPr lang="en-US" dirty="0"/>
          </a:p>
        </p:txBody>
      </p:sp>
      <p:sp>
        <p:nvSpPr>
          <p:cNvPr id="9" name="Arrow: Curved Right 8">
            <a:extLst>
              <a:ext uri="{FF2B5EF4-FFF2-40B4-BE49-F238E27FC236}">
                <a16:creationId xmlns:a16="http://schemas.microsoft.com/office/drawing/2014/main" id="{FED32C05-7B80-379C-764E-71D09A9EDBA5}"/>
              </a:ext>
            </a:extLst>
          </p:cNvPr>
          <p:cNvSpPr/>
          <p:nvPr/>
        </p:nvSpPr>
        <p:spPr>
          <a:xfrm>
            <a:off x="2480554" y="3534923"/>
            <a:ext cx="846306" cy="1476581"/>
          </a:xfrm>
          <a:prstGeom prst="curvedRightArrow">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tx1"/>
              </a:solidFill>
            </a:endParaRPr>
          </a:p>
        </p:txBody>
      </p:sp>
      <p:pic>
        <p:nvPicPr>
          <p:cNvPr id="17" name="Picture 16">
            <a:extLst>
              <a:ext uri="{FF2B5EF4-FFF2-40B4-BE49-F238E27FC236}">
                <a16:creationId xmlns:a16="http://schemas.microsoft.com/office/drawing/2014/main" id="{72EE47DC-0108-4C46-C1D8-948818C02DAC}"/>
              </a:ext>
            </a:extLst>
          </p:cNvPr>
          <p:cNvPicPr>
            <a:picLocks noChangeAspect="1"/>
          </p:cNvPicPr>
          <p:nvPr/>
        </p:nvPicPr>
        <p:blipFill>
          <a:blip r:embed="rId2"/>
          <a:stretch>
            <a:fillRect/>
          </a:stretch>
        </p:blipFill>
        <p:spPr>
          <a:xfrm>
            <a:off x="1115771" y="1741706"/>
            <a:ext cx="8554644" cy="1581371"/>
          </a:xfrm>
          <a:prstGeom prst="rect">
            <a:avLst/>
          </a:prstGeom>
        </p:spPr>
      </p:pic>
      <p:pic>
        <p:nvPicPr>
          <p:cNvPr id="19" name="Picture 18">
            <a:extLst>
              <a:ext uri="{FF2B5EF4-FFF2-40B4-BE49-F238E27FC236}">
                <a16:creationId xmlns:a16="http://schemas.microsoft.com/office/drawing/2014/main" id="{56050B81-2638-43A9-76F5-FE1AAF92E90B}"/>
              </a:ext>
            </a:extLst>
          </p:cNvPr>
          <p:cNvPicPr>
            <a:picLocks noChangeAspect="1"/>
          </p:cNvPicPr>
          <p:nvPr/>
        </p:nvPicPr>
        <p:blipFill>
          <a:blip r:embed="rId3"/>
          <a:stretch>
            <a:fillRect/>
          </a:stretch>
        </p:blipFill>
        <p:spPr>
          <a:xfrm>
            <a:off x="3649369" y="3567756"/>
            <a:ext cx="7916380" cy="2438740"/>
          </a:xfrm>
          <a:prstGeom prst="rect">
            <a:avLst/>
          </a:prstGeom>
        </p:spPr>
      </p:pic>
    </p:spTree>
    <p:extLst>
      <p:ext uri="{BB962C8B-B14F-4D97-AF65-F5344CB8AC3E}">
        <p14:creationId xmlns:p14="http://schemas.microsoft.com/office/powerpoint/2010/main" val="3783487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81478-2EC2-CF4D-0C5B-954817B129C1}"/>
              </a:ext>
            </a:extLst>
          </p:cNvPr>
          <p:cNvSpPr>
            <a:spLocks noGrp="1"/>
          </p:cNvSpPr>
          <p:nvPr>
            <p:ph type="title"/>
          </p:nvPr>
        </p:nvSpPr>
        <p:spPr/>
        <p:txBody>
          <a:bodyPr>
            <a:normAutofit fontScale="90000"/>
          </a:bodyPr>
          <a:lstStyle/>
          <a:p>
            <a:r>
              <a:rPr lang="en-US" dirty="0"/>
              <a:t>Extended Cox model (time-varying covariates)</a:t>
            </a:r>
            <a:endParaRPr lang="en-AU" dirty="0"/>
          </a:p>
        </p:txBody>
      </p:sp>
      <p:sp>
        <p:nvSpPr>
          <p:cNvPr id="4" name="Footer Placeholder 3">
            <a:extLst>
              <a:ext uri="{FF2B5EF4-FFF2-40B4-BE49-F238E27FC236}">
                <a16:creationId xmlns:a16="http://schemas.microsoft.com/office/drawing/2014/main" id="{2699DEA2-21BD-0B0E-6314-373696027533}"/>
              </a:ext>
            </a:extLst>
          </p:cNvPr>
          <p:cNvSpPr>
            <a:spLocks noGrp="1"/>
          </p:cNvSpPr>
          <p:nvPr>
            <p:ph type="ftr" sz="quarter" idx="11"/>
          </p:nvPr>
        </p:nvSpPr>
        <p:spPr/>
        <p:txBody>
          <a:bodyPr/>
          <a:lstStyle/>
          <a:p>
            <a:r>
              <a:rPr lang="en-US"/>
              <a:t>Farzaneh.Boroumand@Sydney.edu.au</a:t>
            </a:r>
            <a:endParaRPr lang="en-US" dirty="0"/>
          </a:p>
        </p:txBody>
      </p:sp>
      <p:sp>
        <p:nvSpPr>
          <p:cNvPr id="8" name="Content Placeholder 7">
            <a:extLst>
              <a:ext uri="{FF2B5EF4-FFF2-40B4-BE49-F238E27FC236}">
                <a16:creationId xmlns:a16="http://schemas.microsoft.com/office/drawing/2014/main" id="{5F814577-B412-AD0E-BBC2-9C0A349B2EDC}"/>
              </a:ext>
            </a:extLst>
          </p:cNvPr>
          <p:cNvSpPr>
            <a:spLocks noGrp="1"/>
          </p:cNvSpPr>
          <p:nvPr>
            <p:ph idx="1"/>
          </p:nvPr>
        </p:nvSpPr>
        <p:spPr/>
        <p:txBody>
          <a:bodyPr/>
          <a:lstStyle/>
          <a:p>
            <a:pPr marL="0" indent="0">
              <a:buNone/>
            </a:pPr>
            <a:r>
              <a:rPr lang="en-US" dirty="0"/>
              <a:t>Change of eGFR over time </a:t>
            </a:r>
            <a:endParaRPr lang="en-AU" dirty="0"/>
          </a:p>
        </p:txBody>
      </p:sp>
      <p:pic>
        <p:nvPicPr>
          <p:cNvPr id="11" name="Picture 10">
            <a:extLst>
              <a:ext uri="{FF2B5EF4-FFF2-40B4-BE49-F238E27FC236}">
                <a16:creationId xmlns:a16="http://schemas.microsoft.com/office/drawing/2014/main" id="{30A8EAE5-A3F4-BF3B-C24C-ECCB1B472788}"/>
              </a:ext>
            </a:extLst>
          </p:cNvPr>
          <p:cNvPicPr>
            <a:picLocks noChangeAspect="1"/>
          </p:cNvPicPr>
          <p:nvPr/>
        </p:nvPicPr>
        <p:blipFill>
          <a:blip r:embed="rId2"/>
          <a:stretch>
            <a:fillRect/>
          </a:stretch>
        </p:blipFill>
        <p:spPr>
          <a:xfrm>
            <a:off x="4356521" y="2444619"/>
            <a:ext cx="6976674" cy="2722605"/>
          </a:xfrm>
          <a:prstGeom prst="rect">
            <a:avLst/>
          </a:prstGeom>
        </p:spPr>
      </p:pic>
    </p:spTree>
    <p:extLst>
      <p:ext uri="{BB962C8B-B14F-4D97-AF65-F5344CB8AC3E}">
        <p14:creationId xmlns:p14="http://schemas.microsoft.com/office/powerpoint/2010/main" val="5449350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6665A-3DE8-7CFF-10EE-114810D905D2}"/>
              </a:ext>
            </a:extLst>
          </p:cNvPr>
          <p:cNvSpPr>
            <a:spLocks noGrp="1"/>
          </p:cNvSpPr>
          <p:nvPr>
            <p:ph type="title"/>
          </p:nvPr>
        </p:nvSpPr>
        <p:spPr/>
        <p:txBody>
          <a:bodyPr>
            <a:normAutofit fontScale="90000"/>
          </a:bodyPr>
          <a:lstStyle/>
          <a:p>
            <a:r>
              <a:rPr lang="en-US" dirty="0"/>
              <a:t>Extended Cox model (time-varying covariates)</a:t>
            </a:r>
            <a:endParaRPr lang="en-AU" dirty="0"/>
          </a:p>
        </p:txBody>
      </p:sp>
      <p:pic>
        <p:nvPicPr>
          <p:cNvPr id="6" name="Content Placeholder 5">
            <a:extLst>
              <a:ext uri="{FF2B5EF4-FFF2-40B4-BE49-F238E27FC236}">
                <a16:creationId xmlns:a16="http://schemas.microsoft.com/office/drawing/2014/main" id="{42AE3E6B-D14A-BC89-255A-2A1827815910}"/>
              </a:ext>
            </a:extLst>
          </p:cNvPr>
          <p:cNvPicPr>
            <a:picLocks noGrp="1" noChangeAspect="1"/>
          </p:cNvPicPr>
          <p:nvPr>
            <p:ph idx="1"/>
          </p:nvPr>
        </p:nvPicPr>
        <p:blipFill>
          <a:blip r:embed="rId2"/>
          <a:stretch>
            <a:fillRect/>
          </a:stretch>
        </p:blipFill>
        <p:spPr>
          <a:xfrm>
            <a:off x="700635" y="2949849"/>
            <a:ext cx="5582429" cy="1686160"/>
          </a:xfrm>
          <a:prstGeom prst="rect">
            <a:avLst/>
          </a:prstGeom>
        </p:spPr>
      </p:pic>
      <p:sp>
        <p:nvSpPr>
          <p:cNvPr id="4" name="Footer Placeholder 3">
            <a:extLst>
              <a:ext uri="{FF2B5EF4-FFF2-40B4-BE49-F238E27FC236}">
                <a16:creationId xmlns:a16="http://schemas.microsoft.com/office/drawing/2014/main" id="{0B311073-6D40-EDFC-51F3-9B7272209F8A}"/>
              </a:ext>
            </a:extLst>
          </p:cNvPr>
          <p:cNvSpPr>
            <a:spLocks noGrp="1"/>
          </p:cNvSpPr>
          <p:nvPr>
            <p:ph type="ftr" sz="quarter" idx="11"/>
          </p:nvPr>
        </p:nvSpPr>
        <p:spPr/>
        <p:txBody>
          <a:bodyPr/>
          <a:lstStyle/>
          <a:p>
            <a:r>
              <a:rPr lang="en-US"/>
              <a:t>Farzaneh.Boroumand@Sydney.edu.au</a:t>
            </a:r>
            <a:endParaRPr lang="en-US" dirty="0"/>
          </a:p>
        </p:txBody>
      </p:sp>
      <p:pic>
        <p:nvPicPr>
          <p:cNvPr id="8" name="Picture 7">
            <a:extLst>
              <a:ext uri="{FF2B5EF4-FFF2-40B4-BE49-F238E27FC236}">
                <a16:creationId xmlns:a16="http://schemas.microsoft.com/office/drawing/2014/main" id="{166B78B7-7620-0F69-D809-7968B1F2E238}"/>
              </a:ext>
            </a:extLst>
          </p:cNvPr>
          <p:cNvPicPr>
            <a:picLocks noChangeAspect="1"/>
          </p:cNvPicPr>
          <p:nvPr/>
        </p:nvPicPr>
        <p:blipFill>
          <a:blip r:embed="rId3"/>
          <a:stretch>
            <a:fillRect/>
          </a:stretch>
        </p:blipFill>
        <p:spPr>
          <a:xfrm>
            <a:off x="6685120" y="1923412"/>
            <a:ext cx="5115636" cy="3658363"/>
          </a:xfrm>
          <a:prstGeom prst="rect">
            <a:avLst/>
          </a:prstGeom>
        </p:spPr>
      </p:pic>
    </p:spTree>
    <p:extLst>
      <p:ext uri="{BB962C8B-B14F-4D97-AF65-F5344CB8AC3E}">
        <p14:creationId xmlns:p14="http://schemas.microsoft.com/office/powerpoint/2010/main" val="13635806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C2768-A76C-9315-9872-1F31CBFCE75D}"/>
              </a:ext>
            </a:extLst>
          </p:cNvPr>
          <p:cNvSpPr>
            <a:spLocks noGrp="1"/>
          </p:cNvSpPr>
          <p:nvPr>
            <p:ph type="title"/>
          </p:nvPr>
        </p:nvSpPr>
        <p:spPr>
          <a:xfrm>
            <a:off x="700635" y="914400"/>
            <a:ext cx="10691265" cy="1001486"/>
          </a:xfrm>
        </p:spPr>
        <p:txBody>
          <a:bodyPr>
            <a:normAutofit fontScale="90000"/>
          </a:bodyPr>
          <a:lstStyle/>
          <a:p>
            <a:r>
              <a:rPr lang="en-US" dirty="0"/>
              <a:t>Extended Cox model (time-varying covariates)</a:t>
            </a:r>
            <a:endParaRPr lang="en-AU" dirty="0"/>
          </a:p>
        </p:txBody>
      </p:sp>
      <p:graphicFrame>
        <p:nvGraphicFramePr>
          <p:cNvPr id="5" name="Content Placeholder 4">
            <a:extLst>
              <a:ext uri="{FF2B5EF4-FFF2-40B4-BE49-F238E27FC236}">
                <a16:creationId xmlns:a16="http://schemas.microsoft.com/office/drawing/2014/main" id="{85362B96-F374-383A-2014-5CFDE5DF7116}"/>
              </a:ext>
            </a:extLst>
          </p:cNvPr>
          <p:cNvGraphicFramePr>
            <a:graphicFrameLocks noGrp="1"/>
          </p:cNvGraphicFramePr>
          <p:nvPr>
            <p:ph idx="1"/>
            <p:extLst>
              <p:ext uri="{D42A27DB-BD31-4B8C-83A1-F6EECF244321}">
                <p14:modId xmlns:p14="http://schemas.microsoft.com/office/powerpoint/2010/main" val="2961717374"/>
              </p:ext>
            </p:extLst>
          </p:nvPr>
        </p:nvGraphicFramePr>
        <p:xfrm>
          <a:off x="986712" y="1915886"/>
          <a:ext cx="10350760" cy="3745108"/>
        </p:xfrm>
        <a:graphic>
          <a:graphicData uri="http://schemas.openxmlformats.org/drawingml/2006/table">
            <a:tbl>
              <a:tblPr>
                <a:tableStyleId>{93296810-A885-4BE3-A3E7-6D5BEEA58F35}</a:tableStyleId>
              </a:tblPr>
              <a:tblGrid>
                <a:gridCol w="2587690">
                  <a:extLst>
                    <a:ext uri="{9D8B030D-6E8A-4147-A177-3AD203B41FA5}">
                      <a16:colId xmlns:a16="http://schemas.microsoft.com/office/drawing/2014/main" val="1942390809"/>
                    </a:ext>
                  </a:extLst>
                </a:gridCol>
                <a:gridCol w="1594757">
                  <a:extLst>
                    <a:ext uri="{9D8B030D-6E8A-4147-A177-3AD203B41FA5}">
                      <a16:colId xmlns:a16="http://schemas.microsoft.com/office/drawing/2014/main" val="1169370633"/>
                    </a:ext>
                  </a:extLst>
                </a:gridCol>
                <a:gridCol w="1045029">
                  <a:extLst>
                    <a:ext uri="{9D8B030D-6E8A-4147-A177-3AD203B41FA5}">
                      <a16:colId xmlns:a16="http://schemas.microsoft.com/office/drawing/2014/main" val="902469695"/>
                    </a:ext>
                  </a:extLst>
                </a:gridCol>
                <a:gridCol w="5123284">
                  <a:extLst>
                    <a:ext uri="{9D8B030D-6E8A-4147-A177-3AD203B41FA5}">
                      <a16:colId xmlns:a16="http://schemas.microsoft.com/office/drawing/2014/main" val="3932773241"/>
                    </a:ext>
                  </a:extLst>
                </a:gridCol>
              </a:tblGrid>
              <a:tr h="282275">
                <a:tc>
                  <a:txBody>
                    <a:bodyPr/>
                    <a:lstStyle/>
                    <a:p>
                      <a:pPr>
                        <a:buNone/>
                      </a:pPr>
                      <a:r>
                        <a:rPr lang="en-AU" sz="1400"/>
                        <a:t>Variable</a:t>
                      </a:r>
                    </a:p>
                  </a:txBody>
                  <a:tcPr marL="70569" marR="70569" marT="35284" marB="35284" anchor="ctr"/>
                </a:tc>
                <a:tc>
                  <a:txBody>
                    <a:bodyPr/>
                    <a:lstStyle/>
                    <a:p>
                      <a:pPr>
                        <a:buNone/>
                      </a:pPr>
                      <a:r>
                        <a:rPr lang="en-AU" sz="1400"/>
                        <a:t>HR (95% CI)</a:t>
                      </a:r>
                    </a:p>
                  </a:txBody>
                  <a:tcPr marL="70569" marR="70569" marT="35284" marB="35284" anchor="ctr"/>
                </a:tc>
                <a:tc>
                  <a:txBody>
                    <a:bodyPr/>
                    <a:lstStyle/>
                    <a:p>
                      <a:pPr>
                        <a:buNone/>
                      </a:pPr>
                      <a:r>
                        <a:rPr lang="en-AU" sz="1400"/>
                        <a:t>p-value</a:t>
                      </a:r>
                    </a:p>
                  </a:txBody>
                  <a:tcPr marL="70569" marR="70569" marT="35284" marB="35284" anchor="ctr"/>
                </a:tc>
                <a:tc>
                  <a:txBody>
                    <a:bodyPr/>
                    <a:lstStyle/>
                    <a:p>
                      <a:pPr>
                        <a:buNone/>
                      </a:pPr>
                      <a:r>
                        <a:rPr lang="en-AU" sz="1400"/>
                        <a:t>Interpretation</a:t>
                      </a:r>
                    </a:p>
                  </a:txBody>
                  <a:tcPr marL="70569" marR="70569" marT="35284" marB="35284" anchor="ctr"/>
                </a:tc>
                <a:extLst>
                  <a:ext uri="{0D108BD9-81ED-4DB2-BD59-A6C34878D82A}">
                    <a16:rowId xmlns:a16="http://schemas.microsoft.com/office/drawing/2014/main" val="983188756"/>
                  </a:ext>
                </a:extLst>
              </a:tr>
              <a:tr h="1552515">
                <a:tc>
                  <a:txBody>
                    <a:bodyPr/>
                    <a:lstStyle/>
                    <a:p>
                      <a:pPr>
                        <a:buNone/>
                      </a:pPr>
                      <a:r>
                        <a:rPr lang="en-AU" sz="1400" b="1"/>
                        <a:t>eGFR_current</a:t>
                      </a:r>
                      <a:endParaRPr lang="en-AU" sz="1400"/>
                    </a:p>
                  </a:txBody>
                  <a:tcPr marL="70569" marR="70569" marT="35284" marB="35284" anchor="ctr"/>
                </a:tc>
                <a:tc>
                  <a:txBody>
                    <a:bodyPr/>
                    <a:lstStyle/>
                    <a:p>
                      <a:pPr>
                        <a:buNone/>
                      </a:pPr>
                      <a:r>
                        <a:rPr lang="en-AU" sz="1400" dirty="0"/>
                        <a:t>0.92 (0.86 – 0.98)</a:t>
                      </a:r>
                    </a:p>
                  </a:txBody>
                  <a:tcPr marL="70569" marR="70569" marT="35284" marB="35284" anchor="ctr"/>
                </a:tc>
                <a:tc>
                  <a:txBody>
                    <a:bodyPr/>
                    <a:lstStyle/>
                    <a:p>
                      <a:pPr>
                        <a:buNone/>
                      </a:pPr>
                      <a:r>
                        <a:rPr lang="en-AU" sz="1400" b="1"/>
                        <a:t>0.01</a:t>
                      </a:r>
                      <a:endParaRPr lang="en-AU" sz="1400"/>
                    </a:p>
                  </a:txBody>
                  <a:tcPr marL="70569" marR="70569" marT="35284" marB="35284" anchor="ctr"/>
                </a:tc>
                <a:tc>
                  <a:txBody>
                    <a:bodyPr/>
                    <a:lstStyle/>
                    <a:p>
                      <a:pPr>
                        <a:buNone/>
                      </a:pPr>
                      <a:r>
                        <a:rPr lang="en-US" sz="1400"/>
                        <a:t>Each 1 mL/min/1.73 m² higher current eGFR is associated with about an </a:t>
                      </a:r>
                      <a:r>
                        <a:rPr lang="en-US" sz="1400" b="1"/>
                        <a:t>8 % lower instantaneous hazard</a:t>
                      </a:r>
                      <a:r>
                        <a:rPr lang="en-US" sz="1400"/>
                        <a:t> of graft failure, holding other factors constant.</a:t>
                      </a:r>
                    </a:p>
                  </a:txBody>
                  <a:tcPr marL="70569" marR="70569" marT="35284" marB="35284" anchor="ctr"/>
                </a:tc>
                <a:extLst>
                  <a:ext uri="{0D108BD9-81ED-4DB2-BD59-A6C34878D82A}">
                    <a16:rowId xmlns:a16="http://schemas.microsoft.com/office/drawing/2014/main" val="2289491458"/>
                  </a:ext>
                </a:extLst>
              </a:tr>
              <a:tr h="917395">
                <a:tc>
                  <a:txBody>
                    <a:bodyPr/>
                    <a:lstStyle/>
                    <a:p>
                      <a:pPr>
                        <a:buNone/>
                      </a:pPr>
                      <a:r>
                        <a:rPr lang="en-US" sz="1400"/>
                        <a:t>Donor type (living vs deceased)</a:t>
                      </a:r>
                    </a:p>
                  </a:txBody>
                  <a:tcPr marL="70569" marR="70569" marT="35284" marB="35284" anchor="ctr"/>
                </a:tc>
                <a:tc>
                  <a:txBody>
                    <a:bodyPr/>
                    <a:lstStyle/>
                    <a:p>
                      <a:pPr>
                        <a:buNone/>
                      </a:pPr>
                      <a:r>
                        <a:rPr lang="en-AU" sz="1400"/>
                        <a:t>1.28 (0.24 – 6.83)</a:t>
                      </a:r>
                    </a:p>
                  </a:txBody>
                  <a:tcPr marL="70569" marR="70569" marT="35284" marB="35284" anchor="ctr"/>
                </a:tc>
                <a:tc>
                  <a:txBody>
                    <a:bodyPr/>
                    <a:lstStyle/>
                    <a:p>
                      <a:pPr>
                        <a:buNone/>
                      </a:pPr>
                      <a:r>
                        <a:rPr lang="en-AU" sz="1400"/>
                        <a:t>0.77</a:t>
                      </a:r>
                    </a:p>
                  </a:txBody>
                  <a:tcPr marL="70569" marR="70569" marT="35284" marB="35284" anchor="ctr"/>
                </a:tc>
                <a:tc>
                  <a:txBody>
                    <a:bodyPr/>
                    <a:lstStyle/>
                    <a:p>
                      <a:pPr>
                        <a:buNone/>
                      </a:pPr>
                      <a:r>
                        <a:rPr lang="en-US" sz="1400"/>
                        <a:t>No significant difference in hazard once time-updated eGFR is included.</a:t>
                      </a:r>
                    </a:p>
                  </a:txBody>
                  <a:tcPr marL="70569" marR="70569" marT="35284" marB="35284" anchor="ctr"/>
                </a:tc>
                <a:extLst>
                  <a:ext uri="{0D108BD9-81ED-4DB2-BD59-A6C34878D82A}">
                    <a16:rowId xmlns:a16="http://schemas.microsoft.com/office/drawing/2014/main" val="713932788"/>
                  </a:ext>
                </a:extLst>
              </a:tr>
              <a:tr h="493982">
                <a:tc>
                  <a:txBody>
                    <a:bodyPr/>
                    <a:lstStyle/>
                    <a:p>
                      <a:pPr>
                        <a:buNone/>
                      </a:pPr>
                      <a:r>
                        <a:rPr lang="en-AU" sz="1400"/>
                        <a:t>Donor age</a:t>
                      </a:r>
                    </a:p>
                  </a:txBody>
                  <a:tcPr marL="70569" marR="70569" marT="35284" marB="35284" anchor="ctr"/>
                </a:tc>
                <a:tc>
                  <a:txBody>
                    <a:bodyPr/>
                    <a:lstStyle/>
                    <a:p>
                      <a:pPr>
                        <a:buNone/>
                      </a:pPr>
                      <a:r>
                        <a:rPr lang="en-AU" sz="1400"/>
                        <a:t>1.03 (0.97 – 1.09)</a:t>
                      </a:r>
                    </a:p>
                  </a:txBody>
                  <a:tcPr marL="70569" marR="70569" marT="35284" marB="35284" anchor="ctr"/>
                </a:tc>
                <a:tc>
                  <a:txBody>
                    <a:bodyPr/>
                    <a:lstStyle/>
                    <a:p>
                      <a:pPr>
                        <a:buNone/>
                      </a:pPr>
                      <a:r>
                        <a:rPr lang="en-AU" sz="1400"/>
                        <a:t>0.39</a:t>
                      </a:r>
                    </a:p>
                  </a:txBody>
                  <a:tcPr marL="70569" marR="70569" marT="35284" marB="35284" anchor="ctr"/>
                </a:tc>
                <a:tc>
                  <a:txBody>
                    <a:bodyPr/>
                    <a:lstStyle/>
                    <a:p>
                      <a:pPr>
                        <a:buNone/>
                      </a:pPr>
                      <a:r>
                        <a:rPr lang="en-US" sz="1400"/>
                        <a:t>No evidence of donor-age effect.</a:t>
                      </a:r>
                    </a:p>
                  </a:txBody>
                  <a:tcPr marL="70569" marR="70569" marT="35284" marB="35284" anchor="ctr"/>
                </a:tc>
                <a:extLst>
                  <a:ext uri="{0D108BD9-81ED-4DB2-BD59-A6C34878D82A}">
                    <a16:rowId xmlns:a16="http://schemas.microsoft.com/office/drawing/2014/main" val="1290429820"/>
                  </a:ext>
                </a:extLst>
              </a:tr>
              <a:tr h="493982">
                <a:tc>
                  <a:txBody>
                    <a:bodyPr/>
                    <a:lstStyle/>
                    <a:p>
                      <a:pPr>
                        <a:buNone/>
                      </a:pPr>
                      <a:r>
                        <a:rPr lang="en-US" sz="1400"/>
                        <a:t>Recipient gender (male vs female)</a:t>
                      </a:r>
                    </a:p>
                  </a:txBody>
                  <a:tcPr marL="70569" marR="70569" marT="35284" marB="35284" anchor="ctr"/>
                </a:tc>
                <a:tc>
                  <a:txBody>
                    <a:bodyPr/>
                    <a:lstStyle/>
                    <a:p>
                      <a:pPr>
                        <a:buNone/>
                      </a:pPr>
                      <a:r>
                        <a:rPr lang="en-AU" sz="1400"/>
                        <a:t>1.36 (0.45 – 4.10)</a:t>
                      </a:r>
                    </a:p>
                  </a:txBody>
                  <a:tcPr marL="70569" marR="70569" marT="35284" marB="35284" anchor="ctr"/>
                </a:tc>
                <a:tc>
                  <a:txBody>
                    <a:bodyPr/>
                    <a:lstStyle/>
                    <a:p>
                      <a:pPr>
                        <a:buNone/>
                      </a:pPr>
                      <a:r>
                        <a:rPr lang="en-AU" sz="1400"/>
                        <a:t>0.58</a:t>
                      </a:r>
                    </a:p>
                  </a:txBody>
                  <a:tcPr marL="70569" marR="70569" marT="35284" marB="35284" anchor="ctr"/>
                </a:tc>
                <a:tc>
                  <a:txBody>
                    <a:bodyPr/>
                    <a:lstStyle/>
                    <a:p>
                      <a:pPr>
                        <a:buNone/>
                      </a:pPr>
                      <a:r>
                        <a:rPr lang="en-AU" sz="1400" dirty="0"/>
                        <a:t>No significant gender difference.</a:t>
                      </a:r>
                    </a:p>
                  </a:txBody>
                  <a:tcPr marL="70569" marR="70569" marT="35284" marB="35284" anchor="ctr"/>
                </a:tc>
                <a:extLst>
                  <a:ext uri="{0D108BD9-81ED-4DB2-BD59-A6C34878D82A}">
                    <a16:rowId xmlns:a16="http://schemas.microsoft.com/office/drawing/2014/main" val="498453029"/>
                  </a:ext>
                </a:extLst>
              </a:tr>
            </a:tbl>
          </a:graphicData>
        </a:graphic>
      </p:graphicFrame>
      <p:sp>
        <p:nvSpPr>
          <p:cNvPr id="4" name="Footer Placeholder 3">
            <a:extLst>
              <a:ext uri="{FF2B5EF4-FFF2-40B4-BE49-F238E27FC236}">
                <a16:creationId xmlns:a16="http://schemas.microsoft.com/office/drawing/2014/main" id="{95C20F96-75A7-6518-4544-27827179D92C}"/>
              </a:ext>
            </a:extLst>
          </p:cNvPr>
          <p:cNvSpPr>
            <a:spLocks noGrp="1"/>
          </p:cNvSpPr>
          <p:nvPr>
            <p:ph type="ftr" sz="quarter" idx="11"/>
          </p:nvPr>
        </p:nvSpPr>
        <p:spPr/>
        <p:txBody>
          <a:bodyPr/>
          <a:lstStyle/>
          <a:p>
            <a:r>
              <a:rPr lang="en-US"/>
              <a:t>Farzaneh.Boroumand@Sydney.edu.au</a:t>
            </a:r>
            <a:endParaRPr lang="en-US" dirty="0"/>
          </a:p>
        </p:txBody>
      </p:sp>
    </p:spTree>
    <p:extLst>
      <p:ext uri="{BB962C8B-B14F-4D97-AF65-F5344CB8AC3E}">
        <p14:creationId xmlns:p14="http://schemas.microsoft.com/office/powerpoint/2010/main" val="649837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366C2-4A5F-40A7-059D-5DEEAD158800}"/>
              </a:ext>
            </a:extLst>
          </p:cNvPr>
          <p:cNvSpPr>
            <a:spLocks noGrp="1"/>
          </p:cNvSpPr>
          <p:nvPr>
            <p:ph type="title"/>
          </p:nvPr>
        </p:nvSpPr>
        <p:spPr/>
        <p:txBody>
          <a:bodyPr>
            <a:normAutofit fontScale="90000"/>
          </a:bodyPr>
          <a:lstStyle/>
          <a:p>
            <a:r>
              <a:rPr lang="en-US" dirty="0"/>
              <a:t>Extended Cox model (time-varying covariates)</a:t>
            </a:r>
            <a:endParaRPr lang="en-AU" dirty="0"/>
          </a:p>
        </p:txBody>
      </p:sp>
      <p:sp>
        <p:nvSpPr>
          <p:cNvPr id="4" name="Footer Placeholder 3">
            <a:extLst>
              <a:ext uri="{FF2B5EF4-FFF2-40B4-BE49-F238E27FC236}">
                <a16:creationId xmlns:a16="http://schemas.microsoft.com/office/drawing/2014/main" id="{F77A78F8-1B6A-CCD7-0D5F-84B99ABD92C7}"/>
              </a:ext>
            </a:extLst>
          </p:cNvPr>
          <p:cNvSpPr>
            <a:spLocks noGrp="1"/>
          </p:cNvSpPr>
          <p:nvPr>
            <p:ph type="ftr" sz="quarter" idx="11"/>
          </p:nvPr>
        </p:nvSpPr>
        <p:spPr/>
        <p:txBody>
          <a:bodyPr/>
          <a:lstStyle/>
          <a:p>
            <a:r>
              <a:rPr lang="en-US"/>
              <a:t>Farzaneh.Boroumand@Sydney.edu.au</a:t>
            </a:r>
            <a:endParaRPr lang="en-US" dirty="0"/>
          </a:p>
        </p:txBody>
      </p:sp>
      <p:graphicFrame>
        <p:nvGraphicFramePr>
          <p:cNvPr id="10" name="Content Placeholder 9">
            <a:extLst>
              <a:ext uri="{FF2B5EF4-FFF2-40B4-BE49-F238E27FC236}">
                <a16:creationId xmlns:a16="http://schemas.microsoft.com/office/drawing/2014/main" id="{1CB32D32-15A7-450C-40DF-A2778801DD25}"/>
              </a:ext>
            </a:extLst>
          </p:cNvPr>
          <p:cNvGraphicFramePr>
            <a:graphicFrameLocks noGrp="1"/>
          </p:cNvGraphicFramePr>
          <p:nvPr>
            <p:ph idx="1"/>
            <p:extLst>
              <p:ext uri="{D42A27DB-BD31-4B8C-83A1-F6EECF244321}">
                <p14:modId xmlns:p14="http://schemas.microsoft.com/office/powerpoint/2010/main" val="517984427"/>
              </p:ext>
            </p:extLst>
          </p:nvPr>
        </p:nvGraphicFramePr>
        <p:xfrm>
          <a:off x="912067" y="2027852"/>
          <a:ext cx="4649464" cy="3091280"/>
        </p:xfrm>
        <a:graphic>
          <a:graphicData uri="http://schemas.openxmlformats.org/drawingml/2006/table">
            <a:tbl>
              <a:tblPr>
                <a:tableStyleId>{10A1B5D5-9B99-4C35-A422-299274C87663}</a:tableStyleId>
              </a:tblPr>
              <a:tblGrid>
                <a:gridCol w="2324732">
                  <a:extLst>
                    <a:ext uri="{9D8B030D-6E8A-4147-A177-3AD203B41FA5}">
                      <a16:colId xmlns:a16="http://schemas.microsoft.com/office/drawing/2014/main" val="3902745851"/>
                    </a:ext>
                  </a:extLst>
                </a:gridCol>
                <a:gridCol w="2324732">
                  <a:extLst>
                    <a:ext uri="{9D8B030D-6E8A-4147-A177-3AD203B41FA5}">
                      <a16:colId xmlns:a16="http://schemas.microsoft.com/office/drawing/2014/main" val="2930601970"/>
                    </a:ext>
                  </a:extLst>
                </a:gridCol>
              </a:tblGrid>
              <a:tr h="363680">
                <a:tc>
                  <a:txBody>
                    <a:bodyPr/>
                    <a:lstStyle/>
                    <a:p>
                      <a:pPr>
                        <a:buNone/>
                      </a:pPr>
                      <a:r>
                        <a:rPr lang="en-AU" sz="1050"/>
                        <a:t>eGFR Level</a:t>
                      </a:r>
                    </a:p>
                  </a:txBody>
                  <a:tcPr anchor="ctr"/>
                </a:tc>
                <a:tc>
                  <a:txBody>
                    <a:bodyPr/>
                    <a:lstStyle/>
                    <a:p>
                      <a:pPr>
                        <a:buNone/>
                      </a:pPr>
                      <a:r>
                        <a:rPr lang="en-AU" sz="1050"/>
                        <a:t>Interpretation</a:t>
                      </a:r>
                    </a:p>
                  </a:txBody>
                  <a:tcPr anchor="ctr"/>
                </a:tc>
                <a:extLst>
                  <a:ext uri="{0D108BD9-81ED-4DB2-BD59-A6C34878D82A}">
                    <a16:rowId xmlns:a16="http://schemas.microsoft.com/office/drawing/2014/main" val="1630511311"/>
                  </a:ext>
                </a:extLst>
              </a:tr>
              <a:tr h="909200">
                <a:tc>
                  <a:txBody>
                    <a:bodyPr/>
                    <a:lstStyle/>
                    <a:p>
                      <a:pPr>
                        <a:buNone/>
                      </a:pPr>
                      <a:r>
                        <a:rPr lang="en-AU" sz="1050" b="1"/>
                        <a:t>eGFR = 90 (green)</a:t>
                      </a:r>
                      <a:endParaRPr lang="en-AU" sz="1050"/>
                    </a:p>
                  </a:txBody>
                  <a:tcPr anchor="ctr"/>
                </a:tc>
                <a:tc>
                  <a:txBody>
                    <a:bodyPr/>
                    <a:lstStyle/>
                    <a:p>
                      <a:pPr>
                        <a:buNone/>
                      </a:pPr>
                      <a:r>
                        <a:rPr lang="en-US" sz="1050" dirty="0"/>
                        <a:t>Very stable graft survival. The curve remains near 1.0 over time — meaning patients maintaining this level of kidney function have very low risk of graft failure.</a:t>
                      </a:r>
                    </a:p>
                  </a:txBody>
                  <a:tcPr anchor="ctr"/>
                </a:tc>
                <a:extLst>
                  <a:ext uri="{0D108BD9-81ED-4DB2-BD59-A6C34878D82A}">
                    <a16:rowId xmlns:a16="http://schemas.microsoft.com/office/drawing/2014/main" val="1649270769"/>
                  </a:ext>
                </a:extLst>
              </a:tr>
              <a:tr h="909200">
                <a:tc>
                  <a:txBody>
                    <a:bodyPr/>
                    <a:lstStyle/>
                    <a:p>
                      <a:pPr>
                        <a:buNone/>
                      </a:pPr>
                      <a:r>
                        <a:rPr lang="en-AU" sz="1050" b="1"/>
                        <a:t>eGFR = 60 (orange)</a:t>
                      </a:r>
                      <a:endParaRPr lang="en-AU" sz="1050"/>
                    </a:p>
                  </a:txBody>
                  <a:tcPr anchor="ctr"/>
                </a:tc>
                <a:tc>
                  <a:txBody>
                    <a:bodyPr/>
                    <a:lstStyle/>
                    <a:p>
                      <a:pPr>
                        <a:buNone/>
                      </a:pPr>
                      <a:r>
                        <a:rPr lang="en-US" sz="1050"/>
                        <a:t>Slightly higher risk, but still good survival. The probability of graft survival remains high (&gt;95 %) over 8 years.</a:t>
                      </a:r>
                    </a:p>
                  </a:txBody>
                  <a:tcPr anchor="ctr"/>
                </a:tc>
                <a:extLst>
                  <a:ext uri="{0D108BD9-81ED-4DB2-BD59-A6C34878D82A}">
                    <a16:rowId xmlns:a16="http://schemas.microsoft.com/office/drawing/2014/main" val="622675922"/>
                  </a:ext>
                </a:extLst>
              </a:tr>
              <a:tr h="909200">
                <a:tc>
                  <a:txBody>
                    <a:bodyPr/>
                    <a:lstStyle/>
                    <a:p>
                      <a:pPr>
                        <a:buNone/>
                      </a:pPr>
                      <a:r>
                        <a:rPr lang="en-AU" sz="1050" b="1"/>
                        <a:t>eGFR = 30 (red)</a:t>
                      </a:r>
                      <a:endParaRPr lang="en-AU" sz="1050"/>
                    </a:p>
                  </a:txBody>
                  <a:tcPr anchor="ctr"/>
                </a:tc>
                <a:tc>
                  <a:txBody>
                    <a:bodyPr/>
                    <a:lstStyle/>
                    <a:p>
                      <a:pPr>
                        <a:buNone/>
                      </a:pPr>
                      <a:r>
                        <a:rPr lang="en-US" sz="1050" dirty="0"/>
                        <a:t>Markedly reduced survival. The curve declines more steeply, showing a pronounced increase in the risk of graft loss over time.</a:t>
                      </a:r>
                    </a:p>
                  </a:txBody>
                  <a:tcPr anchor="ctr"/>
                </a:tc>
                <a:extLst>
                  <a:ext uri="{0D108BD9-81ED-4DB2-BD59-A6C34878D82A}">
                    <a16:rowId xmlns:a16="http://schemas.microsoft.com/office/drawing/2014/main" val="3052871344"/>
                  </a:ext>
                </a:extLst>
              </a:tr>
            </a:tbl>
          </a:graphicData>
        </a:graphic>
      </p:graphicFrame>
      <p:pic>
        <p:nvPicPr>
          <p:cNvPr id="9" name="Content Placeholder 5">
            <a:extLst>
              <a:ext uri="{FF2B5EF4-FFF2-40B4-BE49-F238E27FC236}">
                <a16:creationId xmlns:a16="http://schemas.microsoft.com/office/drawing/2014/main" id="{702847FB-BD98-0F68-220A-9A00D35BB3A7}"/>
              </a:ext>
            </a:extLst>
          </p:cNvPr>
          <p:cNvPicPr>
            <a:picLocks noChangeAspect="1"/>
          </p:cNvPicPr>
          <p:nvPr/>
        </p:nvPicPr>
        <p:blipFill>
          <a:blip r:embed="rId2"/>
          <a:stretch>
            <a:fillRect/>
          </a:stretch>
        </p:blipFill>
        <p:spPr>
          <a:xfrm>
            <a:off x="5748727" y="1915887"/>
            <a:ext cx="5854605" cy="3203245"/>
          </a:xfrm>
          <a:prstGeom prst="rect">
            <a:avLst/>
          </a:prstGeom>
        </p:spPr>
      </p:pic>
    </p:spTree>
    <p:extLst>
      <p:ext uri="{BB962C8B-B14F-4D97-AF65-F5344CB8AC3E}">
        <p14:creationId xmlns:p14="http://schemas.microsoft.com/office/powerpoint/2010/main" val="2749566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B3055C-CE28-EB2E-D5F7-46761A27478B}"/>
              </a:ext>
            </a:extLst>
          </p:cNvPr>
          <p:cNvSpPr>
            <a:spLocks noGrp="1"/>
          </p:cNvSpPr>
          <p:nvPr>
            <p:ph type="title"/>
          </p:nvPr>
        </p:nvSpPr>
        <p:spPr>
          <a:xfrm>
            <a:off x="703400" y="871758"/>
            <a:ext cx="5227171" cy="1590591"/>
          </a:xfrm>
        </p:spPr>
        <p:txBody>
          <a:bodyPr vert="horz" lIns="91440" tIns="45720" rIns="91440" bIns="45720" rtlCol="0" anchor="t">
            <a:normAutofit/>
          </a:bodyPr>
          <a:lstStyle/>
          <a:p>
            <a:r>
              <a:rPr lang="en-US" sz="5400"/>
              <a:t>What If</a:t>
            </a:r>
          </a:p>
        </p:txBody>
      </p:sp>
      <p:cxnSp>
        <p:nvCxnSpPr>
          <p:cNvPr id="29" name="Straight Connector 28">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B28CBAC4-0E6B-BF5B-6E77-B7D0A3FE3ABE}"/>
              </a:ext>
            </a:extLst>
          </p:cNvPr>
          <p:cNvSpPr>
            <a:spLocks noGrp="1"/>
          </p:cNvSpPr>
          <p:nvPr>
            <p:ph type="ftr" sz="quarter" idx="11"/>
          </p:nvPr>
        </p:nvSpPr>
        <p:spPr>
          <a:xfrm>
            <a:off x="704088" y="6356350"/>
            <a:ext cx="4539727" cy="365125"/>
          </a:xfrm>
        </p:spPr>
        <p:txBody>
          <a:bodyPr vert="horz" lIns="91440" tIns="45720" rIns="91440" bIns="45720" rtlCol="0" anchor="ctr">
            <a:normAutofit/>
          </a:bodyPr>
          <a:lstStyle/>
          <a:p>
            <a:pPr>
              <a:spcAft>
                <a:spcPts val="600"/>
              </a:spcAft>
            </a:pPr>
            <a:r>
              <a:rPr lang="en-US" sz="1050" kern="1200" dirty="0">
                <a:solidFill>
                  <a:schemeClr val="tx1"/>
                </a:solidFill>
                <a:latin typeface="+mj-lt"/>
                <a:ea typeface="+mn-ea"/>
                <a:cs typeface="+mn-cs"/>
              </a:rPr>
              <a:t>Farzaneh.Boroumand@Sydney.edu.au</a:t>
            </a:r>
          </a:p>
        </p:txBody>
      </p:sp>
      <p:pic>
        <p:nvPicPr>
          <p:cNvPr id="6" name="Picture 5" descr="Sticky notes with question marks">
            <a:extLst>
              <a:ext uri="{FF2B5EF4-FFF2-40B4-BE49-F238E27FC236}">
                <a16:creationId xmlns:a16="http://schemas.microsoft.com/office/drawing/2014/main" id="{365924F2-78C2-856A-3327-FC96C178E0D1}"/>
              </a:ext>
            </a:extLst>
          </p:cNvPr>
          <p:cNvPicPr>
            <a:picLocks noChangeAspect="1"/>
          </p:cNvPicPr>
          <p:nvPr/>
        </p:nvPicPr>
        <p:blipFill>
          <a:blip r:embed="rId2"/>
          <a:srcRect l="22373" r="22372" b="-1"/>
          <a:stretch>
            <a:fillRect/>
          </a:stretch>
        </p:blipFill>
        <p:spPr>
          <a:xfrm>
            <a:off x="6515100" y="10"/>
            <a:ext cx="5676900" cy="6857990"/>
          </a:xfrm>
          <a:prstGeom prst="rect">
            <a:avLst/>
          </a:prstGeom>
        </p:spPr>
      </p:pic>
      <p:sp>
        <p:nvSpPr>
          <p:cNvPr id="5" name="TextBox 4">
            <a:extLst>
              <a:ext uri="{FF2B5EF4-FFF2-40B4-BE49-F238E27FC236}">
                <a16:creationId xmlns:a16="http://schemas.microsoft.com/office/drawing/2014/main" id="{41E6A889-4669-9012-4315-AB2E3517AB34}"/>
              </a:ext>
            </a:extLst>
          </p:cNvPr>
          <p:cNvSpPr txBox="1"/>
          <p:nvPr/>
        </p:nvSpPr>
        <p:spPr>
          <a:xfrm>
            <a:off x="653142" y="2084433"/>
            <a:ext cx="4683035" cy="2246769"/>
          </a:xfrm>
          <a:prstGeom prst="rect">
            <a:avLst/>
          </a:prstGeom>
          <a:noFill/>
        </p:spPr>
        <p:txBody>
          <a:bodyPr wrap="square" rtlCol="0">
            <a:spAutoFit/>
          </a:bodyPr>
          <a:lstStyle/>
          <a:p>
            <a:r>
              <a:rPr lang="en-US" sz="2000" dirty="0"/>
              <a:t>What if the decline in eGFR over time reflects underlying changes in other clinical factors, rather than acting as an isolated predictor?</a:t>
            </a:r>
          </a:p>
          <a:p>
            <a:endParaRPr lang="en-US" sz="2000" dirty="0"/>
          </a:p>
          <a:p>
            <a:r>
              <a:rPr lang="en-US" sz="2000" dirty="0"/>
              <a:t>And those same variables may </a:t>
            </a:r>
            <a:r>
              <a:rPr lang="en-US" sz="2000" i="1" dirty="0"/>
              <a:t>also</a:t>
            </a:r>
            <a:r>
              <a:rPr lang="en-US" sz="2000" dirty="0"/>
              <a:t> affect the risk of graft failure.</a:t>
            </a:r>
            <a:endParaRPr lang="en-AU" sz="2000" dirty="0"/>
          </a:p>
        </p:txBody>
      </p:sp>
    </p:spTree>
    <p:extLst>
      <p:ext uri="{BB962C8B-B14F-4D97-AF65-F5344CB8AC3E}">
        <p14:creationId xmlns:p14="http://schemas.microsoft.com/office/powerpoint/2010/main" val="54596738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7e1a7db-20cf-4fcd-a242-f50c3d60dab7" xsi:nil="true"/>
    <lcf76f155ced4ddcb4097134ff3c332f xmlns="e148f953-5c83-413e-8261-29f3d6ceccd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9694B62C85BB0468228B1561B8B6144" ma:contentTypeVersion="10" ma:contentTypeDescription="Create a new document." ma:contentTypeScope="" ma:versionID="b87d74f3fc9d8ac7d261f90a3a435aaf">
  <xsd:schema xmlns:xsd="http://www.w3.org/2001/XMLSchema" xmlns:xs="http://www.w3.org/2001/XMLSchema" xmlns:p="http://schemas.microsoft.com/office/2006/metadata/properties" xmlns:ns2="e148f953-5c83-413e-8261-29f3d6ceccd1" xmlns:ns3="27e1a7db-20cf-4fcd-a242-f50c3d60dab7" targetNamespace="http://schemas.microsoft.com/office/2006/metadata/properties" ma:root="true" ma:fieldsID="1fbe19035635b9683302da697f378511" ns2:_="" ns3:_="">
    <xsd:import namespace="e148f953-5c83-413e-8261-29f3d6ceccd1"/>
    <xsd:import namespace="27e1a7db-20cf-4fcd-a242-f50c3d60dab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48f953-5c83-413e-8261-29f3d6cecc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492977-2dea-498c-99b4-1555f3d0d96a"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e1a7db-20cf-4fcd-a242-f50c3d60dab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7479d35-172f-463d-9eeb-bb5f7befd090}" ma:internalName="TaxCatchAll" ma:showField="CatchAllData" ma:web="27e1a7db-20cf-4fcd-a242-f50c3d60da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212A2F0-17B8-4D81-A3D2-370DE3B698C8}">
  <ds:schemaRefs>
    <ds:schemaRef ds:uri="http://schemas.microsoft.com/sharepoint/v3/contenttype/forms"/>
  </ds:schemaRefs>
</ds:datastoreItem>
</file>

<file path=customXml/itemProps2.xml><?xml version="1.0" encoding="utf-8"?>
<ds:datastoreItem xmlns:ds="http://schemas.openxmlformats.org/officeDocument/2006/customXml" ds:itemID="{F26F9C91-C0DE-416F-BB27-525470FDF0E3}">
  <ds:schemaRefs>
    <ds:schemaRef ds:uri="http://schemas.microsoft.com/office/2006/metadata/properties"/>
    <ds:schemaRef ds:uri="http://schemas.microsoft.com/office/infopath/2007/PartnerControls"/>
    <ds:schemaRef ds:uri="27e1a7db-20cf-4fcd-a242-f50c3d60dab7"/>
    <ds:schemaRef ds:uri="e148f953-5c83-413e-8261-29f3d6ceccd1"/>
  </ds:schemaRefs>
</ds:datastoreItem>
</file>

<file path=customXml/itemProps3.xml><?xml version="1.0" encoding="utf-8"?>
<ds:datastoreItem xmlns:ds="http://schemas.openxmlformats.org/officeDocument/2006/customXml" ds:itemID="{88059D7A-5D44-4E4D-8D6E-1496D5BD21F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48f953-5c83-413e-8261-29f3d6ceccd1"/>
    <ds:schemaRef ds:uri="27e1a7db-20cf-4fcd-a242-f50c3d60da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2b3e37e-8171-485d-b10b-38dae7ed14a8}" enabled="0" method="" siteId="{82b3e37e-8171-485d-b10b-38dae7ed14a8}" removed="1"/>
</clbl:labelList>
</file>

<file path=docProps/app.xml><?xml version="1.0" encoding="utf-8"?>
<Properties xmlns="http://schemas.openxmlformats.org/officeDocument/2006/extended-properties" xmlns:vt="http://schemas.openxmlformats.org/officeDocument/2006/docPropsVTypes">
  <TotalTime>2038</TotalTime>
  <Words>3106</Words>
  <Application>Microsoft Office PowerPoint</Application>
  <PresentationFormat>Widescreen</PresentationFormat>
  <Paragraphs>365</Paragraphs>
  <Slides>42</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Aptos</vt:lpstr>
      <vt:lpstr>Arial</vt:lpstr>
      <vt:lpstr>Calisto MT</vt:lpstr>
      <vt:lpstr>Cambria Math</vt:lpstr>
      <vt:lpstr>Courier New</vt:lpstr>
      <vt:lpstr>Univers Condensed</vt:lpstr>
      <vt:lpstr>Wingdings</vt:lpstr>
      <vt:lpstr>ChronicleVTI</vt:lpstr>
      <vt:lpstr>Survivor Stats Society    </vt:lpstr>
      <vt:lpstr>Survival data</vt:lpstr>
      <vt:lpstr>What is the main feature of Survival data?</vt:lpstr>
      <vt:lpstr>What Can We Model in Survival Analysis?</vt:lpstr>
      <vt:lpstr>What Can We Model in Survival Analysis?</vt:lpstr>
      <vt:lpstr>The link between Hazard to Survival</vt:lpstr>
      <vt:lpstr>The link between Hazard to Survival</vt:lpstr>
      <vt:lpstr>PH Assumption </vt:lpstr>
      <vt:lpstr>PH Assumption </vt:lpstr>
      <vt:lpstr>PH Assumption violation </vt:lpstr>
      <vt:lpstr>PH Assumption violation </vt:lpstr>
      <vt:lpstr>How Would You Address the Violation?</vt:lpstr>
      <vt:lpstr>Example:</vt:lpstr>
      <vt:lpstr>stratified Cox model </vt:lpstr>
      <vt:lpstr>stratified Cox model </vt:lpstr>
      <vt:lpstr>stratified Cox model </vt:lpstr>
      <vt:lpstr>Example:</vt:lpstr>
      <vt:lpstr>Standard Cox model </vt:lpstr>
      <vt:lpstr>Standard Cox model </vt:lpstr>
      <vt:lpstr>stratified Cox model </vt:lpstr>
      <vt:lpstr>stratified Cox model (interpretation)</vt:lpstr>
      <vt:lpstr>stratified Cox model </vt:lpstr>
      <vt:lpstr>Standard cox vs stratified cox (PH violated)</vt:lpstr>
      <vt:lpstr>Including Time-Varying effects</vt:lpstr>
      <vt:lpstr>Including Time-Varying effects</vt:lpstr>
      <vt:lpstr>Including Time-Varying effects</vt:lpstr>
      <vt:lpstr>Including Time-Varying effects</vt:lpstr>
      <vt:lpstr>Including Time-Varying effects</vt:lpstr>
      <vt:lpstr>Including Time-Varying effects</vt:lpstr>
      <vt:lpstr>Including Time-Varying effects</vt:lpstr>
      <vt:lpstr>Example:</vt:lpstr>
      <vt:lpstr>time-varying vs Time- fixed covariates</vt:lpstr>
      <vt:lpstr>time-varying covariates can cause PH Violation!</vt:lpstr>
      <vt:lpstr>Extended Cox model (time-varying covariates)</vt:lpstr>
      <vt:lpstr>Extended Cox model (time-varying covariates)</vt:lpstr>
      <vt:lpstr>Extended Cox model (time-varying covariates)</vt:lpstr>
      <vt:lpstr>Extended Cox model (time-varying covariates)</vt:lpstr>
      <vt:lpstr>Extended Cox model (time-varying covariates)</vt:lpstr>
      <vt:lpstr>Extended Cox model (time-varying covariates)</vt:lpstr>
      <vt:lpstr>Extended Cox model (time-varying covariates)</vt:lpstr>
      <vt:lpstr>Extended Cox model (time-varying covariates)</vt:lpstr>
      <vt:lpstr>What If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Farzaneh Boroumand</dc:creator>
  <cp:lastModifiedBy>Nicole De La Mata</cp:lastModifiedBy>
  <cp:revision>10</cp:revision>
  <dcterms:created xsi:type="dcterms:W3CDTF">2025-03-26T05:12:06Z</dcterms:created>
  <dcterms:modified xsi:type="dcterms:W3CDTF">2026-02-25T21:16:12Z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0x010100C9694B62C85BB0468228B1561B8B6144</vt:lpwstr>
  </property>
</Properties>
</file>