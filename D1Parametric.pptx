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110"/>
  </p:notesMasterIdLst>
  <p:sldIdLst>
    <p:sldId id="256" r:id="rId5"/>
    <p:sldId id="333" r:id="rId6"/>
    <p:sldId id="507" r:id="rId7"/>
    <p:sldId id="344" r:id="rId8"/>
    <p:sldId id="337" r:id="rId9"/>
    <p:sldId id="338" r:id="rId10"/>
    <p:sldId id="339" r:id="rId11"/>
    <p:sldId id="340" r:id="rId12"/>
    <p:sldId id="341" r:id="rId13"/>
    <p:sldId id="433" r:id="rId14"/>
    <p:sldId id="381" r:id="rId15"/>
    <p:sldId id="383" r:id="rId16"/>
    <p:sldId id="384" r:id="rId17"/>
    <p:sldId id="385" r:id="rId18"/>
    <p:sldId id="346" r:id="rId19"/>
    <p:sldId id="347" r:id="rId20"/>
    <p:sldId id="486" r:id="rId21"/>
    <p:sldId id="434" r:id="rId22"/>
    <p:sldId id="370" r:id="rId23"/>
    <p:sldId id="369" r:id="rId24"/>
    <p:sldId id="372" r:id="rId25"/>
    <p:sldId id="373" r:id="rId26"/>
    <p:sldId id="390" r:id="rId27"/>
    <p:sldId id="386" r:id="rId28"/>
    <p:sldId id="391" r:id="rId29"/>
    <p:sldId id="376" r:id="rId30"/>
    <p:sldId id="380" r:id="rId31"/>
    <p:sldId id="393" r:id="rId32"/>
    <p:sldId id="378" r:id="rId33"/>
    <p:sldId id="379" r:id="rId34"/>
    <p:sldId id="394" r:id="rId35"/>
    <p:sldId id="397" r:id="rId36"/>
    <p:sldId id="396" r:id="rId37"/>
    <p:sldId id="525" r:id="rId38"/>
    <p:sldId id="524" r:id="rId39"/>
    <p:sldId id="441" r:id="rId40"/>
    <p:sldId id="442" r:id="rId41"/>
    <p:sldId id="398" r:id="rId42"/>
    <p:sldId id="508" r:id="rId43"/>
    <p:sldId id="509" r:id="rId44"/>
    <p:sldId id="510" r:id="rId45"/>
    <p:sldId id="511" r:id="rId46"/>
    <p:sldId id="399" r:id="rId47"/>
    <p:sldId id="406" r:id="rId48"/>
    <p:sldId id="512" r:id="rId49"/>
    <p:sldId id="513" r:id="rId50"/>
    <p:sldId id="514" r:id="rId51"/>
    <p:sldId id="515" r:id="rId52"/>
    <p:sldId id="405" r:id="rId53"/>
    <p:sldId id="409" r:id="rId54"/>
    <p:sldId id="410" r:id="rId55"/>
    <p:sldId id="411" r:id="rId56"/>
    <p:sldId id="443" r:id="rId57"/>
    <p:sldId id="437" r:id="rId58"/>
    <p:sldId id="448" r:id="rId59"/>
    <p:sldId id="450" r:id="rId60"/>
    <p:sldId id="497" r:id="rId61"/>
    <p:sldId id="445" r:id="rId62"/>
    <p:sldId id="526" r:id="rId63"/>
    <p:sldId id="527" r:id="rId64"/>
    <p:sldId id="519" r:id="rId65"/>
    <p:sldId id="499" r:id="rId66"/>
    <p:sldId id="446" r:id="rId67"/>
    <p:sldId id="447" r:id="rId68"/>
    <p:sldId id="453" r:id="rId69"/>
    <p:sldId id="457" r:id="rId70"/>
    <p:sldId id="456" r:id="rId71"/>
    <p:sldId id="455" r:id="rId72"/>
    <p:sldId id="454" r:id="rId73"/>
    <p:sldId id="452" r:id="rId74"/>
    <p:sldId id="458" r:id="rId75"/>
    <p:sldId id="461" r:id="rId76"/>
    <p:sldId id="462" r:id="rId77"/>
    <p:sldId id="464" r:id="rId78"/>
    <p:sldId id="528" r:id="rId79"/>
    <p:sldId id="529" r:id="rId80"/>
    <p:sldId id="521" r:id="rId81"/>
    <p:sldId id="500" r:id="rId82"/>
    <p:sldId id="501" r:id="rId83"/>
    <p:sldId id="460" r:id="rId84"/>
    <p:sldId id="467" r:id="rId85"/>
    <p:sldId id="502" r:id="rId86"/>
    <p:sldId id="469" r:id="rId87"/>
    <p:sldId id="483" r:id="rId88"/>
    <p:sldId id="484" r:id="rId89"/>
    <p:sldId id="485" r:id="rId90"/>
    <p:sldId id="473" r:id="rId91"/>
    <p:sldId id="472" r:id="rId92"/>
    <p:sldId id="474" r:id="rId93"/>
    <p:sldId id="475" r:id="rId94"/>
    <p:sldId id="480" r:id="rId95"/>
    <p:sldId id="530" r:id="rId96"/>
    <p:sldId id="531" r:id="rId97"/>
    <p:sldId id="523" r:id="rId98"/>
    <p:sldId id="504" r:id="rId99"/>
    <p:sldId id="505" r:id="rId100"/>
    <p:sldId id="470" r:id="rId101"/>
    <p:sldId id="471" r:id="rId102"/>
    <p:sldId id="517" r:id="rId103"/>
    <p:sldId id="516" r:id="rId104"/>
    <p:sldId id="479" r:id="rId105"/>
    <p:sldId id="481" r:id="rId106"/>
    <p:sldId id="482" r:id="rId107"/>
    <p:sldId id="506" r:id="rId108"/>
    <p:sldId id="332" r:id="rId109"/>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05" autoAdjust="0"/>
    <p:restoredTop sz="79630" autoAdjust="0"/>
  </p:normalViewPr>
  <p:slideViewPr>
    <p:cSldViewPr snapToGrid="0">
      <p:cViewPr varScale="1">
        <p:scale>
          <a:sx n="50" d="100"/>
          <a:sy n="50" d="100"/>
        </p:scale>
        <p:origin x="87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4336681B-641D-4096-AA24-ECB3130B0DDB}" type="datetimeFigureOut">
              <a:rPr lang="en-AU" smtClean="0"/>
              <a:t>25/02/2026</a:t>
            </a:fld>
            <a:endParaRPr lang="en-AU"/>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7B61BF14-442A-4806-9528-3CAE044062F5}" type="slidenum">
              <a:rPr lang="en-AU" smtClean="0"/>
              <a:t>‹#›</a:t>
            </a:fld>
            <a:endParaRPr lang="en-AU"/>
          </a:p>
        </p:txBody>
      </p:sp>
    </p:spTree>
    <p:extLst>
      <p:ext uri="{BB962C8B-B14F-4D97-AF65-F5344CB8AC3E}">
        <p14:creationId xmlns:p14="http://schemas.microsoft.com/office/powerpoint/2010/main" val="144152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1</a:t>
            </a:fld>
            <a:endParaRPr lang="en-AU"/>
          </a:p>
        </p:txBody>
      </p:sp>
    </p:spTree>
    <p:extLst>
      <p:ext uri="{BB962C8B-B14F-4D97-AF65-F5344CB8AC3E}">
        <p14:creationId xmlns:p14="http://schemas.microsoft.com/office/powerpoint/2010/main" val="3001063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2</a:t>
            </a:fld>
            <a:endParaRPr lang="en-AU"/>
          </a:p>
        </p:txBody>
      </p:sp>
    </p:spTree>
    <p:extLst>
      <p:ext uri="{BB962C8B-B14F-4D97-AF65-F5344CB8AC3E}">
        <p14:creationId xmlns:p14="http://schemas.microsoft.com/office/powerpoint/2010/main" val="1098991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3</a:t>
            </a:fld>
            <a:endParaRPr lang="en-AU"/>
          </a:p>
        </p:txBody>
      </p:sp>
    </p:spTree>
    <p:extLst>
      <p:ext uri="{BB962C8B-B14F-4D97-AF65-F5344CB8AC3E}">
        <p14:creationId xmlns:p14="http://schemas.microsoft.com/office/powerpoint/2010/main" val="272918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highlight>
                <a:srgbClr val="FFFF00"/>
              </a:highlight>
              <a:latin typeface="+mn-lt"/>
              <a:ea typeface="+mn-ea"/>
              <a:cs typeface="+mn-cs"/>
            </a:endParaRPr>
          </a:p>
          <a:p>
            <a:r>
              <a:rPr lang="en-AU" sz="1200" b="0" i="0" u="none" strike="noStrike" kern="1200" baseline="0" dirty="0">
                <a:solidFill>
                  <a:schemeClr val="tx1"/>
                </a:solidFill>
                <a:highlight>
                  <a:srgbClr val="FFFF00"/>
                </a:highlight>
                <a:latin typeface="+mn-lt"/>
                <a:ea typeface="+mn-ea"/>
                <a:cs typeface="+mn-cs"/>
              </a:rPr>
              <a:t>Smooth curves support biological plausibility. For example, </a:t>
            </a:r>
            <a:r>
              <a:rPr lang="en-US" sz="1200" b="0" i="0" u="none" strike="noStrike" kern="1200" baseline="0" dirty="0">
                <a:solidFill>
                  <a:schemeClr val="tx1"/>
                </a:solidFill>
                <a:highlight>
                  <a:srgbClr val="FFFF00"/>
                </a:highlight>
                <a:latin typeface="+mn-lt"/>
                <a:ea typeface="+mn-ea"/>
                <a:cs typeface="+mn-cs"/>
              </a:rPr>
              <a:t>i</a:t>
            </a:r>
            <a:r>
              <a:rPr lang="en-US" dirty="0">
                <a:highlight>
                  <a:srgbClr val="FFFF00"/>
                </a:highlight>
              </a:rPr>
              <a:t>n the real world, the risk of a kidney graft failing doesn't usually happen in "steps" (like the KM curve suggests). It is a continuous, smooth process. Parametric models reflect this reality better than the steps of a non-parametric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FFFF00"/>
                </a:highlight>
              </a:rPr>
              <a:t>KM and Cox do not easily predict absolute survival probabilities at any future time point without additional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highlight>
                <a:srgbClr val="FFFF00"/>
              </a:highlight>
            </a:endParaRPr>
          </a:p>
          <a:p>
            <a:r>
              <a:rPr lang="en-AU" sz="1200" b="0" i="0" u="none" strike="noStrike" kern="1200" baseline="0" dirty="0">
                <a:solidFill>
                  <a:schemeClr val="tx1"/>
                </a:solidFill>
                <a:highlight>
                  <a:srgbClr val="FFFF00"/>
                </a:highlight>
                <a:latin typeface="+mn-lt"/>
                <a:ea typeface="+mn-ea"/>
                <a:cs typeface="+mn-cs"/>
              </a:rPr>
              <a:t>Although the </a:t>
            </a:r>
            <a:r>
              <a:rPr lang="en-US" sz="1200" b="0" i="0" u="none" strike="noStrike" kern="1200" baseline="0" dirty="0">
                <a:solidFill>
                  <a:schemeClr val="tx1"/>
                </a:solidFill>
                <a:highlight>
                  <a:srgbClr val="FFFF00"/>
                </a:highlight>
                <a:latin typeface="+mn-lt"/>
                <a:ea typeface="+mn-ea"/>
                <a:cs typeface="+mn-cs"/>
              </a:rPr>
              <a:t>baseline survival function is not estimated with a Cox model, R can output Cox-adjusted survival estimates by using a complicated algorithm that </a:t>
            </a:r>
            <a:r>
              <a:rPr lang="en-US" sz="1200" b="0" i="0" u="none" strike="noStrike" kern="1200" baseline="0" dirty="0" err="1">
                <a:solidFill>
                  <a:schemeClr val="tx1"/>
                </a:solidFill>
                <a:highlight>
                  <a:srgbClr val="FFFF00"/>
                </a:highlight>
                <a:latin typeface="+mn-lt"/>
                <a:ea typeface="+mn-ea"/>
                <a:cs typeface="+mn-cs"/>
              </a:rPr>
              <a:t>generalisesthe</a:t>
            </a:r>
            <a:r>
              <a:rPr lang="en-US" sz="1200" b="0" i="0" u="none" strike="noStrike" kern="1200" baseline="0" dirty="0">
                <a:solidFill>
                  <a:schemeClr val="tx1"/>
                </a:solidFill>
                <a:highlight>
                  <a:srgbClr val="FFFF00"/>
                </a:highlight>
                <a:latin typeface="+mn-lt"/>
                <a:ea typeface="+mn-ea"/>
                <a:cs typeface="+mn-cs"/>
              </a:rPr>
              <a:t> Kaplan–Meier (KM) approach while making use of estimated regression coefficients obtained from a Cox model (Kalbfleisch and Prentice, 1980).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FFFF00"/>
                </a:highlight>
              </a:rPr>
              <a:t>If the assumption of a particular probability distribution for the data is valid, inferences based on such an assumption will be more precise</a:t>
            </a:r>
          </a:p>
          <a:p>
            <a:endParaRPr lang="en-AU" dirty="0"/>
          </a:p>
          <a:p>
            <a:r>
              <a:rPr lang="en-US" dirty="0"/>
              <a:t>Risk: If the distribution is </a:t>
            </a:r>
            <a:r>
              <a:rPr lang="en-US" dirty="0" err="1"/>
              <a:t>misspecified</a:t>
            </a:r>
            <a:r>
              <a:rPr lang="en-US" dirty="0"/>
              <a:t>, results can be biased.</a:t>
            </a:r>
            <a:endParaRPr lang="en-AU" dirty="0"/>
          </a:p>
          <a:p>
            <a:endParaRPr lang="en-AU" dirty="0"/>
          </a:p>
          <a:p>
            <a:endParaRPr lang="en-AU" dirty="0"/>
          </a:p>
          <a:p>
            <a:r>
              <a:rPr lang="en-US" sz="1200" b="1" i="0" kern="1200" dirty="0">
                <a:solidFill>
                  <a:schemeClr val="tx1"/>
                </a:solidFill>
                <a:effectLst/>
                <a:latin typeface="+mn-lt"/>
                <a:ea typeface="+mn-ea"/>
                <a:cs typeface="+mn-cs"/>
              </a:rPr>
              <a:t>Direct Prediction:</a:t>
            </a:r>
            <a:r>
              <a:rPr lang="en-US" sz="1200" b="0" i="0" kern="1200" dirty="0">
                <a:solidFill>
                  <a:schemeClr val="tx1"/>
                </a:solidFill>
                <a:effectLst/>
                <a:latin typeface="+mn-lt"/>
                <a:ea typeface="+mn-ea"/>
                <a:cs typeface="+mn-cs"/>
              </a:rPr>
              <a:t> Because they are fully parametric, it is easy to obtain absolute predictions for hazard rates, survival proportions, and even life expectancy.</a:t>
            </a:r>
          </a:p>
          <a:p>
            <a:r>
              <a:rPr lang="en-US" sz="1200" b="1" i="0" kern="1200" dirty="0">
                <a:solidFill>
                  <a:schemeClr val="tx1"/>
                </a:solidFill>
                <a:effectLst/>
                <a:latin typeface="+mn-lt"/>
                <a:ea typeface="+mn-ea"/>
                <a:cs typeface="+mn-cs"/>
              </a:rPr>
              <a:t>Extrapolation:</a:t>
            </a:r>
            <a:r>
              <a:rPr lang="en-US" sz="1200" b="0" i="0" kern="1200" dirty="0">
                <a:solidFill>
                  <a:schemeClr val="tx1"/>
                </a:solidFill>
                <a:effectLst/>
                <a:latin typeface="+mn-lt"/>
                <a:ea typeface="+mn-ea"/>
                <a:cs typeface="+mn-cs"/>
              </a:rPr>
              <a:t> They are frequently used in health economic evaluations to estimate long-term benefits of interventions beyond observed trial data.</a:t>
            </a:r>
          </a:p>
          <a:p>
            <a:r>
              <a:rPr lang="en-US" sz="1200" b="1" i="0" kern="1200" dirty="0">
                <a:solidFill>
                  <a:schemeClr val="tx1"/>
                </a:solidFill>
                <a:effectLst/>
                <a:latin typeface="+mn-lt"/>
                <a:ea typeface="+mn-ea"/>
                <a:cs typeface="+mn-cs"/>
              </a:rPr>
              <a:t>Efficiency:</a:t>
            </a:r>
            <a:r>
              <a:rPr lang="en-US" sz="1200" b="0" i="0" kern="1200" dirty="0">
                <a:solidFill>
                  <a:schemeClr val="tx1"/>
                </a:solidFill>
                <a:effectLst/>
                <a:latin typeface="+mn-lt"/>
                <a:ea typeface="+mn-ea"/>
                <a:cs typeface="+mn-cs"/>
              </a:rPr>
              <a:t> FPMs often require fewer parameters than traditional lifetable methods while providing greater statistical precision. </a:t>
            </a:r>
          </a:p>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4</a:t>
            </a:fld>
            <a:endParaRPr lang="en-AU"/>
          </a:p>
        </p:txBody>
      </p:sp>
    </p:spTree>
    <p:extLst>
      <p:ext uri="{BB962C8B-B14F-4D97-AF65-F5344CB8AC3E}">
        <p14:creationId xmlns:p14="http://schemas.microsoft.com/office/powerpoint/2010/main" val="3853728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Tie this back to the </a:t>
            </a:r>
            <a:r>
              <a:rPr lang="en-US" sz="1200" b="0" kern="1200" dirty="0">
                <a:solidFill>
                  <a:schemeClr val="tx1"/>
                </a:solidFill>
                <a:effectLst/>
                <a:latin typeface="+mn-lt"/>
                <a:ea typeface="+mn-ea"/>
                <a:cs typeface="+mn-cs"/>
              </a:rPr>
              <a:t>RMST lecture</a:t>
            </a:r>
            <a:r>
              <a:rPr lang="en-US" sz="1200" kern="1200" dirty="0">
                <a:solidFill>
                  <a:schemeClr val="tx1"/>
                </a:solidFill>
                <a:effectLst/>
                <a:latin typeface="+mn-lt"/>
                <a:ea typeface="+mn-ea"/>
                <a:cs typeface="+mn-cs"/>
              </a:rPr>
              <a:t>. Recall that RMST is restricted to a specific time (tau) because the KM curve "ends."</a:t>
            </a:r>
          </a:p>
          <a:p>
            <a:r>
              <a:rPr lang="en-US" sz="1200" kern="1200" dirty="0">
                <a:solidFill>
                  <a:schemeClr val="tx1"/>
                </a:solidFill>
                <a:effectLst/>
                <a:latin typeface="+mn-lt"/>
                <a:ea typeface="+mn-ea"/>
                <a:cs typeface="+mn-cs"/>
              </a:rPr>
              <a:t>With a parametric model, we can estimate the </a:t>
            </a:r>
            <a:r>
              <a:rPr lang="en-US" sz="1200" b="0" kern="1200" dirty="0">
                <a:solidFill>
                  <a:schemeClr val="tx1"/>
                </a:solidFill>
                <a:effectLst/>
                <a:latin typeface="+mn-lt"/>
                <a:ea typeface="+mn-ea"/>
                <a:cs typeface="+mn-cs"/>
              </a:rPr>
              <a:t>Mean Survival Time </a:t>
            </a:r>
            <a:r>
              <a:rPr lang="en-US" sz="1200" kern="1200" dirty="0">
                <a:solidFill>
                  <a:schemeClr val="tx1"/>
                </a:solidFill>
                <a:effectLst/>
                <a:latin typeface="+mn-lt"/>
                <a:ea typeface="+mn-ea"/>
                <a:cs typeface="+mn-cs"/>
              </a:rPr>
              <a:t>(not just the </a:t>
            </a:r>
            <a:r>
              <a:rPr lang="en-US" sz="1200" i="1" kern="1200" dirty="0">
                <a:solidFill>
                  <a:schemeClr val="tx1"/>
                </a:solidFill>
                <a:effectLst/>
                <a:latin typeface="+mn-lt"/>
                <a:ea typeface="+mn-ea"/>
                <a:cs typeface="+mn-cs"/>
              </a:rPr>
              <a:t>Restricted</a:t>
            </a:r>
            <a:r>
              <a:rPr lang="en-US" sz="1200" kern="1200" dirty="0">
                <a:solidFill>
                  <a:schemeClr val="tx1"/>
                </a:solidFill>
                <a:effectLst/>
                <a:latin typeface="+mn-lt"/>
                <a:ea typeface="+mn-ea"/>
                <a:cs typeface="+mn-cs"/>
              </a:rPr>
              <a:t> mean) because the distribution allows us to calculate the area under the curve all the way to infinity.</a:t>
            </a:r>
          </a:p>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5</a:t>
            </a:fld>
            <a:endParaRPr lang="en-AU"/>
          </a:p>
        </p:txBody>
      </p:sp>
    </p:spTree>
    <p:extLst>
      <p:ext uri="{BB962C8B-B14F-4D97-AF65-F5344CB8AC3E}">
        <p14:creationId xmlns:p14="http://schemas.microsoft.com/office/powerpoint/2010/main" val="2896037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8</a:t>
            </a:fld>
            <a:endParaRPr lang="en-AU"/>
          </a:p>
        </p:txBody>
      </p:sp>
    </p:spTree>
    <p:extLst>
      <p:ext uri="{BB962C8B-B14F-4D97-AF65-F5344CB8AC3E}">
        <p14:creationId xmlns:p14="http://schemas.microsoft.com/office/powerpoint/2010/main" val="3588620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Generalised</a:t>
            </a:r>
            <a:r>
              <a:rPr lang="en-US" dirty="0"/>
              <a:t> gamma is the </a:t>
            </a:r>
            <a:r>
              <a:rPr lang="en-US" b="0" dirty="0"/>
              <a:t>“master model" used for model selection. It's the parent distribution that helps us mathematically decide if the data is truly Weibull or Log-normal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Gompertz is useful in actuarial science </a:t>
            </a:r>
            <a:r>
              <a:rPr lang="en-US" dirty="0"/>
              <a:t>and long-term mortality studies.</a:t>
            </a:r>
          </a:p>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9</a:t>
            </a:fld>
            <a:endParaRPr lang="en-AU"/>
          </a:p>
        </p:txBody>
      </p:sp>
    </p:spTree>
    <p:extLst>
      <p:ext uri="{BB962C8B-B14F-4D97-AF65-F5344CB8AC3E}">
        <p14:creationId xmlns:p14="http://schemas.microsoft.com/office/powerpoint/2010/main" val="2394535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9C88-BCBD-FE82-6184-A4ED2429D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52A41-8021-0FD2-9178-302982FB9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B50C8-2233-7351-9519-63D9436F85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Exponential model is the simplest parametric survival model in that hazard is constant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Lambda is the rate, the risk of event per unit of time</a:t>
            </a:r>
          </a:p>
          <a:p>
            <a:endParaRPr lang="en-AU" dirty="0"/>
          </a:p>
        </p:txBody>
      </p:sp>
      <p:sp>
        <p:nvSpPr>
          <p:cNvPr id="4" name="Slide Number Placeholder 3">
            <a:extLst>
              <a:ext uri="{FF2B5EF4-FFF2-40B4-BE49-F238E27FC236}">
                <a16:creationId xmlns:a16="http://schemas.microsoft.com/office/drawing/2014/main" id="{66FFB70C-3A97-2A67-70B2-1602EB886318}"/>
              </a:ext>
            </a:extLst>
          </p:cNvPr>
          <p:cNvSpPr>
            <a:spLocks noGrp="1"/>
          </p:cNvSpPr>
          <p:nvPr>
            <p:ph type="sldNum" sz="quarter" idx="5"/>
          </p:nvPr>
        </p:nvSpPr>
        <p:spPr/>
        <p:txBody>
          <a:bodyPr/>
          <a:lstStyle/>
          <a:p>
            <a:fld id="{7B61BF14-442A-4806-9528-3CAE044062F5}" type="slidenum">
              <a:rPr lang="en-AU" smtClean="0"/>
              <a:t>10</a:t>
            </a:fld>
            <a:endParaRPr lang="en-AU"/>
          </a:p>
        </p:txBody>
      </p:sp>
    </p:spTree>
    <p:extLst>
      <p:ext uri="{BB962C8B-B14F-4D97-AF65-F5344CB8AC3E}">
        <p14:creationId xmlns:p14="http://schemas.microsoft.com/office/powerpoint/2010/main" val="2038813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3DF3C-2379-4E64-236D-0044030F6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6F027-63DB-4B6B-D652-921857649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B6F41-8CE7-2130-4BC4-23564DCFAAE6}"/>
              </a:ext>
            </a:extLst>
          </p:cNvPr>
          <p:cNvSpPr>
            <a:spLocks noGrp="1"/>
          </p:cNvSpPr>
          <p:nvPr>
            <p:ph type="body" idx="1"/>
          </p:nvPr>
        </p:nvSpPr>
        <p:spPr/>
        <p:txBody>
          <a:bodyPr/>
          <a:lstStyle/>
          <a:p>
            <a:r>
              <a:rPr lang="en-AU" dirty="0"/>
              <a:t> </a:t>
            </a:r>
          </a:p>
        </p:txBody>
      </p:sp>
      <p:sp>
        <p:nvSpPr>
          <p:cNvPr id="4" name="Slide Number Placeholder 3">
            <a:extLst>
              <a:ext uri="{FF2B5EF4-FFF2-40B4-BE49-F238E27FC236}">
                <a16:creationId xmlns:a16="http://schemas.microsoft.com/office/drawing/2014/main" id="{43F73685-6C82-3478-E06B-47ABEB219120}"/>
              </a:ext>
            </a:extLst>
          </p:cNvPr>
          <p:cNvSpPr>
            <a:spLocks noGrp="1"/>
          </p:cNvSpPr>
          <p:nvPr>
            <p:ph type="sldNum" sz="quarter" idx="5"/>
          </p:nvPr>
        </p:nvSpPr>
        <p:spPr/>
        <p:txBody>
          <a:bodyPr/>
          <a:lstStyle/>
          <a:p>
            <a:fld id="{7B61BF14-442A-4806-9528-3CAE044062F5}" type="slidenum">
              <a:rPr lang="en-AU" smtClean="0"/>
              <a:t>11</a:t>
            </a:fld>
            <a:endParaRPr lang="en-AU"/>
          </a:p>
        </p:txBody>
      </p:sp>
    </p:spTree>
    <p:extLst>
      <p:ext uri="{BB962C8B-B14F-4D97-AF65-F5344CB8AC3E}">
        <p14:creationId xmlns:p14="http://schemas.microsoft.com/office/powerpoint/2010/main" val="501123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7B1B-C457-0FA0-AD81-7544CE557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7B751-20DE-55C1-5DCF-B9D0EE90A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E12C0-9404-6B09-3A68-42D7151CAA2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Assumes lambda = 1</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shape (gamma) determines the </a:t>
            </a:r>
            <a:r>
              <a:rPr lang="en-US" sz="1200" b="0" i="0" kern="1200" dirty="0">
                <a:solidFill>
                  <a:schemeClr val="tx1"/>
                </a:solidFill>
                <a:effectLst/>
                <a:latin typeface="+mn-lt"/>
                <a:ea typeface="+mn-ea"/>
                <a:cs typeface="+mn-cs"/>
              </a:rPr>
              <a:t>behavior</a:t>
            </a:r>
            <a:r>
              <a:rPr lang="en-US" sz="1200" b="0" kern="1200" dirty="0">
                <a:solidFill>
                  <a:schemeClr val="tx1"/>
                </a:solidFill>
                <a:effectLst/>
                <a:latin typeface="+mn-lt"/>
                <a:ea typeface="+mn-ea"/>
                <a:cs typeface="+mn-cs"/>
              </a:rPr>
              <a:t> of the hazard (whether it increases, decreases, or stays flat), whereas the scale (lambda) determines the </a:t>
            </a:r>
            <a:r>
              <a:rPr lang="en-US" sz="1200" b="0" i="1" kern="1200" dirty="0">
                <a:solidFill>
                  <a:schemeClr val="tx1"/>
                </a:solidFill>
                <a:effectLst/>
                <a:latin typeface="+mn-lt"/>
                <a:ea typeface="+mn-ea"/>
                <a:cs typeface="+mn-cs"/>
              </a:rPr>
              <a:t>units of time</a:t>
            </a:r>
            <a:r>
              <a:rPr lang="en-US" sz="1200" b="0" kern="1200" dirty="0">
                <a:solidFill>
                  <a:schemeClr val="tx1"/>
                </a:solidFill>
                <a:effectLst/>
                <a:latin typeface="+mn-lt"/>
                <a:ea typeface="+mn-ea"/>
                <a:cs typeface="+mn-cs"/>
              </a:rPr>
              <a:t> or the spread.</a:t>
            </a:r>
          </a:p>
          <a:p>
            <a:r>
              <a:rPr lang="en-US" sz="1200" b="0" kern="1200" dirty="0">
                <a:solidFill>
                  <a:schemeClr val="tx1"/>
                </a:solidFill>
                <a:effectLst/>
                <a:latin typeface="+mn-lt"/>
                <a:ea typeface="+mn-ea"/>
                <a:cs typeface="+mn-cs"/>
              </a:rPr>
              <a:t>When gamma = 1: The hazard becomes 1 * t^0 = 1. This is the Exponential distribution with a constant hazard of 1.</a:t>
            </a:r>
          </a:p>
          <a:p>
            <a:r>
              <a:rPr lang="en-US" sz="1200" b="0" kern="1200" dirty="0">
                <a:solidFill>
                  <a:schemeClr val="tx1"/>
                </a:solidFill>
                <a:effectLst/>
                <a:latin typeface="+mn-lt"/>
                <a:ea typeface="+mn-ea"/>
                <a:cs typeface="+mn-cs"/>
              </a:rPr>
              <a:t>When gamma &gt; 1: The hazard increases over time (e.g., aging).</a:t>
            </a:r>
          </a:p>
          <a:p>
            <a:r>
              <a:rPr lang="en-US" sz="1200" b="0" kern="1200" dirty="0">
                <a:solidFill>
                  <a:schemeClr val="tx1"/>
                </a:solidFill>
                <a:effectLst/>
                <a:latin typeface="+mn-lt"/>
                <a:ea typeface="+mn-ea"/>
                <a:cs typeface="+mn-cs"/>
              </a:rPr>
              <a:t>When gamma &lt; 1: The hazard decreases over time (e.g., early infant mortality).</a:t>
            </a:r>
          </a:p>
          <a:p>
            <a:r>
              <a:rPr lang="en-AU" dirty="0"/>
              <a:t> </a:t>
            </a:r>
          </a:p>
        </p:txBody>
      </p:sp>
      <p:sp>
        <p:nvSpPr>
          <p:cNvPr id="4" name="Slide Number Placeholder 3">
            <a:extLst>
              <a:ext uri="{FF2B5EF4-FFF2-40B4-BE49-F238E27FC236}">
                <a16:creationId xmlns:a16="http://schemas.microsoft.com/office/drawing/2014/main" id="{318E44BA-CA39-819A-F95F-C1F252C50756}"/>
              </a:ext>
            </a:extLst>
          </p:cNvPr>
          <p:cNvSpPr>
            <a:spLocks noGrp="1"/>
          </p:cNvSpPr>
          <p:nvPr>
            <p:ph type="sldNum" sz="quarter" idx="5"/>
          </p:nvPr>
        </p:nvSpPr>
        <p:spPr/>
        <p:txBody>
          <a:bodyPr/>
          <a:lstStyle/>
          <a:p>
            <a:fld id="{7B61BF14-442A-4806-9528-3CAE044062F5}" type="slidenum">
              <a:rPr lang="en-AU" smtClean="0"/>
              <a:t>12</a:t>
            </a:fld>
            <a:endParaRPr lang="en-AU"/>
          </a:p>
        </p:txBody>
      </p:sp>
    </p:spTree>
    <p:extLst>
      <p:ext uri="{BB962C8B-B14F-4D97-AF65-F5344CB8AC3E}">
        <p14:creationId xmlns:p14="http://schemas.microsoft.com/office/powerpoint/2010/main" val="3254042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A5E6D-B4B8-E6FC-36BC-5CB505B56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96507-01FC-62C2-E9DC-797797EE4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DA4E3-607E-9B5E-49F0-D08FAAA36935}"/>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Assumes lambda = 1</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 unique property of the Weibull distribution is that regardless of the shape, the scale parameter represents the time point by which approximately 63.2% of the population is expected to have experienced the event. If the scale = 1, it means that at 1 unit of time (e.g., 1 year or 1 month, depending on your data), roughly 63% of your subjects will have had the event, as can be seen from the survival distribution above.</a:t>
            </a:r>
          </a:p>
          <a:p>
            <a:r>
              <a:rPr lang="en-AU" dirty="0"/>
              <a:t> </a:t>
            </a:r>
          </a:p>
        </p:txBody>
      </p:sp>
      <p:sp>
        <p:nvSpPr>
          <p:cNvPr id="4" name="Slide Number Placeholder 3">
            <a:extLst>
              <a:ext uri="{FF2B5EF4-FFF2-40B4-BE49-F238E27FC236}">
                <a16:creationId xmlns:a16="http://schemas.microsoft.com/office/drawing/2014/main" id="{1FE011F1-C84E-53CC-EB1C-E2A42877BA1B}"/>
              </a:ext>
            </a:extLst>
          </p:cNvPr>
          <p:cNvSpPr>
            <a:spLocks noGrp="1"/>
          </p:cNvSpPr>
          <p:nvPr>
            <p:ph type="sldNum" sz="quarter" idx="5"/>
          </p:nvPr>
        </p:nvSpPr>
        <p:spPr/>
        <p:txBody>
          <a:bodyPr/>
          <a:lstStyle/>
          <a:p>
            <a:fld id="{7B61BF14-442A-4806-9528-3CAE044062F5}" type="slidenum">
              <a:rPr lang="en-AU" smtClean="0"/>
              <a:t>13</a:t>
            </a:fld>
            <a:endParaRPr lang="en-AU"/>
          </a:p>
        </p:txBody>
      </p:sp>
    </p:spTree>
    <p:extLst>
      <p:ext uri="{BB962C8B-B14F-4D97-AF65-F5344CB8AC3E}">
        <p14:creationId xmlns:p14="http://schemas.microsoft.com/office/powerpoint/2010/main" val="3624545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94D8-07EB-331B-EE1F-6A4EED0E4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471FF-CD12-BEF7-241A-DBC82B121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723CE-F56E-2934-13BD-EFF5E3C36A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a:t>
            </a:r>
            <a:r>
              <a:rPr lang="en-US" sz="1200" b="0" kern="1200" dirty="0">
                <a:solidFill>
                  <a:schemeClr val="tx1"/>
                </a:solidFill>
                <a:effectLst/>
                <a:latin typeface="+mn-lt"/>
                <a:ea typeface="+mn-ea"/>
                <a:cs typeface="+mn-cs"/>
              </a:rPr>
              <a:t>Assumes lambda = 1</a:t>
            </a:r>
          </a:p>
          <a:p>
            <a:endParaRPr lang="en-AU" dirty="0"/>
          </a:p>
        </p:txBody>
      </p:sp>
      <p:sp>
        <p:nvSpPr>
          <p:cNvPr id="4" name="Slide Number Placeholder 3">
            <a:extLst>
              <a:ext uri="{FF2B5EF4-FFF2-40B4-BE49-F238E27FC236}">
                <a16:creationId xmlns:a16="http://schemas.microsoft.com/office/drawing/2014/main" id="{A3CD16E8-9066-CCCE-2809-49F75871013B}"/>
              </a:ext>
            </a:extLst>
          </p:cNvPr>
          <p:cNvSpPr>
            <a:spLocks noGrp="1"/>
          </p:cNvSpPr>
          <p:nvPr>
            <p:ph type="sldNum" sz="quarter" idx="5"/>
          </p:nvPr>
        </p:nvSpPr>
        <p:spPr/>
        <p:txBody>
          <a:bodyPr/>
          <a:lstStyle/>
          <a:p>
            <a:fld id="{7B61BF14-442A-4806-9528-3CAE044062F5}" type="slidenum">
              <a:rPr lang="en-AU" smtClean="0"/>
              <a:t>14</a:t>
            </a:fld>
            <a:endParaRPr lang="en-AU"/>
          </a:p>
        </p:txBody>
      </p:sp>
    </p:spTree>
    <p:extLst>
      <p:ext uri="{BB962C8B-B14F-4D97-AF65-F5344CB8AC3E}">
        <p14:creationId xmlns:p14="http://schemas.microsoft.com/office/powerpoint/2010/main" val="2757474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6513B-25B7-76BF-7496-59974D889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F8545-5130-2028-8C9D-0E089AC07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6296-7030-C841-49CD-DC9256A80BEC}"/>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Participating patients had </a:t>
            </a:r>
            <a:r>
              <a:rPr lang="en-US" sz="1200" b="0" i="0" u="none" strike="noStrike" kern="1200" baseline="0" dirty="0">
                <a:solidFill>
                  <a:schemeClr val="tx1"/>
                </a:solidFill>
                <a:latin typeface="+mn-lt"/>
                <a:ea typeface="+mn-ea"/>
                <a:cs typeface="+mn-cs"/>
              </a:rPr>
              <a:t>complete or partial remission status. Pairs of patients were matched by remission status with one </a:t>
            </a:r>
            <a:r>
              <a:rPr lang="en-US" sz="1200" b="0" i="0" u="none" strike="noStrike" kern="1200" baseline="0" dirty="0" err="1">
                <a:solidFill>
                  <a:schemeClr val="tx1"/>
                </a:solidFill>
                <a:latin typeface="+mn-lt"/>
                <a:ea typeface="+mn-ea"/>
                <a:cs typeface="+mn-cs"/>
              </a:rPr>
              <a:t>randomised</a:t>
            </a:r>
            <a:r>
              <a:rPr lang="en-US" sz="1200" b="0" i="0" u="none" strike="noStrike" kern="1200" baseline="0" dirty="0">
                <a:solidFill>
                  <a:schemeClr val="tx1"/>
                </a:solidFill>
                <a:latin typeface="+mn-lt"/>
                <a:ea typeface="+mn-ea"/>
                <a:cs typeface="+mn-cs"/>
              </a:rPr>
              <a:t> to 6-MP and the other to placebo. This is an aspect we will ignore.</a:t>
            </a:r>
            <a:endParaRPr lang="en-AU" dirty="0"/>
          </a:p>
        </p:txBody>
      </p:sp>
      <p:sp>
        <p:nvSpPr>
          <p:cNvPr id="4" name="Slide Number Placeholder 3">
            <a:extLst>
              <a:ext uri="{FF2B5EF4-FFF2-40B4-BE49-F238E27FC236}">
                <a16:creationId xmlns:a16="http://schemas.microsoft.com/office/drawing/2014/main" id="{057229E5-DC62-914F-98A4-A27FD02F05F5}"/>
              </a:ext>
            </a:extLst>
          </p:cNvPr>
          <p:cNvSpPr>
            <a:spLocks noGrp="1"/>
          </p:cNvSpPr>
          <p:nvPr>
            <p:ph type="sldNum" sz="quarter" idx="5"/>
          </p:nvPr>
        </p:nvSpPr>
        <p:spPr/>
        <p:txBody>
          <a:bodyPr/>
          <a:lstStyle/>
          <a:p>
            <a:fld id="{7B61BF14-442A-4806-9528-3CAE044062F5}" type="slidenum">
              <a:rPr lang="en-AU" smtClean="0"/>
              <a:t>15</a:t>
            </a:fld>
            <a:endParaRPr lang="en-AU"/>
          </a:p>
        </p:txBody>
      </p:sp>
    </p:spTree>
    <p:extLst>
      <p:ext uri="{BB962C8B-B14F-4D97-AF65-F5344CB8AC3E}">
        <p14:creationId xmlns:p14="http://schemas.microsoft.com/office/powerpoint/2010/main" val="3433140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25A67-A74D-A35B-21FF-0A51E2D78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046A3-A024-4628-AC61-256332EBB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6EE03-1A28-1903-302D-5A74A52387CF}"/>
              </a:ext>
            </a:extLst>
          </p:cNvPr>
          <p:cNvSpPr>
            <a:spLocks noGrp="1"/>
          </p:cNvSpPr>
          <p:nvPr>
            <p:ph type="body" idx="1"/>
          </p:nvPr>
        </p:nvSpPr>
        <p:spPr/>
        <p:txBody>
          <a:bodyPr/>
          <a:lstStyle/>
          <a:p>
            <a:r>
              <a:rPr lang="en-US" dirty="0"/>
              <a:t>Follow-up time is weeks</a:t>
            </a:r>
          </a:p>
          <a:p>
            <a:endParaRPr lang="en-US" dirty="0"/>
          </a:p>
          <a:p>
            <a:r>
              <a:rPr lang="en-US" dirty="0"/>
              <a:t>12 out of 21 patients in treatment group were censored (57%)</a:t>
            </a:r>
          </a:p>
          <a:p>
            <a:endParaRPr lang="en-US" dirty="0"/>
          </a:p>
          <a:p>
            <a:r>
              <a:rPr lang="en-US" dirty="0"/>
              <a:t>Clinical trial with fixed duration. </a:t>
            </a:r>
          </a:p>
          <a:p>
            <a:endParaRPr lang="en-US" dirty="0"/>
          </a:p>
          <a:p>
            <a:r>
              <a:rPr lang="en-US" dirty="0"/>
              <a:t>In some cases, patients moved away or stopped returning to the clinic for check-ups. Since the researchers knew the patient was in remission at their last visit (e.g., at week 6 or week 10) but didn't know what happened after that, they had to "censor" them at that last known date.</a:t>
            </a:r>
            <a:endParaRPr lang="en-AU" dirty="0"/>
          </a:p>
        </p:txBody>
      </p:sp>
      <p:sp>
        <p:nvSpPr>
          <p:cNvPr id="4" name="Slide Number Placeholder 3">
            <a:extLst>
              <a:ext uri="{FF2B5EF4-FFF2-40B4-BE49-F238E27FC236}">
                <a16:creationId xmlns:a16="http://schemas.microsoft.com/office/drawing/2014/main" id="{7D80C50B-5569-49F4-B314-DEE875A3350F}"/>
              </a:ext>
            </a:extLst>
          </p:cNvPr>
          <p:cNvSpPr>
            <a:spLocks noGrp="1"/>
          </p:cNvSpPr>
          <p:nvPr>
            <p:ph type="sldNum" sz="quarter" idx="5"/>
          </p:nvPr>
        </p:nvSpPr>
        <p:spPr/>
        <p:txBody>
          <a:bodyPr/>
          <a:lstStyle/>
          <a:p>
            <a:fld id="{7B61BF14-442A-4806-9528-3CAE044062F5}" type="slidenum">
              <a:rPr lang="en-AU" smtClean="0"/>
              <a:t>16</a:t>
            </a:fld>
            <a:endParaRPr lang="en-AU"/>
          </a:p>
        </p:txBody>
      </p:sp>
    </p:spTree>
    <p:extLst>
      <p:ext uri="{BB962C8B-B14F-4D97-AF65-F5344CB8AC3E}">
        <p14:creationId xmlns:p14="http://schemas.microsoft.com/office/powerpoint/2010/main" val="1039589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5EA32-3101-D58C-387E-EC1C11B38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C2BF0-2157-3B11-D6CC-862B895A9CC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B0C3194-9A03-73AC-BD5E-F583BA43B5EA}"/>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PH Perspective: Treatment multiplies the hazard by a factor </a:t>
                </a:r>
              </a:p>
              <a:p>
                <a:r>
                  <a:rPr lang="en-US" sz="1200" b="0" kern="1200" dirty="0">
                    <a:solidFill>
                      <a:schemeClr val="tx1"/>
                    </a:solidFill>
                    <a:effectLst/>
                    <a:latin typeface="+mn-lt"/>
                    <a:ea typeface="+mn-ea"/>
                    <a:cs typeface="+mn-cs"/>
                  </a:rPr>
                  <a:t>AFT Perspective: Treatment stretches or shrinks the time axis by a factor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modeling how covariates multiply </a:t>
                </a:r>
                <a:r>
                  <a:rPr lang="en-US" i="1" dirty="0"/>
                  <a:t>risk</a:t>
                </a:r>
                <a:r>
                  <a:rPr lang="en-US" dirty="0"/>
                  <a:t>, model how they multiply </a:t>
                </a:r>
                <a:r>
                  <a:rPr lang="en-US" i="1" dirty="0"/>
                  <a:t>time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 applies to comparison of hazards. AFT applies to comparison of survival times.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HR is a measure of association on hazard. Acceleration factor or time ration is a measure of association on survival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Proportional Hazards model is</a:t>
                </a:r>
                <a:r>
                  <a:rPr lang="en-US" b="0" baseline="0" dirty="0"/>
                  <a:t> j</a:t>
                </a:r>
                <a:r>
                  <a:rPr lang="en-US" dirty="0"/>
                  <a:t>ust like Cox model, but with a specified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h</m:t>
                        </m:r>
                      </m:e>
                      <m:sub>
                        <m:r>
                          <a:rPr lang="en-AU" b="0" i="1" smtClean="0">
                            <a:latin typeface="Cambria Math" panose="02040503050406030204" pitchFamily="18" charset="0"/>
                          </a:rPr>
                          <m:t>0</m:t>
                        </m:r>
                      </m:sub>
                    </m:sSub>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US" b="0" i="1" smtClean="0">
                        <a:latin typeface="Cambria Math" panose="02040503050406030204" pitchFamily="18" charset="0"/>
                      </a:rPr>
                      <m:t>. </m:t>
                    </m:r>
                  </m:oMath>
                </a14:m>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Baseline hazard can also be estimated in the Cox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vertical shift in log-hazard vs horizontal shift in the survival curve</a:t>
                </a:r>
              </a:p>
              <a:p>
                <a:endParaRPr lang="en-US" dirty="0"/>
              </a:p>
              <a:p>
                <a:endParaRPr lang="en-AU"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Proportional Hazards model is</a:t>
                </a:r>
                <a:r>
                  <a:rPr lang="en-US" b="0" baseline="0" dirty="0"/>
                  <a:t> j</a:t>
                </a:r>
                <a:r>
                  <a:rPr lang="en-US" dirty="0"/>
                  <a:t>ust like Cox model, but with a specified </a:t>
                </a:r>
                <a:r>
                  <a:rPr lang="en-AU" b="0" i="0">
                    <a:latin typeface="Cambria Math" panose="02040503050406030204" pitchFamily="18" charset="0"/>
                  </a:rPr>
                  <a:t>ℎ_0 (𝑡)</a:t>
                </a:r>
                <a:r>
                  <a:rPr lang="en-US" b="0" i="0">
                    <a:latin typeface="Cambria Math" panose="02040503050406030204" pitchFamily="18" charset="0"/>
                  </a:rPr>
                  <a:t>. </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Baseline hazard can also be estimated in the Cox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modeling how covariates multiply </a:t>
                </a:r>
                <a:r>
                  <a:rPr lang="en-US" i="1" dirty="0"/>
                  <a:t>risk</a:t>
                </a:r>
                <a:r>
                  <a:rPr lang="en-US" dirty="0"/>
                  <a:t>, model how they multiply </a:t>
                </a:r>
                <a:r>
                  <a:rPr lang="en-US" i="1" dirty="0"/>
                  <a:t>time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 applies t comparison of hazards. AFT applies to comparison of survival times.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HR is a measure of association on hazard. Acceleration factor is a measure of association on survival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vertical shift in log-hazard vs horizontal shift in the survival curve</a:t>
                </a:r>
              </a:p>
              <a:p>
                <a:endParaRPr lang="en-US" dirty="0"/>
              </a:p>
              <a:p>
                <a:r>
                  <a:rPr lang="en-US" b="0" dirty="0"/>
                  <a:t>1. Research Questions for a Proportional Hazards Approach</a:t>
                </a:r>
              </a:p>
              <a:p>
                <a:r>
                  <a:rPr lang="en-US" b="0" dirty="0"/>
                  <a:t>In this framework, your interest is in the instantaneous risk of relapse.</a:t>
                </a:r>
              </a:p>
              <a:p>
                <a:r>
                  <a:rPr lang="en-US" b="0" dirty="0"/>
                  <a:t>Primary Question: Does the treatment significantly lower the risk of leukemia relapse at any given point in time compared to the placebo?</a:t>
                </a:r>
              </a:p>
              <a:p>
                <a:r>
                  <a:rPr lang="en-US" b="0" dirty="0"/>
                  <a:t>Magnitude Question: By what percentage does the treatment reduce the "hazard" of the disease returning? (e.g., "Does the treatment offer a 50% reduction in the hazard of relapse?")</a:t>
                </a:r>
              </a:p>
              <a:p>
                <a:r>
                  <a:rPr lang="en-US" b="0" dirty="0"/>
                  <a:t>Consistency Question: Is the protective effect of the treatment consistent throughout the study, or does the hazard ratio change as the patients remain in remission longer?</a:t>
                </a:r>
              </a:p>
              <a:p>
                <a:endParaRPr lang="en-US" b="0" dirty="0"/>
              </a:p>
              <a:p>
                <a:r>
                  <a:rPr lang="en-US" b="0" dirty="0"/>
                  <a:t>2. Research Questions for an Accelerated Failure Time Approach</a:t>
                </a:r>
              </a:p>
              <a:p>
                <a:r>
                  <a:rPr lang="en-US" b="0" dirty="0"/>
                  <a:t>In this framework, your interest is in the extension of time. This is often more intuitive for clinicians and patients.</a:t>
                </a:r>
              </a:p>
              <a:p>
                <a:r>
                  <a:rPr lang="en-US" b="0" dirty="0"/>
                  <a:t>Primary Question: How much longer can a patient expect to remain in remission on the treatment compared to the placebo?</a:t>
                </a:r>
              </a:p>
              <a:p>
                <a:r>
                  <a:rPr lang="en-US" b="0" dirty="0"/>
                  <a:t>Magnitude Question: Does the treatment "stretch" the time until relapse by a specific factor? (e.g., "Does the treatment double the expected remission time?")</a:t>
                </a:r>
              </a:p>
              <a:p>
                <a:r>
                  <a:rPr lang="en-US" b="0" dirty="0"/>
                  <a:t>Prediction Question: What is the estimated median time to relapse for a patient in the treatment group versus the placebo group?</a:t>
                </a:r>
              </a:p>
              <a:p>
                <a:endParaRPr lang="en-AU" dirty="0"/>
              </a:p>
            </p:txBody>
          </p:sp>
        </mc:Fallback>
      </mc:AlternateContent>
      <p:sp>
        <p:nvSpPr>
          <p:cNvPr id="4" name="Slide Number Placeholder 3">
            <a:extLst>
              <a:ext uri="{FF2B5EF4-FFF2-40B4-BE49-F238E27FC236}">
                <a16:creationId xmlns:a16="http://schemas.microsoft.com/office/drawing/2014/main" id="{6425E580-AB48-3149-52A7-6DC875B9CAB6}"/>
              </a:ext>
            </a:extLst>
          </p:cNvPr>
          <p:cNvSpPr>
            <a:spLocks noGrp="1"/>
          </p:cNvSpPr>
          <p:nvPr>
            <p:ph type="sldNum" sz="quarter" idx="5"/>
          </p:nvPr>
        </p:nvSpPr>
        <p:spPr/>
        <p:txBody>
          <a:bodyPr/>
          <a:lstStyle/>
          <a:p>
            <a:fld id="{7B61BF14-442A-4806-9528-3CAE044062F5}" type="slidenum">
              <a:rPr lang="en-AU" smtClean="0"/>
              <a:t>17</a:t>
            </a:fld>
            <a:endParaRPr lang="en-AU"/>
          </a:p>
        </p:txBody>
      </p:sp>
    </p:spTree>
    <p:extLst>
      <p:ext uri="{BB962C8B-B14F-4D97-AF65-F5344CB8AC3E}">
        <p14:creationId xmlns:p14="http://schemas.microsoft.com/office/powerpoint/2010/main" val="1400638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3DDC-6B0F-1E4D-CC60-871291364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7B08F-C4F6-08C4-3A31-598D7399743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7360F94-0F22-38E1-21A0-DF74C708674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PH Perspective: Treatment multiplies the hazard by a factor theta.</a:t>
                </a:r>
              </a:p>
              <a:p>
                <a:r>
                  <a:rPr lang="en-US" sz="1200" b="0" kern="1200" dirty="0">
                    <a:solidFill>
                      <a:schemeClr val="tx1"/>
                    </a:solidFill>
                    <a:effectLst/>
                    <a:latin typeface="+mn-lt"/>
                    <a:ea typeface="+mn-ea"/>
                    <a:cs typeface="+mn-cs"/>
                  </a:rPr>
                  <a:t>AFT Perspective: Treatment stretches or shrinks the time axis by a factor phi.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modeling how covariates multiply </a:t>
                </a:r>
                <a:r>
                  <a:rPr lang="en-US" i="1" dirty="0"/>
                  <a:t>risk</a:t>
                </a:r>
                <a:r>
                  <a:rPr lang="en-US" dirty="0"/>
                  <a:t>, model how they multiply </a:t>
                </a:r>
                <a:r>
                  <a:rPr lang="en-US" i="1" dirty="0"/>
                  <a:t>time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 applies to comparison of hazards. AFT applies to comparison of survival times.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HR is a measure of association on hazard. Acceleration factor or time ration is a measure of association on survival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Proportional Hazards model is</a:t>
                </a:r>
                <a:r>
                  <a:rPr lang="en-US" b="0" baseline="0" dirty="0"/>
                  <a:t> j</a:t>
                </a:r>
                <a:r>
                  <a:rPr lang="en-US" dirty="0"/>
                  <a:t>ust like Cox model, but with a specified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h</m:t>
                        </m:r>
                      </m:e>
                      <m:sub>
                        <m:r>
                          <a:rPr lang="en-AU" b="0" i="1" smtClean="0">
                            <a:latin typeface="Cambria Math" panose="02040503050406030204" pitchFamily="18" charset="0"/>
                          </a:rPr>
                          <m:t>0</m:t>
                        </m:r>
                      </m:sub>
                    </m:sSub>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US" b="0" i="1" smtClean="0">
                        <a:latin typeface="Cambria Math" panose="02040503050406030204" pitchFamily="18" charset="0"/>
                      </a:rPr>
                      <m:t>. </m:t>
                    </m:r>
                  </m:oMath>
                </a14:m>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Baseline hazard can also be estimated in the Cox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vertical shift in log-hazard vs horizontal shift in the survival curve</a:t>
                </a:r>
              </a:p>
              <a:p>
                <a:endParaRPr lang="en-US" dirty="0"/>
              </a:p>
              <a:p>
                <a:endParaRPr lang="en-AU"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Proportional Hazards model is</a:t>
                </a:r>
                <a:r>
                  <a:rPr lang="en-US" b="0" baseline="0" dirty="0"/>
                  <a:t> j</a:t>
                </a:r>
                <a:r>
                  <a:rPr lang="en-US" dirty="0"/>
                  <a:t>ust like Cox model, but with a specified </a:t>
                </a:r>
                <a:r>
                  <a:rPr lang="en-AU" b="0" i="0">
                    <a:latin typeface="Cambria Math" panose="02040503050406030204" pitchFamily="18" charset="0"/>
                  </a:rPr>
                  <a:t>ℎ_0 (𝑡)</a:t>
                </a:r>
                <a:r>
                  <a:rPr lang="en-US" b="0" i="0">
                    <a:latin typeface="Cambria Math" panose="02040503050406030204" pitchFamily="18" charset="0"/>
                  </a:rPr>
                  <a:t>. </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Baseline hazard can also be estimated in the Cox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modeling how covariates multiply </a:t>
                </a:r>
                <a:r>
                  <a:rPr lang="en-US" i="1" dirty="0"/>
                  <a:t>risk</a:t>
                </a:r>
                <a:r>
                  <a:rPr lang="en-US" dirty="0"/>
                  <a:t>, model how they multiply </a:t>
                </a:r>
                <a:r>
                  <a:rPr lang="en-US" i="1" dirty="0"/>
                  <a:t>time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 applies t comparison of hazards. AFT applies to comparison of survival times.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HR is a measure of association on hazard. Acceleration factor is a measure of association on survival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vertical shift in log-hazard vs horizontal shift in the survival curve</a:t>
                </a:r>
              </a:p>
              <a:p>
                <a:endParaRPr lang="en-US" dirty="0"/>
              </a:p>
              <a:p>
                <a:r>
                  <a:rPr lang="en-US" b="0" dirty="0"/>
                  <a:t>1. Research Questions for a Proportional Hazards Approach</a:t>
                </a:r>
              </a:p>
              <a:p>
                <a:r>
                  <a:rPr lang="en-US" b="0" dirty="0"/>
                  <a:t>In this framework, your interest is in the instantaneous risk of relapse.</a:t>
                </a:r>
              </a:p>
              <a:p>
                <a:r>
                  <a:rPr lang="en-US" b="0" dirty="0"/>
                  <a:t>Primary Question: Does the treatment significantly lower the risk of leukemia relapse at any given point in time compared to the placebo?</a:t>
                </a:r>
              </a:p>
              <a:p>
                <a:r>
                  <a:rPr lang="en-US" b="0" dirty="0"/>
                  <a:t>Magnitude Question: By what percentage does the treatment reduce the "hazard" of the disease returning? (e.g., "Does the treatment offer a 50% reduction in the hazard of relapse?")</a:t>
                </a:r>
              </a:p>
              <a:p>
                <a:r>
                  <a:rPr lang="en-US" b="0" dirty="0"/>
                  <a:t>Consistency Question: Is the protective effect of the treatment consistent throughout the study, or does the hazard ratio change as the patients remain in remission longer?</a:t>
                </a:r>
              </a:p>
              <a:p>
                <a:endParaRPr lang="en-US" b="0" dirty="0"/>
              </a:p>
              <a:p>
                <a:r>
                  <a:rPr lang="en-US" b="0" dirty="0"/>
                  <a:t>2. Research Questions for an Accelerated Failure Time Approach</a:t>
                </a:r>
              </a:p>
              <a:p>
                <a:r>
                  <a:rPr lang="en-US" b="0" dirty="0"/>
                  <a:t>In this framework, your interest is in the extension of time. This is often more intuitive for clinicians and patients.</a:t>
                </a:r>
              </a:p>
              <a:p>
                <a:r>
                  <a:rPr lang="en-US" b="0" dirty="0"/>
                  <a:t>Primary Question: How much longer can a patient expect to remain in remission on the treatment compared to the placebo?</a:t>
                </a:r>
              </a:p>
              <a:p>
                <a:r>
                  <a:rPr lang="en-US" b="0" dirty="0"/>
                  <a:t>Magnitude Question: Does the treatment "stretch" the time until relapse by a specific factor? (e.g., "Does the treatment double the expected remission time?")</a:t>
                </a:r>
              </a:p>
              <a:p>
                <a:r>
                  <a:rPr lang="en-US" b="0" dirty="0"/>
                  <a:t>Prediction Question: What is the estimated median time to relapse for a patient in the treatment group versus the placebo group?</a:t>
                </a:r>
              </a:p>
              <a:p>
                <a:endParaRPr lang="en-AU" dirty="0"/>
              </a:p>
            </p:txBody>
          </p:sp>
        </mc:Fallback>
      </mc:AlternateContent>
      <p:sp>
        <p:nvSpPr>
          <p:cNvPr id="4" name="Slide Number Placeholder 3">
            <a:extLst>
              <a:ext uri="{FF2B5EF4-FFF2-40B4-BE49-F238E27FC236}">
                <a16:creationId xmlns:a16="http://schemas.microsoft.com/office/drawing/2014/main" id="{0E27AFFD-7D24-E684-DFA5-51C334D6BB68}"/>
              </a:ext>
            </a:extLst>
          </p:cNvPr>
          <p:cNvSpPr>
            <a:spLocks noGrp="1"/>
          </p:cNvSpPr>
          <p:nvPr>
            <p:ph type="sldNum" sz="quarter" idx="5"/>
          </p:nvPr>
        </p:nvSpPr>
        <p:spPr/>
        <p:txBody>
          <a:bodyPr/>
          <a:lstStyle/>
          <a:p>
            <a:fld id="{7B61BF14-442A-4806-9528-3CAE044062F5}" type="slidenum">
              <a:rPr lang="en-AU" smtClean="0"/>
              <a:t>18</a:t>
            </a:fld>
            <a:endParaRPr lang="en-AU"/>
          </a:p>
        </p:txBody>
      </p:sp>
    </p:spTree>
    <p:extLst>
      <p:ext uri="{BB962C8B-B14F-4D97-AF65-F5344CB8AC3E}">
        <p14:creationId xmlns:p14="http://schemas.microsoft.com/office/powerpoint/2010/main" val="2312751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BF58-3ADF-C1F6-EF7F-0EC42E56A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EE25C-C1E9-CFB7-D9D4-834402562C9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CABCD16-7930-02A4-5EEC-3A42EC207F3D}"/>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PH Perspective: Treatment multiplies the hazard by a factor </a:t>
                </a:r>
              </a:p>
              <a:p>
                <a:r>
                  <a:rPr lang="en-US" sz="1200" b="0" kern="1200" dirty="0">
                    <a:solidFill>
                      <a:schemeClr val="tx1"/>
                    </a:solidFill>
                    <a:effectLst/>
                    <a:latin typeface="+mn-lt"/>
                    <a:ea typeface="+mn-ea"/>
                    <a:cs typeface="+mn-cs"/>
                  </a:rPr>
                  <a:t>AFT Perspective: Treatment stretches or shrinks the time axis by a factor</a:t>
                </a:r>
              </a:p>
              <a:p>
                <a:r>
                  <a:rPr lang="en-US" sz="1200" b="0" kern="1200" dirty="0">
                    <a:solidFill>
                      <a:schemeClr val="tx1"/>
                    </a:solidFill>
                    <a:effectLst/>
                    <a:latin typeface="+mn-lt"/>
                    <a:ea typeface="+mn-ea"/>
                    <a:cs typeface="+mn-cs"/>
                  </a:rPr>
                  <a:t>The Link: For the exponential model, these two perspectives are simply inverses of each other</a:t>
                </a:r>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𝑡</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e>
                    </m:d>
                    <m:r>
                      <a:rPr lang="en-US" b="0" i="1" smtClean="0">
                        <a:latin typeface="Cambria Math" panose="02040503050406030204" pitchFamily="18" charset="0"/>
                      </a:rPr>
                      <m:t> </m:t>
                    </m:r>
                  </m:oMath>
                </a14:m>
                <a:r>
                  <a:rPr lang="en-US" dirty="0"/>
                  <a:t>Because the hazard is constant, a vertical shift in risk is mathematically identical to a horizontal shift in time. This is why you can report both an HR and a TR for an exponential model and both will be valid.</a:t>
                </a:r>
              </a:p>
              <a:p>
                <a:endParaRPr lang="en-US" dirty="0"/>
              </a:p>
              <a:p>
                <a:r>
                  <a:rPr lang="en-US" dirty="0"/>
                  <a:t>Because the exponential model assumes the risk of failure is the same at any moment, reducing the daily risk by half is mathematically identical to doubling the time it takes to fail. In more complex models where risk increases with age, this simple swap doesn't hold because 'time' and 'risk' don't scale linearly.</a:t>
                </a:r>
                <a:r>
                  <a:rPr lang="en-US" baseline="0" dirty="0"/>
                  <a:t>  </a:t>
                </a:r>
              </a:p>
              <a:p>
                <a:endParaRPr lang="en-US" baseline="0" dirty="0"/>
              </a:p>
              <a:p>
                <a:endParaRPr lang="en-AU" dirty="0"/>
              </a:p>
            </p:txBody>
          </p:sp>
        </mc:Choice>
        <mc:Fallback xmlns="">
          <p:sp>
            <p:nvSpPr>
              <p:cNvPr id="3" name="Notes Placeholder 2">
                <a:extLst>
                  <a:ext uri="{FF2B5EF4-FFF2-40B4-BE49-F238E27FC236}">
                    <a16:creationId xmlns:a16="http://schemas.microsoft.com/office/drawing/2014/main" id="{4CABCD16-7930-02A4-5EEC-3A42EC207F3D}"/>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PH Perspective: Treatment multiplies the hazard by a factor theta.</a:t>
                </a:r>
              </a:p>
              <a:p>
                <a:r>
                  <a:rPr lang="en-US" sz="1200" b="0" kern="1200" dirty="0">
                    <a:solidFill>
                      <a:schemeClr val="tx1"/>
                    </a:solidFill>
                    <a:effectLst/>
                    <a:latin typeface="+mn-lt"/>
                    <a:ea typeface="+mn-ea"/>
                    <a:cs typeface="+mn-cs"/>
                  </a:rPr>
                  <a:t>AFT Perspective: Treatment stretches or shrinks the time axis by a factor phi.</a:t>
                </a:r>
              </a:p>
              <a:p>
                <a:r>
                  <a:rPr lang="en-US" sz="1200" b="0" kern="1200" dirty="0">
                    <a:solidFill>
                      <a:schemeClr val="tx1"/>
                    </a:solidFill>
                    <a:effectLst/>
                    <a:latin typeface="+mn-lt"/>
                    <a:ea typeface="+mn-ea"/>
                    <a:cs typeface="+mn-cs"/>
                  </a:rPr>
                  <a:t>The Link: For the exponential model, these two perspectives are simply inverses of each other: theta = phi.</a:t>
                </a:r>
              </a:p>
              <a:p>
                <a:endParaRPr lang="en-US" b="0" i="1" dirty="0">
                  <a:latin typeface="Cambria Math" panose="02040503050406030204" pitchFamily="18" charset="0"/>
                </a:endParaRPr>
              </a:p>
              <a:p>
                <a:r>
                  <a:rPr lang="en-US" b="0" i="0">
                    <a:latin typeface="Cambria Math" panose="02040503050406030204" pitchFamily="18" charset="0"/>
                  </a:rPr>
                  <a:t>ℎ(𝑡|𝑋)┤  </a:t>
                </a:r>
                <a:r>
                  <a:rPr lang="en-US" dirty="0"/>
                  <a:t>Because the hazard is constant, a vertical shift in risk is mathematically identical to a horizontal shift in time. This is why you can report both an HR and a TR for an exponential model and both will be valid.</a:t>
                </a:r>
              </a:p>
              <a:p>
                <a:endParaRPr lang="en-US" dirty="0"/>
              </a:p>
              <a:p>
                <a:r>
                  <a:rPr lang="en-US" dirty="0"/>
                  <a:t>Because the exponential model assumes the risk of failure is the same at any moment, reducing the daily risk by half is mathematically identical to doubling the time it takes to fail. In more complex models where risk increases with age, this simple swap doesn't hold because 'time' and 'risk' don't scale linearly.</a:t>
                </a:r>
                <a:r>
                  <a:rPr lang="en-US" baseline="0" dirty="0"/>
                  <a:t>  </a:t>
                </a:r>
              </a:p>
              <a:p>
                <a:endParaRPr lang="en-US" baseline="0" dirty="0"/>
              </a:p>
              <a:p>
                <a:r>
                  <a:rPr lang="en-US" baseline="0" dirty="0"/>
                  <a:t>AFT model is additive in terms of </a:t>
                </a:r>
                <a:r>
                  <a:rPr lang="en-US" baseline="0" dirty="0" err="1"/>
                  <a:t>logT</a:t>
                </a:r>
                <a:r>
                  <a:rPr lang="en-US" baseline="0" dirty="0"/>
                  <a:t> but multiplicative in terms of T. </a:t>
                </a:r>
              </a:p>
              <a:p>
                <a:endParaRPr lang="en-US" baseline="0" dirty="0"/>
              </a:p>
              <a:p>
                <a:r>
                  <a:rPr lang="en-US" dirty="0"/>
                  <a:t>The AFT model is written on a log-time scale primarily because it transforms the multiplicative relationship of "speeding up" or "slowing down" time into a linear relationship that is easier to estimate statistically.</a:t>
                </a:r>
              </a:p>
              <a:p>
                <a:r>
                  <a:rPr lang="en-US" sz="1200" kern="1200" dirty="0">
                    <a:solidFill>
                      <a:schemeClr val="tx1"/>
                    </a:solidFill>
                    <a:effectLst/>
                    <a:latin typeface="+mn-lt"/>
                    <a:ea typeface="+mn-ea"/>
                    <a:cs typeface="+mn-cs"/>
                  </a:rPr>
                  <a:t>The fundamental assumption of an AFT model is that covariates (like a treatment) act as </a:t>
                </a:r>
                <a:r>
                  <a:rPr lang="en-US" sz="1200" b="1" kern="1200" dirty="0">
                    <a:solidFill>
                      <a:schemeClr val="tx1"/>
                    </a:solidFill>
                    <a:effectLst/>
                    <a:latin typeface="+mn-lt"/>
                    <a:ea typeface="+mn-ea"/>
                    <a:cs typeface="+mn-cs"/>
                  </a:rPr>
                  <a:t>an acceleration factor </a:t>
                </a:r>
                <a:r>
                  <a:rPr lang="en-US" sz="1200" kern="1200" dirty="0">
                    <a:solidFill>
                      <a:schemeClr val="tx1"/>
                    </a:solidFill>
                    <a:effectLst/>
                    <a:latin typeface="+mn-lt"/>
                    <a:ea typeface="+mn-ea"/>
                    <a:cs typeface="+mn-cs"/>
                  </a:rPr>
                  <a:t>phi on time.</a:t>
                </a:r>
                <a:r>
                  <a:rPr lang="en-US" dirty="0"/>
                  <a:t> If the survival time for a control group is </a:t>
                </a:r>
                <a:r>
                  <a:rPr lang="en-US" sz="1200" kern="1200" dirty="0">
                    <a:solidFill>
                      <a:schemeClr val="tx1"/>
                    </a:solidFill>
                    <a:effectLst/>
                    <a:latin typeface="+mn-lt"/>
                    <a:ea typeface="+mn-ea"/>
                    <a:cs typeface="+mn-cs"/>
                  </a:rPr>
                  <a:t>T</a:t>
                </a:r>
                <a:r>
                  <a:rPr lang="en-US" dirty="0"/>
                  <a:t>, the survival time for the treatment group is </a:t>
                </a:r>
                <a:r>
                  <a:rPr lang="en-US" sz="1200" kern="1200" dirty="0">
                    <a:solidFill>
                      <a:schemeClr val="tx1"/>
                    </a:solidFill>
                    <a:effectLst/>
                    <a:latin typeface="+mn-lt"/>
                    <a:ea typeface="+mn-ea"/>
                    <a:cs typeface="+mn-cs"/>
                  </a:rPr>
                  <a:t>T times phi</a:t>
                </a:r>
                <a:r>
                  <a:rPr lang="en-US" dirty="0"/>
                  <a:t>.</a:t>
                </a:r>
              </a:p>
              <a:p>
                <a:endParaRPr lang="en-US" dirty="0"/>
              </a:p>
              <a:p>
                <a:r>
                  <a:rPr lang="en-US" dirty="0"/>
                  <a:t>1. Turning Multiplication into Addition</a:t>
                </a:r>
              </a:p>
              <a:p>
                <a:r>
                  <a:rPr lang="en-US" sz="1200" kern="1200" dirty="0">
                    <a:solidFill>
                      <a:schemeClr val="tx1"/>
                    </a:solidFill>
                    <a:effectLst/>
                    <a:latin typeface="+mn-lt"/>
                    <a:ea typeface="+mn-ea"/>
                    <a:cs typeface="+mn-cs"/>
                  </a:rPr>
                  <a:t>By taking the natural logarithm of both sides, we convert this multiplicative factor into an additive one:</a:t>
                </a:r>
              </a:p>
              <a:p>
                <a:r>
                  <a:rPr lang="en-US" sz="1200" kern="1200" dirty="0" err="1">
                    <a:solidFill>
                      <a:schemeClr val="tx1"/>
                    </a:solidFill>
                    <a:effectLst/>
                    <a:latin typeface="+mn-lt"/>
                    <a:ea typeface="+mn-ea"/>
                    <a:cs typeface="+mn-cs"/>
                  </a:rPr>
                  <a:t>logT</a:t>
                </a:r>
                <a:r>
                  <a:rPr lang="en-US" sz="1200" kern="1200" dirty="0">
                    <a:solidFill>
                      <a:schemeClr val="tx1"/>
                    </a:solidFill>
                    <a:effectLst/>
                    <a:latin typeface="+mn-lt"/>
                    <a:ea typeface="+mn-ea"/>
                    <a:cs typeface="+mn-cs"/>
                  </a:rPr>
                  <a:t>(treatment) = </a:t>
                </a:r>
                <a:r>
                  <a:rPr lang="en-US" sz="1200" kern="1200" dirty="0" err="1">
                    <a:solidFill>
                      <a:schemeClr val="tx1"/>
                    </a:solidFill>
                    <a:effectLst/>
                    <a:latin typeface="+mn-lt"/>
                    <a:ea typeface="+mn-ea"/>
                    <a:cs typeface="+mn-cs"/>
                  </a:rPr>
                  <a:t>logT</a:t>
                </a:r>
                <a:r>
                  <a:rPr lang="en-US" sz="1200" kern="1200" dirty="0">
                    <a:solidFill>
                      <a:schemeClr val="tx1"/>
                    </a:solidFill>
                    <a:effectLst/>
                    <a:latin typeface="+mn-lt"/>
                    <a:ea typeface="+mn-ea"/>
                    <a:cs typeface="+mn-cs"/>
                  </a:rPr>
                  <a:t>(control) + log(phi)</a:t>
                </a:r>
              </a:p>
              <a:p>
                <a:r>
                  <a:rPr lang="en-US" sz="1200" kern="1200" dirty="0">
                    <a:solidFill>
                      <a:schemeClr val="tx1"/>
                    </a:solidFill>
                    <a:effectLst/>
                    <a:latin typeface="+mn-lt"/>
                    <a:ea typeface="+mn-ea"/>
                    <a:cs typeface="+mn-cs"/>
                  </a:rPr>
                  <a:t>This looks exactly like a standard linear regression equation: Y = beta_0 + beta_1X + epsilon. This allows us to use familiar linear modeling techniques where log(phi) is the coefficient (beta) for your treatment variable.</a:t>
                </a:r>
              </a:p>
              <a:p>
                <a:endParaRPr lang="en-US" sz="1200" kern="1200" dirty="0">
                  <a:solidFill>
                    <a:schemeClr val="tx1"/>
                  </a:solidFill>
                  <a:effectLst/>
                  <a:latin typeface="+mn-lt"/>
                  <a:ea typeface="+mn-ea"/>
                  <a:cs typeface="+mn-cs"/>
                </a:endParaRPr>
              </a:p>
              <a:p>
                <a:r>
                  <a:rPr lang="en-US" dirty="0"/>
                  <a:t>2. Ensuring Positive Survival Times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Survival time T must always be greater than zero.</a:t>
                </a:r>
                <a:r>
                  <a:rPr lang="en-US" dirty="0"/>
                  <a:t> In a standard linear regression, the model could technically predict a </a:t>
                </a:r>
                <a:r>
                  <a:rPr lang="en-US" b="0" dirty="0"/>
                  <a:t>negative value, which is impossible for time. By modeling </a:t>
                </a:r>
                <a:r>
                  <a:rPr lang="en-US" sz="1200" b="0" kern="1200" dirty="0">
                    <a:solidFill>
                      <a:schemeClr val="tx1"/>
                    </a:solidFill>
                    <a:effectLst/>
                    <a:latin typeface="+mn-lt"/>
                    <a:ea typeface="+mn-ea"/>
                    <a:cs typeface="+mn-cs"/>
                  </a:rPr>
                  <a:t>log(T)</a:t>
                </a:r>
                <a:r>
                  <a:rPr lang="en-US" b="0" dirty="0"/>
                  <a:t>, the predicted values can range from negative infinity to positive infinity, but when we exponentiate them back to the original scale (</a:t>
                </a:r>
                <a:r>
                  <a:rPr lang="en-US" sz="1200" b="0" kern="1200" dirty="0" err="1">
                    <a:solidFill>
                      <a:schemeClr val="tx1"/>
                    </a:solidFill>
                    <a:effectLst/>
                    <a:latin typeface="+mn-lt"/>
                    <a:ea typeface="+mn-ea"/>
                    <a:cs typeface="+mn-cs"/>
                  </a:rPr>
                  <a:t>e^log</a:t>
                </a:r>
                <a:r>
                  <a:rPr lang="en-US" sz="1200" b="0" kern="1200" dirty="0">
                    <a:solidFill>
                      <a:schemeClr val="tx1"/>
                    </a:solidFill>
                    <a:effectLst/>
                    <a:latin typeface="+mn-lt"/>
                    <a:ea typeface="+mn-ea"/>
                    <a:cs typeface="+mn-cs"/>
                  </a:rPr>
                  <a:t> T</a:t>
                </a:r>
                <a:r>
                  <a:rPr lang="en-US" b="0" dirty="0"/>
                  <a:t>), the result is </a:t>
                </a:r>
                <a:r>
                  <a:rPr lang="en-US" sz="1200" b="0" kern="1200" dirty="0">
                    <a:solidFill>
                      <a:schemeClr val="tx1"/>
                    </a:solidFill>
                    <a:effectLst/>
                    <a:latin typeface="+mn-lt"/>
                    <a:ea typeface="+mn-ea"/>
                    <a:cs typeface="+mn-cs"/>
                  </a:rPr>
                  <a:t>guaranteed to be positive</a:t>
                </a:r>
                <a:r>
                  <a:rPr lang="en-US" b="0" dirty="0"/>
                  <a:t>.</a:t>
                </a:r>
              </a:p>
              <a:p>
                <a:endParaRPr lang="en-US" sz="1200" b="0" kern="1200" dirty="0">
                  <a:solidFill>
                    <a:schemeClr val="tx1"/>
                  </a:solidFill>
                  <a:effectLst/>
                  <a:latin typeface="+mn-lt"/>
                  <a:ea typeface="+mn-ea"/>
                  <a:cs typeface="+mn-cs"/>
                </a:endParaRPr>
              </a:p>
              <a:p>
                <a:r>
                  <a:rPr lang="en-US" dirty="0"/>
                  <a:t>3. Stretching the Time Axis</a:t>
                </a:r>
              </a:p>
              <a:p>
                <a:r>
                  <a:rPr lang="en-US" dirty="0"/>
                  <a:t>The log-transformation handles the "skewness" typical in survival data. Most survival data has many early events and a few very late events (long tails).</a:t>
                </a:r>
              </a:p>
              <a:p>
                <a:r>
                  <a:rPr lang="en-US" b="0" dirty="0"/>
                  <a:t>AFT Logic: Covariates "stretch" or "shrink" the time axis.</a:t>
                </a:r>
              </a:p>
              <a:p>
                <a:r>
                  <a:rPr lang="en-US" b="0" dirty="0"/>
                  <a:t>Log-Scale Logic: On a log scale, stretching the axis is equivalent to a constant shift.</a:t>
                </a:r>
              </a:p>
              <a:p>
                <a:endParaRPr lang="en-US" b="0" dirty="0"/>
              </a:p>
              <a:p>
                <a:r>
                  <a:rPr lang="en-US" sz="1200" b="0" kern="1200" dirty="0">
                    <a:solidFill>
                      <a:schemeClr val="tx1"/>
                    </a:solidFill>
                    <a:effectLst/>
                    <a:latin typeface="+mn-lt"/>
                    <a:ea typeface="+mn-ea"/>
                    <a:cs typeface="+mn-cs"/>
                  </a:rPr>
                  <a:t>4. Direct Interpretation: The Time Ratio</a:t>
                </a:r>
              </a:p>
              <a:p>
                <a:r>
                  <a:rPr lang="en-US" sz="1200" b="0" kern="1200" dirty="0">
                    <a:solidFill>
                      <a:schemeClr val="tx1"/>
                    </a:solidFill>
                    <a:effectLst/>
                    <a:latin typeface="+mn-lt"/>
                    <a:ea typeface="+mn-ea"/>
                    <a:cs typeface="+mn-cs"/>
                  </a:rPr>
                  <a:t>Because the model is on a log scale, the coefficients ($\beta$) have a very specific meaning once exponentiated ($e^\beta$):</a:t>
                </a:r>
              </a:p>
              <a:p>
                <a:r>
                  <a:rPr lang="en-US" sz="1200" b="0" kern="1200" dirty="0" err="1">
                    <a:solidFill>
                      <a:schemeClr val="tx1"/>
                    </a:solidFill>
                    <a:effectLst/>
                    <a:latin typeface="+mn-lt"/>
                    <a:ea typeface="+mn-ea"/>
                    <a:cs typeface="+mn-cs"/>
                  </a:rPr>
                  <a:t>e^beta</a:t>
                </a:r>
                <a:r>
                  <a:rPr lang="en-US" sz="1200" b="0" kern="1200" dirty="0">
                    <a:solidFill>
                      <a:schemeClr val="tx1"/>
                    </a:solidFill>
                    <a:effectLst/>
                    <a:latin typeface="+mn-lt"/>
                    <a:ea typeface="+mn-ea"/>
                    <a:cs typeface="+mn-cs"/>
                  </a:rPr>
                  <a:t> is the Time Ratio (TR): It tells you the factor by which survival time is multiplied.</a:t>
                </a:r>
              </a:p>
              <a:p>
                <a:r>
                  <a:rPr lang="en-US" sz="1200" b="0" kern="1200" dirty="0">
                    <a:solidFill>
                      <a:schemeClr val="tx1"/>
                    </a:solidFill>
                    <a:effectLst/>
                    <a:latin typeface="+mn-lt"/>
                    <a:ea typeface="+mn-ea"/>
                    <a:cs typeface="+mn-cs"/>
                  </a:rPr>
                  <a:t>Example: If the coefficient for your leukemia treatment (6-MP) is 0.7, then e^0.7 is approximately 2.0. This means patients on 6-MP are expected to survive twice as long as those on the placebo</a:t>
                </a:r>
                <a:r>
                  <a:rPr lang="en-US" sz="1200" kern="1200" dirty="0">
                    <a:solidFill>
                      <a:schemeClr val="tx1"/>
                    </a:solidFill>
                    <a:effectLst/>
                    <a:latin typeface="+mn-lt"/>
                    <a:ea typeface="+mn-ea"/>
                    <a:cs typeface="+mn-cs"/>
                  </a:rPr>
                  <a:t>.</a:t>
                </a:r>
              </a:p>
              <a:p>
                <a:endParaRPr lang="en-US" b="0" dirty="0"/>
              </a:p>
              <a:p>
                <a:r>
                  <a:rPr lang="en-US" dirty="0"/>
                  <a:t>If you plot the log-survival curves for two groups that follow an AFT model, the curves will appear </a:t>
                </a:r>
                <a:r>
                  <a:rPr lang="en-US" b="0" dirty="0"/>
                  <a:t>parallel</a:t>
                </a:r>
                <a:r>
                  <a:rPr lang="en-US" dirty="0"/>
                  <a:t> to each other because one is just a "constant shift" of the other.</a:t>
                </a:r>
              </a:p>
              <a:p>
                <a:endParaRPr lang="en-US" sz="1200" b="0"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a:p>
                <a:endParaRPr lang="en-AU" dirty="0"/>
              </a:p>
            </p:txBody>
          </p:sp>
        </mc:Fallback>
      </mc:AlternateContent>
      <p:sp>
        <p:nvSpPr>
          <p:cNvPr id="4" name="Slide Number Placeholder 3">
            <a:extLst>
              <a:ext uri="{FF2B5EF4-FFF2-40B4-BE49-F238E27FC236}">
                <a16:creationId xmlns:a16="http://schemas.microsoft.com/office/drawing/2014/main" id="{8A7DAE40-F680-0521-70C9-48720C9CB04A}"/>
              </a:ext>
            </a:extLst>
          </p:cNvPr>
          <p:cNvSpPr>
            <a:spLocks noGrp="1"/>
          </p:cNvSpPr>
          <p:nvPr>
            <p:ph type="sldNum" sz="quarter" idx="5"/>
          </p:nvPr>
        </p:nvSpPr>
        <p:spPr/>
        <p:txBody>
          <a:bodyPr/>
          <a:lstStyle/>
          <a:p>
            <a:fld id="{7B61BF14-442A-4806-9528-3CAE044062F5}" type="slidenum">
              <a:rPr lang="en-AU" smtClean="0"/>
              <a:t>19</a:t>
            </a:fld>
            <a:endParaRPr lang="en-AU"/>
          </a:p>
        </p:txBody>
      </p:sp>
    </p:spTree>
    <p:extLst>
      <p:ext uri="{BB962C8B-B14F-4D97-AF65-F5344CB8AC3E}">
        <p14:creationId xmlns:p14="http://schemas.microsoft.com/office/powerpoint/2010/main" val="3131829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CDADB-2472-7129-E188-00019F9A5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8CA45-8BC8-90BE-A315-56DB034FB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AEE91-F0C0-77FB-7C9E-F25F4C539D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the treatment lower the risk of </a:t>
            </a:r>
            <a:r>
              <a:rPr lang="en-US" dirty="0" err="1"/>
              <a:t>leukaemia</a:t>
            </a:r>
            <a:r>
              <a:rPr lang="en-US" dirty="0"/>
              <a:t> relapse compared to the placebo?”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Flexsurvreg</a:t>
            </a:r>
            <a:r>
              <a:rPr lang="en-US" dirty="0"/>
              <a:t> output gives the HR confidence interval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0E31068A-97F8-0D56-68A3-866E547E29B8}"/>
              </a:ext>
            </a:extLst>
          </p:cNvPr>
          <p:cNvSpPr>
            <a:spLocks noGrp="1"/>
          </p:cNvSpPr>
          <p:nvPr>
            <p:ph type="sldNum" sz="quarter" idx="5"/>
          </p:nvPr>
        </p:nvSpPr>
        <p:spPr/>
        <p:txBody>
          <a:bodyPr/>
          <a:lstStyle/>
          <a:p>
            <a:fld id="{7B61BF14-442A-4806-9528-3CAE044062F5}" type="slidenum">
              <a:rPr lang="en-AU" smtClean="0"/>
              <a:t>20</a:t>
            </a:fld>
            <a:endParaRPr lang="en-AU"/>
          </a:p>
        </p:txBody>
      </p:sp>
    </p:spTree>
    <p:extLst>
      <p:ext uri="{BB962C8B-B14F-4D97-AF65-F5344CB8AC3E}">
        <p14:creationId xmlns:p14="http://schemas.microsoft.com/office/powerpoint/2010/main" val="3295646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1C79-5E86-298A-0404-C190EB878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796AE-E07C-D7FC-C904-4A2A1E706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7BE67-B8D7-F014-4937-2FF29CAC3471}"/>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Intercept r</a:t>
            </a:r>
            <a:r>
              <a:rPr lang="en-US" b="0" dirty="0"/>
              <a:t>epresents the log of the mean survival time for the </a:t>
            </a:r>
            <a:r>
              <a:rPr lang="en-US" sz="1200" b="0" kern="1200" dirty="0">
                <a:solidFill>
                  <a:schemeClr val="tx1"/>
                </a:solidFill>
                <a:effectLst/>
                <a:latin typeface="+mn-lt"/>
                <a:ea typeface="+mn-ea"/>
                <a:cs typeface="+mn-cs"/>
              </a:rPr>
              <a:t>control</a:t>
            </a:r>
            <a:r>
              <a:rPr lang="en-US" b="0" dirty="0"/>
              <a:t> group.</a:t>
            </a:r>
          </a:p>
          <a:p>
            <a:endParaRPr lang="en-US"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C7D4F3E2-9C43-28B7-2A8B-06CD759CAB47}"/>
              </a:ext>
            </a:extLst>
          </p:cNvPr>
          <p:cNvSpPr>
            <a:spLocks noGrp="1"/>
          </p:cNvSpPr>
          <p:nvPr>
            <p:ph type="sldNum" sz="quarter" idx="5"/>
          </p:nvPr>
        </p:nvSpPr>
        <p:spPr/>
        <p:txBody>
          <a:bodyPr/>
          <a:lstStyle/>
          <a:p>
            <a:fld id="{7B61BF14-442A-4806-9528-3CAE044062F5}" type="slidenum">
              <a:rPr lang="en-AU" smtClean="0"/>
              <a:t>21</a:t>
            </a:fld>
            <a:endParaRPr lang="en-AU"/>
          </a:p>
        </p:txBody>
      </p:sp>
    </p:spTree>
    <p:extLst>
      <p:ext uri="{BB962C8B-B14F-4D97-AF65-F5344CB8AC3E}">
        <p14:creationId xmlns:p14="http://schemas.microsoft.com/office/powerpoint/2010/main" val="2640327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2408D-066F-510D-C384-878D5F638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BC1AC-0DF3-12BD-EFA4-C249388FA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1BC6F-59D1-BF14-5A20-25B492ABE9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similarly for mean: </a:t>
            </a:r>
            <a:r>
              <a:rPr lang="en-US" dirty="0" err="1"/>
              <a:t>mean_by_group</a:t>
            </a:r>
            <a:r>
              <a:rPr lang="en-US" dirty="0"/>
              <a:t> &lt;- summary(</a:t>
            </a:r>
            <a:r>
              <a:rPr lang="en-US" dirty="0" err="1"/>
              <a:t>exp_PH</a:t>
            </a:r>
            <a:r>
              <a:rPr lang="en-US" dirty="0"/>
              <a:t>, type = "mean")</a:t>
            </a:r>
          </a:p>
          <a:p>
            <a:r>
              <a:rPr lang="en-US" dirty="0" err="1"/>
              <a:t>do.call</a:t>
            </a:r>
            <a:r>
              <a:rPr lang="en-US" dirty="0"/>
              <a:t>(</a:t>
            </a:r>
            <a:r>
              <a:rPr lang="en-US" dirty="0" err="1"/>
              <a:t>rbind</a:t>
            </a:r>
            <a:r>
              <a:rPr lang="en-US" dirty="0"/>
              <a:t>, </a:t>
            </a:r>
            <a:r>
              <a:rPr lang="en-US" dirty="0" err="1"/>
              <a:t>mean_by_group</a:t>
            </a:r>
            <a:r>
              <a:rPr lang="en-US" dirty="0"/>
              <a:t>)</a:t>
            </a:r>
          </a:p>
          <a:p>
            <a:endParaRPr lang="en-US" dirty="0"/>
          </a:p>
          <a:p>
            <a:r>
              <a:rPr lang="en-US" dirty="0"/>
              <a:t>can also be used to obtain restricted mean survival time to chosen tau = t</a:t>
            </a:r>
          </a:p>
          <a:p>
            <a:r>
              <a:rPr lang="en-US" dirty="0"/>
              <a:t>summary(</a:t>
            </a:r>
            <a:r>
              <a:rPr lang="en-US" dirty="0" err="1"/>
              <a:t>exp_PH</a:t>
            </a:r>
            <a:r>
              <a:rPr lang="en-US" dirty="0"/>
              <a:t>, type = "</a:t>
            </a:r>
            <a:r>
              <a:rPr lang="en-US" dirty="0" err="1"/>
              <a:t>rmst</a:t>
            </a:r>
            <a:r>
              <a:rPr lang="en-US" dirty="0"/>
              <a:t>", t = 10)</a:t>
            </a:r>
            <a:endParaRPr lang="en-AU" dirty="0"/>
          </a:p>
        </p:txBody>
      </p:sp>
      <p:sp>
        <p:nvSpPr>
          <p:cNvPr id="4" name="Slide Number Placeholder 3">
            <a:extLst>
              <a:ext uri="{FF2B5EF4-FFF2-40B4-BE49-F238E27FC236}">
                <a16:creationId xmlns:a16="http://schemas.microsoft.com/office/drawing/2014/main" id="{DF2B0EBF-A994-E5AD-C70F-75565BCA423B}"/>
              </a:ext>
            </a:extLst>
          </p:cNvPr>
          <p:cNvSpPr>
            <a:spLocks noGrp="1"/>
          </p:cNvSpPr>
          <p:nvPr>
            <p:ph type="sldNum" sz="quarter" idx="5"/>
          </p:nvPr>
        </p:nvSpPr>
        <p:spPr/>
        <p:txBody>
          <a:bodyPr/>
          <a:lstStyle/>
          <a:p>
            <a:fld id="{7B61BF14-442A-4806-9528-3CAE044062F5}" type="slidenum">
              <a:rPr lang="en-AU" smtClean="0"/>
              <a:t>22</a:t>
            </a:fld>
            <a:endParaRPr lang="en-AU"/>
          </a:p>
        </p:txBody>
      </p:sp>
    </p:spTree>
    <p:extLst>
      <p:ext uri="{BB962C8B-B14F-4D97-AF65-F5344CB8AC3E}">
        <p14:creationId xmlns:p14="http://schemas.microsoft.com/office/powerpoint/2010/main" val="4096724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2E47F-DF50-3E91-F61A-FFCAAD16D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2D62B-4E46-15F8-6834-F3A7FD300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178E7-EB99-AEA5-EF4E-02BD6144A501}"/>
              </a:ext>
            </a:extLst>
          </p:cNvPr>
          <p:cNvSpPr>
            <a:spLocks noGrp="1"/>
          </p:cNvSpPr>
          <p:nvPr>
            <p:ph type="body" idx="1"/>
          </p:nvPr>
        </p:nvSpPr>
        <p:spPr/>
        <p:txBody>
          <a:bodyPr/>
          <a:lstStyle/>
          <a:p>
            <a:r>
              <a:rPr lang="en-US" dirty="0"/>
              <a:t>Because the hazard is constant, a vertical shift in risk is mathematically identical to a horizontal shift in time. This is why you can report both an HR and a TR for an exponential model and both will be valid.</a:t>
            </a:r>
          </a:p>
          <a:p>
            <a:endParaRPr lang="en-US" dirty="0"/>
          </a:p>
          <a:p>
            <a:r>
              <a:rPr lang="en-US" dirty="0"/>
              <a:t>Because the exponential model assumes the risk of failure is the same at any moment, reducing the daily risk by half is mathematically identical to doubling the time it takes to fail. In more complex models where risk increases with age, this simple swap doesn't hold because 'time' and 'risk' don't scale linearly.</a:t>
            </a:r>
          </a:p>
          <a:p>
            <a:endParaRPr lang="en-AU" dirty="0"/>
          </a:p>
        </p:txBody>
      </p:sp>
      <p:sp>
        <p:nvSpPr>
          <p:cNvPr id="4" name="Slide Number Placeholder 3">
            <a:extLst>
              <a:ext uri="{FF2B5EF4-FFF2-40B4-BE49-F238E27FC236}">
                <a16:creationId xmlns:a16="http://schemas.microsoft.com/office/drawing/2014/main" id="{F8033EE5-4DC0-D049-6028-622B7BE3D4BE}"/>
              </a:ext>
            </a:extLst>
          </p:cNvPr>
          <p:cNvSpPr>
            <a:spLocks noGrp="1"/>
          </p:cNvSpPr>
          <p:nvPr>
            <p:ph type="sldNum" sz="quarter" idx="5"/>
          </p:nvPr>
        </p:nvSpPr>
        <p:spPr/>
        <p:txBody>
          <a:bodyPr/>
          <a:lstStyle/>
          <a:p>
            <a:fld id="{7B61BF14-442A-4806-9528-3CAE044062F5}" type="slidenum">
              <a:rPr lang="en-AU" smtClean="0"/>
              <a:t>23</a:t>
            </a:fld>
            <a:endParaRPr lang="en-AU"/>
          </a:p>
        </p:txBody>
      </p:sp>
    </p:spTree>
    <p:extLst>
      <p:ext uri="{BB962C8B-B14F-4D97-AF65-F5344CB8AC3E}">
        <p14:creationId xmlns:p14="http://schemas.microsoft.com/office/powerpoint/2010/main" val="2163266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8C9F-8974-7D67-077C-A81FD7213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D2F7D-A0AF-0EAC-4C54-ECBB8D298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F64B5-E216-0C48-EBA8-5C44A6A32A59}"/>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The </a:t>
            </a:r>
            <a:r>
              <a:rPr lang="en-US" sz="1200" b="0" i="0" u="none" strike="noStrike" kern="1200" baseline="0" dirty="0">
                <a:solidFill>
                  <a:schemeClr val="tx1"/>
                </a:solidFill>
                <a:latin typeface="+mn-lt"/>
                <a:ea typeface="+mn-ea"/>
                <a:cs typeface="+mn-cs"/>
              </a:rPr>
              <a:t>estimate for gamma is 1.366 suggesting an increase in the hazard as survival time increases (because gamma &gt; 1). </a:t>
            </a:r>
          </a:p>
          <a:p>
            <a:r>
              <a:rPr lang="en-US" sz="1200" b="0" i="0" u="none" strike="noStrike" kern="1200" baseline="0" dirty="0">
                <a:solidFill>
                  <a:schemeClr val="tx1"/>
                </a:solidFill>
                <a:latin typeface="+mn-lt"/>
                <a:ea typeface="+mn-ea"/>
                <a:cs typeface="+mn-cs"/>
              </a:rPr>
              <a:t>The 95% CI (1.023, 1.82) does not include 1, suggesting that the exponential model is not appropriate.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the treatment lower the risk of </a:t>
            </a:r>
            <a:r>
              <a:rPr lang="en-US" dirty="0" err="1"/>
              <a:t>leukaemia</a:t>
            </a:r>
            <a:r>
              <a:rPr lang="en-US" dirty="0"/>
              <a:t> relapse compared to the placebo?”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u="none" strike="noStrike" kern="1200" baseline="0" dirty="0">
                <a:solidFill>
                  <a:schemeClr val="tx1"/>
                </a:solidFill>
                <a:latin typeface="+mn-lt"/>
                <a:ea typeface="+mn-ea"/>
                <a:cs typeface="+mn-cs"/>
              </a:rPr>
              <a:t>These results are similar to those obtained from the exponential model in which the estimated hazard ratio was 0.22.</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E77A2A9-8564-560B-E0DA-554DD78D7330}"/>
              </a:ext>
            </a:extLst>
          </p:cNvPr>
          <p:cNvSpPr>
            <a:spLocks noGrp="1"/>
          </p:cNvSpPr>
          <p:nvPr>
            <p:ph type="sldNum" sz="quarter" idx="5"/>
          </p:nvPr>
        </p:nvSpPr>
        <p:spPr/>
        <p:txBody>
          <a:bodyPr/>
          <a:lstStyle/>
          <a:p>
            <a:fld id="{7B61BF14-442A-4806-9528-3CAE044062F5}" type="slidenum">
              <a:rPr lang="en-AU" smtClean="0"/>
              <a:t>24</a:t>
            </a:fld>
            <a:endParaRPr lang="en-AU"/>
          </a:p>
        </p:txBody>
      </p:sp>
    </p:spTree>
    <p:extLst>
      <p:ext uri="{BB962C8B-B14F-4D97-AF65-F5344CB8AC3E}">
        <p14:creationId xmlns:p14="http://schemas.microsoft.com/office/powerpoint/2010/main" val="14272478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F76F-EF46-05C4-DA3B-661C534FC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E0CDB-5B73-2F58-C560-B095933B26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2A9F5CA-FB4B-D8FB-22D8-B5BA7DD6431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a:t>
                </a:r>
              </a:p>
              <a:p>
                <a:endParaRPr lang="en-AU" sz="1200" b="0" i="0" u="none" strike="noStrike" kern="1200" baseline="0" dirty="0">
                  <a:solidFill>
                    <a:schemeClr val="tx1"/>
                  </a:solidFill>
                  <a:latin typeface="+mn-lt"/>
                  <a:ea typeface="+mn-ea"/>
                  <a:cs typeface="+mn-cs"/>
                </a:endParaRPr>
              </a:p>
              <a:p>
                <a:pPr/>
                <a14:m>
                  <m:oMathPara xmlns:m="http://schemas.openxmlformats.org/officeDocument/2006/math">
                    <m:oMathParaPr>
                      <m:jc m:val="centerGroup"/>
                    </m:oMathParaPr>
                    <m:oMath xmlns:m="http://schemas.openxmlformats.org/officeDocument/2006/math">
                      <m:r>
                        <a:rPr lang="en-AU" sz="1200" b="0" i="1" u="none" strike="noStrike" kern="1200" baseline="0" smtClean="0">
                          <a:solidFill>
                            <a:schemeClr val="tx1"/>
                          </a:solidFill>
                          <a:latin typeface="Cambria Math" panose="02040503050406030204" pitchFamily="18" charset="0"/>
                          <a:ea typeface="Cambria Math" panose="02040503050406030204" pitchFamily="18" charset="0"/>
                          <a:cs typeface="+mn-cs"/>
                        </a:rPr>
                        <m:t>≈</m:t>
                      </m:r>
                    </m:oMath>
                  </m:oMathPara>
                </a14:m>
                <a:endParaRPr lang="en-AU" sz="1200" b="0" i="0" u="none" strike="noStrike" kern="1200" baseline="0" dirty="0">
                  <a:solidFill>
                    <a:schemeClr val="tx1"/>
                  </a:solidFill>
                  <a:latin typeface="+mn-lt"/>
                  <a:ea typeface="+mn-ea"/>
                  <a:cs typeface="+mn-cs"/>
                </a:endParaRPr>
              </a:p>
            </p:txBody>
          </p:sp>
        </mc:Choice>
        <mc:Fallback xmlns="">
          <p:sp>
            <p:nvSpPr>
              <p:cNvPr id="3" name="Notes Placeholder 2">
                <a:extLst>
                  <a:ext uri="{FF2B5EF4-FFF2-40B4-BE49-F238E27FC236}">
                    <a16:creationId xmlns:a16="http://schemas.microsoft.com/office/drawing/2014/main" id="{B2A9F5CA-FB4B-D8FB-22D8-B5BA7DD6431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Show the logic for this – you can work it out from the AFT Survival formulation like for the log-logistic</a:t>
                </a:r>
              </a:p>
              <a:p>
                <a:endParaRPr lang="en-AU" sz="1200" b="0" i="0" u="none" strike="noStrike" kern="1200" baseline="0" dirty="0">
                  <a:solidFill>
                    <a:schemeClr val="tx1"/>
                  </a:solidFill>
                  <a:latin typeface="+mn-lt"/>
                  <a:ea typeface="+mn-ea"/>
                  <a:cs typeface="+mn-cs"/>
                </a:endParaRPr>
              </a:p>
              <a:p>
                <a:r>
                  <a:rPr lang="en-AU" sz="1200" b="0" i="0" u="none" strike="noStrike" kern="1200" baseline="0">
                    <a:solidFill>
                      <a:schemeClr val="tx1"/>
                    </a:solidFill>
                    <a:latin typeface="Cambria Math" panose="02040503050406030204" pitchFamily="18" charset="0"/>
                    <a:ea typeface="Cambria Math" panose="02040503050406030204" pitchFamily="18" charset="0"/>
                    <a:cs typeface="+mn-cs"/>
                  </a:rPr>
                  <a:t>≈</a:t>
                </a:r>
                <a:endParaRPr lang="en-AU" sz="1200" b="0" i="0" u="none" strike="noStrike" kern="1200" baseline="0" dirty="0">
                  <a:solidFill>
                    <a:schemeClr val="tx1"/>
                  </a:solidFill>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5845F728-972B-11B7-A0EC-C401E0F95A83}"/>
              </a:ext>
            </a:extLst>
          </p:cNvPr>
          <p:cNvSpPr>
            <a:spLocks noGrp="1"/>
          </p:cNvSpPr>
          <p:nvPr>
            <p:ph type="sldNum" sz="quarter" idx="5"/>
          </p:nvPr>
        </p:nvSpPr>
        <p:spPr/>
        <p:txBody>
          <a:bodyPr/>
          <a:lstStyle/>
          <a:p>
            <a:fld id="{7B61BF14-442A-4806-9528-3CAE044062F5}" type="slidenum">
              <a:rPr lang="en-AU" smtClean="0"/>
              <a:t>25</a:t>
            </a:fld>
            <a:endParaRPr lang="en-AU"/>
          </a:p>
        </p:txBody>
      </p:sp>
    </p:spTree>
    <p:extLst>
      <p:ext uri="{BB962C8B-B14F-4D97-AF65-F5344CB8AC3E}">
        <p14:creationId xmlns:p14="http://schemas.microsoft.com/office/powerpoint/2010/main" val="2909605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interpreting the coefficients or baseline parameters from a parametric survival model, we must verify that the chosen distribution is a reasonable approximation of the underlying data-generating process. Unlike semi-parametric models, parametric estimation relies heavily on the validity of the functional form and the behavior of the covariates.</a:t>
            </a:r>
          </a:p>
        </p:txBody>
      </p:sp>
      <p:sp>
        <p:nvSpPr>
          <p:cNvPr id="4" name="Slide Number Placeholder 3"/>
          <p:cNvSpPr>
            <a:spLocks noGrp="1"/>
          </p:cNvSpPr>
          <p:nvPr>
            <p:ph type="sldNum" sz="quarter" idx="5"/>
          </p:nvPr>
        </p:nvSpPr>
        <p:spPr/>
        <p:txBody>
          <a:bodyPr/>
          <a:lstStyle/>
          <a:p>
            <a:fld id="{7B61BF14-442A-4806-9528-3CAE044062F5}" type="slidenum">
              <a:rPr lang="en-AU" smtClean="0"/>
              <a:t>26</a:t>
            </a:fld>
            <a:endParaRPr lang="en-AU"/>
          </a:p>
        </p:txBody>
      </p:sp>
    </p:spTree>
    <p:extLst>
      <p:ext uri="{BB962C8B-B14F-4D97-AF65-F5344CB8AC3E}">
        <p14:creationId xmlns:p14="http://schemas.microsoft.com/office/powerpoint/2010/main" val="309410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F06E-D625-0614-2256-9183C2764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F230C-8ED1-480B-0B03-89FAE5FCE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AA5A0-CA11-00B9-D314-76BB9A7097F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46A811F-F38E-FFC3-91BC-2C2B363AF862}"/>
              </a:ext>
            </a:extLst>
          </p:cNvPr>
          <p:cNvSpPr>
            <a:spLocks noGrp="1"/>
          </p:cNvSpPr>
          <p:nvPr>
            <p:ph type="sldNum" sz="quarter" idx="5"/>
          </p:nvPr>
        </p:nvSpPr>
        <p:spPr/>
        <p:txBody>
          <a:bodyPr/>
          <a:lstStyle/>
          <a:p>
            <a:fld id="{7B61BF14-442A-4806-9528-3CAE044062F5}" type="slidenum">
              <a:rPr lang="en-AU" smtClean="0"/>
              <a:t>27</a:t>
            </a:fld>
            <a:endParaRPr lang="en-AU"/>
          </a:p>
        </p:txBody>
      </p:sp>
    </p:spTree>
    <p:extLst>
      <p:ext uri="{BB962C8B-B14F-4D97-AF65-F5344CB8AC3E}">
        <p14:creationId xmlns:p14="http://schemas.microsoft.com/office/powerpoint/2010/main" val="16308856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4DB2-EBBC-EC12-66F0-F868DFABE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A6276-CD1E-EA95-5A2C-3787C0EC1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AAEDF-B856-2D73-EFBD-C313CAD74AC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2B5983F-96E6-45E0-BC61-2C190FB15F7C}"/>
              </a:ext>
            </a:extLst>
          </p:cNvPr>
          <p:cNvSpPr>
            <a:spLocks noGrp="1"/>
          </p:cNvSpPr>
          <p:nvPr>
            <p:ph type="sldNum" sz="quarter" idx="5"/>
          </p:nvPr>
        </p:nvSpPr>
        <p:spPr/>
        <p:txBody>
          <a:bodyPr/>
          <a:lstStyle/>
          <a:p>
            <a:fld id="{7B61BF14-442A-4806-9528-3CAE044062F5}" type="slidenum">
              <a:rPr lang="en-AU" smtClean="0"/>
              <a:t>28</a:t>
            </a:fld>
            <a:endParaRPr lang="en-AU"/>
          </a:p>
        </p:txBody>
      </p:sp>
    </p:spTree>
    <p:extLst>
      <p:ext uri="{BB962C8B-B14F-4D97-AF65-F5344CB8AC3E}">
        <p14:creationId xmlns:p14="http://schemas.microsoft.com/office/powerpoint/2010/main" val="2508806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Prior to fitting a model based on an assumed parametric form for the hazard function, a preliminary study of the validity of this assumption should be carried out</a:t>
            </a:r>
            <a:endParaRPr lang="en-AU" dirty="0"/>
          </a:p>
          <a:p>
            <a:endParaRPr lang="en-AU" dirty="0"/>
          </a:p>
          <a:p>
            <a:r>
              <a:rPr lang="en-AU" dirty="0"/>
              <a:t>The survival function is naturally curved and so visual inspection is not always good check for model fit.</a:t>
            </a:r>
          </a:p>
          <a:p>
            <a:endParaRPr lang="en-AU" dirty="0"/>
          </a:p>
          <a:p>
            <a:r>
              <a:rPr lang="en-US" dirty="0"/>
              <a:t>Alternatively, we can exploit the mathematical properties of these distributions by transforming the survival function into a **linear form**. If the distribution fits, the transformed data should fall on a **straight line**:</a:t>
            </a:r>
            <a:endParaRPr lang="en-AU" dirty="0"/>
          </a:p>
          <a:p>
            <a:endParaRPr lang="en-AU" dirty="0"/>
          </a:p>
          <a:p>
            <a:r>
              <a:rPr lang="en-AU" dirty="0"/>
              <a:t>For exponential model, if the hazard is constant, the plot should be a straight diagonal line.</a:t>
            </a:r>
          </a:p>
        </p:txBody>
      </p:sp>
      <p:sp>
        <p:nvSpPr>
          <p:cNvPr id="4" name="Slide Number Placeholder 3"/>
          <p:cNvSpPr>
            <a:spLocks noGrp="1"/>
          </p:cNvSpPr>
          <p:nvPr>
            <p:ph type="sldNum" sz="quarter" idx="5"/>
          </p:nvPr>
        </p:nvSpPr>
        <p:spPr/>
        <p:txBody>
          <a:bodyPr/>
          <a:lstStyle/>
          <a:p>
            <a:fld id="{7B61BF14-442A-4806-9528-3CAE044062F5}" type="slidenum">
              <a:rPr lang="en-AU" smtClean="0"/>
              <a:t>29</a:t>
            </a:fld>
            <a:endParaRPr lang="en-AU"/>
          </a:p>
        </p:txBody>
      </p:sp>
    </p:spTree>
    <p:extLst>
      <p:ext uri="{BB962C8B-B14F-4D97-AF65-F5344CB8AC3E}">
        <p14:creationId xmlns:p14="http://schemas.microsoft.com/office/powerpoint/2010/main" val="1211364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543C-2A70-20E8-8FB1-00FEA1834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4CAD8-21B3-8BFE-9CCD-DED1E6649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ECB1A-C29E-F991-DB32-35F5790A0E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Constant hazard: If the hazard is constant, the plot should be a straight diagonal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Proportionality: If the hazards are proportional, the lines will diverge at a constant rate. Proportionality is visualized as </a:t>
            </a:r>
            <a:r>
              <a:rPr lang="en-US" b="0" dirty="0"/>
              <a:t>two straight lines that do not cross and do not converge/diverge sharply in a curved fashion.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gap between the lines increases linearly. Because the slopes are constant, the ratio between the Y-values at any point </a:t>
            </a:r>
            <a:r>
              <a:rPr lang="en-US" sz="1200" kern="1200" dirty="0">
                <a:solidFill>
                  <a:schemeClr val="tx1"/>
                </a:solidFill>
                <a:effectLst/>
                <a:latin typeface="+mn-lt"/>
                <a:ea typeface="+mn-ea"/>
                <a:cs typeface="+mn-cs"/>
              </a:rPr>
              <a:t>t </a:t>
            </a:r>
            <a:r>
              <a:rPr lang="en-US" dirty="0"/>
              <a:t>is always the same.</a:t>
            </a:r>
            <a:endParaRPr lang="en-AU" b="0" dirty="0"/>
          </a:p>
          <a:p>
            <a:endParaRPr lang="en-AU" dirty="0"/>
          </a:p>
        </p:txBody>
      </p:sp>
      <p:sp>
        <p:nvSpPr>
          <p:cNvPr id="4" name="Slide Number Placeholder 3">
            <a:extLst>
              <a:ext uri="{FF2B5EF4-FFF2-40B4-BE49-F238E27FC236}">
                <a16:creationId xmlns:a16="http://schemas.microsoft.com/office/drawing/2014/main" id="{AF7F88CF-C391-4AD6-974B-A1B9574E397E}"/>
              </a:ext>
            </a:extLst>
          </p:cNvPr>
          <p:cNvSpPr>
            <a:spLocks noGrp="1"/>
          </p:cNvSpPr>
          <p:nvPr>
            <p:ph type="sldNum" sz="quarter" idx="5"/>
          </p:nvPr>
        </p:nvSpPr>
        <p:spPr/>
        <p:txBody>
          <a:bodyPr/>
          <a:lstStyle/>
          <a:p>
            <a:fld id="{7B61BF14-442A-4806-9528-3CAE044062F5}" type="slidenum">
              <a:rPr lang="en-AU" smtClean="0"/>
              <a:t>30</a:t>
            </a:fld>
            <a:endParaRPr lang="en-AU"/>
          </a:p>
        </p:txBody>
      </p:sp>
    </p:spTree>
    <p:extLst>
      <p:ext uri="{BB962C8B-B14F-4D97-AF65-F5344CB8AC3E}">
        <p14:creationId xmlns:p14="http://schemas.microsoft.com/office/powerpoint/2010/main" val="14285738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DCDB-8FAD-DA12-9FC4-016CE2DC0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2E882-3433-68DE-EE2F-FAE3B57AD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A08FF-3F34-9FA7-FD24-6A8EDBA02D1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41847BE-D3EC-F6CC-58F0-73F0F4C95687}"/>
              </a:ext>
            </a:extLst>
          </p:cNvPr>
          <p:cNvSpPr>
            <a:spLocks noGrp="1"/>
          </p:cNvSpPr>
          <p:nvPr>
            <p:ph type="sldNum" sz="quarter" idx="5"/>
          </p:nvPr>
        </p:nvSpPr>
        <p:spPr/>
        <p:txBody>
          <a:bodyPr/>
          <a:lstStyle/>
          <a:p>
            <a:fld id="{7B61BF14-442A-4806-9528-3CAE044062F5}" type="slidenum">
              <a:rPr lang="en-AU" smtClean="0"/>
              <a:t>31</a:t>
            </a:fld>
            <a:endParaRPr lang="en-AU"/>
          </a:p>
        </p:txBody>
      </p:sp>
    </p:spTree>
    <p:extLst>
      <p:ext uri="{BB962C8B-B14F-4D97-AF65-F5344CB8AC3E}">
        <p14:creationId xmlns:p14="http://schemas.microsoft.com/office/powerpoint/2010/main" val="835754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8354-D53D-5B14-5AEA-8EB0CD791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2BB25-1F6A-6CD8-76DC-9DF246ED6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C614C-331B-627D-E12D-04B2BBBD57F0}"/>
              </a:ext>
            </a:extLst>
          </p:cNvPr>
          <p:cNvSpPr>
            <a:spLocks noGrp="1"/>
          </p:cNvSpPr>
          <p:nvPr>
            <p:ph type="body" idx="1"/>
          </p:nvPr>
        </p:nvSpPr>
        <p:spPr/>
        <p:txBody>
          <a:bodyPr/>
          <a:lstStyle/>
          <a:p>
            <a:r>
              <a:rPr lang="en-US" dirty="0"/>
              <a:t>Both plots look reasonably straight suggesting that the Weibull assumption is reasonable.</a:t>
            </a:r>
          </a:p>
          <a:p>
            <a:r>
              <a:rPr lang="en-AU" sz="1200" b="0" i="0" u="none" strike="noStrike" kern="1200" baseline="0" dirty="0">
                <a:solidFill>
                  <a:schemeClr val="tx1"/>
                </a:solidFill>
                <a:latin typeface="+mn-lt"/>
                <a:ea typeface="+mn-ea"/>
                <a:cs typeface="+mn-cs"/>
              </a:rPr>
              <a:t>Furthermore, the lines </a:t>
            </a:r>
            <a:r>
              <a:rPr lang="en-US" sz="1200" b="0" i="0" u="none" strike="noStrike" kern="1200" baseline="0" dirty="0">
                <a:solidFill>
                  <a:schemeClr val="tx1"/>
                </a:solidFill>
                <a:latin typeface="+mn-lt"/>
                <a:ea typeface="+mn-ea"/>
                <a:cs typeface="+mn-cs"/>
              </a:rPr>
              <a:t>appear to have the same slope (i.e., are parallel, same gamma) suggesting that the PH (and thus the AFT) assumptions hold. </a:t>
            </a:r>
          </a:p>
          <a:p>
            <a:r>
              <a:rPr lang="en-US" sz="1200" b="0" i="0" u="none" strike="noStrike" kern="1200" baseline="0" dirty="0">
                <a:solidFill>
                  <a:schemeClr val="tx1"/>
                </a:solidFill>
                <a:latin typeface="+mn-lt"/>
                <a:ea typeface="+mn-ea"/>
                <a:cs typeface="+mn-cs"/>
              </a:rPr>
              <a:t>If this common slope equals one (i.e., gamma = 1), then survival time follows an exponential distribution. </a:t>
            </a:r>
          </a:p>
          <a:p>
            <a:r>
              <a:rPr lang="en-US" sz="1200" b="0" i="0" u="none" strike="noStrike" kern="1200" baseline="0" dirty="0">
                <a:solidFill>
                  <a:schemeClr val="tx1"/>
                </a:solidFill>
                <a:latin typeface="+mn-lt"/>
                <a:ea typeface="+mn-ea"/>
                <a:cs typeface="+mn-cs"/>
              </a:rPr>
              <a:t>The Weibull model output containing the parameter estimates includes a statistical test for the hypothesis gamma = 1 or equivalently for ln(gamma) = 0 (for</a:t>
            </a:r>
          </a:p>
          <a:p>
            <a:r>
              <a:rPr lang="en-US" sz="1200" b="0" i="0" u="none" strike="noStrike" kern="1200" baseline="0" dirty="0">
                <a:solidFill>
                  <a:schemeClr val="tx1"/>
                </a:solidFill>
                <a:latin typeface="+mn-lt"/>
                <a:ea typeface="+mn-ea"/>
                <a:cs typeface="+mn-cs"/>
              </a:rPr>
              <a:t>testing the exponential assumption).</a:t>
            </a:r>
            <a:endParaRPr lang="en-US" dirty="0"/>
          </a:p>
          <a:p>
            <a:endParaRPr lang="en-AU" dirty="0"/>
          </a:p>
        </p:txBody>
      </p:sp>
      <p:sp>
        <p:nvSpPr>
          <p:cNvPr id="4" name="Slide Number Placeholder 3">
            <a:extLst>
              <a:ext uri="{FF2B5EF4-FFF2-40B4-BE49-F238E27FC236}">
                <a16:creationId xmlns:a16="http://schemas.microsoft.com/office/drawing/2014/main" id="{9572D502-9FC3-CFDE-237A-3764CDCDF64D}"/>
              </a:ext>
            </a:extLst>
          </p:cNvPr>
          <p:cNvSpPr>
            <a:spLocks noGrp="1"/>
          </p:cNvSpPr>
          <p:nvPr>
            <p:ph type="sldNum" sz="quarter" idx="5"/>
          </p:nvPr>
        </p:nvSpPr>
        <p:spPr/>
        <p:txBody>
          <a:bodyPr/>
          <a:lstStyle/>
          <a:p>
            <a:fld id="{7B61BF14-442A-4806-9528-3CAE044062F5}" type="slidenum">
              <a:rPr lang="en-AU" smtClean="0"/>
              <a:t>32</a:t>
            </a:fld>
            <a:endParaRPr lang="en-AU"/>
          </a:p>
        </p:txBody>
      </p:sp>
    </p:spTree>
    <p:extLst>
      <p:ext uri="{BB962C8B-B14F-4D97-AF65-F5344CB8AC3E}">
        <p14:creationId xmlns:p14="http://schemas.microsoft.com/office/powerpoint/2010/main" val="9372841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2854E-2DFF-6EDD-5F76-D5AC42E05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E07C6-4E41-ABE8-7A4A-F73A987F6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C3E57-5959-996E-84DE-52BC89BF15BA}"/>
              </a:ext>
            </a:extLst>
          </p:cNvPr>
          <p:cNvSpPr>
            <a:spLocks noGrp="1"/>
          </p:cNvSpPr>
          <p:nvPr>
            <p:ph type="body" idx="1"/>
          </p:nvPr>
        </p:nvSpPr>
        <p:spPr/>
        <p:txBody>
          <a:bodyPr/>
          <a:lstStyle/>
          <a:p>
            <a:r>
              <a:rPr lang="en-US" dirty="0"/>
              <a:t>Both plots look reasonably straight suggesting that the Weibull assumption is reasonable.</a:t>
            </a:r>
          </a:p>
          <a:p>
            <a:r>
              <a:rPr lang="en-AU" sz="1200" b="0" i="0" u="none" strike="noStrike" kern="1200" baseline="0" dirty="0">
                <a:solidFill>
                  <a:schemeClr val="tx1"/>
                </a:solidFill>
                <a:latin typeface="+mn-lt"/>
                <a:ea typeface="+mn-ea"/>
                <a:cs typeface="+mn-cs"/>
              </a:rPr>
              <a:t>Furthermore, the lines </a:t>
            </a:r>
            <a:r>
              <a:rPr lang="en-US" sz="1200" b="0" i="0" u="none" strike="noStrike" kern="1200" baseline="0" dirty="0">
                <a:solidFill>
                  <a:schemeClr val="tx1"/>
                </a:solidFill>
                <a:latin typeface="+mn-lt"/>
                <a:ea typeface="+mn-ea"/>
                <a:cs typeface="+mn-cs"/>
              </a:rPr>
              <a:t>appear to have the same slope (i.e., are parallel, same gamma) suggesting that the PH (and thus the AFT) assumptions hold. </a:t>
            </a:r>
          </a:p>
          <a:p>
            <a:r>
              <a:rPr lang="en-US" sz="1200" b="0" i="0" u="none" strike="noStrike" kern="1200" baseline="0" dirty="0">
                <a:solidFill>
                  <a:schemeClr val="tx1"/>
                </a:solidFill>
                <a:latin typeface="+mn-lt"/>
                <a:ea typeface="+mn-ea"/>
                <a:cs typeface="+mn-cs"/>
              </a:rPr>
              <a:t>If this common slope equals one (i.e., gamma = 1), then survival time follows an exponential distribution. </a:t>
            </a:r>
          </a:p>
          <a:p>
            <a:r>
              <a:rPr lang="en-US" sz="1200" b="0" i="0" u="none" strike="noStrike" kern="1200" baseline="0" dirty="0">
                <a:solidFill>
                  <a:schemeClr val="tx1"/>
                </a:solidFill>
                <a:latin typeface="+mn-lt"/>
                <a:ea typeface="+mn-ea"/>
                <a:cs typeface="+mn-cs"/>
              </a:rPr>
              <a:t>The Weibull model output containing the parameter estimates includes a statistical test for the hypothesis gamma = 1 or equivalently for ln(gamma) = 0 (for</a:t>
            </a:r>
          </a:p>
          <a:p>
            <a:r>
              <a:rPr lang="en-US" sz="1200" b="0" i="0" u="none" strike="noStrike" kern="1200" baseline="0" dirty="0">
                <a:solidFill>
                  <a:schemeClr val="tx1"/>
                </a:solidFill>
                <a:latin typeface="+mn-lt"/>
                <a:ea typeface="+mn-ea"/>
                <a:cs typeface="+mn-cs"/>
              </a:rPr>
              <a:t>testing the exponential assumption).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the lines are not particularly straight, the Weibull model may not be appropriate.</a:t>
            </a:r>
          </a:p>
          <a:p>
            <a:r>
              <a:rPr lang="en-US" sz="1200" b="0" i="0" u="none" strike="noStrike" kern="1200" baseline="0" dirty="0">
                <a:solidFill>
                  <a:schemeClr val="tx1"/>
                </a:solidFill>
                <a:latin typeface="+mn-lt"/>
                <a:ea typeface="+mn-ea"/>
                <a:cs typeface="+mn-cs"/>
              </a:rPr>
              <a:t>If the curves are parallel, this would mean the proportional hazards model is valid – the Cox model might be more satisfactory.</a:t>
            </a:r>
          </a:p>
          <a:p>
            <a:r>
              <a:rPr lang="en-US" sz="1200" b="0" i="0" u="none" strike="noStrike" kern="1200" baseline="0" dirty="0">
                <a:solidFill>
                  <a:schemeClr val="tx1"/>
                </a:solidFill>
                <a:latin typeface="+mn-lt"/>
                <a:ea typeface="+mn-ea"/>
                <a:cs typeface="+mn-cs"/>
              </a:rPr>
              <a:t>If the two lines in a log cumulative hazard plot are essentially straight but not parallel, this means that the shape parameter gamma is different in the two groups, and the hazards are no longer proportional.</a:t>
            </a:r>
            <a:endParaRPr lang="en-US" dirty="0"/>
          </a:p>
          <a:p>
            <a:endParaRPr lang="en-AU" dirty="0"/>
          </a:p>
        </p:txBody>
      </p:sp>
      <p:sp>
        <p:nvSpPr>
          <p:cNvPr id="4" name="Slide Number Placeholder 3">
            <a:extLst>
              <a:ext uri="{FF2B5EF4-FFF2-40B4-BE49-F238E27FC236}">
                <a16:creationId xmlns:a16="http://schemas.microsoft.com/office/drawing/2014/main" id="{8443D7D8-9F7C-7808-C021-C3B0A0F66172}"/>
              </a:ext>
            </a:extLst>
          </p:cNvPr>
          <p:cNvSpPr>
            <a:spLocks noGrp="1"/>
          </p:cNvSpPr>
          <p:nvPr>
            <p:ph type="sldNum" sz="quarter" idx="5"/>
          </p:nvPr>
        </p:nvSpPr>
        <p:spPr/>
        <p:txBody>
          <a:bodyPr/>
          <a:lstStyle/>
          <a:p>
            <a:fld id="{7B61BF14-442A-4806-9528-3CAE044062F5}" type="slidenum">
              <a:rPr lang="en-AU" smtClean="0"/>
              <a:t>33</a:t>
            </a:fld>
            <a:endParaRPr lang="en-AU"/>
          </a:p>
        </p:txBody>
      </p:sp>
    </p:spTree>
    <p:extLst>
      <p:ext uri="{BB962C8B-B14F-4D97-AF65-F5344CB8AC3E}">
        <p14:creationId xmlns:p14="http://schemas.microsoft.com/office/powerpoint/2010/main" val="19864243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82D0-20FB-58AD-53DE-18AAB3438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914C2-4AA7-8AC9-98F6-10A3DD8A1C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C1F48-F1F0-EFB0-FF72-7BA901F19F4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D00CCA2-55D9-2D5D-27D9-4A692F610A2D}"/>
              </a:ext>
            </a:extLst>
          </p:cNvPr>
          <p:cNvSpPr>
            <a:spLocks noGrp="1"/>
          </p:cNvSpPr>
          <p:nvPr>
            <p:ph type="sldNum" sz="quarter" idx="5"/>
          </p:nvPr>
        </p:nvSpPr>
        <p:spPr/>
        <p:txBody>
          <a:bodyPr/>
          <a:lstStyle/>
          <a:p>
            <a:fld id="{7B61BF14-442A-4806-9528-3CAE044062F5}" type="slidenum">
              <a:rPr lang="en-AU" smtClean="0"/>
              <a:t>34</a:t>
            </a:fld>
            <a:endParaRPr lang="en-AU"/>
          </a:p>
        </p:txBody>
      </p:sp>
    </p:spTree>
    <p:extLst>
      <p:ext uri="{BB962C8B-B14F-4D97-AF65-F5344CB8AC3E}">
        <p14:creationId xmlns:p14="http://schemas.microsoft.com/office/powerpoint/2010/main" val="3725142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A616C-7B65-70E8-1A61-73BF3561F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238B7-114F-478E-CF30-12F947BDE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A6F65-742F-E3A0-50C9-0349A240FD1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1DF3632-D4BD-8CF5-162C-9E8A116AA5AF}"/>
              </a:ext>
            </a:extLst>
          </p:cNvPr>
          <p:cNvSpPr>
            <a:spLocks noGrp="1"/>
          </p:cNvSpPr>
          <p:nvPr>
            <p:ph type="sldNum" sz="quarter" idx="5"/>
          </p:nvPr>
        </p:nvSpPr>
        <p:spPr/>
        <p:txBody>
          <a:bodyPr/>
          <a:lstStyle/>
          <a:p>
            <a:fld id="{7B61BF14-442A-4806-9528-3CAE044062F5}" type="slidenum">
              <a:rPr lang="en-AU" smtClean="0"/>
              <a:t>35</a:t>
            </a:fld>
            <a:endParaRPr lang="en-AU"/>
          </a:p>
        </p:txBody>
      </p:sp>
    </p:spTree>
    <p:extLst>
      <p:ext uri="{BB962C8B-B14F-4D97-AF65-F5344CB8AC3E}">
        <p14:creationId xmlns:p14="http://schemas.microsoft.com/office/powerpoint/2010/main" val="10344875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0E9B-3C28-BAE7-25C5-49D966790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A802F-4251-F173-6D23-9655FD42A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78E4E-5C4B-3B88-AB7D-3B2B0D5C3699}"/>
              </a:ext>
            </a:extLst>
          </p:cNvPr>
          <p:cNvSpPr>
            <a:spLocks noGrp="1"/>
          </p:cNvSpPr>
          <p:nvPr>
            <p:ph type="body" idx="1"/>
          </p:nvPr>
        </p:nvSpPr>
        <p:spPr/>
        <p:txBody>
          <a:bodyPr/>
          <a:lstStyle/>
          <a:p>
            <a:r>
              <a:rPr lang="en-AU" dirty="0"/>
              <a:t>.</a:t>
            </a:r>
          </a:p>
        </p:txBody>
      </p:sp>
      <p:sp>
        <p:nvSpPr>
          <p:cNvPr id="4" name="Slide Number Placeholder 3">
            <a:extLst>
              <a:ext uri="{FF2B5EF4-FFF2-40B4-BE49-F238E27FC236}">
                <a16:creationId xmlns:a16="http://schemas.microsoft.com/office/drawing/2014/main" id="{67DF77C6-4376-E9A9-23FF-B8DDC3243D1B}"/>
              </a:ext>
            </a:extLst>
          </p:cNvPr>
          <p:cNvSpPr>
            <a:spLocks noGrp="1"/>
          </p:cNvSpPr>
          <p:nvPr>
            <p:ph type="sldNum" sz="quarter" idx="5"/>
          </p:nvPr>
        </p:nvSpPr>
        <p:spPr/>
        <p:txBody>
          <a:bodyPr/>
          <a:lstStyle/>
          <a:p>
            <a:fld id="{7B61BF14-442A-4806-9528-3CAE044062F5}" type="slidenum">
              <a:rPr lang="en-AU" smtClean="0"/>
              <a:t>36</a:t>
            </a:fld>
            <a:endParaRPr lang="en-AU"/>
          </a:p>
        </p:txBody>
      </p:sp>
    </p:spTree>
    <p:extLst>
      <p:ext uri="{BB962C8B-B14F-4D97-AF65-F5344CB8AC3E}">
        <p14:creationId xmlns:p14="http://schemas.microsoft.com/office/powerpoint/2010/main" val="3429705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FFE2-20C8-3E07-01E6-FDF7832EE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75E5D-1C51-73B3-909D-F90C8E75C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B70CF-EC50-44D7-DAF1-23B93DE554E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1933EF9-073A-D76E-50CD-7F4547117B07}"/>
              </a:ext>
            </a:extLst>
          </p:cNvPr>
          <p:cNvSpPr>
            <a:spLocks noGrp="1"/>
          </p:cNvSpPr>
          <p:nvPr>
            <p:ph type="sldNum" sz="quarter" idx="5"/>
          </p:nvPr>
        </p:nvSpPr>
        <p:spPr/>
        <p:txBody>
          <a:bodyPr/>
          <a:lstStyle/>
          <a:p>
            <a:fld id="{7B61BF14-442A-4806-9528-3CAE044062F5}" type="slidenum">
              <a:rPr lang="en-AU" smtClean="0"/>
              <a:t>37</a:t>
            </a:fld>
            <a:endParaRPr lang="en-AU"/>
          </a:p>
        </p:txBody>
      </p:sp>
    </p:spTree>
    <p:extLst>
      <p:ext uri="{BB962C8B-B14F-4D97-AF65-F5344CB8AC3E}">
        <p14:creationId xmlns:p14="http://schemas.microsoft.com/office/powerpoint/2010/main" val="12089700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AU"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m:t>
                      </m:r>
                    </m:oMath>
                  </m:oMathPara>
                </a14:m>
                <a:endParaRPr lang="en-AU" dirty="0"/>
              </a:p>
            </p:txBody>
          </p:sp>
        </mc:Choice>
        <mc:Fallback xmlns="">
          <p:sp>
            <p:nvSpPr>
              <p:cNvPr id="3" name="Notes Placeholder 2"/>
              <p:cNvSpPr>
                <a:spLocks noGrp="1"/>
              </p:cNvSpPr>
              <p:nvPr>
                <p:ph type="body" idx="1"/>
              </p:nvPr>
            </p:nvSpPr>
            <p:spPr/>
            <p:txBody>
              <a:bodyPr/>
              <a:lstStyle/>
              <a:p>
                <a:r>
                  <a:rPr lang="en-US" dirty="0"/>
                  <a:t>P-value calculated using the Chi-squared distribution with 1 degree of freedom.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degree of freedom because the Weibull model has one more parameter (shape) than the Exponential model</a:t>
                </a:r>
              </a:p>
              <a:p>
                <a:endParaRPr lang="en-AU" dirty="0"/>
              </a:p>
              <a:p>
                <a:r>
                  <a:rPr lang="en-US" i="0" dirty="0">
                    <a:latin typeface="Cambria Math" panose="02040503050406030204" pitchFamily="18" charset="0"/>
                    <a:ea typeface="Cambria Math" panose="02040503050406030204" pitchFamily="18" charset="0"/>
                  </a:rPr>
                  <a:t>≈</a:t>
                </a:r>
                <a:endParaRPr lang="en-AU" dirty="0"/>
              </a:p>
            </p:txBody>
          </p:sp>
        </mc:Fallback>
      </mc:AlternateContent>
      <p:sp>
        <p:nvSpPr>
          <p:cNvPr id="4" name="Slide Number Placeholder 3"/>
          <p:cNvSpPr>
            <a:spLocks noGrp="1"/>
          </p:cNvSpPr>
          <p:nvPr>
            <p:ph type="sldNum" sz="quarter" idx="5"/>
          </p:nvPr>
        </p:nvSpPr>
        <p:spPr/>
        <p:txBody>
          <a:bodyPr/>
          <a:lstStyle/>
          <a:p>
            <a:fld id="{7B61BF14-442A-4806-9528-3CAE044062F5}" type="slidenum">
              <a:rPr lang="en-AU" smtClean="0"/>
              <a:t>38</a:t>
            </a:fld>
            <a:endParaRPr lang="en-AU"/>
          </a:p>
        </p:txBody>
      </p:sp>
    </p:spTree>
    <p:extLst>
      <p:ext uri="{BB962C8B-B14F-4D97-AF65-F5344CB8AC3E}">
        <p14:creationId xmlns:p14="http://schemas.microsoft.com/office/powerpoint/2010/main" val="32276703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8084F-EF88-A705-A8A9-C09AE685E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22AB0-CD13-3060-7C55-BB06BF1E3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151A9-2DAE-0D8E-E2A3-93C35FFBF4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the treatment lower the risk of </a:t>
            </a:r>
            <a:r>
              <a:rPr lang="en-US" dirty="0" err="1"/>
              <a:t>leukaemia</a:t>
            </a:r>
            <a:r>
              <a:rPr lang="en-US" dirty="0"/>
              <a:t> relapse compared to the placebo?”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64959937-2003-C2FD-2E7E-51F7B70CDB57}"/>
              </a:ext>
            </a:extLst>
          </p:cNvPr>
          <p:cNvSpPr>
            <a:spLocks noGrp="1"/>
          </p:cNvSpPr>
          <p:nvPr>
            <p:ph type="sldNum" sz="quarter" idx="5"/>
          </p:nvPr>
        </p:nvSpPr>
        <p:spPr/>
        <p:txBody>
          <a:bodyPr/>
          <a:lstStyle/>
          <a:p>
            <a:fld id="{7B61BF14-442A-4806-9528-3CAE044062F5}" type="slidenum">
              <a:rPr lang="en-AU" smtClean="0"/>
              <a:t>39</a:t>
            </a:fld>
            <a:endParaRPr lang="en-AU"/>
          </a:p>
        </p:txBody>
      </p:sp>
    </p:spTree>
    <p:extLst>
      <p:ext uri="{BB962C8B-B14F-4D97-AF65-F5344CB8AC3E}">
        <p14:creationId xmlns:p14="http://schemas.microsoft.com/office/powerpoint/2010/main" val="2976209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DB9FD-7931-C63B-9F8B-36ADB3F64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6D611-ED8F-52C8-471A-1AB21AA3D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12D78-75DF-0233-5C0B-BAF78D2C752A}"/>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Intercept r</a:t>
            </a:r>
            <a:r>
              <a:rPr lang="en-US" b="0" dirty="0"/>
              <a:t>epresents the log of the mean survival time for the </a:t>
            </a:r>
            <a:r>
              <a:rPr lang="en-US" sz="1200" b="0" kern="1200" dirty="0">
                <a:solidFill>
                  <a:schemeClr val="tx1"/>
                </a:solidFill>
                <a:effectLst/>
                <a:latin typeface="+mn-lt"/>
                <a:ea typeface="+mn-ea"/>
                <a:cs typeface="+mn-cs"/>
              </a:rPr>
              <a:t>control</a:t>
            </a:r>
            <a:r>
              <a:rPr lang="en-US" b="0" dirty="0"/>
              <a:t> group.</a:t>
            </a:r>
          </a:p>
          <a:p>
            <a:endParaRPr lang="en-US"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33C317B7-5406-1F9E-DF66-D07D66B6C2D9}"/>
              </a:ext>
            </a:extLst>
          </p:cNvPr>
          <p:cNvSpPr>
            <a:spLocks noGrp="1"/>
          </p:cNvSpPr>
          <p:nvPr>
            <p:ph type="sldNum" sz="quarter" idx="5"/>
          </p:nvPr>
        </p:nvSpPr>
        <p:spPr/>
        <p:txBody>
          <a:bodyPr/>
          <a:lstStyle/>
          <a:p>
            <a:fld id="{7B61BF14-442A-4806-9528-3CAE044062F5}" type="slidenum">
              <a:rPr lang="en-AU" smtClean="0"/>
              <a:t>40</a:t>
            </a:fld>
            <a:endParaRPr lang="en-AU"/>
          </a:p>
        </p:txBody>
      </p:sp>
    </p:spTree>
    <p:extLst>
      <p:ext uri="{BB962C8B-B14F-4D97-AF65-F5344CB8AC3E}">
        <p14:creationId xmlns:p14="http://schemas.microsoft.com/office/powerpoint/2010/main" val="14391811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CFB6B-0BBA-59E2-53B3-C391C4C42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5A45E-0463-C64F-CCF9-96D137EC9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775A7-53DB-33B2-6276-12E50E32B68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The </a:t>
            </a:r>
            <a:r>
              <a:rPr lang="en-US" sz="1200" b="0" i="0" u="none" strike="noStrike" kern="1200" baseline="0" dirty="0">
                <a:solidFill>
                  <a:schemeClr val="tx1"/>
                </a:solidFill>
                <a:latin typeface="+mn-lt"/>
                <a:ea typeface="+mn-ea"/>
                <a:cs typeface="+mn-cs"/>
              </a:rPr>
              <a:t>estimate for gamma is 1.366 suggesting an increase in the hazard as survival time increases (because gamma &gt; 1). </a:t>
            </a:r>
          </a:p>
          <a:p>
            <a:r>
              <a:rPr lang="en-US" sz="1200" b="0" i="0" u="none" strike="noStrike" kern="1200" baseline="0" dirty="0">
                <a:solidFill>
                  <a:schemeClr val="tx1"/>
                </a:solidFill>
                <a:latin typeface="+mn-lt"/>
                <a:ea typeface="+mn-ea"/>
                <a:cs typeface="+mn-cs"/>
              </a:rPr>
              <a:t>The 95% CI (1.023, 1.82) does not include 1, suggesting that the exponential model is not appropriate.</a:t>
            </a:r>
          </a:p>
        </p:txBody>
      </p:sp>
      <p:sp>
        <p:nvSpPr>
          <p:cNvPr id="4" name="Slide Number Placeholder 3">
            <a:extLst>
              <a:ext uri="{FF2B5EF4-FFF2-40B4-BE49-F238E27FC236}">
                <a16:creationId xmlns:a16="http://schemas.microsoft.com/office/drawing/2014/main" id="{45B0DF0D-3B3B-18AD-FB38-5C9EF18B2D0D}"/>
              </a:ext>
            </a:extLst>
          </p:cNvPr>
          <p:cNvSpPr>
            <a:spLocks noGrp="1"/>
          </p:cNvSpPr>
          <p:nvPr>
            <p:ph type="sldNum" sz="quarter" idx="5"/>
          </p:nvPr>
        </p:nvSpPr>
        <p:spPr/>
        <p:txBody>
          <a:bodyPr/>
          <a:lstStyle/>
          <a:p>
            <a:fld id="{7B61BF14-442A-4806-9528-3CAE044062F5}" type="slidenum">
              <a:rPr lang="en-AU" smtClean="0"/>
              <a:t>41</a:t>
            </a:fld>
            <a:endParaRPr lang="en-AU"/>
          </a:p>
        </p:txBody>
      </p:sp>
    </p:spTree>
    <p:extLst>
      <p:ext uri="{BB962C8B-B14F-4D97-AF65-F5344CB8AC3E}">
        <p14:creationId xmlns:p14="http://schemas.microsoft.com/office/powerpoint/2010/main" val="23569972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DDA36-A929-EF39-5A68-653F715BD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63105-E5FE-A0CB-ED0B-CA538B94FC4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A6B1A76-05E9-84D2-2DFE-BC4EF1E180F7}"/>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pPr/>
                <a14:m>
                  <m:oMathPara xmlns:m="http://schemas.openxmlformats.org/officeDocument/2006/math">
                    <m:oMathParaPr>
                      <m:jc m:val="centerGroup"/>
                    </m:oMathParaPr>
                    <m:oMath xmlns:m="http://schemas.openxmlformats.org/officeDocument/2006/math">
                      <m:r>
                        <a:rPr lang="en-AU" sz="1200" b="0" i="1" u="none" strike="noStrike" kern="1200" baseline="0" smtClean="0">
                          <a:solidFill>
                            <a:schemeClr val="tx1"/>
                          </a:solidFill>
                          <a:latin typeface="Cambria Math" panose="02040503050406030204" pitchFamily="18" charset="0"/>
                          <a:ea typeface="Cambria Math" panose="02040503050406030204" pitchFamily="18" charset="0"/>
                          <a:cs typeface="+mn-cs"/>
                        </a:rPr>
                        <m:t>≈</m:t>
                      </m:r>
                    </m:oMath>
                  </m:oMathPara>
                </a14:m>
                <a:endParaRPr lang="en-AU" sz="1200" b="0" i="0" u="none" strike="noStrike" kern="1200" baseline="0" dirty="0">
                  <a:solidFill>
                    <a:schemeClr val="tx1"/>
                  </a:solidFill>
                  <a:latin typeface="+mn-lt"/>
                  <a:ea typeface="+mn-ea"/>
                  <a:cs typeface="+mn-cs"/>
                </a:endParaRPr>
              </a:p>
            </p:txBody>
          </p:sp>
        </mc:Choice>
        <mc:Fallback xmlns="">
          <p:sp>
            <p:nvSpPr>
              <p:cNvPr id="3" name="Notes Placeholder 2">
                <a:extLst>
                  <a:ext uri="{FF2B5EF4-FFF2-40B4-BE49-F238E27FC236}">
                    <a16:creationId xmlns:a16="http://schemas.microsoft.com/office/drawing/2014/main" id="{B2A9F5CA-FB4B-D8FB-22D8-B5BA7DD6431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Show the logic for this – you can work it out from the AFT Survival formulation like for the log-logistic</a:t>
                </a:r>
              </a:p>
              <a:p>
                <a:endParaRPr lang="en-AU" sz="1200" b="0" i="0" u="none" strike="noStrike" kern="1200" baseline="0" dirty="0">
                  <a:solidFill>
                    <a:schemeClr val="tx1"/>
                  </a:solidFill>
                  <a:latin typeface="+mn-lt"/>
                  <a:ea typeface="+mn-ea"/>
                  <a:cs typeface="+mn-cs"/>
                </a:endParaRPr>
              </a:p>
              <a:p>
                <a:r>
                  <a:rPr lang="en-AU" sz="1200" b="0" i="0" u="none" strike="noStrike" kern="1200" baseline="0">
                    <a:solidFill>
                      <a:schemeClr val="tx1"/>
                    </a:solidFill>
                    <a:latin typeface="Cambria Math" panose="02040503050406030204" pitchFamily="18" charset="0"/>
                    <a:ea typeface="Cambria Math" panose="02040503050406030204" pitchFamily="18" charset="0"/>
                    <a:cs typeface="+mn-cs"/>
                  </a:rPr>
                  <a:t>≈</a:t>
                </a:r>
                <a:endParaRPr lang="en-AU" sz="1200" b="0" i="0" u="none" strike="noStrike" kern="1200" baseline="0" dirty="0">
                  <a:solidFill>
                    <a:schemeClr val="tx1"/>
                  </a:solidFill>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422A269B-1855-6EF5-6E79-CBCACA5A5712}"/>
              </a:ext>
            </a:extLst>
          </p:cNvPr>
          <p:cNvSpPr>
            <a:spLocks noGrp="1"/>
          </p:cNvSpPr>
          <p:nvPr>
            <p:ph type="sldNum" sz="quarter" idx="5"/>
          </p:nvPr>
        </p:nvSpPr>
        <p:spPr/>
        <p:txBody>
          <a:bodyPr/>
          <a:lstStyle/>
          <a:p>
            <a:fld id="{7B61BF14-442A-4806-9528-3CAE044062F5}" type="slidenum">
              <a:rPr lang="en-AU" smtClean="0"/>
              <a:t>42</a:t>
            </a:fld>
            <a:endParaRPr lang="en-AU"/>
          </a:p>
        </p:txBody>
      </p:sp>
    </p:spTree>
    <p:extLst>
      <p:ext uri="{BB962C8B-B14F-4D97-AF65-F5344CB8AC3E}">
        <p14:creationId xmlns:p14="http://schemas.microsoft.com/office/powerpoint/2010/main" val="7395442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43</a:t>
            </a:fld>
            <a:endParaRPr lang="en-AU"/>
          </a:p>
        </p:txBody>
      </p:sp>
    </p:spTree>
    <p:extLst>
      <p:ext uri="{BB962C8B-B14F-4D97-AF65-F5344CB8AC3E}">
        <p14:creationId xmlns:p14="http://schemas.microsoft.com/office/powerpoint/2010/main" val="38785549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B02E8-20EF-03C4-13C7-A629812FA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AC1A8-D0C4-0DD5-0866-4C9FD2BFC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99C1A-6AF9-0C32-7242-142832121EC2}"/>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AIC = -2logL + 2p, where p is the number of parameters in the model</a:t>
            </a:r>
          </a:p>
          <a:p>
            <a:endParaRPr lang="en-US" sz="1200" kern="1200" dirty="0">
              <a:solidFill>
                <a:schemeClr val="tx1"/>
              </a:solidFill>
              <a:effectLst/>
              <a:latin typeface="+mn-lt"/>
              <a:ea typeface="+mn-ea"/>
              <a:cs typeface="+mn-cs"/>
            </a:endParaRPr>
          </a:p>
          <a:p>
            <a:r>
              <a:rPr lang="en-US" b="1" dirty="0"/>
              <a:t>LRT</a:t>
            </a:r>
            <a:r>
              <a:rPr lang="en-US" dirty="0"/>
              <a:t> asks: "Is the improvement in Log-Likelihood large enough to be 'real'?"</a:t>
            </a:r>
          </a:p>
          <a:p>
            <a:r>
              <a:rPr lang="en-US" b="1" dirty="0"/>
              <a:t>AIC</a:t>
            </a:r>
            <a:r>
              <a:rPr lang="en-US" dirty="0"/>
              <a:t> asks: "Is the improvement in Log-Likelihood large enough to 'pay for' the extra parameter we added?"</a:t>
            </a:r>
          </a:p>
          <a:p>
            <a:endParaRPr lang="en-US" sz="1200" kern="1200" dirty="0">
              <a:solidFill>
                <a:schemeClr val="tx1"/>
              </a:solidFill>
              <a:effectLst/>
              <a:latin typeface="+mn-lt"/>
              <a:ea typeface="+mn-ea"/>
              <a:cs typeface="+mn-cs"/>
            </a:endParaRPr>
          </a:p>
          <a:p>
            <a:endParaRPr lang="en-AU" dirty="0"/>
          </a:p>
        </p:txBody>
      </p:sp>
      <p:sp>
        <p:nvSpPr>
          <p:cNvPr id="4" name="Slide Number Placeholder 3">
            <a:extLst>
              <a:ext uri="{FF2B5EF4-FFF2-40B4-BE49-F238E27FC236}">
                <a16:creationId xmlns:a16="http://schemas.microsoft.com/office/drawing/2014/main" id="{47627349-2FBF-25BA-AF31-7ACC62E7DED2}"/>
              </a:ext>
            </a:extLst>
          </p:cNvPr>
          <p:cNvSpPr>
            <a:spLocks noGrp="1"/>
          </p:cNvSpPr>
          <p:nvPr>
            <p:ph type="sldNum" sz="quarter" idx="5"/>
          </p:nvPr>
        </p:nvSpPr>
        <p:spPr/>
        <p:txBody>
          <a:bodyPr/>
          <a:lstStyle/>
          <a:p>
            <a:fld id="{7B61BF14-442A-4806-9528-3CAE044062F5}" type="slidenum">
              <a:rPr lang="en-AU" smtClean="0"/>
              <a:t>44</a:t>
            </a:fld>
            <a:endParaRPr lang="en-AU"/>
          </a:p>
        </p:txBody>
      </p:sp>
    </p:spTree>
    <p:extLst>
      <p:ext uri="{BB962C8B-B14F-4D97-AF65-F5344CB8AC3E}">
        <p14:creationId xmlns:p14="http://schemas.microsoft.com/office/powerpoint/2010/main" val="3817711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D9AFA-474C-CF05-C701-188C45C6C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349AA-D7CF-07B6-23A1-1E4AB59C7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F6E9A-35EA-F9AE-F8D1-0CF92B603CB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B4EF414-C27A-7C62-5195-8D9AB581200B}"/>
              </a:ext>
            </a:extLst>
          </p:cNvPr>
          <p:cNvSpPr>
            <a:spLocks noGrp="1"/>
          </p:cNvSpPr>
          <p:nvPr>
            <p:ph type="sldNum" sz="quarter" idx="5"/>
          </p:nvPr>
        </p:nvSpPr>
        <p:spPr/>
        <p:txBody>
          <a:bodyPr/>
          <a:lstStyle/>
          <a:p>
            <a:fld id="{7B61BF14-442A-4806-9528-3CAE044062F5}" type="slidenum">
              <a:rPr lang="en-AU" smtClean="0"/>
              <a:t>45</a:t>
            </a:fld>
            <a:endParaRPr lang="en-AU"/>
          </a:p>
        </p:txBody>
      </p:sp>
    </p:spTree>
    <p:extLst>
      <p:ext uri="{BB962C8B-B14F-4D97-AF65-F5344CB8AC3E}">
        <p14:creationId xmlns:p14="http://schemas.microsoft.com/office/powerpoint/2010/main" val="31552125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7EEB1-98DB-66A8-E9A9-50AA0BFF0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C740C-431F-6A35-3074-775511112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1C9CC-2B40-606A-C7F7-59AA6BF9722C}"/>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Intercept r</a:t>
            </a:r>
            <a:r>
              <a:rPr lang="en-US" b="0" dirty="0"/>
              <a:t>epresents the log of the mean survival time for the </a:t>
            </a:r>
            <a:r>
              <a:rPr lang="en-US" sz="1200" b="0" kern="1200" dirty="0">
                <a:solidFill>
                  <a:schemeClr val="tx1"/>
                </a:solidFill>
                <a:effectLst/>
                <a:latin typeface="+mn-lt"/>
                <a:ea typeface="+mn-ea"/>
                <a:cs typeface="+mn-cs"/>
              </a:rPr>
              <a:t>control</a:t>
            </a:r>
            <a:r>
              <a:rPr lang="en-US" b="0" dirty="0"/>
              <a:t> group.</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the AFT model is </a:t>
            </a:r>
            <a:r>
              <a:rPr lang="en-US" sz="1200" b="0" i="0" u="none" strike="noStrike" kern="1200" baseline="0" dirty="0" err="1">
                <a:solidFill>
                  <a:schemeClr val="tx1"/>
                </a:solidFill>
                <a:latin typeface="+mn-lt"/>
                <a:ea typeface="+mn-ea"/>
                <a:cs typeface="+mn-cs"/>
              </a:rPr>
              <a:t>parameterised</a:t>
            </a:r>
            <a:r>
              <a:rPr lang="en-US" sz="1200" b="0" i="0" u="none" strike="noStrike" kern="1200" baseline="0" dirty="0">
                <a:solidFill>
                  <a:schemeClr val="tx1"/>
                </a:solidFill>
                <a:latin typeface="+mn-lt"/>
                <a:ea typeface="+mn-ea"/>
                <a:cs typeface="+mn-cs"/>
              </a:rPr>
              <a:t> as a linear regression of **log-survival time**, the intercept ($\mu$) represents the log of the mean survival time for the control (placebo) group, with mean survival time thus $T_C = \exp(\hat{\mu}) = 8.7$ weeks. The coefficient $\hat{\alpha_1} = 1.527$ is also expressed on the **log-time scale**, and the sign of the raw coefficient tells you the direction of the effect immediately (e.g., positive means the treatment increases the time in remission). We can calculate the mean survival time for the exposed (treatment) group $T_E = \exp(\hat{\mu}+\hat{\alpha_1}) = exp(2.159+1.527) = 39.9$  weeks. We can also calculate the time ratio (TR) that we are typically interested in:$$TR = \frac{T_E}{T_C} = \frac{\exp(\hat{\mu}+\hat{\alpha_1})}{\hat{\exp(\hat{\mu})}} = \exp(\hat{\alpha_1}) = \exp(1.527) = 4.6$$Thus, assuming the data follow exponential distribution, the treatment </a:t>
            </a:r>
            <a:r>
              <a:rPr lang="en-US" sz="1200" b="0" i="0" u="none" strike="noStrike" kern="1200" baseline="0" dirty="0" err="1">
                <a:solidFill>
                  <a:schemeClr val="tx1"/>
                </a:solidFill>
                <a:latin typeface="+mn-lt"/>
                <a:ea typeface="+mn-ea"/>
                <a:cs typeface="+mn-cs"/>
              </a:rPr>
              <a:t>extendsthe</a:t>
            </a:r>
            <a:r>
              <a:rPr lang="en-US" sz="1200" b="0" i="0" u="none" strike="noStrike" kern="1200" baseline="0" dirty="0">
                <a:solidFill>
                  <a:schemeClr val="tx1"/>
                </a:solidFill>
                <a:latin typeface="+mn-lt"/>
                <a:ea typeface="+mn-ea"/>
                <a:cs typeface="+mn-cs"/>
              </a:rPr>
              <a:t> time in remission 4.6 times (TR = 4.6, 95% CI = 2.1, 10.0).Note that for exponential model the coefficient $\alpha_1$ for the AFT model is the opposite to the coefficient $\beta_1$ in PH model: $\beta_1 = - \alpha_1$. The hazard ratio for exponential PH model can thus also be obtained from </a:t>
            </a:r>
            <a:r>
              <a:rPr lang="en-US" sz="1200" b="0" i="0" u="none" strike="noStrike" kern="1200" baseline="0" dirty="0" err="1">
                <a:solidFill>
                  <a:schemeClr val="tx1"/>
                </a:solidFill>
                <a:latin typeface="+mn-lt"/>
                <a:ea typeface="+mn-ea"/>
                <a:cs typeface="+mn-cs"/>
              </a:rPr>
              <a:t>thesurvreg</a:t>
            </a:r>
            <a:r>
              <a:rPr lang="en-US" sz="1200" b="0" i="0" u="none" strike="noStrike" kern="1200" baseline="0" dirty="0">
                <a:solidFill>
                  <a:schemeClr val="tx1"/>
                </a:solidFill>
                <a:latin typeface="+mn-lt"/>
                <a:ea typeface="+mn-ea"/>
                <a:cs typeface="+mn-cs"/>
              </a:rPr>
              <a:t> output as $\exp(-1.527) = 0.22$.</a:t>
            </a:r>
          </a:p>
          <a:p>
            <a:endParaRPr lang="en-US"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37186CF-6BC6-E63E-BE75-ECDFA62928C6}"/>
              </a:ext>
            </a:extLst>
          </p:cNvPr>
          <p:cNvSpPr>
            <a:spLocks noGrp="1"/>
          </p:cNvSpPr>
          <p:nvPr>
            <p:ph type="sldNum" sz="quarter" idx="5"/>
          </p:nvPr>
        </p:nvSpPr>
        <p:spPr/>
        <p:txBody>
          <a:bodyPr/>
          <a:lstStyle/>
          <a:p>
            <a:fld id="{7B61BF14-442A-4806-9528-3CAE044062F5}" type="slidenum">
              <a:rPr lang="en-AU" smtClean="0"/>
              <a:t>46</a:t>
            </a:fld>
            <a:endParaRPr lang="en-AU"/>
          </a:p>
        </p:txBody>
      </p:sp>
    </p:spTree>
    <p:extLst>
      <p:ext uri="{BB962C8B-B14F-4D97-AF65-F5344CB8AC3E}">
        <p14:creationId xmlns:p14="http://schemas.microsoft.com/office/powerpoint/2010/main" val="29947424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9016-906F-E1D9-FCC3-F65BDA975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77753-215A-8353-EB65-22799BA1F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B5A92-7653-FA58-0E2E-050B5BD8FE12}"/>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The </a:t>
            </a:r>
            <a:r>
              <a:rPr lang="en-US" sz="1200" b="0" i="0" u="none" strike="noStrike" kern="1200" baseline="0" dirty="0">
                <a:solidFill>
                  <a:schemeClr val="tx1"/>
                </a:solidFill>
                <a:latin typeface="+mn-lt"/>
                <a:ea typeface="+mn-ea"/>
                <a:cs typeface="+mn-cs"/>
              </a:rPr>
              <a:t>estimate for gamma is 1.366 suggesting an increase in the hazard as survival time increases (because gamma &gt; 1). </a:t>
            </a:r>
          </a:p>
          <a:p>
            <a:r>
              <a:rPr lang="en-US" sz="1200" b="0" i="0" u="none" strike="noStrike" kern="1200" baseline="0" dirty="0">
                <a:solidFill>
                  <a:schemeClr val="tx1"/>
                </a:solidFill>
                <a:latin typeface="+mn-lt"/>
                <a:ea typeface="+mn-ea"/>
                <a:cs typeface="+mn-cs"/>
              </a:rPr>
              <a:t>The 95% CI (1.023, 1.82) does not include 1, suggesting that the exponential model is not appropriate.</a:t>
            </a:r>
          </a:p>
        </p:txBody>
      </p:sp>
      <p:sp>
        <p:nvSpPr>
          <p:cNvPr id="4" name="Slide Number Placeholder 3">
            <a:extLst>
              <a:ext uri="{FF2B5EF4-FFF2-40B4-BE49-F238E27FC236}">
                <a16:creationId xmlns:a16="http://schemas.microsoft.com/office/drawing/2014/main" id="{A560F44A-636C-4D34-AE4F-8040290AEDD6}"/>
              </a:ext>
            </a:extLst>
          </p:cNvPr>
          <p:cNvSpPr>
            <a:spLocks noGrp="1"/>
          </p:cNvSpPr>
          <p:nvPr>
            <p:ph type="sldNum" sz="quarter" idx="5"/>
          </p:nvPr>
        </p:nvSpPr>
        <p:spPr/>
        <p:txBody>
          <a:bodyPr/>
          <a:lstStyle/>
          <a:p>
            <a:fld id="{7B61BF14-442A-4806-9528-3CAE044062F5}" type="slidenum">
              <a:rPr lang="en-AU" smtClean="0"/>
              <a:t>47</a:t>
            </a:fld>
            <a:endParaRPr lang="en-AU"/>
          </a:p>
        </p:txBody>
      </p:sp>
    </p:spTree>
    <p:extLst>
      <p:ext uri="{BB962C8B-B14F-4D97-AF65-F5344CB8AC3E}">
        <p14:creationId xmlns:p14="http://schemas.microsoft.com/office/powerpoint/2010/main" val="9863114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EC39-791A-6AFD-1C85-4796CFF42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CF213-F423-B7D5-A655-DD6F4BFD7A3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896F85A-0837-E0BA-A5BE-DADA962F8AB8}"/>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a:t>
                </a:r>
                <a:endParaRPr lang="en-AU" sz="1200" b="0" i="0" u="none" strike="noStrike" kern="1200" baseline="0" dirty="0">
                  <a:solidFill>
                    <a:schemeClr val="tx1"/>
                  </a:solidFill>
                  <a:latin typeface="+mn-lt"/>
                  <a:ea typeface="+mn-ea"/>
                  <a:cs typeface="+mn-cs"/>
                </a:endParaRPr>
              </a:p>
            </p:txBody>
          </p:sp>
        </mc:Choice>
        <mc:Fallback xmlns="">
          <p:sp>
            <p:nvSpPr>
              <p:cNvPr id="3" name="Notes Placeholder 2">
                <a:extLst>
                  <a:ext uri="{FF2B5EF4-FFF2-40B4-BE49-F238E27FC236}">
                    <a16:creationId xmlns:a16="http://schemas.microsoft.com/office/drawing/2014/main" id="{B2A9F5CA-FB4B-D8FB-22D8-B5BA7DD6431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Show the logic for this – you can work it out from the AFT Survival formulation like for the log-logistic</a:t>
                </a:r>
              </a:p>
              <a:p>
                <a:endParaRPr lang="en-AU" sz="1200" b="0" i="0" u="none" strike="noStrike" kern="1200" baseline="0" dirty="0">
                  <a:solidFill>
                    <a:schemeClr val="tx1"/>
                  </a:solidFill>
                  <a:latin typeface="+mn-lt"/>
                  <a:ea typeface="+mn-ea"/>
                  <a:cs typeface="+mn-cs"/>
                </a:endParaRPr>
              </a:p>
              <a:p>
                <a:r>
                  <a:rPr lang="en-AU" sz="1200" b="0" i="0" u="none" strike="noStrike" kern="1200" baseline="0">
                    <a:solidFill>
                      <a:schemeClr val="tx1"/>
                    </a:solidFill>
                    <a:latin typeface="Cambria Math" panose="02040503050406030204" pitchFamily="18" charset="0"/>
                    <a:ea typeface="Cambria Math" panose="02040503050406030204" pitchFamily="18" charset="0"/>
                    <a:cs typeface="+mn-cs"/>
                  </a:rPr>
                  <a:t>≈</a:t>
                </a:r>
                <a:endParaRPr lang="en-AU" sz="1200" b="0" i="0" u="none" strike="noStrike" kern="1200" baseline="0" dirty="0">
                  <a:solidFill>
                    <a:schemeClr val="tx1"/>
                  </a:solidFill>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36E6C6BE-8A1D-4127-F224-D9595859C8FD}"/>
              </a:ext>
            </a:extLst>
          </p:cNvPr>
          <p:cNvSpPr>
            <a:spLocks noGrp="1"/>
          </p:cNvSpPr>
          <p:nvPr>
            <p:ph type="sldNum" sz="quarter" idx="5"/>
          </p:nvPr>
        </p:nvSpPr>
        <p:spPr/>
        <p:txBody>
          <a:bodyPr/>
          <a:lstStyle/>
          <a:p>
            <a:fld id="{7B61BF14-442A-4806-9528-3CAE044062F5}" type="slidenum">
              <a:rPr lang="en-AU" smtClean="0"/>
              <a:t>48</a:t>
            </a:fld>
            <a:endParaRPr lang="en-AU"/>
          </a:p>
        </p:txBody>
      </p:sp>
    </p:spTree>
    <p:extLst>
      <p:ext uri="{BB962C8B-B14F-4D97-AF65-F5344CB8AC3E}">
        <p14:creationId xmlns:p14="http://schemas.microsoft.com/office/powerpoint/2010/main" val="35616360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DAFF0-BD30-C920-8516-E830AC85B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96A01-1C57-89D1-091F-E74D49B2F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4D16F-7147-88E9-2130-326EBCA34DF6}"/>
              </a:ext>
            </a:extLst>
          </p:cNvPr>
          <p:cNvSpPr>
            <a:spLocks noGrp="1"/>
          </p:cNvSpPr>
          <p:nvPr>
            <p:ph type="body" idx="1"/>
          </p:nvPr>
        </p:nvSpPr>
        <p:spPr/>
        <p:txBody>
          <a:bodyPr/>
          <a:lstStyle/>
          <a:p>
            <a:r>
              <a:rPr lang="en-AU" dirty="0"/>
              <a:t>For example, following a heart transplantation, a patient faces an increasing hazard of death over the first ten days or so after transplant, while the body adapts to the new organ.</a:t>
            </a:r>
          </a:p>
          <a:p>
            <a:r>
              <a:rPr lang="en-AU" dirty="0"/>
              <a:t>The hazard then decreases with time as the patient recovers.</a:t>
            </a:r>
          </a:p>
          <a:p>
            <a:endParaRPr lang="en-AU" dirty="0"/>
          </a:p>
          <a:p>
            <a:r>
              <a:rPr lang="en-US" b="0" dirty="0"/>
              <a:t>If you suspect that the risk of relapse is very high in the first few weeks after chemotherapy and then gradually tapers off as the patient stays in remission longer, the Log-logistic model is often more suitable than the Weibull or Exponential models, which cannot capture that "peak and decline" risk pattern.</a:t>
            </a:r>
            <a:endParaRPr lang="en-AU" b="0" dirty="0"/>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kern="1200" dirty="0">
                <a:solidFill>
                  <a:schemeClr val="tx1"/>
                </a:solidFill>
                <a:effectLst/>
                <a:latin typeface="+mn-lt"/>
                <a:ea typeface="+mn-ea"/>
                <a:cs typeface="+mn-cs"/>
              </a:rPr>
              <a:t>gamma &lt; 1, In Weibull, decreases to 0, in Log-logistic decreases from infinity.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kern="1200" dirty="0">
                <a:solidFill>
                  <a:schemeClr val="tx1"/>
                </a:solidFill>
                <a:effectLst/>
                <a:latin typeface="+mn-lt"/>
                <a:ea typeface="+mn-ea"/>
                <a:cs typeface="+mn-cs"/>
              </a:rPr>
              <a:t>gamma = 1, In Weibull, constant (Exponential), in Log-logistic decreases (looks like a curve).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kern="1200" dirty="0">
                <a:solidFill>
                  <a:schemeClr val="tx1"/>
                </a:solidFill>
                <a:effectLst/>
                <a:latin typeface="+mn-lt"/>
                <a:ea typeface="+mn-ea"/>
                <a:cs typeface="+mn-cs"/>
              </a:rPr>
              <a:t>gamma &gt; 1, In Weibull, increases forever, in Log-logistic increases to a peak, then decreases (unimodal).</a:t>
            </a:r>
          </a:p>
          <a:p>
            <a:endParaRPr lang="en-AU" dirty="0"/>
          </a:p>
        </p:txBody>
      </p:sp>
      <p:sp>
        <p:nvSpPr>
          <p:cNvPr id="4" name="Slide Number Placeholder 3">
            <a:extLst>
              <a:ext uri="{FF2B5EF4-FFF2-40B4-BE49-F238E27FC236}">
                <a16:creationId xmlns:a16="http://schemas.microsoft.com/office/drawing/2014/main" id="{83D7719F-73D9-B88A-EA27-2801E14C37D0}"/>
              </a:ext>
            </a:extLst>
          </p:cNvPr>
          <p:cNvSpPr>
            <a:spLocks noGrp="1"/>
          </p:cNvSpPr>
          <p:nvPr>
            <p:ph type="sldNum" sz="quarter" idx="5"/>
          </p:nvPr>
        </p:nvSpPr>
        <p:spPr/>
        <p:txBody>
          <a:bodyPr/>
          <a:lstStyle/>
          <a:p>
            <a:fld id="{7B61BF14-442A-4806-9528-3CAE044062F5}" type="slidenum">
              <a:rPr lang="en-AU" smtClean="0"/>
              <a:t>49</a:t>
            </a:fld>
            <a:endParaRPr lang="en-AU"/>
          </a:p>
        </p:txBody>
      </p:sp>
    </p:spTree>
    <p:extLst>
      <p:ext uri="{BB962C8B-B14F-4D97-AF65-F5344CB8AC3E}">
        <p14:creationId xmlns:p14="http://schemas.microsoft.com/office/powerpoint/2010/main" val="38065800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EE72A-6023-937F-FAE9-4B361A677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9B1F2-40A4-DDFF-E597-5C3908F61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A74C0-08E2-8DFD-B2E3-090623FB6916}"/>
              </a:ext>
            </a:extLst>
          </p:cNvPr>
          <p:cNvSpPr>
            <a:spLocks noGrp="1"/>
          </p:cNvSpPr>
          <p:nvPr>
            <p:ph type="body" idx="1"/>
          </p:nvPr>
        </p:nvSpPr>
        <p:spPr/>
        <p:txBody>
          <a:bodyPr/>
          <a:lstStyle/>
          <a:p>
            <a:r>
              <a:rPr lang="en-AU" dirty="0"/>
              <a:t> </a:t>
            </a:r>
          </a:p>
        </p:txBody>
      </p:sp>
      <p:sp>
        <p:nvSpPr>
          <p:cNvPr id="4" name="Slide Number Placeholder 3">
            <a:extLst>
              <a:ext uri="{FF2B5EF4-FFF2-40B4-BE49-F238E27FC236}">
                <a16:creationId xmlns:a16="http://schemas.microsoft.com/office/drawing/2014/main" id="{70CF876F-F07A-A81A-FF3B-F644EE4BCD13}"/>
              </a:ext>
            </a:extLst>
          </p:cNvPr>
          <p:cNvSpPr>
            <a:spLocks noGrp="1"/>
          </p:cNvSpPr>
          <p:nvPr>
            <p:ph type="sldNum" sz="quarter" idx="5"/>
          </p:nvPr>
        </p:nvSpPr>
        <p:spPr/>
        <p:txBody>
          <a:bodyPr/>
          <a:lstStyle/>
          <a:p>
            <a:fld id="{7B61BF14-442A-4806-9528-3CAE044062F5}" type="slidenum">
              <a:rPr lang="en-AU" smtClean="0"/>
              <a:t>50</a:t>
            </a:fld>
            <a:endParaRPr lang="en-AU"/>
          </a:p>
        </p:txBody>
      </p:sp>
    </p:spTree>
    <p:extLst>
      <p:ext uri="{BB962C8B-B14F-4D97-AF65-F5344CB8AC3E}">
        <p14:creationId xmlns:p14="http://schemas.microsoft.com/office/powerpoint/2010/main" val="23164063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AFF8A-FCDB-AF51-1533-C4A0B8B11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AE46D-D63D-F45E-E7AF-2459CF72A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CFDB-9210-40C7-72D2-6E7D502F92EC}"/>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shape (gamma) determines the </a:t>
            </a:r>
            <a:r>
              <a:rPr lang="en-US" sz="1200" b="0" i="0" kern="1200" dirty="0">
                <a:solidFill>
                  <a:schemeClr val="tx1"/>
                </a:solidFill>
                <a:effectLst/>
                <a:latin typeface="+mn-lt"/>
                <a:ea typeface="+mn-ea"/>
                <a:cs typeface="+mn-cs"/>
              </a:rPr>
              <a:t>behavior</a:t>
            </a:r>
            <a:r>
              <a:rPr lang="en-US" sz="1200" b="0" kern="1200" dirty="0">
                <a:solidFill>
                  <a:schemeClr val="tx1"/>
                </a:solidFill>
                <a:effectLst/>
                <a:latin typeface="+mn-lt"/>
                <a:ea typeface="+mn-ea"/>
                <a:cs typeface="+mn-cs"/>
              </a:rPr>
              <a:t> of the hazard (whether it increases, decreases, or stays flat), whereas the scale (lambda) determines the </a:t>
            </a:r>
            <a:r>
              <a:rPr lang="en-US" sz="1200" b="0" i="1" kern="1200" dirty="0">
                <a:solidFill>
                  <a:schemeClr val="tx1"/>
                </a:solidFill>
                <a:effectLst/>
                <a:latin typeface="+mn-lt"/>
                <a:ea typeface="+mn-ea"/>
                <a:cs typeface="+mn-cs"/>
              </a:rPr>
              <a:t>units of time</a:t>
            </a:r>
            <a:r>
              <a:rPr lang="en-US" sz="1200" b="0" kern="1200" dirty="0">
                <a:solidFill>
                  <a:schemeClr val="tx1"/>
                </a:solidFill>
                <a:effectLst/>
                <a:latin typeface="+mn-lt"/>
                <a:ea typeface="+mn-ea"/>
                <a:cs typeface="+mn-cs"/>
              </a:rPr>
              <a:t> or the spread.</a:t>
            </a:r>
          </a:p>
          <a:p>
            <a:r>
              <a:rPr lang="en-US" sz="1200" b="0" kern="1200" dirty="0">
                <a:solidFill>
                  <a:schemeClr val="tx1"/>
                </a:solidFill>
                <a:effectLst/>
                <a:latin typeface="+mn-lt"/>
                <a:ea typeface="+mn-ea"/>
                <a:cs typeface="+mn-cs"/>
              </a:rPr>
              <a:t>When gamma = 1: The hazard becomes 1 * t^0 = 1. This is the Exponential distribution with a constant hazard of 1.</a:t>
            </a:r>
          </a:p>
          <a:p>
            <a:r>
              <a:rPr lang="en-US" sz="1200" b="0" kern="1200" dirty="0">
                <a:solidFill>
                  <a:schemeClr val="tx1"/>
                </a:solidFill>
                <a:effectLst/>
                <a:latin typeface="+mn-lt"/>
                <a:ea typeface="+mn-ea"/>
                <a:cs typeface="+mn-cs"/>
              </a:rPr>
              <a:t>When gamma &gt; 1: The hazard increases over time (e.g., aging).</a:t>
            </a:r>
          </a:p>
          <a:p>
            <a:r>
              <a:rPr lang="en-US" sz="1200" b="0" kern="1200" dirty="0">
                <a:solidFill>
                  <a:schemeClr val="tx1"/>
                </a:solidFill>
                <a:effectLst/>
                <a:latin typeface="+mn-lt"/>
                <a:ea typeface="+mn-ea"/>
                <a:cs typeface="+mn-cs"/>
              </a:rPr>
              <a:t>When gamma &lt; 1: The hazard decreases over time (e.g., early infant mortality).</a:t>
            </a:r>
          </a:p>
          <a:p>
            <a:endParaRPr lang="en-US" sz="1200" b="0" kern="1200" dirty="0">
              <a:solidFill>
                <a:schemeClr val="tx1"/>
              </a:solidFill>
              <a:effectLst/>
              <a:latin typeface="+mn-lt"/>
              <a:ea typeface="+mn-ea"/>
              <a:cs typeface="+mn-cs"/>
            </a:endParaRPr>
          </a:p>
          <a:p>
            <a:r>
              <a:rPr lang="en-US" b="1" dirty="0"/>
              <a:t>Heavy Tails:</a:t>
            </a:r>
            <a:r>
              <a:rPr lang="en-US" dirty="0"/>
              <a:t> The log-logistic distribution has "heavier tails" than the Weibull. This means it predicts a slower decline in survival probability at very late time points, allowing for a small proportion of long-term survivors.</a:t>
            </a:r>
            <a:endParaRPr lang="en-US" sz="1200" b="0" kern="1200" dirty="0">
              <a:solidFill>
                <a:schemeClr val="tx1"/>
              </a:solidFill>
              <a:effectLst/>
              <a:latin typeface="+mn-lt"/>
              <a:ea typeface="+mn-ea"/>
              <a:cs typeface="+mn-cs"/>
            </a:endParaRPr>
          </a:p>
          <a:p>
            <a:r>
              <a:rPr lang="en-AU" dirty="0"/>
              <a:t> </a:t>
            </a:r>
          </a:p>
        </p:txBody>
      </p:sp>
      <p:sp>
        <p:nvSpPr>
          <p:cNvPr id="4" name="Slide Number Placeholder 3">
            <a:extLst>
              <a:ext uri="{FF2B5EF4-FFF2-40B4-BE49-F238E27FC236}">
                <a16:creationId xmlns:a16="http://schemas.microsoft.com/office/drawing/2014/main" id="{7937E37B-5201-B8C0-4BF3-5FDF08918E4C}"/>
              </a:ext>
            </a:extLst>
          </p:cNvPr>
          <p:cNvSpPr>
            <a:spLocks noGrp="1"/>
          </p:cNvSpPr>
          <p:nvPr>
            <p:ph type="sldNum" sz="quarter" idx="5"/>
          </p:nvPr>
        </p:nvSpPr>
        <p:spPr/>
        <p:txBody>
          <a:bodyPr/>
          <a:lstStyle/>
          <a:p>
            <a:fld id="{7B61BF14-442A-4806-9528-3CAE044062F5}" type="slidenum">
              <a:rPr lang="en-AU" smtClean="0"/>
              <a:t>51</a:t>
            </a:fld>
            <a:endParaRPr lang="en-AU"/>
          </a:p>
        </p:txBody>
      </p:sp>
    </p:spTree>
    <p:extLst>
      <p:ext uri="{BB962C8B-B14F-4D97-AF65-F5344CB8AC3E}">
        <p14:creationId xmlns:p14="http://schemas.microsoft.com/office/powerpoint/2010/main" val="9247041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52BF3-756A-19B8-FA91-4DEA4446A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FCDDE-DB8C-AC84-F8C5-3C305657F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A5E38-7F69-04C7-04BF-BA3F48E6E482}"/>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shape (gamma) determines the </a:t>
            </a:r>
            <a:r>
              <a:rPr lang="en-US" sz="1200" b="0" i="0" kern="1200" dirty="0">
                <a:solidFill>
                  <a:schemeClr val="tx1"/>
                </a:solidFill>
                <a:effectLst/>
                <a:latin typeface="+mn-lt"/>
                <a:ea typeface="+mn-ea"/>
                <a:cs typeface="+mn-cs"/>
              </a:rPr>
              <a:t>behavior</a:t>
            </a:r>
            <a:r>
              <a:rPr lang="en-US" sz="1200" b="0" kern="1200" dirty="0">
                <a:solidFill>
                  <a:schemeClr val="tx1"/>
                </a:solidFill>
                <a:effectLst/>
                <a:latin typeface="+mn-lt"/>
                <a:ea typeface="+mn-ea"/>
                <a:cs typeface="+mn-cs"/>
              </a:rPr>
              <a:t> of the hazard (whether it increases, decreases, or stays flat), whereas the scale (lambda) determines the </a:t>
            </a:r>
            <a:r>
              <a:rPr lang="en-US" sz="1200" b="0" i="1" kern="1200" dirty="0">
                <a:solidFill>
                  <a:schemeClr val="tx1"/>
                </a:solidFill>
                <a:effectLst/>
                <a:latin typeface="+mn-lt"/>
                <a:ea typeface="+mn-ea"/>
                <a:cs typeface="+mn-cs"/>
              </a:rPr>
              <a:t>units of time</a:t>
            </a:r>
            <a:r>
              <a:rPr lang="en-US" sz="1200" b="0" kern="1200" dirty="0">
                <a:solidFill>
                  <a:schemeClr val="tx1"/>
                </a:solidFill>
                <a:effectLst/>
                <a:latin typeface="+mn-lt"/>
                <a:ea typeface="+mn-ea"/>
                <a:cs typeface="+mn-cs"/>
              </a:rPr>
              <a:t> or the spread.</a:t>
            </a:r>
          </a:p>
          <a:p>
            <a:r>
              <a:rPr lang="en-US" sz="1200" b="0" kern="1200" dirty="0">
                <a:solidFill>
                  <a:schemeClr val="tx1"/>
                </a:solidFill>
                <a:effectLst/>
                <a:latin typeface="+mn-lt"/>
                <a:ea typeface="+mn-ea"/>
                <a:cs typeface="+mn-cs"/>
              </a:rPr>
              <a:t>When gamma = 1: The hazard becomes 1 * t^0 = 1. This is the Exponential distribution with a constant hazard of 1.</a:t>
            </a:r>
          </a:p>
          <a:p>
            <a:r>
              <a:rPr lang="en-US" sz="1200" b="0" kern="1200" dirty="0">
                <a:solidFill>
                  <a:schemeClr val="tx1"/>
                </a:solidFill>
                <a:effectLst/>
                <a:latin typeface="+mn-lt"/>
                <a:ea typeface="+mn-ea"/>
                <a:cs typeface="+mn-cs"/>
              </a:rPr>
              <a:t>When gamma &gt; 1: The hazard increases over time (e.g., aging).</a:t>
            </a:r>
          </a:p>
          <a:p>
            <a:r>
              <a:rPr lang="en-US" sz="1200" b="0" kern="1200" dirty="0">
                <a:solidFill>
                  <a:schemeClr val="tx1"/>
                </a:solidFill>
                <a:effectLst/>
                <a:latin typeface="+mn-lt"/>
                <a:ea typeface="+mn-ea"/>
                <a:cs typeface="+mn-cs"/>
              </a:rPr>
              <a:t>When gamma &lt; 1: The hazard decreases over time (e.g., early infant mortality).</a:t>
            </a:r>
          </a:p>
          <a:p>
            <a:r>
              <a:rPr lang="en-AU" dirty="0"/>
              <a:t> </a:t>
            </a:r>
          </a:p>
        </p:txBody>
      </p:sp>
      <p:sp>
        <p:nvSpPr>
          <p:cNvPr id="4" name="Slide Number Placeholder 3">
            <a:extLst>
              <a:ext uri="{FF2B5EF4-FFF2-40B4-BE49-F238E27FC236}">
                <a16:creationId xmlns:a16="http://schemas.microsoft.com/office/drawing/2014/main" id="{5D1E81E3-369F-2695-CFA1-F762C26CF921}"/>
              </a:ext>
            </a:extLst>
          </p:cNvPr>
          <p:cNvSpPr>
            <a:spLocks noGrp="1"/>
          </p:cNvSpPr>
          <p:nvPr>
            <p:ph type="sldNum" sz="quarter" idx="5"/>
          </p:nvPr>
        </p:nvSpPr>
        <p:spPr/>
        <p:txBody>
          <a:bodyPr/>
          <a:lstStyle/>
          <a:p>
            <a:fld id="{7B61BF14-442A-4806-9528-3CAE044062F5}" type="slidenum">
              <a:rPr lang="en-AU" smtClean="0"/>
              <a:t>52</a:t>
            </a:fld>
            <a:endParaRPr lang="en-AU"/>
          </a:p>
        </p:txBody>
      </p:sp>
    </p:spTree>
    <p:extLst>
      <p:ext uri="{BB962C8B-B14F-4D97-AF65-F5344CB8AC3E}">
        <p14:creationId xmlns:p14="http://schemas.microsoft.com/office/powerpoint/2010/main" val="5727831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1676-4AC6-1A2C-EF52-5D4CA65D0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242D2-3C9F-C9E2-9CC5-AA0AFC953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8FE89-F2DA-A6FF-0DBE-F745A702C77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8E6176B-3D9B-A188-041D-82FDBFA58559}"/>
              </a:ext>
            </a:extLst>
          </p:cNvPr>
          <p:cNvSpPr>
            <a:spLocks noGrp="1"/>
          </p:cNvSpPr>
          <p:nvPr>
            <p:ph type="sldNum" sz="quarter" idx="5"/>
          </p:nvPr>
        </p:nvSpPr>
        <p:spPr/>
        <p:txBody>
          <a:bodyPr/>
          <a:lstStyle/>
          <a:p>
            <a:fld id="{7B61BF14-442A-4806-9528-3CAE044062F5}" type="slidenum">
              <a:rPr lang="en-AU" smtClean="0"/>
              <a:t>53</a:t>
            </a:fld>
            <a:endParaRPr lang="en-AU"/>
          </a:p>
        </p:txBody>
      </p:sp>
    </p:spTree>
    <p:extLst>
      <p:ext uri="{BB962C8B-B14F-4D97-AF65-F5344CB8AC3E}">
        <p14:creationId xmlns:p14="http://schemas.microsoft.com/office/powerpoint/2010/main" val="35475525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B2DA-0864-7F76-8347-0CBA96A6E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7B8E9-CD08-4E0C-D6FF-E80BA4F18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80754-4E56-A8AD-4EA6-64BFFFE1EABD}"/>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TR and its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same as for Weibull model.</a:t>
            </a:r>
          </a:p>
          <a:p>
            <a:endParaRPr lang="en-AU"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Shape = 1.83 &gt; 1, the hazard is unimodal – it rises to peak and then declines</a:t>
            </a:r>
          </a:p>
          <a:p>
            <a:r>
              <a:rPr lang="en-US" sz="1200" b="0" i="0" u="none" strike="noStrike" kern="1200" baseline="0" dirty="0">
                <a:solidFill>
                  <a:schemeClr val="tx1"/>
                </a:solidFill>
                <a:latin typeface="+mn-lt"/>
                <a:ea typeface="+mn-ea"/>
                <a:cs typeface="+mn-cs"/>
              </a:rPr>
              <a:t>Scale = 6.637 – in log-logistic distribution the scale parameter is the median survival time for the baseline group (placebo), i.e., 50% of the people in placebo group are expected to have experienced relapse by 6.64 weeks.</a:t>
            </a:r>
          </a:p>
          <a:p>
            <a:r>
              <a:rPr lang="en-US" sz="1200" b="0" i="0" u="none" strike="noStrike" kern="1200" baseline="0" dirty="0">
                <a:solidFill>
                  <a:schemeClr val="tx1"/>
                </a:solidFill>
                <a:latin typeface="+mn-lt"/>
                <a:ea typeface="+mn-ea"/>
                <a:cs typeface="+mn-cs"/>
              </a:rPr>
              <a:t>The coefficient for treatment is reported on log-time scale. Hence, to get the Time Ratio (TR), we must exponentiate it – </a:t>
            </a:r>
            <a:r>
              <a:rPr lang="en-US" sz="1200" b="0" i="0" u="none" strike="noStrike" kern="1200" baseline="0" dirty="0" err="1">
                <a:solidFill>
                  <a:schemeClr val="tx1"/>
                </a:solidFill>
                <a:latin typeface="+mn-lt"/>
                <a:ea typeface="+mn-ea"/>
                <a:cs typeface="+mn-cs"/>
              </a:rPr>
              <a:t>flexsurv</a:t>
            </a:r>
            <a:r>
              <a:rPr lang="en-US" sz="1200" b="0" i="0" u="none" strike="noStrike" kern="1200" baseline="0" dirty="0">
                <a:solidFill>
                  <a:schemeClr val="tx1"/>
                </a:solidFill>
                <a:latin typeface="+mn-lt"/>
                <a:ea typeface="+mn-ea"/>
                <a:cs typeface="+mn-cs"/>
              </a:rPr>
              <a:t> output provides this info too</a:t>
            </a:r>
          </a:p>
          <a:p>
            <a:r>
              <a:rPr lang="en-US" sz="1200" b="0" i="0" u="none" strike="noStrike" kern="1200" baseline="0" dirty="0">
                <a:solidFill>
                  <a:schemeClr val="tx1"/>
                </a:solidFill>
                <a:latin typeface="+mn-lt"/>
                <a:ea typeface="+mn-ea"/>
                <a:cs typeface="+mn-cs"/>
              </a:rPr>
              <a:t>TR = 3.55 – treatment group survives 3.55 times longer without relapse than the placebo group</a:t>
            </a:r>
          </a:p>
          <a:p>
            <a:r>
              <a:rPr lang="en-US" sz="1200" b="0" i="0" u="none" strike="noStrike" kern="1200" baseline="0" dirty="0">
                <a:solidFill>
                  <a:schemeClr val="tx1"/>
                </a:solidFill>
                <a:latin typeface="+mn-lt"/>
                <a:ea typeface="+mn-ea"/>
                <a:cs typeface="+mn-cs"/>
              </a:rPr>
              <a:t>On a log-time survival plot, this represents the constant horizontal shift between the curves</a:t>
            </a:r>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FCA0A29F-F704-4331-FD0C-16EBE20F1790}"/>
              </a:ext>
            </a:extLst>
          </p:cNvPr>
          <p:cNvSpPr>
            <a:spLocks noGrp="1"/>
          </p:cNvSpPr>
          <p:nvPr>
            <p:ph type="sldNum" sz="quarter" idx="5"/>
          </p:nvPr>
        </p:nvSpPr>
        <p:spPr/>
        <p:txBody>
          <a:bodyPr/>
          <a:lstStyle/>
          <a:p>
            <a:fld id="{7B61BF14-442A-4806-9528-3CAE044062F5}" type="slidenum">
              <a:rPr lang="en-AU" smtClean="0"/>
              <a:t>54</a:t>
            </a:fld>
            <a:endParaRPr lang="en-AU"/>
          </a:p>
        </p:txBody>
      </p:sp>
    </p:spTree>
    <p:extLst>
      <p:ext uri="{BB962C8B-B14F-4D97-AF65-F5344CB8AC3E}">
        <p14:creationId xmlns:p14="http://schemas.microsoft.com/office/powerpoint/2010/main" val="147673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F0B77-017B-100A-5BAB-F0630800D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43EAC-3EE3-AF97-EBEA-3E2FD4AB5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BAF00-BDAB-4B62-C6AA-3918615AA6B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94496BB-FC6C-30CD-5C48-ADF143F8DC25}"/>
              </a:ext>
            </a:extLst>
          </p:cNvPr>
          <p:cNvSpPr>
            <a:spLocks noGrp="1"/>
          </p:cNvSpPr>
          <p:nvPr>
            <p:ph type="sldNum" sz="quarter" idx="5"/>
          </p:nvPr>
        </p:nvSpPr>
        <p:spPr/>
        <p:txBody>
          <a:bodyPr/>
          <a:lstStyle/>
          <a:p>
            <a:fld id="{7B61BF14-442A-4806-9528-3CAE044062F5}" type="slidenum">
              <a:rPr lang="en-AU" smtClean="0"/>
              <a:t>55</a:t>
            </a:fld>
            <a:endParaRPr lang="en-AU"/>
          </a:p>
        </p:txBody>
      </p:sp>
    </p:spTree>
    <p:extLst>
      <p:ext uri="{BB962C8B-B14F-4D97-AF65-F5344CB8AC3E}">
        <p14:creationId xmlns:p14="http://schemas.microsoft.com/office/powerpoint/2010/main" val="5998482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FFCD-C472-723D-FAC6-1685473A3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37C33-F65F-F278-EB35-468672CBB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94EFF-EE78-703A-85DC-A570ED3547A1}"/>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TR and its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same as for Weibull model.</a:t>
            </a:r>
          </a:p>
          <a:p>
            <a:endParaRPr lang="en-AU"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Shape = 1.83 &gt; 1, the hazard is unimodal – it rises to peak and then declines</a:t>
            </a:r>
          </a:p>
          <a:p>
            <a:r>
              <a:rPr lang="en-US" sz="1200" b="0" i="0" u="none" strike="noStrike" kern="1200" baseline="0" dirty="0">
                <a:solidFill>
                  <a:schemeClr val="tx1"/>
                </a:solidFill>
                <a:latin typeface="+mn-lt"/>
                <a:ea typeface="+mn-ea"/>
                <a:cs typeface="+mn-cs"/>
              </a:rPr>
              <a:t>Scale = 6.637 – in log-logistic distribution the scale parameter is the median survival time for the baseline group (placebo), i.e., 50% of the people in placebo group are expected to have experienced relapse by 6.64 weeks.</a:t>
            </a:r>
          </a:p>
          <a:p>
            <a:r>
              <a:rPr lang="en-US" sz="1200" b="0" i="0" u="none" strike="noStrike" kern="1200" baseline="0" dirty="0">
                <a:solidFill>
                  <a:schemeClr val="tx1"/>
                </a:solidFill>
                <a:latin typeface="+mn-lt"/>
                <a:ea typeface="+mn-ea"/>
                <a:cs typeface="+mn-cs"/>
              </a:rPr>
              <a:t>The coefficient for treatment is reported on log-time scale. Hence, to get the Time Ratio (TR), we must exponentiate it – </a:t>
            </a:r>
            <a:r>
              <a:rPr lang="en-US" sz="1200" b="0" i="0" u="none" strike="noStrike" kern="1200" baseline="0" dirty="0" err="1">
                <a:solidFill>
                  <a:schemeClr val="tx1"/>
                </a:solidFill>
                <a:latin typeface="+mn-lt"/>
                <a:ea typeface="+mn-ea"/>
                <a:cs typeface="+mn-cs"/>
              </a:rPr>
              <a:t>flexsurv</a:t>
            </a:r>
            <a:r>
              <a:rPr lang="en-US" sz="1200" b="0" i="0" u="none" strike="noStrike" kern="1200" baseline="0" dirty="0">
                <a:solidFill>
                  <a:schemeClr val="tx1"/>
                </a:solidFill>
                <a:latin typeface="+mn-lt"/>
                <a:ea typeface="+mn-ea"/>
                <a:cs typeface="+mn-cs"/>
              </a:rPr>
              <a:t> output provides this info too</a:t>
            </a:r>
          </a:p>
          <a:p>
            <a:r>
              <a:rPr lang="en-US" sz="1200" b="0" i="0" u="none" strike="noStrike" kern="1200" baseline="0" dirty="0">
                <a:solidFill>
                  <a:schemeClr val="tx1"/>
                </a:solidFill>
                <a:latin typeface="+mn-lt"/>
                <a:ea typeface="+mn-ea"/>
                <a:cs typeface="+mn-cs"/>
              </a:rPr>
              <a:t>TR = 3.55 – treatment group survives 3.55 times longer without relapse than the placebo group</a:t>
            </a:r>
          </a:p>
          <a:p>
            <a:r>
              <a:rPr lang="en-US" sz="1200" b="0" i="0" u="none" strike="noStrike" kern="1200" baseline="0" dirty="0">
                <a:solidFill>
                  <a:schemeClr val="tx1"/>
                </a:solidFill>
                <a:latin typeface="+mn-lt"/>
                <a:ea typeface="+mn-ea"/>
                <a:cs typeface="+mn-cs"/>
              </a:rPr>
              <a:t>On a log-time survival plot, this represents the constant horizontal shift between the curves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Relationship of coefficients: beta = -alfa * gamma, OR = exp(-beta) </a:t>
            </a:r>
          </a:p>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A9B189D-E5D3-C188-BA3D-8951A96B5C36}"/>
              </a:ext>
            </a:extLst>
          </p:cNvPr>
          <p:cNvSpPr>
            <a:spLocks noGrp="1"/>
          </p:cNvSpPr>
          <p:nvPr>
            <p:ph type="sldNum" sz="quarter" idx="5"/>
          </p:nvPr>
        </p:nvSpPr>
        <p:spPr/>
        <p:txBody>
          <a:bodyPr/>
          <a:lstStyle/>
          <a:p>
            <a:fld id="{7B61BF14-442A-4806-9528-3CAE044062F5}" type="slidenum">
              <a:rPr lang="en-AU" smtClean="0"/>
              <a:t>56</a:t>
            </a:fld>
            <a:endParaRPr lang="en-AU"/>
          </a:p>
        </p:txBody>
      </p:sp>
    </p:spTree>
    <p:extLst>
      <p:ext uri="{BB962C8B-B14F-4D97-AF65-F5344CB8AC3E}">
        <p14:creationId xmlns:p14="http://schemas.microsoft.com/office/powerpoint/2010/main" val="20396934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EC9FA-45AB-664D-A219-ABE906DBB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C6F40-4D23-16DE-EE1D-3AB24D902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62D68-5AE2-F688-C499-BEBABB88540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683842A-66FD-21DB-5511-5514F88AC530}"/>
              </a:ext>
            </a:extLst>
          </p:cNvPr>
          <p:cNvSpPr>
            <a:spLocks noGrp="1"/>
          </p:cNvSpPr>
          <p:nvPr>
            <p:ph type="sldNum" sz="quarter" idx="5"/>
          </p:nvPr>
        </p:nvSpPr>
        <p:spPr/>
        <p:txBody>
          <a:bodyPr/>
          <a:lstStyle/>
          <a:p>
            <a:fld id="{7B61BF14-442A-4806-9528-3CAE044062F5}" type="slidenum">
              <a:rPr lang="en-AU" smtClean="0"/>
              <a:t>57</a:t>
            </a:fld>
            <a:endParaRPr lang="en-AU"/>
          </a:p>
        </p:txBody>
      </p:sp>
    </p:spTree>
    <p:extLst>
      <p:ext uri="{BB962C8B-B14F-4D97-AF65-F5344CB8AC3E}">
        <p14:creationId xmlns:p14="http://schemas.microsoft.com/office/powerpoint/2010/main" val="13373432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4332E-979A-F821-CFEA-7BA3F0420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D727C-58FC-A300-B6D6-A6D10ABAC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654DA-DC70-3D23-3CA7-DF5E92A3A36F}"/>
              </a:ext>
            </a:extLst>
          </p:cNvPr>
          <p:cNvSpPr>
            <a:spLocks noGrp="1"/>
          </p:cNvSpPr>
          <p:nvPr>
            <p:ph type="body" idx="1"/>
          </p:nvPr>
        </p:nvSpPr>
        <p:spPr/>
        <p:txBody>
          <a:bodyPr/>
          <a:lstStyle/>
          <a:p>
            <a:r>
              <a:rPr lang="en-US" dirty="0"/>
              <a:t>Change colors to align and also add Exponential and Weibull?</a:t>
            </a:r>
            <a:endParaRPr lang="en-AU" dirty="0"/>
          </a:p>
        </p:txBody>
      </p:sp>
      <p:sp>
        <p:nvSpPr>
          <p:cNvPr id="4" name="Slide Number Placeholder 3">
            <a:extLst>
              <a:ext uri="{FF2B5EF4-FFF2-40B4-BE49-F238E27FC236}">
                <a16:creationId xmlns:a16="http://schemas.microsoft.com/office/drawing/2014/main" id="{092A0FCE-CDFF-A962-2EB2-0380ADFA3D3B}"/>
              </a:ext>
            </a:extLst>
          </p:cNvPr>
          <p:cNvSpPr>
            <a:spLocks noGrp="1"/>
          </p:cNvSpPr>
          <p:nvPr>
            <p:ph type="sldNum" sz="quarter" idx="5"/>
          </p:nvPr>
        </p:nvSpPr>
        <p:spPr/>
        <p:txBody>
          <a:bodyPr/>
          <a:lstStyle/>
          <a:p>
            <a:fld id="{7B61BF14-442A-4806-9528-3CAE044062F5}" type="slidenum">
              <a:rPr lang="en-AU" smtClean="0"/>
              <a:t>58</a:t>
            </a:fld>
            <a:endParaRPr lang="en-AU"/>
          </a:p>
        </p:txBody>
      </p:sp>
    </p:spTree>
    <p:extLst>
      <p:ext uri="{BB962C8B-B14F-4D97-AF65-F5344CB8AC3E}">
        <p14:creationId xmlns:p14="http://schemas.microsoft.com/office/powerpoint/2010/main" val="5564210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D30CD-A960-9060-963A-8EDA43650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DC7D58-8FC4-60DD-8207-DAFCB98DD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01FC8-6454-4444-6409-30914708B81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1061F94-F78B-CE2E-E139-37DF6CC64E69}"/>
              </a:ext>
            </a:extLst>
          </p:cNvPr>
          <p:cNvSpPr>
            <a:spLocks noGrp="1"/>
          </p:cNvSpPr>
          <p:nvPr>
            <p:ph type="sldNum" sz="quarter" idx="5"/>
          </p:nvPr>
        </p:nvSpPr>
        <p:spPr/>
        <p:txBody>
          <a:bodyPr/>
          <a:lstStyle/>
          <a:p>
            <a:fld id="{7B61BF14-442A-4806-9528-3CAE044062F5}" type="slidenum">
              <a:rPr lang="en-AU" smtClean="0"/>
              <a:t>59</a:t>
            </a:fld>
            <a:endParaRPr lang="en-AU"/>
          </a:p>
        </p:txBody>
      </p:sp>
    </p:spTree>
    <p:extLst>
      <p:ext uri="{BB962C8B-B14F-4D97-AF65-F5344CB8AC3E}">
        <p14:creationId xmlns:p14="http://schemas.microsoft.com/office/powerpoint/2010/main" val="22090452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2ED2-E4D5-0043-E424-A3F96A16E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C8382-F02A-25E5-1DED-0CC9DB7ED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B2BBE-650B-761B-3F4E-1A10F038E56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DB44E3-B857-993E-E41B-DDB3F3AE26B9}"/>
              </a:ext>
            </a:extLst>
          </p:cNvPr>
          <p:cNvSpPr>
            <a:spLocks noGrp="1"/>
          </p:cNvSpPr>
          <p:nvPr>
            <p:ph type="sldNum" sz="quarter" idx="5"/>
          </p:nvPr>
        </p:nvSpPr>
        <p:spPr/>
        <p:txBody>
          <a:bodyPr/>
          <a:lstStyle/>
          <a:p>
            <a:fld id="{7B61BF14-442A-4806-9528-3CAE044062F5}" type="slidenum">
              <a:rPr lang="en-AU" smtClean="0"/>
              <a:t>60</a:t>
            </a:fld>
            <a:endParaRPr lang="en-AU"/>
          </a:p>
        </p:txBody>
      </p:sp>
    </p:spTree>
    <p:extLst>
      <p:ext uri="{BB962C8B-B14F-4D97-AF65-F5344CB8AC3E}">
        <p14:creationId xmlns:p14="http://schemas.microsoft.com/office/powerpoint/2010/main" val="32140587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38A3-EFD2-6897-B506-340786C04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90D3B-733C-654F-DB9C-7111049A5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08D73-53EE-F1EB-C46E-51A506FAD14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7143FE2-DA91-59A2-80DA-1B2C0BABD0EF}"/>
              </a:ext>
            </a:extLst>
          </p:cNvPr>
          <p:cNvSpPr>
            <a:spLocks noGrp="1"/>
          </p:cNvSpPr>
          <p:nvPr>
            <p:ph type="sldNum" sz="quarter" idx="5"/>
          </p:nvPr>
        </p:nvSpPr>
        <p:spPr/>
        <p:txBody>
          <a:bodyPr/>
          <a:lstStyle/>
          <a:p>
            <a:fld id="{7B61BF14-442A-4806-9528-3CAE044062F5}" type="slidenum">
              <a:rPr lang="en-AU" smtClean="0"/>
              <a:t>61</a:t>
            </a:fld>
            <a:endParaRPr lang="en-AU"/>
          </a:p>
        </p:txBody>
      </p:sp>
    </p:spTree>
    <p:extLst>
      <p:ext uri="{BB962C8B-B14F-4D97-AF65-F5344CB8AC3E}">
        <p14:creationId xmlns:p14="http://schemas.microsoft.com/office/powerpoint/2010/main" val="41205266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4D3A-B300-B266-C406-F34979E78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D7D45-0291-73B6-12A4-F0A29579A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8A4D0-7B37-6450-9391-67E1B157BEBF}"/>
              </a:ext>
            </a:extLst>
          </p:cNvPr>
          <p:cNvSpPr>
            <a:spLocks noGrp="1"/>
          </p:cNvSpPr>
          <p:nvPr>
            <p:ph type="body" idx="1"/>
          </p:nvPr>
        </p:nvSpPr>
        <p:spPr/>
        <p:txBody>
          <a:bodyPr/>
          <a:lstStyle/>
          <a:p>
            <a:r>
              <a:rPr lang="en-US" dirty="0"/>
              <a:t>Change KM colors to same. Change Exponential to dashed and Weibull to dotted to see the difference easier.</a:t>
            </a:r>
          </a:p>
          <a:p>
            <a:endParaRPr lang="en-US" dirty="0"/>
          </a:p>
        </p:txBody>
      </p:sp>
      <p:sp>
        <p:nvSpPr>
          <p:cNvPr id="4" name="Slide Number Placeholder 3">
            <a:extLst>
              <a:ext uri="{FF2B5EF4-FFF2-40B4-BE49-F238E27FC236}">
                <a16:creationId xmlns:a16="http://schemas.microsoft.com/office/drawing/2014/main" id="{307E0C88-1346-744B-8CC1-029165D8B8AE}"/>
              </a:ext>
            </a:extLst>
          </p:cNvPr>
          <p:cNvSpPr>
            <a:spLocks noGrp="1"/>
          </p:cNvSpPr>
          <p:nvPr>
            <p:ph type="sldNum" sz="quarter" idx="5"/>
          </p:nvPr>
        </p:nvSpPr>
        <p:spPr/>
        <p:txBody>
          <a:bodyPr/>
          <a:lstStyle/>
          <a:p>
            <a:fld id="{7B61BF14-442A-4806-9528-3CAE044062F5}" type="slidenum">
              <a:rPr lang="en-AU" smtClean="0"/>
              <a:t>62</a:t>
            </a:fld>
            <a:endParaRPr lang="en-AU"/>
          </a:p>
        </p:txBody>
      </p:sp>
    </p:spTree>
    <p:extLst>
      <p:ext uri="{BB962C8B-B14F-4D97-AF65-F5344CB8AC3E}">
        <p14:creationId xmlns:p14="http://schemas.microsoft.com/office/powerpoint/2010/main" val="31785205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DFDA-1A78-2298-0E33-E8F366D4C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21BEE-871D-B1D6-B0E7-D56AB1380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ECABF-BF64-6F4B-AFB1-FD210C8FD34D}"/>
              </a:ext>
            </a:extLst>
          </p:cNvPr>
          <p:cNvSpPr>
            <a:spLocks noGrp="1"/>
          </p:cNvSpPr>
          <p:nvPr>
            <p:ph type="body" idx="1"/>
          </p:nvPr>
        </p:nvSpPr>
        <p:spPr/>
        <p:txBody>
          <a:bodyPr/>
          <a:lstStyle/>
          <a:p>
            <a:r>
              <a:rPr lang="en-US" dirty="0"/>
              <a:t>Change KM colors to same. Change Exponential to dashed and Weibull to dotted to see the difference easier.</a:t>
            </a:r>
          </a:p>
        </p:txBody>
      </p:sp>
      <p:sp>
        <p:nvSpPr>
          <p:cNvPr id="4" name="Slide Number Placeholder 3">
            <a:extLst>
              <a:ext uri="{FF2B5EF4-FFF2-40B4-BE49-F238E27FC236}">
                <a16:creationId xmlns:a16="http://schemas.microsoft.com/office/drawing/2014/main" id="{583AC32B-1277-82D8-83B0-DE57119AE476}"/>
              </a:ext>
            </a:extLst>
          </p:cNvPr>
          <p:cNvSpPr>
            <a:spLocks noGrp="1"/>
          </p:cNvSpPr>
          <p:nvPr>
            <p:ph type="sldNum" sz="quarter" idx="5"/>
          </p:nvPr>
        </p:nvSpPr>
        <p:spPr/>
        <p:txBody>
          <a:bodyPr/>
          <a:lstStyle/>
          <a:p>
            <a:fld id="{7B61BF14-442A-4806-9528-3CAE044062F5}" type="slidenum">
              <a:rPr lang="en-AU" smtClean="0"/>
              <a:t>63</a:t>
            </a:fld>
            <a:endParaRPr lang="en-AU"/>
          </a:p>
        </p:txBody>
      </p:sp>
    </p:spTree>
    <p:extLst>
      <p:ext uri="{BB962C8B-B14F-4D97-AF65-F5344CB8AC3E}">
        <p14:creationId xmlns:p14="http://schemas.microsoft.com/office/powerpoint/2010/main" val="25356971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D906-5C3C-FB0F-86C3-D7DE693A5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96737-AED8-7231-A33D-66367A870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9F1C1-28F8-D782-9115-12CAA744FEEC}"/>
              </a:ext>
            </a:extLst>
          </p:cNvPr>
          <p:cNvSpPr>
            <a:spLocks noGrp="1"/>
          </p:cNvSpPr>
          <p:nvPr>
            <p:ph type="body" idx="1"/>
          </p:nvPr>
        </p:nvSpPr>
        <p:spPr/>
        <p:txBody>
          <a:bodyPr/>
          <a:lstStyle/>
          <a:p>
            <a:r>
              <a:rPr lang="en-US" b="0" dirty="0"/>
              <a:t>Weibull appears best, even exponential better than log-logistic</a:t>
            </a:r>
          </a:p>
          <a:p>
            <a:endParaRPr lang="en-US" b="0" dirty="0"/>
          </a:p>
          <a:p>
            <a:r>
              <a:rPr lang="en-US" b="0" dirty="0"/>
              <a:t>Show an example where log-logistic works better? Simulate if need be</a:t>
            </a:r>
          </a:p>
          <a:p>
            <a:endParaRPr lang="en-US" sz="1200" kern="1200" dirty="0">
              <a:solidFill>
                <a:schemeClr val="tx1"/>
              </a:solidFill>
              <a:effectLst/>
              <a:latin typeface="+mn-lt"/>
              <a:ea typeface="+mn-ea"/>
              <a:cs typeface="+mn-cs"/>
            </a:endParaRPr>
          </a:p>
          <a:p>
            <a:endParaRPr lang="en-AU" dirty="0"/>
          </a:p>
        </p:txBody>
      </p:sp>
      <p:sp>
        <p:nvSpPr>
          <p:cNvPr id="4" name="Slide Number Placeholder 3">
            <a:extLst>
              <a:ext uri="{FF2B5EF4-FFF2-40B4-BE49-F238E27FC236}">
                <a16:creationId xmlns:a16="http://schemas.microsoft.com/office/drawing/2014/main" id="{CB6B725F-7F10-B601-1B52-AB84BC5B7F49}"/>
              </a:ext>
            </a:extLst>
          </p:cNvPr>
          <p:cNvSpPr>
            <a:spLocks noGrp="1"/>
          </p:cNvSpPr>
          <p:nvPr>
            <p:ph type="sldNum" sz="quarter" idx="5"/>
          </p:nvPr>
        </p:nvSpPr>
        <p:spPr/>
        <p:txBody>
          <a:bodyPr/>
          <a:lstStyle/>
          <a:p>
            <a:fld id="{7B61BF14-442A-4806-9528-3CAE044062F5}" type="slidenum">
              <a:rPr lang="en-AU" smtClean="0"/>
              <a:t>64</a:t>
            </a:fld>
            <a:endParaRPr lang="en-AU"/>
          </a:p>
        </p:txBody>
      </p:sp>
    </p:spTree>
    <p:extLst>
      <p:ext uri="{BB962C8B-B14F-4D97-AF65-F5344CB8AC3E}">
        <p14:creationId xmlns:p14="http://schemas.microsoft.com/office/powerpoint/2010/main" val="19371002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B1800-DDCB-D07E-669F-6C606FCD6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95EDE-9A5D-9B4E-B09D-614CEEE58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785FC-7813-D8CC-ECE4-422482F5527A}"/>
              </a:ext>
            </a:extLst>
          </p:cNvPr>
          <p:cNvSpPr>
            <a:spLocks noGrp="1"/>
          </p:cNvSpPr>
          <p:nvPr>
            <p:ph type="body" idx="1"/>
          </p:nvPr>
        </p:nvSpPr>
        <p:spPr/>
        <p:txBody>
          <a:bodyPr/>
          <a:lstStyle/>
          <a:p>
            <a:r>
              <a:rPr lang="en-AU" dirty="0"/>
              <a:t>Yields similar model results than log-logistic</a:t>
            </a:r>
          </a:p>
          <a:p>
            <a:endParaRPr lang="en-AU" dirty="0"/>
          </a:p>
          <a:p>
            <a:r>
              <a:rPr lang="en-AU" dirty="0"/>
              <a:t>https://iopscience.iop.org/article/10.1088/1742-6596/1338/1/012036/pdf</a:t>
            </a:r>
          </a:p>
          <a:p>
            <a:endParaRPr lang="en-AU" dirty="0"/>
          </a:p>
          <a:p>
            <a:r>
              <a:rPr lang="en-US" dirty="0"/>
              <a:t>Based on the results of study, we can conclude as follows: </a:t>
            </a:r>
          </a:p>
          <a:p>
            <a:r>
              <a:rPr lang="en-US" dirty="0"/>
              <a:t>1. The characteristic of hazard rate of log-normal distribution has the pattern: increasing, decreasing and upside-down bathtub (∩). </a:t>
            </a:r>
          </a:p>
          <a:p>
            <a:r>
              <a:rPr lang="en-US" dirty="0"/>
              <a:t>2. Hazard rate from log-normal distribution at region 0 &lt; 𝜇 ≤ 1 and 0 &lt; 𝜎 ≤ 1 with t &gt; 0 will increase and up to the maximum point (t) then will decrease depend on the value of μ and σ, either for the value μ &gt; 𝜎 or μ &lt; 𝜎. </a:t>
            </a:r>
          </a:p>
          <a:p>
            <a:r>
              <a:rPr lang="en-US" dirty="0"/>
              <a:t>3. Hazard rate from log-normal distribution at region μ &gt; 1 and σ &gt; 1 with t &gt; 0 has a pattern decreasing. </a:t>
            </a:r>
          </a:p>
          <a:p>
            <a:r>
              <a:rPr lang="en-US" dirty="0"/>
              <a:t>4. Log-normal distribution has the pattern upside-down bathtub (∩) when the value of 0 &lt; 𝜇 ≤ 1, 0 &lt; 𝜎 ≤ 1 , t &gt; 0 and </a:t>
            </a:r>
            <a:r>
              <a:rPr lang="en-US" dirty="0" err="1"/>
              <a:t>lim</a:t>
            </a:r>
            <a:r>
              <a:rPr lang="en-US" dirty="0"/>
              <a:t> t→0 pdf(t) = 0. 5. Graphically, the characteristic of hazard rate of log-normal distribution have the pattern increasing, decreasing, or upside-down bathtub (∩). </a:t>
            </a:r>
            <a:endParaRPr lang="en-AU" dirty="0"/>
          </a:p>
          <a:p>
            <a:endParaRPr lang="en-AU" dirty="0"/>
          </a:p>
          <a:p>
            <a:endParaRPr lang="en-AU" dirty="0"/>
          </a:p>
        </p:txBody>
      </p:sp>
      <p:sp>
        <p:nvSpPr>
          <p:cNvPr id="4" name="Slide Number Placeholder 3">
            <a:extLst>
              <a:ext uri="{FF2B5EF4-FFF2-40B4-BE49-F238E27FC236}">
                <a16:creationId xmlns:a16="http://schemas.microsoft.com/office/drawing/2014/main" id="{15A2E497-742B-6D6E-8AE8-E9C487D56B98}"/>
              </a:ext>
            </a:extLst>
          </p:cNvPr>
          <p:cNvSpPr>
            <a:spLocks noGrp="1"/>
          </p:cNvSpPr>
          <p:nvPr>
            <p:ph type="sldNum" sz="quarter" idx="5"/>
          </p:nvPr>
        </p:nvSpPr>
        <p:spPr/>
        <p:txBody>
          <a:bodyPr/>
          <a:lstStyle/>
          <a:p>
            <a:fld id="{7B61BF14-442A-4806-9528-3CAE044062F5}" type="slidenum">
              <a:rPr lang="en-AU" smtClean="0"/>
              <a:t>65</a:t>
            </a:fld>
            <a:endParaRPr lang="en-AU"/>
          </a:p>
        </p:txBody>
      </p:sp>
    </p:spTree>
    <p:extLst>
      <p:ext uri="{BB962C8B-B14F-4D97-AF65-F5344CB8AC3E}">
        <p14:creationId xmlns:p14="http://schemas.microsoft.com/office/powerpoint/2010/main" val="8219004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B7BD-F070-8916-C7C4-7483A1A40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70D3F-7FD8-5A0B-CA08-39320C548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FFCFB-75B6-B12A-0D37-39D45AFE5EAD}"/>
              </a:ext>
            </a:extLst>
          </p:cNvPr>
          <p:cNvSpPr>
            <a:spLocks noGrp="1"/>
          </p:cNvSpPr>
          <p:nvPr>
            <p:ph type="body" idx="1"/>
          </p:nvPr>
        </p:nvSpPr>
        <p:spPr/>
        <p:txBody>
          <a:bodyPr/>
          <a:lstStyle/>
          <a:p>
            <a:r>
              <a:rPr lang="en-AU" dirty="0"/>
              <a:t>https://iopscience.iop.org/article/10.1088/1742-6596/1338/1/012036/pdf</a:t>
            </a:r>
          </a:p>
          <a:p>
            <a:endParaRPr lang="en-AU" dirty="0"/>
          </a:p>
          <a:p>
            <a:r>
              <a:rPr lang="en-US" dirty="0"/>
              <a:t>Based on the results of study, we can conclude as follows: </a:t>
            </a:r>
          </a:p>
          <a:p>
            <a:r>
              <a:rPr lang="en-US" dirty="0"/>
              <a:t>1. The characteristic of hazard rate of log-normal distribution has the pattern: increasing, decreasing and upside-down bathtub (∩). </a:t>
            </a:r>
          </a:p>
          <a:p>
            <a:r>
              <a:rPr lang="en-US" dirty="0"/>
              <a:t>2. Hazard rate from log-normal distribution at region 0 &lt; 𝜇 ≤ 1 and 0 &lt; 𝜎 ≤ 1 with t &gt; 0 will increase and up to the maximum point (t) then will decrease depend on the value of μ and σ, either for the value μ &gt; 𝜎 or μ &lt; 𝜎. </a:t>
            </a:r>
          </a:p>
          <a:p>
            <a:r>
              <a:rPr lang="en-US" dirty="0"/>
              <a:t>3. Hazard rate from log-normal distribution at region μ &gt; 1 and σ &gt; 1 with t &gt; 0 has a pattern decreasing. </a:t>
            </a:r>
          </a:p>
          <a:p>
            <a:r>
              <a:rPr lang="en-US" dirty="0"/>
              <a:t>4. Log-normal distribution has the pattern upside-down bathtub (∩) when the value of 0 &lt; 𝜇 ≤ 1, 0 &lt; 𝜎 ≤ 1 , t &gt; 0 and </a:t>
            </a:r>
            <a:r>
              <a:rPr lang="en-US" dirty="0" err="1"/>
              <a:t>lim</a:t>
            </a:r>
            <a:r>
              <a:rPr lang="en-US" dirty="0"/>
              <a:t> t→0 pdf(t) = 0. 5. Graphically, the characteristic of hazard rate of log-normal distribution have the pattern increasing, decreasing, or upside-down bathtub (∩). </a:t>
            </a:r>
            <a:endParaRPr lang="en-AU" dirty="0"/>
          </a:p>
          <a:p>
            <a:r>
              <a:rPr lang="en-AU" dirty="0"/>
              <a:t> </a:t>
            </a:r>
          </a:p>
        </p:txBody>
      </p:sp>
      <p:sp>
        <p:nvSpPr>
          <p:cNvPr id="4" name="Slide Number Placeholder 3">
            <a:extLst>
              <a:ext uri="{FF2B5EF4-FFF2-40B4-BE49-F238E27FC236}">
                <a16:creationId xmlns:a16="http://schemas.microsoft.com/office/drawing/2014/main" id="{D660B7B3-B1FA-5E4A-E737-642CB0EE7668}"/>
              </a:ext>
            </a:extLst>
          </p:cNvPr>
          <p:cNvSpPr>
            <a:spLocks noGrp="1"/>
          </p:cNvSpPr>
          <p:nvPr>
            <p:ph type="sldNum" sz="quarter" idx="5"/>
          </p:nvPr>
        </p:nvSpPr>
        <p:spPr/>
        <p:txBody>
          <a:bodyPr/>
          <a:lstStyle/>
          <a:p>
            <a:fld id="{7B61BF14-442A-4806-9528-3CAE044062F5}" type="slidenum">
              <a:rPr lang="en-AU" smtClean="0"/>
              <a:t>66</a:t>
            </a:fld>
            <a:endParaRPr lang="en-AU"/>
          </a:p>
        </p:txBody>
      </p:sp>
    </p:spTree>
    <p:extLst>
      <p:ext uri="{BB962C8B-B14F-4D97-AF65-F5344CB8AC3E}">
        <p14:creationId xmlns:p14="http://schemas.microsoft.com/office/powerpoint/2010/main" val="10894191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8EEA1-C94C-4731-22C8-95AAAA6AC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23F59-943B-89BC-5760-92DB77C11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1C1EE-CE08-F760-8F78-5348FC8AE324}"/>
              </a:ext>
            </a:extLst>
          </p:cNvPr>
          <p:cNvSpPr>
            <a:spLocks noGrp="1"/>
          </p:cNvSpPr>
          <p:nvPr>
            <p:ph type="body" idx="1"/>
          </p:nvPr>
        </p:nvSpPr>
        <p:spPr/>
        <p:txBody>
          <a:bodyPr/>
          <a:lstStyle/>
          <a:p>
            <a:r>
              <a:rPr lang="en-AU" dirty="0"/>
              <a:t> </a:t>
            </a:r>
          </a:p>
        </p:txBody>
      </p:sp>
      <p:sp>
        <p:nvSpPr>
          <p:cNvPr id="4" name="Slide Number Placeholder 3">
            <a:extLst>
              <a:ext uri="{FF2B5EF4-FFF2-40B4-BE49-F238E27FC236}">
                <a16:creationId xmlns:a16="http://schemas.microsoft.com/office/drawing/2014/main" id="{D1245E60-8CA3-9A40-E4F8-DD385BC12C7A}"/>
              </a:ext>
            </a:extLst>
          </p:cNvPr>
          <p:cNvSpPr>
            <a:spLocks noGrp="1"/>
          </p:cNvSpPr>
          <p:nvPr>
            <p:ph type="sldNum" sz="quarter" idx="5"/>
          </p:nvPr>
        </p:nvSpPr>
        <p:spPr/>
        <p:txBody>
          <a:bodyPr/>
          <a:lstStyle/>
          <a:p>
            <a:fld id="{7B61BF14-442A-4806-9528-3CAE044062F5}" type="slidenum">
              <a:rPr lang="en-AU" smtClean="0"/>
              <a:t>67</a:t>
            </a:fld>
            <a:endParaRPr lang="en-AU"/>
          </a:p>
        </p:txBody>
      </p:sp>
    </p:spTree>
    <p:extLst>
      <p:ext uri="{BB962C8B-B14F-4D97-AF65-F5344CB8AC3E}">
        <p14:creationId xmlns:p14="http://schemas.microsoft.com/office/powerpoint/2010/main" val="4339841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12DD6-2F34-869B-DE7B-97C58281E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171D5-EDE8-58FD-85B3-B333E9411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DDD55-C8E1-DB10-F79F-624A9404ECB4}"/>
              </a:ext>
            </a:extLst>
          </p:cNvPr>
          <p:cNvSpPr>
            <a:spLocks noGrp="1"/>
          </p:cNvSpPr>
          <p:nvPr>
            <p:ph type="body" idx="1"/>
          </p:nvPr>
        </p:nvSpPr>
        <p:spPr/>
        <p:txBody>
          <a:bodyPr/>
          <a:lstStyle/>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You could show that log(T) follows normal distribution</a:t>
            </a:r>
          </a:p>
          <a:p>
            <a:r>
              <a:rPr lang="en-AU" dirty="0"/>
              <a:t> </a:t>
            </a:r>
          </a:p>
        </p:txBody>
      </p:sp>
      <p:sp>
        <p:nvSpPr>
          <p:cNvPr id="4" name="Slide Number Placeholder 3">
            <a:extLst>
              <a:ext uri="{FF2B5EF4-FFF2-40B4-BE49-F238E27FC236}">
                <a16:creationId xmlns:a16="http://schemas.microsoft.com/office/drawing/2014/main" id="{4019E466-F25F-A223-883F-31032E290B3C}"/>
              </a:ext>
            </a:extLst>
          </p:cNvPr>
          <p:cNvSpPr>
            <a:spLocks noGrp="1"/>
          </p:cNvSpPr>
          <p:nvPr>
            <p:ph type="sldNum" sz="quarter" idx="5"/>
          </p:nvPr>
        </p:nvSpPr>
        <p:spPr/>
        <p:txBody>
          <a:bodyPr/>
          <a:lstStyle/>
          <a:p>
            <a:fld id="{7B61BF14-442A-4806-9528-3CAE044062F5}" type="slidenum">
              <a:rPr lang="en-AU" smtClean="0"/>
              <a:t>68</a:t>
            </a:fld>
            <a:endParaRPr lang="en-AU"/>
          </a:p>
        </p:txBody>
      </p:sp>
    </p:spTree>
    <p:extLst>
      <p:ext uri="{BB962C8B-B14F-4D97-AF65-F5344CB8AC3E}">
        <p14:creationId xmlns:p14="http://schemas.microsoft.com/office/powerpoint/2010/main" val="34309750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08FC-7272-DD35-7650-3AD03393F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37293-B3F6-028C-833C-3F9B66A52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02FFA-C69A-EE0A-D191-A22700BFC74F}"/>
              </a:ext>
            </a:extLst>
          </p:cNvPr>
          <p:cNvSpPr>
            <a:spLocks noGrp="1"/>
          </p:cNvSpPr>
          <p:nvPr>
            <p:ph type="body" idx="1"/>
          </p:nvPr>
        </p:nvSpPr>
        <p:spPr/>
        <p:txBody>
          <a:bodyPr/>
          <a:lstStyle/>
          <a:p>
            <a:r>
              <a:rPr lang="en-AU" dirty="0"/>
              <a:t>https://iopscience.iop.org/article/10.1088/1742-6596/1338/1/012036/pdf</a:t>
            </a:r>
          </a:p>
          <a:p>
            <a:endParaRPr lang="en-AU" dirty="0"/>
          </a:p>
          <a:p>
            <a:r>
              <a:rPr lang="en-US" dirty="0"/>
              <a:t>Based on the results of study, we can conclude as follows: </a:t>
            </a:r>
          </a:p>
          <a:p>
            <a:r>
              <a:rPr lang="en-US" dirty="0"/>
              <a:t>1. The characteristic of hazard rate of log-normal distribution has the pattern: increasing, decreasing and upside-down bathtub (∩). </a:t>
            </a:r>
          </a:p>
          <a:p>
            <a:r>
              <a:rPr lang="en-US" dirty="0"/>
              <a:t>2. Hazard rate from log-normal distribution at region 0 &lt; 𝜇 ≤ 1 and 0 &lt; 𝜎 ≤ 1 with t &gt; 0 will increase and up to the maximum point (t) then will decrease depend on the value of μ and σ, either for the value μ &gt; 𝜎 or μ &lt; 𝜎. </a:t>
            </a:r>
          </a:p>
          <a:p>
            <a:r>
              <a:rPr lang="en-US" dirty="0"/>
              <a:t>3. Hazard rate from log-normal distribution at region μ &gt; 1 and σ &gt; 1 with t &gt; 0 has a pattern decreasing. </a:t>
            </a:r>
          </a:p>
          <a:p>
            <a:r>
              <a:rPr lang="en-US" dirty="0"/>
              <a:t>4. Log-normal distribution has the pattern upside-down bathtub (∩) when the value of 0 &lt; 𝜇 ≤ 1, 0 &lt; 𝜎 ≤ 1 , t &gt; 0 and </a:t>
            </a:r>
            <a:r>
              <a:rPr lang="en-US" dirty="0" err="1"/>
              <a:t>lim</a:t>
            </a:r>
            <a:r>
              <a:rPr lang="en-US" dirty="0"/>
              <a:t> t→0 pdf(t) = 0. 5. Graphically, the characteristic of hazard rate of log-normal distribution have the pattern increasing, decreasing, or upside-down bathtub (∩). </a:t>
            </a:r>
            <a:endParaRPr lang="en-AU" dirty="0"/>
          </a:p>
          <a:p>
            <a:endParaRPr lang="en-AU" dirty="0"/>
          </a:p>
          <a:p>
            <a:r>
              <a:rPr lang="en-AU" dirty="0"/>
              <a:t> </a:t>
            </a:r>
          </a:p>
        </p:txBody>
      </p:sp>
      <p:sp>
        <p:nvSpPr>
          <p:cNvPr id="4" name="Slide Number Placeholder 3">
            <a:extLst>
              <a:ext uri="{FF2B5EF4-FFF2-40B4-BE49-F238E27FC236}">
                <a16:creationId xmlns:a16="http://schemas.microsoft.com/office/drawing/2014/main" id="{F462DF0E-D9DC-69BA-67DB-66D5F5422EEF}"/>
              </a:ext>
            </a:extLst>
          </p:cNvPr>
          <p:cNvSpPr>
            <a:spLocks noGrp="1"/>
          </p:cNvSpPr>
          <p:nvPr>
            <p:ph type="sldNum" sz="quarter" idx="5"/>
          </p:nvPr>
        </p:nvSpPr>
        <p:spPr/>
        <p:txBody>
          <a:bodyPr/>
          <a:lstStyle/>
          <a:p>
            <a:fld id="{7B61BF14-442A-4806-9528-3CAE044062F5}" type="slidenum">
              <a:rPr lang="en-AU" smtClean="0"/>
              <a:t>69</a:t>
            </a:fld>
            <a:endParaRPr lang="en-AU"/>
          </a:p>
        </p:txBody>
      </p:sp>
    </p:spTree>
    <p:extLst>
      <p:ext uri="{BB962C8B-B14F-4D97-AF65-F5344CB8AC3E}">
        <p14:creationId xmlns:p14="http://schemas.microsoft.com/office/powerpoint/2010/main" val="23445192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C94D-AC20-22C3-421C-FA092AF11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C6D65-05FF-19A6-5C55-1326A3679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F4F66-A5BE-7A36-8022-B87F4BE7EB3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ECA8B57-8CC1-40A8-EE97-86913B2513BE}"/>
              </a:ext>
            </a:extLst>
          </p:cNvPr>
          <p:cNvSpPr>
            <a:spLocks noGrp="1"/>
          </p:cNvSpPr>
          <p:nvPr>
            <p:ph type="sldNum" sz="quarter" idx="5"/>
          </p:nvPr>
        </p:nvSpPr>
        <p:spPr/>
        <p:txBody>
          <a:bodyPr/>
          <a:lstStyle/>
          <a:p>
            <a:fld id="{7B61BF14-442A-4806-9528-3CAE044062F5}" type="slidenum">
              <a:rPr lang="en-AU" smtClean="0"/>
              <a:t>70</a:t>
            </a:fld>
            <a:endParaRPr lang="en-AU"/>
          </a:p>
        </p:txBody>
      </p:sp>
    </p:spTree>
    <p:extLst>
      <p:ext uri="{BB962C8B-B14F-4D97-AF65-F5344CB8AC3E}">
        <p14:creationId xmlns:p14="http://schemas.microsoft.com/office/powerpoint/2010/main" val="2280550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47F37-EA08-D5E0-4268-626594803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D7D89-6FA1-5D83-1E71-CE96229FA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D7FA8-C05A-7D3F-E619-96B2B9E7CBB7}"/>
              </a:ext>
            </a:extLst>
          </p:cNvPr>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0B16CC9D-5549-FA54-92C3-D43B3823B3F4}"/>
              </a:ext>
            </a:extLst>
          </p:cNvPr>
          <p:cNvSpPr>
            <a:spLocks noGrp="1"/>
          </p:cNvSpPr>
          <p:nvPr>
            <p:ph type="sldNum" sz="quarter" idx="5"/>
          </p:nvPr>
        </p:nvSpPr>
        <p:spPr/>
        <p:txBody>
          <a:bodyPr/>
          <a:lstStyle/>
          <a:p>
            <a:fld id="{7B61BF14-442A-4806-9528-3CAE044062F5}" type="slidenum">
              <a:rPr lang="en-AU" smtClean="0"/>
              <a:t>71</a:t>
            </a:fld>
            <a:endParaRPr lang="en-AU"/>
          </a:p>
        </p:txBody>
      </p:sp>
    </p:spTree>
    <p:extLst>
      <p:ext uri="{BB962C8B-B14F-4D97-AF65-F5344CB8AC3E}">
        <p14:creationId xmlns:p14="http://schemas.microsoft.com/office/powerpoint/2010/main" val="35263908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B27BD-780F-DF7E-9676-D9EDD08DD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19EBE-10B2-2A35-38AC-6D69D5598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EC47C-A097-43E0-8A19-EC8EEB835A6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EBE05-1FB7-3015-4FD2-D6B6796A3FC3}"/>
              </a:ext>
            </a:extLst>
          </p:cNvPr>
          <p:cNvSpPr>
            <a:spLocks noGrp="1"/>
          </p:cNvSpPr>
          <p:nvPr>
            <p:ph type="sldNum" sz="quarter" idx="5"/>
          </p:nvPr>
        </p:nvSpPr>
        <p:spPr/>
        <p:txBody>
          <a:bodyPr/>
          <a:lstStyle/>
          <a:p>
            <a:fld id="{7B61BF14-442A-4806-9528-3CAE044062F5}" type="slidenum">
              <a:rPr lang="en-AU" smtClean="0"/>
              <a:t>72</a:t>
            </a:fld>
            <a:endParaRPr lang="en-AU"/>
          </a:p>
        </p:txBody>
      </p:sp>
    </p:spTree>
    <p:extLst>
      <p:ext uri="{BB962C8B-B14F-4D97-AF65-F5344CB8AC3E}">
        <p14:creationId xmlns:p14="http://schemas.microsoft.com/office/powerpoint/2010/main" val="41919195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D59C-AEBF-4460-8731-8E6291DC2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45BF5-87BC-E3E6-FF6A-0801FB3C9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CF7B8-446D-B84F-FCAD-D1A6ED02EA4C}"/>
              </a:ext>
            </a:extLst>
          </p:cNvPr>
          <p:cNvSpPr>
            <a:spLocks noGrp="1"/>
          </p:cNvSpPr>
          <p:nvPr>
            <p:ph type="body" idx="1"/>
          </p:nvPr>
        </p:nvSpPr>
        <p:spPr/>
        <p:txBody>
          <a:bodyPr/>
          <a:lstStyle/>
          <a:p>
            <a:r>
              <a:rPr lang="en-US" dirty="0"/>
              <a:t>A great feature of </a:t>
            </a:r>
            <a:r>
              <a:rPr lang="en-US" dirty="0" err="1"/>
              <a:t>flexsurv</a:t>
            </a:r>
            <a:r>
              <a:rPr lang="en-US" dirty="0"/>
              <a:t> is the ability to plot the hazard function directly. </a:t>
            </a:r>
          </a:p>
          <a:p>
            <a:endParaRPr lang="en-US" dirty="0"/>
          </a:p>
        </p:txBody>
      </p:sp>
      <p:sp>
        <p:nvSpPr>
          <p:cNvPr id="4" name="Slide Number Placeholder 3">
            <a:extLst>
              <a:ext uri="{FF2B5EF4-FFF2-40B4-BE49-F238E27FC236}">
                <a16:creationId xmlns:a16="http://schemas.microsoft.com/office/drawing/2014/main" id="{EBCA290B-2784-A4CA-85E3-D960ED0C9EBF}"/>
              </a:ext>
            </a:extLst>
          </p:cNvPr>
          <p:cNvSpPr>
            <a:spLocks noGrp="1"/>
          </p:cNvSpPr>
          <p:nvPr>
            <p:ph type="sldNum" sz="quarter" idx="5"/>
          </p:nvPr>
        </p:nvSpPr>
        <p:spPr/>
        <p:txBody>
          <a:bodyPr/>
          <a:lstStyle/>
          <a:p>
            <a:fld id="{7B61BF14-442A-4806-9528-3CAE044062F5}" type="slidenum">
              <a:rPr lang="en-AU" smtClean="0"/>
              <a:t>73</a:t>
            </a:fld>
            <a:endParaRPr lang="en-AU"/>
          </a:p>
        </p:txBody>
      </p:sp>
    </p:spTree>
    <p:extLst>
      <p:ext uri="{BB962C8B-B14F-4D97-AF65-F5344CB8AC3E}">
        <p14:creationId xmlns:p14="http://schemas.microsoft.com/office/powerpoint/2010/main" val="39842115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BA88-9943-B9FC-782E-18D561D03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0A8B2-C725-4A94-F89B-8A3CEACC9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BA71E-AB73-2B43-2B77-951016F804F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F5E2EB2-18C8-83BC-7135-2F2FF194BAA7}"/>
              </a:ext>
            </a:extLst>
          </p:cNvPr>
          <p:cNvSpPr>
            <a:spLocks noGrp="1"/>
          </p:cNvSpPr>
          <p:nvPr>
            <p:ph type="sldNum" sz="quarter" idx="5"/>
          </p:nvPr>
        </p:nvSpPr>
        <p:spPr/>
        <p:txBody>
          <a:bodyPr/>
          <a:lstStyle/>
          <a:p>
            <a:fld id="{7B61BF14-442A-4806-9528-3CAE044062F5}" type="slidenum">
              <a:rPr lang="en-AU" smtClean="0"/>
              <a:t>74</a:t>
            </a:fld>
            <a:endParaRPr lang="en-AU"/>
          </a:p>
        </p:txBody>
      </p:sp>
    </p:spTree>
    <p:extLst>
      <p:ext uri="{BB962C8B-B14F-4D97-AF65-F5344CB8AC3E}">
        <p14:creationId xmlns:p14="http://schemas.microsoft.com/office/powerpoint/2010/main" val="39930037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3A798-4E75-5D88-3940-2CC4B02C8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D2F52-20C2-15B1-0C5E-BF7D13BD8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F7ED0-30FB-F61D-2E3E-543AA33B7B7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22D60FB-C5A5-3B44-85C4-D9022E267CFD}"/>
              </a:ext>
            </a:extLst>
          </p:cNvPr>
          <p:cNvSpPr>
            <a:spLocks noGrp="1"/>
          </p:cNvSpPr>
          <p:nvPr>
            <p:ph type="sldNum" sz="quarter" idx="5"/>
          </p:nvPr>
        </p:nvSpPr>
        <p:spPr/>
        <p:txBody>
          <a:bodyPr/>
          <a:lstStyle/>
          <a:p>
            <a:fld id="{7B61BF14-442A-4806-9528-3CAE044062F5}" type="slidenum">
              <a:rPr lang="en-AU" smtClean="0"/>
              <a:t>75</a:t>
            </a:fld>
            <a:endParaRPr lang="en-AU"/>
          </a:p>
        </p:txBody>
      </p:sp>
    </p:spTree>
    <p:extLst>
      <p:ext uri="{BB962C8B-B14F-4D97-AF65-F5344CB8AC3E}">
        <p14:creationId xmlns:p14="http://schemas.microsoft.com/office/powerpoint/2010/main" val="9264029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1F632-43F9-4359-ABC2-C095BC412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494D5-1BCC-1999-3D64-44DF60192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9DBD0-29B1-66BD-1BA7-32F5B578DFC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6A59706-4760-B99B-5F93-A5E156EDD024}"/>
              </a:ext>
            </a:extLst>
          </p:cNvPr>
          <p:cNvSpPr>
            <a:spLocks noGrp="1"/>
          </p:cNvSpPr>
          <p:nvPr>
            <p:ph type="sldNum" sz="quarter" idx="5"/>
          </p:nvPr>
        </p:nvSpPr>
        <p:spPr/>
        <p:txBody>
          <a:bodyPr/>
          <a:lstStyle/>
          <a:p>
            <a:fld id="{7B61BF14-442A-4806-9528-3CAE044062F5}" type="slidenum">
              <a:rPr lang="en-AU" smtClean="0"/>
              <a:t>76</a:t>
            </a:fld>
            <a:endParaRPr lang="en-AU"/>
          </a:p>
        </p:txBody>
      </p:sp>
    </p:spTree>
    <p:extLst>
      <p:ext uri="{BB962C8B-B14F-4D97-AF65-F5344CB8AC3E}">
        <p14:creationId xmlns:p14="http://schemas.microsoft.com/office/powerpoint/2010/main" val="176309592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BB4AE-7AC5-574C-2310-326DEB3B0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468C9-E900-2839-2E8F-D1AC2BA39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EEB97-F408-E698-9C1E-E61FD833D3B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F20BCEB-8C67-F5AC-B36A-8696C8F87D5F}"/>
              </a:ext>
            </a:extLst>
          </p:cNvPr>
          <p:cNvSpPr>
            <a:spLocks noGrp="1"/>
          </p:cNvSpPr>
          <p:nvPr>
            <p:ph type="sldNum" sz="quarter" idx="5"/>
          </p:nvPr>
        </p:nvSpPr>
        <p:spPr/>
        <p:txBody>
          <a:bodyPr/>
          <a:lstStyle/>
          <a:p>
            <a:fld id="{7B61BF14-442A-4806-9528-3CAE044062F5}" type="slidenum">
              <a:rPr lang="en-AU" smtClean="0"/>
              <a:t>77</a:t>
            </a:fld>
            <a:endParaRPr lang="en-AU"/>
          </a:p>
        </p:txBody>
      </p:sp>
    </p:spTree>
    <p:extLst>
      <p:ext uri="{BB962C8B-B14F-4D97-AF65-F5344CB8AC3E}">
        <p14:creationId xmlns:p14="http://schemas.microsoft.com/office/powerpoint/2010/main" val="25262725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E3224-102F-6B70-94D8-AD0C2E206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DEAE7-8236-82F3-D733-624486BA4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DC58C-8B2A-654F-D6C3-BADEB52CB7CB}"/>
              </a:ext>
            </a:extLst>
          </p:cNvPr>
          <p:cNvSpPr>
            <a:spLocks noGrp="1"/>
          </p:cNvSpPr>
          <p:nvPr>
            <p:ph type="body" idx="1"/>
          </p:nvPr>
        </p:nvSpPr>
        <p:spPr/>
        <p:txBody>
          <a:bodyPr/>
          <a:lstStyle/>
          <a:p>
            <a:r>
              <a:rPr lang="en-US" dirty="0"/>
              <a:t>Change KM colors to same. Change Exponential to dashed and Weibull to dotted to see the difference easier.</a:t>
            </a:r>
          </a:p>
          <a:p>
            <a:endParaRPr lang="en-US" dirty="0"/>
          </a:p>
        </p:txBody>
      </p:sp>
      <p:sp>
        <p:nvSpPr>
          <p:cNvPr id="4" name="Slide Number Placeholder 3">
            <a:extLst>
              <a:ext uri="{FF2B5EF4-FFF2-40B4-BE49-F238E27FC236}">
                <a16:creationId xmlns:a16="http://schemas.microsoft.com/office/drawing/2014/main" id="{FFC6C454-5C21-F5EA-78D4-4209B057EBE3}"/>
              </a:ext>
            </a:extLst>
          </p:cNvPr>
          <p:cNvSpPr>
            <a:spLocks noGrp="1"/>
          </p:cNvSpPr>
          <p:nvPr>
            <p:ph type="sldNum" sz="quarter" idx="5"/>
          </p:nvPr>
        </p:nvSpPr>
        <p:spPr/>
        <p:txBody>
          <a:bodyPr/>
          <a:lstStyle/>
          <a:p>
            <a:fld id="{7B61BF14-442A-4806-9528-3CAE044062F5}" type="slidenum">
              <a:rPr lang="en-AU" smtClean="0"/>
              <a:t>78</a:t>
            </a:fld>
            <a:endParaRPr lang="en-AU"/>
          </a:p>
        </p:txBody>
      </p:sp>
    </p:spTree>
    <p:extLst>
      <p:ext uri="{BB962C8B-B14F-4D97-AF65-F5344CB8AC3E}">
        <p14:creationId xmlns:p14="http://schemas.microsoft.com/office/powerpoint/2010/main" val="399974650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4E2D6-B4F6-A1C2-9BF8-BC2D790D5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E0492-2337-CB24-BD08-3935CA6C0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E1868-A9A0-AA67-1CAD-0838B82E3086}"/>
              </a:ext>
            </a:extLst>
          </p:cNvPr>
          <p:cNvSpPr>
            <a:spLocks noGrp="1"/>
          </p:cNvSpPr>
          <p:nvPr>
            <p:ph type="body" idx="1"/>
          </p:nvPr>
        </p:nvSpPr>
        <p:spPr/>
        <p:txBody>
          <a:bodyPr/>
          <a:lstStyle/>
          <a:p>
            <a:r>
              <a:rPr lang="en-US" dirty="0"/>
              <a:t>Change KM colors to same. Change Exponential to dashed and Weibull to dotted to see the difference easier.</a:t>
            </a:r>
          </a:p>
          <a:p>
            <a:endParaRPr lang="en-US" dirty="0"/>
          </a:p>
        </p:txBody>
      </p:sp>
      <p:sp>
        <p:nvSpPr>
          <p:cNvPr id="4" name="Slide Number Placeholder 3">
            <a:extLst>
              <a:ext uri="{FF2B5EF4-FFF2-40B4-BE49-F238E27FC236}">
                <a16:creationId xmlns:a16="http://schemas.microsoft.com/office/drawing/2014/main" id="{472CE546-A969-54C6-BF2C-AB699E2BCAB1}"/>
              </a:ext>
            </a:extLst>
          </p:cNvPr>
          <p:cNvSpPr>
            <a:spLocks noGrp="1"/>
          </p:cNvSpPr>
          <p:nvPr>
            <p:ph type="sldNum" sz="quarter" idx="5"/>
          </p:nvPr>
        </p:nvSpPr>
        <p:spPr/>
        <p:txBody>
          <a:bodyPr/>
          <a:lstStyle/>
          <a:p>
            <a:fld id="{7B61BF14-442A-4806-9528-3CAE044062F5}" type="slidenum">
              <a:rPr lang="en-AU" smtClean="0"/>
              <a:t>79</a:t>
            </a:fld>
            <a:endParaRPr lang="en-AU"/>
          </a:p>
        </p:txBody>
      </p:sp>
    </p:spTree>
    <p:extLst>
      <p:ext uri="{BB962C8B-B14F-4D97-AF65-F5344CB8AC3E}">
        <p14:creationId xmlns:p14="http://schemas.microsoft.com/office/powerpoint/2010/main" val="23529662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1B1C-3DC1-9C39-E76D-6F5385C4A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C7D7D-2CDE-3C24-A093-92A8A4A0F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9AAA8-0556-E389-62F4-DC5BD69E39F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13C2426-04EF-7B82-AE80-442CC393831D}"/>
              </a:ext>
            </a:extLst>
          </p:cNvPr>
          <p:cNvSpPr>
            <a:spLocks noGrp="1"/>
          </p:cNvSpPr>
          <p:nvPr>
            <p:ph type="sldNum" sz="quarter" idx="5"/>
          </p:nvPr>
        </p:nvSpPr>
        <p:spPr/>
        <p:txBody>
          <a:bodyPr/>
          <a:lstStyle/>
          <a:p>
            <a:fld id="{7B61BF14-442A-4806-9528-3CAE044062F5}" type="slidenum">
              <a:rPr lang="en-AU" smtClean="0"/>
              <a:t>80</a:t>
            </a:fld>
            <a:endParaRPr lang="en-AU"/>
          </a:p>
        </p:txBody>
      </p:sp>
    </p:spTree>
    <p:extLst>
      <p:ext uri="{BB962C8B-B14F-4D97-AF65-F5344CB8AC3E}">
        <p14:creationId xmlns:p14="http://schemas.microsoft.com/office/powerpoint/2010/main" val="162399325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D2B8B-D222-17B7-B4B7-4688BEAF8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14EF2-C0A3-BDBC-190A-29CC0A57A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2FCD7-FCCC-7F21-CA8B-9B919613B4CE}"/>
              </a:ext>
            </a:extLst>
          </p:cNvPr>
          <p:cNvSpPr>
            <a:spLocks noGrp="1"/>
          </p:cNvSpPr>
          <p:nvPr>
            <p:ph type="body" idx="1"/>
          </p:nvPr>
        </p:nvSpPr>
        <p:spPr/>
        <p:txBody>
          <a:bodyPr/>
          <a:lstStyle/>
          <a:p>
            <a:r>
              <a:rPr lang="en-US" dirty="0"/>
              <a:t>The gamma distribution is a flexible family of continuous probability distributions primarily used to model positive, right-skewed data like waiting times or financial risk.</a:t>
            </a:r>
          </a:p>
          <a:p>
            <a:endParaRPr lang="en-AU" dirty="0"/>
          </a:p>
        </p:txBody>
      </p:sp>
      <p:sp>
        <p:nvSpPr>
          <p:cNvPr id="4" name="Slide Number Placeholder 3">
            <a:extLst>
              <a:ext uri="{FF2B5EF4-FFF2-40B4-BE49-F238E27FC236}">
                <a16:creationId xmlns:a16="http://schemas.microsoft.com/office/drawing/2014/main" id="{12B63783-5208-A7B0-F815-FCE6DE4050A8}"/>
              </a:ext>
            </a:extLst>
          </p:cNvPr>
          <p:cNvSpPr>
            <a:spLocks noGrp="1"/>
          </p:cNvSpPr>
          <p:nvPr>
            <p:ph type="sldNum" sz="quarter" idx="5"/>
          </p:nvPr>
        </p:nvSpPr>
        <p:spPr/>
        <p:txBody>
          <a:bodyPr/>
          <a:lstStyle/>
          <a:p>
            <a:fld id="{7B61BF14-442A-4806-9528-3CAE044062F5}" type="slidenum">
              <a:rPr lang="en-AU" smtClean="0"/>
              <a:t>81</a:t>
            </a:fld>
            <a:endParaRPr lang="en-AU"/>
          </a:p>
        </p:txBody>
      </p:sp>
    </p:spTree>
    <p:extLst>
      <p:ext uri="{BB962C8B-B14F-4D97-AF65-F5344CB8AC3E}">
        <p14:creationId xmlns:p14="http://schemas.microsoft.com/office/powerpoint/2010/main" val="403261964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4999D-0F40-B018-8EBE-66C0CB90D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DB152-A090-4287-BF61-8ACF2C37F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B4C51-E35E-C880-B296-8C8D0AA03174}"/>
              </a:ext>
            </a:extLst>
          </p:cNvPr>
          <p:cNvSpPr>
            <a:spLocks noGrp="1"/>
          </p:cNvSpPr>
          <p:nvPr>
            <p:ph type="body" idx="1"/>
          </p:nvPr>
        </p:nvSpPr>
        <p:spPr/>
        <p:txBody>
          <a:bodyPr/>
          <a:lstStyle/>
          <a:p>
            <a:r>
              <a:rPr lang="en-US" dirty="0"/>
              <a:t>By fixing one or two of its parameters, you can collapse the complex formula into almost every major distribution used in survival analysis</a:t>
            </a:r>
          </a:p>
          <a:p>
            <a:endParaRPr lang="en-US" dirty="0"/>
          </a:p>
          <a:p>
            <a:r>
              <a:rPr lang="en-US" dirty="0"/>
              <a:t>k=1, p=1: Exponential</a:t>
            </a:r>
          </a:p>
          <a:p>
            <a:r>
              <a:rPr lang="en-US" dirty="0"/>
              <a:t>k=1: Weibull</a:t>
            </a:r>
          </a:p>
          <a:p>
            <a:r>
              <a:rPr lang="en-US" dirty="0"/>
              <a:t>P=1: Standard gamma</a:t>
            </a:r>
          </a:p>
          <a:p>
            <a:endParaRPr lang="en-US" sz="1200" b="1" kern="1200" dirty="0">
              <a:solidFill>
                <a:schemeClr val="tx1"/>
              </a:solidFill>
              <a:effectLst/>
              <a:latin typeface="+mn-lt"/>
              <a:ea typeface="+mn-ea"/>
              <a:cs typeface="+mn-cs"/>
            </a:endParaRPr>
          </a:p>
          <a:p>
            <a:r>
              <a:rPr lang="en-US" dirty="0"/>
              <a:t>As the shape parameter </a:t>
            </a:r>
            <a:r>
              <a:rPr lang="en-US" sz="1200" kern="1200" dirty="0">
                <a:solidFill>
                  <a:schemeClr val="tx1"/>
                </a:solidFill>
                <a:effectLst/>
                <a:latin typeface="+mn-lt"/>
                <a:ea typeface="+mn-ea"/>
                <a:cs typeface="+mn-cs"/>
              </a:rPr>
              <a:t>$k$</a:t>
            </a:r>
            <a:r>
              <a:rPr lang="en-US" dirty="0"/>
              <a:t> becomes very large (</a:t>
            </a:r>
            <a:r>
              <a:rPr lang="en-US" sz="1200" kern="1200" dirty="0">
                <a:solidFill>
                  <a:schemeClr val="tx1"/>
                </a:solidFill>
                <a:effectLst/>
                <a:latin typeface="+mn-lt"/>
                <a:ea typeface="+mn-ea"/>
                <a:cs typeface="+mn-cs"/>
              </a:rPr>
              <a:t>$k \to \</a:t>
            </a:r>
            <a:r>
              <a:rPr lang="en-US" sz="1200" kern="1200" dirty="0" err="1">
                <a:solidFill>
                  <a:schemeClr val="tx1"/>
                </a:solidFill>
                <a:effectLst/>
                <a:latin typeface="+mn-lt"/>
                <a:ea typeface="+mn-ea"/>
                <a:cs typeface="+mn-cs"/>
              </a:rPr>
              <a:t>infty</a:t>
            </a:r>
            <a:r>
              <a:rPr lang="en-US" sz="1200" kern="1200" dirty="0">
                <a:solidFill>
                  <a:schemeClr val="tx1"/>
                </a:solidFill>
                <a:effectLst/>
                <a:latin typeface="+mn-lt"/>
                <a:ea typeface="+mn-ea"/>
                <a:cs typeface="+mn-cs"/>
              </a:rPr>
              <a:t>$</a:t>
            </a:r>
            <a:r>
              <a:rPr lang="en-US" dirty="0"/>
              <a:t>), the Generalized Gamma distribution begins to look perfectly symmetrical on a log-scale, eventually converging to the Lognormal distribution. </a:t>
            </a:r>
          </a:p>
          <a:p>
            <a:endParaRPr lang="en-US" dirty="0"/>
          </a:p>
          <a:p>
            <a:r>
              <a:rPr lang="en-US" dirty="0"/>
              <a:t>This makes the GGD an excellent tool for testing if your data is more Weibull or "more Lognormal.</a:t>
            </a:r>
          </a:p>
          <a:p>
            <a:endParaRPr lang="en-AU" dirty="0"/>
          </a:p>
        </p:txBody>
      </p:sp>
      <p:sp>
        <p:nvSpPr>
          <p:cNvPr id="4" name="Slide Number Placeholder 3">
            <a:extLst>
              <a:ext uri="{FF2B5EF4-FFF2-40B4-BE49-F238E27FC236}">
                <a16:creationId xmlns:a16="http://schemas.microsoft.com/office/drawing/2014/main" id="{47315E08-F02B-CDCB-262A-36A2D0B55A01}"/>
              </a:ext>
            </a:extLst>
          </p:cNvPr>
          <p:cNvSpPr>
            <a:spLocks noGrp="1"/>
          </p:cNvSpPr>
          <p:nvPr>
            <p:ph type="sldNum" sz="quarter" idx="5"/>
          </p:nvPr>
        </p:nvSpPr>
        <p:spPr/>
        <p:txBody>
          <a:bodyPr/>
          <a:lstStyle/>
          <a:p>
            <a:fld id="{7B61BF14-442A-4806-9528-3CAE044062F5}" type="slidenum">
              <a:rPr lang="en-AU" smtClean="0"/>
              <a:t>82</a:t>
            </a:fld>
            <a:endParaRPr lang="en-AU"/>
          </a:p>
        </p:txBody>
      </p:sp>
    </p:spTree>
    <p:extLst>
      <p:ext uri="{BB962C8B-B14F-4D97-AF65-F5344CB8AC3E}">
        <p14:creationId xmlns:p14="http://schemas.microsoft.com/office/powerpoint/2010/main" val="17219120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D5CE9-986F-58BC-6AE1-B1BD0B93C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B0C92-9F67-AA2E-B1F6-AF1DBEA94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A09B3-2F6C-662C-4EA4-8F6CA0C858A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CAE3916-BDA9-B7BD-FD77-F7997B7B72D7}"/>
              </a:ext>
            </a:extLst>
          </p:cNvPr>
          <p:cNvSpPr>
            <a:spLocks noGrp="1"/>
          </p:cNvSpPr>
          <p:nvPr>
            <p:ph type="sldNum" sz="quarter" idx="5"/>
          </p:nvPr>
        </p:nvSpPr>
        <p:spPr/>
        <p:txBody>
          <a:bodyPr/>
          <a:lstStyle/>
          <a:p>
            <a:fld id="{7B61BF14-442A-4806-9528-3CAE044062F5}" type="slidenum">
              <a:rPr lang="en-AU" smtClean="0"/>
              <a:t>83</a:t>
            </a:fld>
            <a:endParaRPr lang="en-AU"/>
          </a:p>
        </p:txBody>
      </p:sp>
    </p:spTree>
    <p:extLst>
      <p:ext uri="{BB962C8B-B14F-4D97-AF65-F5344CB8AC3E}">
        <p14:creationId xmlns:p14="http://schemas.microsoft.com/office/powerpoint/2010/main" val="34878175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6317-1F63-B645-DA46-2897B053E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7D22C-CC5C-798C-1D1B-082F1384E8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63ADA-3D7D-3433-439A-9782F96A160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2D5FCD8-1D3F-AC47-1082-8407A3FB41B9}"/>
              </a:ext>
            </a:extLst>
          </p:cNvPr>
          <p:cNvSpPr>
            <a:spLocks noGrp="1"/>
          </p:cNvSpPr>
          <p:nvPr>
            <p:ph type="sldNum" sz="quarter" idx="5"/>
          </p:nvPr>
        </p:nvSpPr>
        <p:spPr/>
        <p:txBody>
          <a:bodyPr/>
          <a:lstStyle/>
          <a:p>
            <a:fld id="{7B61BF14-442A-4806-9528-3CAE044062F5}" type="slidenum">
              <a:rPr lang="en-AU" smtClean="0"/>
              <a:t>84</a:t>
            </a:fld>
            <a:endParaRPr lang="en-AU"/>
          </a:p>
        </p:txBody>
      </p:sp>
    </p:spTree>
    <p:extLst>
      <p:ext uri="{BB962C8B-B14F-4D97-AF65-F5344CB8AC3E}">
        <p14:creationId xmlns:p14="http://schemas.microsoft.com/office/powerpoint/2010/main" val="23635795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CFA2D-E550-ACF6-3EFA-4F2E0C748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166F7-005A-73D4-221B-842B51B6B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EC2C7-524C-4F29-A6B0-DE70A174A25A}"/>
              </a:ext>
            </a:extLst>
          </p:cNvPr>
          <p:cNvSpPr>
            <a:spLocks noGrp="1"/>
          </p:cNvSpPr>
          <p:nvPr>
            <p:ph type="body" idx="1"/>
          </p:nvPr>
        </p:nvSpPr>
        <p:spPr/>
        <p:txBody>
          <a:bodyPr/>
          <a:lstStyle/>
          <a:p>
            <a:r>
              <a:rPr lang="en-AU" dirty="0"/>
              <a:t> </a:t>
            </a:r>
          </a:p>
        </p:txBody>
      </p:sp>
      <p:sp>
        <p:nvSpPr>
          <p:cNvPr id="4" name="Slide Number Placeholder 3">
            <a:extLst>
              <a:ext uri="{FF2B5EF4-FFF2-40B4-BE49-F238E27FC236}">
                <a16:creationId xmlns:a16="http://schemas.microsoft.com/office/drawing/2014/main" id="{4021B86F-1BC8-E179-E210-CD82953CE5CE}"/>
              </a:ext>
            </a:extLst>
          </p:cNvPr>
          <p:cNvSpPr>
            <a:spLocks noGrp="1"/>
          </p:cNvSpPr>
          <p:nvPr>
            <p:ph type="sldNum" sz="quarter" idx="5"/>
          </p:nvPr>
        </p:nvSpPr>
        <p:spPr/>
        <p:txBody>
          <a:bodyPr/>
          <a:lstStyle/>
          <a:p>
            <a:fld id="{7B61BF14-442A-4806-9528-3CAE044062F5}" type="slidenum">
              <a:rPr lang="en-AU" smtClean="0"/>
              <a:t>85</a:t>
            </a:fld>
            <a:endParaRPr lang="en-AU"/>
          </a:p>
        </p:txBody>
      </p:sp>
    </p:spTree>
    <p:extLst>
      <p:ext uri="{BB962C8B-B14F-4D97-AF65-F5344CB8AC3E}">
        <p14:creationId xmlns:p14="http://schemas.microsoft.com/office/powerpoint/2010/main" val="26420579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C348A-3842-1535-ADEF-28F53305A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11341-643C-A497-69FC-911D6EC4A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06A58-C505-E409-730D-44ECB5190FF6}"/>
              </a:ext>
            </a:extLst>
          </p:cNvPr>
          <p:cNvSpPr>
            <a:spLocks noGrp="1"/>
          </p:cNvSpPr>
          <p:nvPr>
            <p:ph type="body" idx="1"/>
          </p:nvPr>
        </p:nvSpPr>
        <p:spPr/>
        <p:txBody>
          <a:bodyPr/>
          <a:lstStyle/>
          <a:p>
            <a:r>
              <a:rPr lang="en-AU" dirty="0"/>
              <a:t> </a:t>
            </a:r>
          </a:p>
        </p:txBody>
      </p:sp>
      <p:sp>
        <p:nvSpPr>
          <p:cNvPr id="4" name="Slide Number Placeholder 3">
            <a:extLst>
              <a:ext uri="{FF2B5EF4-FFF2-40B4-BE49-F238E27FC236}">
                <a16:creationId xmlns:a16="http://schemas.microsoft.com/office/drawing/2014/main" id="{74A4404D-B264-4923-347C-25CFE321BD01}"/>
              </a:ext>
            </a:extLst>
          </p:cNvPr>
          <p:cNvSpPr>
            <a:spLocks noGrp="1"/>
          </p:cNvSpPr>
          <p:nvPr>
            <p:ph type="sldNum" sz="quarter" idx="5"/>
          </p:nvPr>
        </p:nvSpPr>
        <p:spPr/>
        <p:txBody>
          <a:bodyPr/>
          <a:lstStyle/>
          <a:p>
            <a:fld id="{7B61BF14-442A-4806-9528-3CAE044062F5}" type="slidenum">
              <a:rPr lang="en-AU" smtClean="0"/>
              <a:t>86</a:t>
            </a:fld>
            <a:endParaRPr lang="en-AU"/>
          </a:p>
        </p:txBody>
      </p:sp>
    </p:spTree>
    <p:extLst>
      <p:ext uri="{BB962C8B-B14F-4D97-AF65-F5344CB8AC3E}">
        <p14:creationId xmlns:p14="http://schemas.microsoft.com/office/powerpoint/2010/main" val="101123100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AB196-5CEF-5477-4170-618BB6B13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2B8FC-101D-88B0-11CE-2E9F679F8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7C53A-0E67-5486-A578-8014F6E8BE07}"/>
              </a:ext>
            </a:extLst>
          </p:cNvPr>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A4CF95BB-A28A-68DB-262B-3F534B495220}"/>
              </a:ext>
            </a:extLst>
          </p:cNvPr>
          <p:cNvSpPr>
            <a:spLocks noGrp="1"/>
          </p:cNvSpPr>
          <p:nvPr>
            <p:ph type="sldNum" sz="quarter" idx="5"/>
          </p:nvPr>
        </p:nvSpPr>
        <p:spPr/>
        <p:txBody>
          <a:bodyPr/>
          <a:lstStyle/>
          <a:p>
            <a:fld id="{7B61BF14-442A-4806-9528-3CAE044062F5}" type="slidenum">
              <a:rPr lang="en-AU" smtClean="0"/>
              <a:t>87</a:t>
            </a:fld>
            <a:endParaRPr lang="en-AU"/>
          </a:p>
        </p:txBody>
      </p:sp>
    </p:spTree>
    <p:extLst>
      <p:ext uri="{BB962C8B-B14F-4D97-AF65-F5344CB8AC3E}">
        <p14:creationId xmlns:p14="http://schemas.microsoft.com/office/powerpoint/2010/main" val="78881660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09DE-9A39-A4C9-06A1-EB7264B63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115FE-1B43-842B-A9F9-00C127327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6E5F2-F36E-7B3A-6C1C-7568C0D14C29}"/>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In the code above, I used the </a:t>
            </a:r>
            <a:r>
              <a:rPr lang="en-AU" sz="1200" b="1" kern="1200" dirty="0">
                <a:solidFill>
                  <a:schemeClr val="tx1"/>
                </a:solidFill>
                <a:effectLst/>
                <a:latin typeface="+mn-lt"/>
                <a:ea typeface="+mn-ea"/>
                <a:cs typeface="+mn-cs"/>
              </a:rPr>
              <a:t>Prentice parameterisation</a:t>
            </a:r>
            <a:r>
              <a:rPr lang="en-AU" sz="1200" kern="1200" dirty="0">
                <a:solidFill>
                  <a:schemeClr val="tx1"/>
                </a:solidFill>
                <a:effectLst/>
                <a:latin typeface="+mn-lt"/>
                <a:ea typeface="+mn-ea"/>
                <a:cs typeface="+mn-cs"/>
              </a:rPr>
              <a:t> (mu, sigma, Q) because that is what </a:t>
            </a:r>
            <a:r>
              <a:rPr lang="en-AU" sz="1200" kern="1200" dirty="0" err="1">
                <a:solidFill>
                  <a:schemeClr val="tx1"/>
                </a:solidFill>
                <a:effectLst/>
                <a:latin typeface="+mn-lt"/>
                <a:ea typeface="+mn-ea"/>
                <a:cs typeface="+mn-cs"/>
              </a:rPr>
              <a:t>flexsurv</a:t>
            </a:r>
            <a:r>
              <a:rPr lang="en-AU" sz="1200" kern="1200" dirty="0">
                <a:solidFill>
                  <a:schemeClr val="tx1"/>
                </a:solidFill>
                <a:effectLst/>
                <a:latin typeface="+mn-lt"/>
                <a:ea typeface="+mn-ea"/>
                <a:cs typeface="+mn-cs"/>
              </a:rPr>
              <a:t> uses internally. If you have Stacy parameters ($\lambda, k, p$), the conversion used in the code is:</a:t>
            </a:r>
          </a:p>
          <a:p>
            <a:r>
              <a:rPr lang="en-AU" sz="1200" kern="1200" dirty="0">
                <a:solidFill>
                  <a:schemeClr val="tx1"/>
                </a:solidFill>
                <a:effectLst/>
                <a:latin typeface="+mn-lt"/>
                <a:ea typeface="+mn-ea"/>
                <a:cs typeface="+mn-cs"/>
              </a:rPr>
              <a:t>$Q = 1/\sqrt{k}$</a:t>
            </a:r>
          </a:p>
          <a:p>
            <a:r>
              <a:rPr lang="en-AU" sz="1200" kern="1200" dirty="0">
                <a:solidFill>
                  <a:schemeClr val="tx1"/>
                </a:solidFill>
                <a:effectLst/>
                <a:latin typeface="+mn-lt"/>
                <a:ea typeface="+mn-ea"/>
                <a:cs typeface="+mn-cs"/>
              </a:rPr>
              <a:t>$\sigma = 1/(p\sqrt{k})$</a:t>
            </a:r>
          </a:p>
          <a:p>
            <a:r>
              <a:rPr lang="en-AU" sz="1200" kern="1200" dirty="0">
                <a:solidFill>
                  <a:schemeClr val="tx1"/>
                </a:solidFill>
                <a:effectLst/>
                <a:latin typeface="+mn-lt"/>
                <a:ea typeface="+mn-ea"/>
                <a:cs typeface="+mn-cs"/>
              </a:rPr>
              <a:t>$\mu = \log(1/\lambda)$</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mu </a:t>
            </a:r>
            <a:r>
              <a:rPr lang="en-US" sz="1200" kern="1200" dirty="0">
                <a:solidFill>
                  <a:schemeClr val="tx1"/>
                </a:solidFill>
                <a:effectLst/>
                <a:latin typeface="+mn-lt"/>
                <a:ea typeface="+mn-ea"/>
                <a:cs typeface="+mn-cs"/>
              </a:rPr>
              <a:t>is the </a:t>
            </a:r>
            <a:r>
              <a:rPr lang="en-US" sz="1200" b="1" kern="1200" dirty="0">
                <a:solidFill>
                  <a:schemeClr val="tx1"/>
                </a:solidFill>
                <a:effectLst/>
                <a:latin typeface="+mn-lt"/>
                <a:ea typeface="+mn-ea"/>
                <a:cs typeface="+mn-cs"/>
              </a:rPr>
              <a:t>Location</a:t>
            </a:r>
            <a:r>
              <a:rPr lang="en-US" sz="1200" kern="1200" dirty="0">
                <a:solidFill>
                  <a:schemeClr val="tx1"/>
                </a:solidFill>
                <a:effectLst/>
                <a:latin typeface="+mn-lt"/>
                <a:ea typeface="+mn-ea"/>
                <a:cs typeface="+mn-cs"/>
              </a:rPr>
              <a:t> parameter. In an AFT model, this represents the </a:t>
            </a:r>
            <a:r>
              <a:rPr lang="en-US" sz="1200" b="1" kern="1200" dirty="0">
                <a:solidFill>
                  <a:schemeClr val="tx1"/>
                </a:solidFill>
                <a:effectLst/>
                <a:latin typeface="+mn-lt"/>
                <a:ea typeface="+mn-ea"/>
                <a:cs typeface="+mn-cs"/>
              </a:rPr>
              <a:t>Log-Time</a:t>
            </a:r>
            <a:r>
              <a:rPr lang="en-US" sz="1200" kern="1200" dirty="0">
                <a:solidFill>
                  <a:schemeClr val="tx1"/>
                </a:solidFill>
                <a:effectLst/>
                <a:latin typeface="+mn-lt"/>
                <a:ea typeface="+mn-ea"/>
                <a:cs typeface="+mn-cs"/>
              </a:rPr>
              <a:t> to failure. If you take </a:t>
            </a:r>
            <a:r>
              <a:rPr lang="en-US" sz="1200" kern="1200" dirty="0" err="1">
                <a:solidFill>
                  <a:schemeClr val="tx1"/>
                </a:solidFill>
                <a:effectLst/>
                <a:latin typeface="+mn-lt"/>
                <a:ea typeface="+mn-ea"/>
                <a:cs typeface="+mn-cs"/>
              </a:rPr>
              <a:t>e^mu</a:t>
            </a:r>
            <a:r>
              <a:rPr lang="en-US" sz="1200" kern="1200" dirty="0">
                <a:solidFill>
                  <a:schemeClr val="tx1"/>
                </a:solidFill>
                <a:effectLst/>
                <a:latin typeface="+mn-lt"/>
                <a:ea typeface="+mn-ea"/>
                <a:cs typeface="+mn-cs"/>
              </a:rPr>
              <a:t>, you get the baseline median survival time (when Q=0).</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Exp(2.063) = 7.87 – typical survival time in remission in placebo groups is 7.87 weeks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sigma</a:t>
            </a:r>
            <a:r>
              <a:rPr lang="en-US" sz="1200" kern="1200" dirty="0">
                <a:solidFill>
                  <a:schemeClr val="tx1"/>
                </a:solidFill>
                <a:effectLst/>
                <a:latin typeface="+mn-lt"/>
                <a:ea typeface="+mn-ea"/>
                <a:cs typeface="+mn-cs"/>
              </a:rPr>
              <a:t> is the </a:t>
            </a:r>
            <a:r>
              <a:rPr lang="en-US" sz="1200" b="1" kern="1200" dirty="0">
                <a:solidFill>
                  <a:schemeClr val="tx1"/>
                </a:solidFill>
                <a:effectLst/>
                <a:latin typeface="+mn-lt"/>
                <a:ea typeface="+mn-ea"/>
                <a:cs typeface="+mn-cs"/>
              </a:rPr>
              <a:t>Scale</a:t>
            </a:r>
            <a:r>
              <a:rPr lang="en-US" sz="1200" kern="1200" dirty="0">
                <a:solidFill>
                  <a:schemeClr val="tx1"/>
                </a:solidFill>
                <a:effectLst/>
                <a:latin typeface="+mn-lt"/>
                <a:ea typeface="+mn-ea"/>
                <a:cs typeface="+mn-cs"/>
              </a:rPr>
              <a:t> parameter. It describes how "spread out" the survival times are.</a:t>
            </a:r>
          </a:p>
          <a:p>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 is the </a:t>
            </a:r>
            <a:r>
              <a:rPr lang="en-US" sz="1200" b="1" kern="1200" dirty="0">
                <a:solidFill>
                  <a:schemeClr val="tx1"/>
                </a:solidFill>
                <a:effectLst/>
                <a:latin typeface="+mn-lt"/>
                <a:ea typeface="+mn-ea"/>
                <a:cs typeface="+mn-cs"/>
              </a:rPr>
              <a:t>Shape</a:t>
            </a:r>
            <a:r>
              <a:rPr lang="en-US" sz="1200" kern="1200" dirty="0">
                <a:solidFill>
                  <a:schemeClr val="tx1"/>
                </a:solidFill>
                <a:effectLst/>
                <a:latin typeface="+mn-lt"/>
                <a:ea typeface="+mn-ea"/>
                <a:cs typeface="+mn-cs"/>
              </a:rPr>
              <a:t> parameter. This is the "magic" number that tells you which special case distribution your data follows.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Interpreting the </a:t>
            </a:r>
            <a:r>
              <a:rPr lang="en-US" sz="1200" b="1" kern="1200" dirty="0" err="1">
                <a:solidFill>
                  <a:schemeClr val="tx1"/>
                </a:solidFill>
                <a:effectLst/>
                <a:latin typeface="+mn-lt"/>
                <a:ea typeface="+mn-ea"/>
                <a:cs typeface="+mn-cs"/>
              </a:rPr>
              <a:t>Generalised</a:t>
            </a:r>
            <a:r>
              <a:rPr lang="en-US" sz="1200" b="1" kern="1200" dirty="0">
                <a:solidFill>
                  <a:schemeClr val="tx1"/>
                </a:solidFill>
                <a:effectLst/>
                <a:latin typeface="+mn-lt"/>
                <a:ea typeface="+mn-ea"/>
                <a:cs typeface="+mn-cs"/>
              </a:rPr>
              <a:t> Gamma (GGD)</a:t>
            </a:r>
            <a:r>
              <a:rPr lang="en-US" sz="1200" kern="1200" dirty="0">
                <a:solidFill>
                  <a:schemeClr val="tx1"/>
                </a:solidFill>
                <a:effectLst/>
                <a:latin typeface="+mn-lt"/>
                <a:ea typeface="+mn-ea"/>
                <a:cs typeface="+mn-cs"/>
              </a:rPr>
              <a:t> output from </a:t>
            </a:r>
            <a:r>
              <a:rPr lang="en-US" sz="1200" kern="1200" dirty="0" err="1">
                <a:solidFill>
                  <a:schemeClr val="tx1"/>
                </a:solidFill>
                <a:effectLst/>
                <a:latin typeface="+mn-lt"/>
                <a:ea typeface="+mn-ea"/>
                <a:cs typeface="+mn-cs"/>
              </a:rPr>
              <a:t>flexsurvreg</a:t>
            </a:r>
            <a:r>
              <a:rPr lang="en-US" sz="1200" kern="1200" dirty="0">
                <a:solidFill>
                  <a:schemeClr val="tx1"/>
                </a:solidFill>
                <a:effectLst/>
                <a:latin typeface="+mn-lt"/>
                <a:ea typeface="+mn-ea"/>
                <a:cs typeface="+mn-cs"/>
              </a:rPr>
              <a:t> is different from the standard Gamma or Weibull models because </a:t>
            </a:r>
            <a:r>
              <a:rPr lang="en-US" sz="1200" kern="1200" dirty="0" err="1">
                <a:solidFill>
                  <a:schemeClr val="tx1"/>
                </a:solidFill>
                <a:effectLst/>
                <a:latin typeface="+mn-lt"/>
                <a:ea typeface="+mn-ea"/>
                <a:cs typeface="+mn-cs"/>
              </a:rPr>
              <a:t>flexsurv</a:t>
            </a:r>
            <a:r>
              <a:rPr lang="en-US" sz="1200" kern="1200" dirty="0">
                <a:solidFill>
                  <a:schemeClr val="tx1"/>
                </a:solidFill>
                <a:effectLst/>
                <a:latin typeface="+mn-lt"/>
                <a:ea typeface="+mn-ea"/>
                <a:cs typeface="+mn-cs"/>
              </a:rPr>
              <a:t> uses the </a:t>
            </a:r>
            <a:r>
              <a:rPr lang="en-US" sz="1200" b="1" kern="1200" dirty="0">
                <a:solidFill>
                  <a:schemeClr val="tx1"/>
                </a:solidFill>
                <a:effectLst/>
                <a:latin typeface="+mn-lt"/>
                <a:ea typeface="+mn-ea"/>
                <a:cs typeface="+mn-cs"/>
              </a:rPr>
              <a:t>Prentice (1974)</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parameterisation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Instead of the $\lambda, k, p$ parameters you might see in a textbook, R gives you </a:t>
            </a:r>
            <a:r>
              <a:rPr lang="en-US" sz="1200" b="1" kern="1200" dirty="0">
                <a:solidFill>
                  <a:schemeClr val="tx1"/>
                </a:solidFill>
                <a:effectLst/>
                <a:latin typeface="+mn-lt"/>
                <a:ea typeface="+mn-ea"/>
                <a:cs typeface="+mn-cs"/>
              </a:rPr>
              <a:t>mu ($\mu$)</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sigma ($\sigma$)</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1. Understanding the Baseline Parameters</a:t>
            </a:r>
          </a:p>
          <a:p>
            <a:r>
              <a:rPr lang="en-US" sz="1200" kern="1200" dirty="0">
                <a:solidFill>
                  <a:schemeClr val="tx1"/>
                </a:solidFill>
                <a:effectLst/>
                <a:latin typeface="+mn-lt"/>
                <a:ea typeface="+mn-ea"/>
                <a:cs typeface="+mn-cs"/>
              </a:rPr>
              <a:t>When you call print(</a:t>
            </a:r>
            <a:r>
              <a:rPr lang="en-US" sz="1200" kern="1200" dirty="0" err="1">
                <a:solidFill>
                  <a:schemeClr val="tx1"/>
                </a:solidFill>
                <a:effectLst/>
                <a:latin typeface="+mn-lt"/>
                <a:ea typeface="+mn-ea"/>
                <a:cs typeface="+mn-cs"/>
              </a:rPr>
              <a:t>model_gg</a:t>
            </a:r>
            <a:r>
              <a:rPr lang="en-US" sz="1200" kern="1200" dirty="0">
                <a:solidFill>
                  <a:schemeClr val="tx1"/>
                </a:solidFill>
                <a:effectLst/>
                <a:latin typeface="+mn-lt"/>
                <a:ea typeface="+mn-ea"/>
                <a:cs typeface="+mn-cs"/>
              </a:rPr>
              <a:t>), you will see these three baseline estimates:</a:t>
            </a:r>
          </a:p>
          <a:p>
            <a:r>
              <a:rPr lang="en-US" sz="1200" b="1" kern="1200" dirty="0">
                <a:solidFill>
                  <a:schemeClr val="tx1"/>
                </a:solidFill>
                <a:effectLst/>
                <a:latin typeface="+mn-lt"/>
                <a:ea typeface="+mn-ea"/>
                <a:cs typeface="+mn-cs"/>
              </a:rPr>
              <a:t>mu ($\mu$):</a:t>
            </a:r>
            <a:r>
              <a:rPr lang="en-US" sz="1200" kern="1200" dirty="0">
                <a:solidFill>
                  <a:schemeClr val="tx1"/>
                </a:solidFill>
                <a:effectLst/>
                <a:latin typeface="+mn-lt"/>
                <a:ea typeface="+mn-ea"/>
                <a:cs typeface="+mn-cs"/>
              </a:rPr>
              <a:t> This is the </a:t>
            </a:r>
            <a:r>
              <a:rPr lang="en-US" sz="1200" b="1" kern="1200" dirty="0">
                <a:solidFill>
                  <a:schemeClr val="tx1"/>
                </a:solidFill>
                <a:effectLst/>
                <a:latin typeface="+mn-lt"/>
                <a:ea typeface="+mn-ea"/>
                <a:cs typeface="+mn-cs"/>
              </a:rPr>
              <a:t>Location</a:t>
            </a:r>
            <a:r>
              <a:rPr lang="en-US" sz="1200" kern="1200" dirty="0">
                <a:solidFill>
                  <a:schemeClr val="tx1"/>
                </a:solidFill>
                <a:effectLst/>
                <a:latin typeface="+mn-lt"/>
                <a:ea typeface="+mn-ea"/>
                <a:cs typeface="+mn-cs"/>
              </a:rPr>
              <a:t> parameter. In an AFT model, this represents the </a:t>
            </a:r>
            <a:r>
              <a:rPr lang="en-US" sz="1200" b="1" kern="1200" dirty="0">
                <a:solidFill>
                  <a:schemeClr val="tx1"/>
                </a:solidFill>
                <a:effectLst/>
                <a:latin typeface="+mn-lt"/>
                <a:ea typeface="+mn-ea"/>
                <a:cs typeface="+mn-cs"/>
              </a:rPr>
              <a:t>Log-Time</a:t>
            </a:r>
            <a:r>
              <a:rPr lang="en-US" sz="1200" kern="1200" dirty="0">
                <a:solidFill>
                  <a:schemeClr val="tx1"/>
                </a:solidFill>
                <a:effectLst/>
                <a:latin typeface="+mn-lt"/>
                <a:ea typeface="+mn-ea"/>
                <a:cs typeface="+mn-cs"/>
              </a:rPr>
              <a:t> to failure. If you take $e^\mu$, you get the baseline median survival time (when $Q=0$).</a:t>
            </a:r>
          </a:p>
          <a:p>
            <a:r>
              <a:rPr lang="en-US" sz="1200" b="1" kern="1200" dirty="0">
                <a:solidFill>
                  <a:schemeClr val="tx1"/>
                </a:solidFill>
                <a:effectLst/>
                <a:latin typeface="+mn-lt"/>
                <a:ea typeface="+mn-ea"/>
                <a:cs typeface="+mn-cs"/>
              </a:rPr>
              <a:t>sigma ($\sigma$):</a:t>
            </a:r>
            <a:r>
              <a:rPr lang="en-US" sz="1200" kern="1200" dirty="0">
                <a:solidFill>
                  <a:schemeClr val="tx1"/>
                </a:solidFill>
                <a:effectLst/>
                <a:latin typeface="+mn-lt"/>
                <a:ea typeface="+mn-ea"/>
                <a:cs typeface="+mn-cs"/>
              </a:rPr>
              <a:t> This is the </a:t>
            </a:r>
            <a:r>
              <a:rPr lang="en-US" sz="1200" b="1" kern="1200" dirty="0">
                <a:solidFill>
                  <a:schemeClr val="tx1"/>
                </a:solidFill>
                <a:effectLst/>
                <a:latin typeface="+mn-lt"/>
                <a:ea typeface="+mn-ea"/>
                <a:cs typeface="+mn-cs"/>
              </a:rPr>
              <a:t>Scale</a:t>
            </a:r>
            <a:r>
              <a:rPr lang="en-US" sz="1200" kern="1200" dirty="0">
                <a:solidFill>
                  <a:schemeClr val="tx1"/>
                </a:solidFill>
                <a:effectLst/>
                <a:latin typeface="+mn-lt"/>
                <a:ea typeface="+mn-ea"/>
                <a:cs typeface="+mn-cs"/>
              </a:rPr>
              <a:t> parameter. It describes how "spread out" the survival times are.</a:t>
            </a:r>
          </a:p>
          <a:p>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 This is the </a:t>
            </a:r>
            <a:r>
              <a:rPr lang="en-US" sz="1200" b="1" kern="1200" dirty="0">
                <a:solidFill>
                  <a:schemeClr val="tx1"/>
                </a:solidFill>
                <a:effectLst/>
                <a:latin typeface="+mn-lt"/>
                <a:ea typeface="+mn-ea"/>
                <a:cs typeface="+mn-cs"/>
              </a:rPr>
              <a:t>Shape</a:t>
            </a:r>
            <a:r>
              <a:rPr lang="en-US" sz="1200" kern="1200" dirty="0">
                <a:solidFill>
                  <a:schemeClr val="tx1"/>
                </a:solidFill>
                <a:effectLst/>
                <a:latin typeface="+mn-lt"/>
                <a:ea typeface="+mn-ea"/>
                <a:cs typeface="+mn-cs"/>
              </a:rPr>
              <a:t> parameter. This is the "magic" number that tells you which special case distribution your data follows.</a:t>
            </a:r>
          </a:p>
          <a:p>
            <a:br>
              <a:rPr lang="en-US" dirty="0"/>
            </a:br>
            <a:r>
              <a:rPr lang="en-US" dirty="0"/>
              <a:t>Q = 1 Weibull</a:t>
            </a:r>
          </a:p>
          <a:p>
            <a:r>
              <a:rPr lang="en-US" dirty="0"/>
              <a:t>Q &gt; 0 Gamma-like (risk increases then levels off)</a:t>
            </a:r>
          </a:p>
          <a:p>
            <a:r>
              <a:rPr lang="en-US" dirty="0"/>
              <a:t>Q = 0 Lognormal</a:t>
            </a:r>
          </a:p>
          <a:p>
            <a:r>
              <a:rPr lang="en-US" dirty="0"/>
              <a:t>Q &lt; 0 Inverse Gamma (represents specialized failure patterns)</a:t>
            </a:r>
          </a:p>
          <a:p>
            <a:r>
              <a:rPr lang="en-US" dirty="0"/>
              <a:t>ex</a:t>
            </a:r>
          </a:p>
          <a:p>
            <a:r>
              <a:rPr lang="en-US" dirty="0"/>
              <a:t>Check the 95% Confidence Interval for </a:t>
            </a:r>
            <a:r>
              <a:rPr lang="en-US" b="1" dirty="0"/>
              <a:t>Q</a:t>
            </a:r>
            <a:r>
              <a:rPr lang="en-US" dirty="0"/>
              <a:t>. If the interval contains </a:t>
            </a:r>
            <a:r>
              <a:rPr lang="en-US" b="1" dirty="0"/>
              <a:t>1</a:t>
            </a:r>
            <a:r>
              <a:rPr lang="en-US" dirty="0"/>
              <a:t>, you can statistically justify using a simpler </a:t>
            </a:r>
            <a:r>
              <a:rPr lang="en-US" b="1" dirty="0"/>
              <a:t>Weibull</a:t>
            </a:r>
            <a:r>
              <a:rPr lang="en-US" dirty="0"/>
              <a:t> model. If it contains </a:t>
            </a:r>
            <a:r>
              <a:rPr lang="en-US" b="1" dirty="0"/>
              <a:t>0</a:t>
            </a:r>
            <a:r>
              <a:rPr lang="en-US" dirty="0"/>
              <a:t>, a </a:t>
            </a:r>
            <a:r>
              <a:rPr lang="en-US" b="1" dirty="0"/>
              <a:t>Lognormal</a:t>
            </a:r>
            <a:r>
              <a:rPr lang="en-US" dirty="0"/>
              <a:t> model is appropriate.</a:t>
            </a:r>
          </a:p>
          <a:p>
            <a:endParaRPr lang="en-US" dirty="0"/>
          </a:p>
          <a:p>
            <a:r>
              <a:rPr lang="en-US" sz="1200" b="1" kern="1200" dirty="0">
                <a:solidFill>
                  <a:schemeClr val="tx1"/>
                </a:solidFill>
                <a:effectLst/>
                <a:latin typeface="+mn-lt"/>
                <a:ea typeface="+mn-ea"/>
                <a:cs typeface="+mn-cs"/>
              </a:rPr>
              <a:t>2. The "Q" Litmus Test</a:t>
            </a:r>
          </a:p>
          <a:p>
            <a:r>
              <a:rPr lang="en-US" sz="1200" kern="1200" dirty="0">
                <a:solidFill>
                  <a:schemeClr val="tx1"/>
                </a:solidFill>
                <a:effectLst/>
                <a:latin typeface="+mn-lt"/>
                <a:ea typeface="+mn-ea"/>
                <a:cs typeface="+mn-cs"/>
              </a:rPr>
              <a:t>The value of </a:t>
            </a:r>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 (and its confidence interval) tells you if you can simplify your model:</a:t>
            </a:r>
          </a:p>
          <a:p>
            <a:r>
              <a:rPr lang="en-US" sz="1200" b="1" kern="1200" dirty="0">
                <a:solidFill>
                  <a:schemeClr val="tx1"/>
                </a:solidFill>
                <a:effectLst/>
                <a:latin typeface="+mn-lt"/>
                <a:ea typeface="+mn-ea"/>
                <a:cs typeface="+mn-cs"/>
              </a:rPr>
              <a:t>If Q is...The distribution is...</a:t>
            </a:r>
            <a:r>
              <a:rPr lang="en-US" sz="1200" b="1" kern="1200" dirty="0" err="1">
                <a:solidFill>
                  <a:schemeClr val="tx1"/>
                </a:solidFill>
                <a:effectLst/>
                <a:latin typeface="+mn-lt"/>
                <a:ea typeface="+mn-ea"/>
                <a:cs typeface="+mn-cs"/>
              </a:rPr>
              <a:t>InterpretationQ</a:t>
            </a:r>
            <a:r>
              <a:rPr lang="en-US" sz="1200" b="1" kern="1200" dirty="0">
                <a:solidFill>
                  <a:schemeClr val="tx1"/>
                </a:solidFill>
                <a:effectLst/>
                <a:latin typeface="+mn-lt"/>
                <a:ea typeface="+mn-ea"/>
                <a:cs typeface="+mn-cs"/>
              </a:rPr>
              <a:t> = 1Weibull</a:t>
            </a:r>
            <a:r>
              <a:rPr lang="en-US" sz="1200" kern="1200" dirty="0">
                <a:solidFill>
                  <a:schemeClr val="tx1"/>
                </a:solidFill>
                <a:effectLst/>
                <a:latin typeface="+mn-lt"/>
                <a:ea typeface="+mn-ea"/>
                <a:cs typeface="+mn-cs"/>
              </a:rPr>
              <a:t>Risk changes monotonically (only up or only down).</a:t>
            </a:r>
            <a:r>
              <a:rPr lang="en-US" sz="1200" b="1" kern="1200" dirty="0">
                <a:solidFill>
                  <a:schemeClr val="tx1"/>
                </a:solidFill>
                <a:effectLst/>
                <a:latin typeface="+mn-lt"/>
                <a:ea typeface="+mn-ea"/>
                <a:cs typeface="+mn-cs"/>
              </a:rPr>
              <a:t>Q &gt; 0Gamma-like</a:t>
            </a:r>
            <a:r>
              <a:rPr lang="en-US" sz="1200" kern="1200" dirty="0">
                <a:solidFill>
                  <a:schemeClr val="tx1"/>
                </a:solidFill>
                <a:effectLst/>
                <a:latin typeface="+mn-lt"/>
                <a:ea typeface="+mn-ea"/>
                <a:cs typeface="+mn-cs"/>
              </a:rPr>
              <a:t>The hazard typically increases then levels </a:t>
            </a:r>
            <a:r>
              <a:rPr lang="en-US" sz="1200" kern="1200" dirty="0" err="1">
                <a:solidFill>
                  <a:schemeClr val="tx1"/>
                </a:solidFill>
                <a:effectLst/>
                <a:latin typeface="+mn-lt"/>
                <a:ea typeface="+mn-ea"/>
                <a:cs typeface="+mn-cs"/>
              </a:rPr>
              <a:t>off.</a:t>
            </a:r>
            <a:r>
              <a:rPr lang="en-US" sz="1200" b="1" kern="1200" dirty="0" err="1">
                <a:solidFill>
                  <a:schemeClr val="tx1"/>
                </a:solidFill>
                <a:effectLst/>
                <a:latin typeface="+mn-lt"/>
                <a:ea typeface="+mn-ea"/>
                <a:cs typeface="+mn-cs"/>
              </a:rPr>
              <a:t>Q</a:t>
            </a:r>
            <a:r>
              <a:rPr lang="en-US" sz="1200" b="1" kern="1200" dirty="0">
                <a:solidFill>
                  <a:schemeClr val="tx1"/>
                </a:solidFill>
                <a:effectLst/>
                <a:latin typeface="+mn-lt"/>
                <a:ea typeface="+mn-ea"/>
                <a:cs typeface="+mn-cs"/>
              </a:rPr>
              <a:t> = 0Lognormal</a:t>
            </a:r>
            <a:r>
              <a:rPr lang="en-US" sz="1200" kern="1200" dirty="0">
                <a:solidFill>
                  <a:schemeClr val="tx1"/>
                </a:solidFill>
                <a:effectLst/>
                <a:latin typeface="+mn-lt"/>
                <a:ea typeface="+mn-ea"/>
                <a:cs typeface="+mn-cs"/>
              </a:rPr>
              <a:t>The hazard usually rises to a peak and then declines (hump-shaped).</a:t>
            </a:r>
            <a:r>
              <a:rPr lang="en-US" sz="1200" b="1" kern="1200" dirty="0">
                <a:solidFill>
                  <a:schemeClr val="tx1"/>
                </a:solidFill>
                <a:effectLst/>
                <a:latin typeface="+mn-lt"/>
                <a:ea typeface="+mn-ea"/>
                <a:cs typeface="+mn-cs"/>
              </a:rPr>
              <a:t>Q &lt; 0Inverse </a:t>
            </a:r>
            <a:r>
              <a:rPr lang="en-US" sz="1200" b="1" kern="1200" dirty="0" err="1">
                <a:solidFill>
                  <a:schemeClr val="tx1"/>
                </a:solidFill>
                <a:effectLst/>
                <a:latin typeface="+mn-lt"/>
                <a:ea typeface="+mn-ea"/>
                <a:cs typeface="+mn-cs"/>
              </a:rPr>
              <a:t>Gamma</a:t>
            </a:r>
            <a:r>
              <a:rPr lang="en-US" sz="1200" kern="1200" dirty="0" err="1">
                <a:solidFill>
                  <a:schemeClr val="tx1"/>
                </a:solidFill>
                <a:effectLst/>
                <a:latin typeface="+mn-lt"/>
                <a:ea typeface="+mn-ea"/>
                <a:cs typeface="+mn-cs"/>
              </a:rPr>
              <a:t>Represents</a:t>
            </a:r>
            <a:r>
              <a:rPr lang="en-US" sz="1200" kern="1200" dirty="0">
                <a:solidFill>
                  <a:schemeClr val="tx1"/>
                </a:solidFill>
                <a:effectLst/>
                <a:latin typeface="+mn-lt"/>
                <a:ea typeface="+mn-ea"/>
                <a:cs typeface="+mn-cs"/>
              </a:rPr>
              <a:t> specialized failure patterns (rare in congee/food data).</a:t>
            </a:r>
          </a:p>
          <a:p>
            <a:r>
              <a:rPr lang="en-US" sz="1200" b="1" kern="1200" dirty="0">
                <a:solidFill>
                  <a:schemeClr val="tx1"/>
                </a:solidFill>
                <a:effectLst/>
                <a:latin typeface="+mn-lt"/>
                <a:ea typeface="+mn-ea"/>
                <a:cs typeface="+mn-cs"/>
              </a:rPr>
              <a:t>Pro-Tip:</a:t>
            </a:r>
            <a:r>
              <a:rPr lang="en-US" sz="1200" kern="1200" dirty="0">
                <a:solidFill>
                  <a:schemeClr val="tx1"/>
                </a:solidFill>
                <a:effectLst/>
                <a:latin typeface="+mn-lt"/>
                <a:ea typeface="+mn-ea"/>
                <a:cs typeface="+mn-cs"/>
              </a:rPr>
              <a:t> Check the 95% Confidence Interval for </a:t>
            </a:r>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 If the interval contains </a:t>
            </a:r>
            <a:r>
              <a:rPr lang="en-US" sz="1200" b="1" kern="12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you can statistically justify using a simpler </a:t>
            </a:r>
            <a:r>
              <a:rPr lang="en-US" sz="1200" b="1" kern="1200" dirty="0">
                <a:solidFill>
                  <a:schemeClr val="tx1"/>
                </a:solidFill>
                <a:effectLst/>
                <a:latin typeface="+mn-lt"/>
                <a:ea typeface="+mn-ea"/>
                <a:cs typeface="+mn-cs"/>
              </a:rPr>
              <a:t>Weibull</a:t>
            </a:r>
            <a:r>
              <a:rPr lang="en-US" sz="1200" kern="1200" dirty="0">
                <a:solidFill>
                  <a:schemeClr val="tx1"/>
                </a:solidFill>
                <a:effectLst/>
                <a:latin typeface="+mn-lt"/>
                <a:ea typeface="+mn-ea"/>
                <a:cs typeface="+mn-cs"/>
              </a:rPr>
              <a:t> model. If it contains </a:t>
            </a:r>
            <a:r>
              <a:rPr lang="en-US" sz="1200" b="1" kern="1200" dirty="0">
                <a:solidFill>
                  <a:schemeClr val="tx1"/>
                </a:solidFill>
                <a:effectLst/>
                <a:latin typeface="+mn-lt"/>
                <a:ea typeface="+mn-ea"/>
                <a:cs typeface="+mn-cs"/>
              </a:rPr>
              <a:t>0</a:t>
            </a:r>
            <a:r>
              <a:rPr lang="en-US" sz="1200" kern="1200" dirty="0">
                <a:solidFill>
                  <a:schemeClr val="tx1"/>
                </a:solidFill>
                <a:effectLst/>
                <a:latin typeface="+mn-lt"/>
                <a:ea typeface="+mn-ea"/>
                <a:cs typeface="+mn-cs"/>
              </a:rPr>
              <a:t>, a </a:t>
            </a:r>
            <a:r>
              <a:rPr lang="en-US" sz="1200" b="1" kern="1200" dirty="0">
                <a:solidFill>
                  <a:schemeClr val="tx1"/>
                </a:solidFill>
                <a:effectLst/>
                <a:latin typeface="+mn-lt"/>
                <a:ea typeface="+mn-ea"/>
                <a:cs typeface="+mn-cs"/>
              </a:rPr>
              <a:t>Lognormal</a:t>
            </a:r>
            <a:r>
              <a:rPr lang="en-US" sz="1200" kern="1200" dirty="0">
                <a:solidFill>
                  <a:schemeClr val="tx1"/>
                </a:solidFill>
                <a:effectLst/>
                <a:latin typeface="+mn-lt"/>
                <a:ea typeface="+mn-ea"/>
                <a:cs typeface="+mn-cs"/>
              </a:rPr>
              <a:t> model is appropriate.</a:t>
            </a:r>
          </a:p>
          <a:p>
            <a:br>
              <a:rPr lang="en-US" dirty="0"/>
            </a:br>
            <a:endParaRPr lang="en-US" dirty="0"/>
          </a:p>
          <a:p>
            <a:r>
              <a:rPr lang="en-US" sz="1200" b="1" kern="1200" dirty="0">
                <a:solidFill>
                  <a:schemeClr val="tx1"/>
                </a:solidFill>
                <a:effectLst/>
                <a:latin typeface="+mn-lt"/>
                <a:ea typeface="+mn-ea"/>
                <a:cs typeface="+mn-cs"/>
              </a:rPr>
              <a:t>3. Interpreting Covariate Coefficients ($\beta$)</a:t>
            </a:r>
          </a:p>
          <a:p>
            <a:r>
              <a:rPr lang="en-US" sz="1200" kern="1200" dirty="0">
                <a:solidFill>
                  <a:schemeClr val="tx1"/>
                </a:solidFill>
                <a:effectLst/>
                <a:latin typeface="+mn-lt"/>
                <a:ea typeface="+mn-ea"/>
                <a:cs typeface="+mn-cs"/>
              </a:rPr>
              <a:t>Unlike the standard Gamma model in </a:t>
            </a:r>
            <a:r>
              <a:rPr lang="en-US" sz="1200" kern="1200" dirty="0" err="1">
                <a:solidFill>
                  <a:schemeClr val="tx1"/>
                </a:solidFill>
                <a:effectLst/>
                <a:latin typeface="+mn-lt"/>
                <a:ea typeface="+mn-ea"/>
                <a:cs typeface="+mn-cs"/>
              </a:rPr>
              <a:t>flexsurv</a:t>
            </a:r>
            <a:r>
              <a:rPr lang="en-US" sz="1200" kern="1200" dirty="0">
                <a:solidFill>
                  <a:schemeClr val="tx1"/>
                </a:solidFill>
                <a:effectLst/>
                <a:latin typeface="+mn-lt"/>
                <a:ea typeface="+mn-ea"/>
                <a:cs typeface="+mn-cs"/>
              </a:rPr>
              <a:t> (where coefficients act on the </a:t>
            </a:r>
            <a:r>
              <a:rPr lang="en-US" sz="1200" i="1" kern="1200" dirty="0">
                <a:solidFill>
                  <a:schemeClr val="tx1"/>
                </a:solidFill>
                <a:effectLst/>
                <a:latin typeface="+mn-lt"/>
                <a:ea typeface="+mn-ea"/>
                <a:cs typeface="+mn-cs"/>
              </a:rPr>
              <a:t>rate</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Generalised</a:t>
            </a:r>
            <a:r>
              <a:rPr lang="en-US" sz="1200" kern="1200" dirty="0">
                <a:solidFill>
                  <a:schemeClr val="tx1"/>
                </a:solidFill>
                <a:effectLst/>
                <a:latin typeface="+mn-lt"/>
                <a:ea typeface="+mn-ea"/>
                <a:cs typeface="+mn-cs"/>
              </a:rPr>
              <a:t> Gamma coefficients act directly on </a:t>
            </a:r>
            <a:r>
              <a:rPr lang="en-US" sz="1200" b="1" kern="1200" dirty="0">
                <a:solidFill>
                  <a:schemeClr val="tx1"/>
                </a:solidFill>
                <a:effectLst/>
                <a:latin typeface="+mn-lt"/>
                <a:ea typeface="+mn-ea"/>
                <a:cs typeface="+mn-cs"/>
              </a:rPr>
              <a:t>mu ($\mu$)</a:t>
            </a:r>
            <a:r>
              <a:rPr lang="en-US" sz="1200" kern="1200" dirty="0">
                <a:solidFill>
                  <a:schemeClr val="tx1"/>
                </a:solidFill>
                <a:effectLst/>
                <a:latin typeface="+mn-lt"/>
                <a:ea typeface="+mn-ea"/>
                <a:cs typeface="+mn-cs"/>
              </a:rPr>
              <a:t>, which is the </a:t>
            </a:r>
            <a:r>
              <a:rPr lang="en-US" sz="1200" b="1" kern="1200" dirty="0">
                <a:solidFill>
                  <a:schemeClr val="tx1"/>
                </a:solidFill>
                <a:effectLst/>
                <a:latin typeface="+mn-lt"/>
                <a:ea typeface="+mn-ea"/>
                <a:cs typeface="+mn-cs"/>
              </a:rPr>
              <a:t>log-time</a:t>
            </a:r>
            <a:r>
              <a:rPr lang="en-US" sz="1200" kern="1200" dirty="0">
                <a:solidFill>
                  <a:schemeClr val="tx1"/>
                </a:solidFill>
                <a:effectLst/>
                <a:latin typeface="+mn-lt"/>
                <a:ea typeface="+mn-ea"/>
                <a:cs typeface="+mn-cs"/>
              </a:rPr>
              <a:t> scale.</a:t>
            </a:r>
          </a:p>
          <a:p>
            <a:r>
              <a:rPr lang="en-US" sz="1200" kern="1200" dirty="0">
                <a:solidFill>
                  <a:schemeClr val="tx1"/>
                </a:solidFill>
                <a:effectLst/>
                <a:latin typeface="+mn-lt"/>
                <a:ea typeface="+mn-ea"/>
                <a:cs typeface="+mn-cs"/>
              </a:rPr>
              <a:t>This makes interpretation much simpler:</a:t>
            </a:r>
          </a:p>
          <a:p>
            <a:r>
              <a:rPr lang="en-US" sz="1200" b="1" kern="1200" dirty="0">
                <a:solidFill>
                  <a:schemeClr val="tx1"/>
                </a:solidFill>
                <a:effectLst/>
                <a:latin typeface="+mn-lt"/>
                <a:ea typeface="+mn-ea"/>
                <a:cs typeface="+mn-cs"/>
              </a:rPr>
              <a:t>Positive Coefficient ($\beta &gt; 0$):</a:t>
            </a:r>
            <a:r>
              <a:rPr lang="en-US" sz="1200" kern="1200" dirty="0">
                <a:solidFill>
                  <a:schemeClr val="tx1"/>
                </a:solidFill>
                <a:effectLst/>
                <a:latin typeface="+mn-lt"/>
                <a:ea typeface="+mn-ea"/>
                <a:cs typeface="+mn-cs"/>
              </a:rPr>
              <a:t> Increases $\mu$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Increases survival time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Good</a:t>
            </a:r>
            <a:r>
              <a:rPr lang="en-US" sz="1200" kern="1200" dirty="0">
                <a:solidFill>
                  <a:schemeClr val="tx1"/>
                </a:solidFill>
                <a:effectLst/>
                <a:latin typeface="+mn-lt"/>
                <a:ea typeface="+mn-ea"/>
                <a:cs typeface="+mn-cs"/>
              </a:rPr>
              <a:t> (e.g., a preservative that delays spoilage).</a:t>
            </a:r>
          </a:p>
          <a:p>
            <a:r>
              <a:rPr lang="en-US" sz="1200" b="1" kern="1200" dirty="0">
                <a:solidFill>
                  <a:schemeClr val="tx1"/>
                </a:solidFill>
                <a:effectLst/>
                <a:latin typeface="+mn-lt"/>
                <a:ea typeface="+mn-ea"/>
                <a:cs typeface="+mn-cs"/>
              </a:rPr>
              <a:t>Negative Coefficient ($\beta &lt; 0$):</a:t>
            </a:r>
            <a:r>
              <a:rPr lang="en-US" sz="1200" kern="1200" dirty="0">
                <a:solidFill>
                  <a:schemeClr val="tx1"/>
                </a:solidFill>
                <a:effectLst/>
                <a:latin typeface="+mn-lt"/>
                <a:ea typeface="+mn-ea"/>
                <a:cs typeface="+mn-cs"/>
              </a:rPr>
              <a:t> Decreases $\mu$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Decreases survival time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Bad</a:t>
            </a:r>
            <a:r>
              <a:rPr lang="en-US" sz="1200" kern="1200" dirty="0">
                <a:solidFill>
                  <a:schemeClr val="tx1"/>
                </a:solidFill>
                <a:effectLst/>
                <a:latin typeface="+mn-lt"/>
                <a:ea typeface="+mn-ea"/>
                <a:cs typeface="+mn-cs"/>
              </a:rPr>
              <a:t> (e.g., higher storage temperature).</a:t>
            </a:r>
          </a:p>
          <a:p>
            <a:r>
              <a:rPr lang="en-US" sz="1200" b="1" kern="1200" dirty="0">
                <a:solidFill>
                  <a:schemeClr val="tx1"/>
                </a:solidFill>
                <a:effectLst/>
                <a:latin typeface="+mn-lt"/>
                <a:ea typeface="+mn-ea"/>
                <a:cs typeface="+mn-cs"/>
              </a:rPr>
              <a:t>Calculating the Time Ratio (TR):</a:t>
            </a:r>
          </a:p>
          <a:p>
            <a:r>
              <a:rPr lang="en-US" sz="1200" kern="1200" dirty="0">
                <a:solidFill>
                  <a:schemeClr val="tx1"/>
                </a:solidFill>
                <a:effectLst/>
                <a:latin typeface="+mn-lt"/>
                <a:ea typeface="+mn-ea"/>
                <a:cs typeface="+mn-cs"/>
              </a:rPr>
              <a:t>For the GGD in </a:t>
            </a:r>
            <a:r>
              <a:rPr lang="en-US" sz="1200" kern="1200" dirty="0" err="1">
                <a:solidFill>
                  <a:schemeClr val="tx1"/>
                </a:solidFill>
                <a:effectLst/>
                <a:latin typeface="+mn-lt"/>
                <a:ea typeface="+mn-ea"/>
                <a:cs typeface="+mn-cs"/>
              </a:rPr>
              <a:t>flexsurv</a:t>
            </a:r>
            <a:r>
              <a:rPr lang="en-US" sz="1200" kern="1200" dirty="0">
                <a:solidFill>
                  <a:schemeClr val="tx1"/>
                </a:solidFill>
                <a:effectLst/>
                <a:latin typeface="+mn-lt"/>
                <a:ea typeface="+mn-ea"/>
                <a:cs typeface="+mn-cs"/>
              </a:rPr>
              <a:t>, the Time Ratio is simply:</a:t>
            </a:r>
          </a:p>
          <a:p>
            <a:r>
              <a:rPr lang="en-US" sz="1200" kern="1200" dirty="0">
                <a:solidFill>
                  <a:schemeClr val="tx1"/>
                </a:solidFill>
                <a:effectLst/>
                <a:latin typeface="+mn-lt"/>
                <a:ea typeface="+mn-ea"/>
                <a:cs typeface="+mn-cs"/>
              </a:rPr>
              <a:t>$$TR = e^\beta$$</a:t>
            </a:r>
          </a:p>
          <a:p>
            <a:r>
              <a:rPr lang="en-US" sz="1200" kern="1200" dirty="0">
                <a:solidFill>
                  <a:schemeClr val="tx1"/>
                </a:solidFill>
                <a:effectLst/>
                <a:latin typeface="+mn-lt"/>
                <a:ea typeface="+mn-ea"/>
                <a:cs typeface="+mn-cs"/>
              </a:rPr>
              <a:t>(Note: You do not need to flip the sign to negative as you do with the standard Gamma/Rate model).</a:t>
            </a:r>
          </a:p>
          <a:p>
            <a:br>
              <a:rPr lang="en-US" dirty="0"/>
            </a:br>
            <a:endParaRPr lang="en-US" dirty="0"/>
          </a:p>
          <a:p>
            <a:r>
              <a:rPr lang="en-US" sz="1200" b="1" kern="1200" dirty="0">
                <a:solidFill>
                  <a:schemeClr val="tx1"/>
                </a:solidFill>
                <a:effectLst/>
                <a:latin typeface="+mn-lt"/>
                <a:ea typeface="+mn-ea"/>
                <a:cs typeface="+mn-cs"/>
              </a:rPr>
              <a:t>4. Practical Example</a:t>
            </a:r>
          </a:p>
          <a:p>
            <a:r>
              <a:rPr lang="en-US" sz="1200" kern="1200" dirty="0">
                <a:solidFill>
                  <a:schemeClr val="tx1"/>
                </a:solidFill>
                <a:effectLst/>
                <a:latin typeface="+mn-lt"/>
                <a:ea typeface="+mn-ea"/>
                <a:cs typeface="+mn-cs"/>
              </a:rPr>
              <a:t>Imagine your output shows a coefficient for temperature of </a:t>
            </a:r>
            <a:r>
              <a:rPr lang="en-US" sz="1200" b="1" kern="1200" dirty="0">
                <a:solidFill>
                  <a:schemeClr val="tx1"/>
                </a:solidFill>
                <a:effectLst/>
                <a:latin typeface="+mn-lt"/>
                <a:ea typeface="+mn-ea"/>
                <a:cs typeface="+mn-cs"/>
              </a:rPr>
              <a:t>-0.5</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Calculate TR:</a:t>
            </a:r>
            <a:r>
              <a:rPr lang="en-US" sz="1200" kern="1200" dirty="0">
                <a:solidFill>
                  <a:schemeClr val="tx1"/>
                </a:solidFill>
                <a:effectLst/>
                <a:latin typeface="+mn-lt"/>
                <a:ea typeface="+mn-ea"/>
                <a:cs typeface="+mn-cs"/>
              </a:rPr>
              <a:t> $e^{-0.5} \</a:t>
            </a:r>
            <a:r>
              <a:rPr lang="en-US" sz="1200" kern="1200" dirty="0" err="1">
                <a:solidFill>
                  <a:schemeClr val="tx1"/>
                </a:solidFill>
                <a:effectLst/>
                <a:latin typeface="+mn-lt"/>
                <a:ea typeface="+mn-ea"/>
                <a:cs typeface="+mn-cs"/>
              </a:rPr>
              <a:t>approx</a:t>
            </a:r>
            <a:r>
              <a:rPr lang="en-US" sz="1200" kern="1200" dirty="0">
                <a:solidFill>
                  <a:schemeClr val="tx1"/>
                </a:solidFill>
                <a:effectLst/>
                <a:latin typeface="+mn-lt"/>
                <a:ea typeface="+mn-ea"/>
                <a:cs typeface="+mn-cs"/>
              </a:rPr>
              <a:t> 0.61$.</a:t>
            </a:r>
          </a:p>
          <a:p>
            <a:r>
              <a:rPr lang="en-US" sz="1200" b="1" kern="1200" dirty="0">
                <a:solidFill>
                  <a:schemeClr val="tx1"/>
                </a:solidFill>
                <a:effectLst/>
                <a:latin typeface="+mn-lt"/>
                <a:ea typeface="+mn-ea"/>
                <a:cs typeface="+mn-cs"/>
              </a:rPr>
              <a:t>Interpretation:</a:t>
            </a:r>
            <a:r>
              <a:rPr lang="en-US" sz="1200" kern="1200" dirty="0">
                <a:solidFill>
                  <a:schemeClr val="tx1"/>
                </a:solidFill>
                <a:effectLst/>
                <a:latin typeface="+mn-lt"/>
                <a:ea typeface="+mn-ea"/>
                <a:cs typeface="+mn-cs"/>
              </a:rPr>
              <a:t> For every 1-unit increase in temperature, the time until the event occurs is reduced to </a:t>
            </a:r>
            <a:r>
              <a:rPr lang="en-US" sz="1200" b="1" kern="1200" dirty="0">
                <a:solidFill>
                  <a:schemeClr val="tx1"/>
                </a:solidFill>
                <a:effectLst/>
                <a:latin typeface="+mn-lt"/>
                <a:ea typeface="+mn-ea"/>
                <a:cs typeface="+mn-cs"/>
              </a:rPr>
              <a:t>61%</a:t>
            </a:r>
            <a:r>
              <a:rPr lang="en-US" sz="1200" kern="1200" dirty="0">
                <a:solidFill>
                  <a:schemeClr val="tx1"/>
                </a:solidFill>
                <a:effectLst/>
                <a:latin typeface="+mn-lt"/>
                <a:ea typeface="+mn-ea"/>
                <a:cs typeface="+mn-cs"/>
              </a:rPr>
              <a:t> of the original time. Time is being "compressed" or accelerated.</a:t>
            </a:r>
          </a:p>
          <a:p>
            <a:br>
              <a:rPr lang="en-US" dirty="0"/>
            </a:br>
            <a:endParaRPr lang="en-US" dirty="0"/>
          </a:p>
          <a:p>
            <a:r>
              <a:rPr lang="en-US" sz="1200" b="1" kern="1200" dirty="0">
                <a:solidFill>
                  <a:schemeClr val="tx1"/>
                </a:solidFill>
                <a:effectLst/>
                <a:latin typeface="+mn-lt"/>
                <a:ea typeface="+mn-ea"/>
                <a:cs typeface="+mn-cs"/>
              </a:rPr>
              <a:t>5. Summary Table for Your Report</a:t>
            </a:r>
          </a:p>
          <a:p>
            <a:r>
              <a:rPr lang="en-US" sz="1200" kern="1200" dirty="0">
                <a:solidFill>
                  <a:schemeClr val="tx1"/>
                </a:solidFill>
                <a:effectLst/>
                <a:latin typeface="+mn-lt"/>
                <a:ea typeface="+mn-ea"/>
                <a:cs typeface="+mn-cs"/>
              </a:rPr>
              <a:t>When writing up your results, you can present a table like this:</a:t>
            </a:r>
          </a:p>
          <a:p>
            <a:r>
              <a:rPr lang="en-US" sz="1200" b="1" kern="1200" dirty="0" err="1">
                <a:solidFill>
                  <a:schemeClr val="tx1"/>
                </a:solidFill>
                <a:effectLst/>
                <a:latin typeface="+mn-lt"/>
                <a:ea typeface="+mn-ea"/>
                <a:cs typeface="+mn-cs"/>
              </a:rPr>
              <a:t>ParameterEstimateTransformationInterpretationmu</a:t>
            </a:r>
            <a:r>
              <a:rPr lang="en-US" sz="1200" b="1" kern="1200" dirty="0">
                <a:solidFill>
                  <a:schemeClr val="tx1"/>
                </a:solidFill>
                <a:effectLst/>
                <a:latin typeface="+mn-lt"/>
                <a:ea typeface="+mn-ea"/>
                <a:cs typeface="+mn-cs"/>
              </a:rPr>
              <a:t> ($\mu$)</a:t>
            </a:r>
            <a:r>
              <a:rPr lang="en-US" sz="1200" kern="1200" dirty="0">
                <a:solidFill>
                  <a:schemeClr val="tx1"/>
                </a:solidFill>
                <a:effectLst/>
                <a:latin typeface="+mn-lt"/>
                <a:ea typeface="+mn-ea"/>
                <a:cs typeface="+mn-cs"/>
              </a:rPr>
              <a:t>2.10$e^{2.10} = 8.16$Baseline "typical" survival time is 8.16 </a:t>
            </a:r>
            <a:r>
              <a:rPr lang="en-US" sz="1200" kern="1200" dirty="0" err="1">
                <a:solidFill>
                  <a:schemeClr val="tx1"/>
                </a:solidFill>
                <a:effectLst/>
                <a:latin typeface="+mn-lt"/>
                <a:ea typeface="+mn-ea"/>
                <a:cs typeface="+mn-cs"/>
              </a:rPr>
              <a:t>units.</a:t>
            </a:r>
            <a:r>
              <a:rPr lang="en-US" sz="1200" b="1" kern="1200" dirty="0" err="1">
                <a:solidFill>
                  <a:schemeClr val="tx1"/>
                </a:solidFill>
                <a:effectLst/>
                <a:latin typeface="+mn-lt"/>
                <a:ea typeface="+mn-ea"/>
                <a:cs typeface="+mn-cs"/>
              </a:rPr>
              <a:t>sigma</a:t>
            </a:r>
            <a:r>
              <a:rPr lang="en-US" sz="1200" b="1" kern="1200" dirty="0">
                <a:solidFill>
                  <a:schemeClr val="tx1"/>
                </a:solidFill>
                <a:effectLst/>
                <a:latin typeface="+mn-lt"/>
                <a:ea typeface="+mn-ea"/>
                <a:cs typeface="+mn-cs"/>
              </a:rPr>
              <a:t> ($\sigma$)</a:t>
            </a:r>
            <a:r>
              <a:rPr lang="en-US" sz="1200" kern="1200" dirty="0">
                <a:solidFill>
                  <a:schemeClr val="tx1"/>
                </a:solidFill>
                <a:effectLst/>
                <a:latin typeface="+mn-lt"/>
                <a:ea typeface="+mn-ea"/>
                <a:cs typeface="+mn-cs"/>
              </a:rPr>
              <a:t>0.45—Measure of the variance/spread of failure times.</a:t>
            </a:r>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0.92—Close to 1; suggests the data is nearly </a:t>
            </a:r>
            <a:r>
              <a:rPr lang="en-US" sz="1200" kern="1200" dirty="0" err="1">
                <a:solidFill>
                  <a:schemeClr val="tx1"/>
                </a:solidFill>
                <a:effectLst/>
                <a:latin typeface="+mn-lt"/>
                <a:ea typeface="+mn-ea"/>
                <a:cs typeface="+mn-cs"/>
              </a:rPr>
              <a:t>Weibull.</a:t>
            </a:r>
            <a:r>
              <a:rPr lang="en-US" sz="1200" b="1" kern="1200" dirty="0" err="1">
                <a:solidFill>
                  <a:schemeClr val="tx1"/>
                </a:solidFill>
                <a:effectLst/>
                <a:latin typeface="+mn-lt"/>
                <a:ea typeface="+mn-ea"/>
                <a:cs typeface="+mn-cs"/>
              </a:rPr>
              <a:t>Covariate</a:t>
            </a:r>
            <a:r>
              <a:rPr lang="en-US" sz="1200" b="1" kern="1200" dirty="0">
                <a:solidFill>
                  <a:schemeClr val="tx1"/>
                </a:solidFill>
                <a:effectLst/>
                <a:latin typeface="+mn-lt"/>
                <a:ea typeface="+mn-ea"/>
                <a:cs typeface="+mn-cs"/>
              </a:rPr>
              <a:t> ($\beta$)</a:t>
            </a:r>
            <a:r>
              <a:rPr lang="en-US" sz="1200" kern="1200" dirty="0">
                <a:solidFill>
                  <a:schemeClr val="tx1"/>
                </a:solidFill>
                <a:effectLst/>
                <a:latin typeface="+mn-lt"/>
                <a:ea typeface="+mn-ea"/>
                <a:cs typeface="+mn-cs"/>
              </a:rPr>
              <a:t>0.30$e^{0.30} = 1.35$Group survives </a:t>
            </a:r>
            <a:r>
              <a:rPr lang="en-US" sz="1200" b="1" kern="1200" dirty="0">
                <a:solidFill>
                  <a:schemeClr val="tx1"/>
                </a:solidFill>
                <a:effectLst/>
                <a:latin typeface="+mn-lt"/>
                <a:ea typeface="+mn-ea"/>
                <a:cs typeface="+mn-cs"/>
              </a:rPr>
              <a:t>35% longer</a:t>
            </a:r>
            <a:r>
              <a:rPr lang="en-US" sz="1200" kern="1200" dirty="0">
                <a:solidFill>
                  <a:schemeClr val="tx1"/>
                </a:solidFill>
                <a:effectLst/>
                <a:latin typeface="+mn-lt"/>
                <a:ea typeface="+mn-ea"/>
                <a:cs typeface="+mn-cs"/>
              </a:rPr>
              <a:t> than the reference.</a:t>
            </a:r>
          </a:p>
          <a:p>
            <a:r>
              <a:rPr lang="en-US" sz="1200" b="1" kern="1200" dirty="0">
                <a:solidFill>
                  <a:schemeClr val="tx1"/>
                </a:solidFill>
                <a:effectLst/>
                <a:latin typeface="+mn-lt"/>
                <a:ea typeface="+mn-ea"/>
                <a:cs typeface="+mn-cs"/>
              </a:rPr>
              <a:t>Would you like me to show you how to use the </a:t>
            </a:r>
            <a:r>
              <a:rPr lang="en-US" sz="1200" b="1" kern="1200" dirty="0" err="1">
                <a:solidFill>
                  <a:schemeClr val="tx1"/>
                </a:solidFill>
                <a:effectLst/>
                <a:latin typeface="+mn-lt"/>
                <a:ea typeface="+mn-ea"/>
                <a:cs typeface="+mn-cs"/>
              </a:rPr>
              <a:t>pp_gengamma</a:t>
            </a:r>
            <a:r>
              <a:rPr lang="en-US" sz="1200" b="1" kern="1200" dirty="0">
                <a:solidFill>
                  <a:schemeClr val="tx1"/>
                </a:solidFill>
                <a:effectLst/>
                <a:latin typeface="+mn-lt"/>
                <a:ea typeface="+mn-ea"/>
                <a:cs typeface="+mn-cs"/>
              </a:rPr>
              <a:t>() function to check if the Prentice "Q" parameter in your model actually fits the shape of your raw data points?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B65178FA-CC0C-5115-F2A8-D268F77FA428}"/>
              </a:ext>
            </a:extLst>
          </p:cNvPr>
          <p:cNvSpPr>
            <a:spLocks noGrp="1"/>
          </p:cNvSpPr>
          <p:nvPr>
            <p:ph type="sldNum" sz="quarter" idx="5"/>
          </p:nvPr>
        </p:nvSpPr>
        <p:spPr/>
        <p:txBody>
          <a:bodyPr/>
          <a:lstStyle/>
          <a:p>
            <a:fld id="{7B61BF14-442A-4806-9528-3CAE044062F5}" type="slidenum">
              <a:rPr lang="en-AU" smtClean="0"/>
              <a:t>88</a:t>
            </a:fld>
            <a:endParaRPr lang="en-AU"/>
          </a:p>
        </p:txBody>
      </p:sp>
    </p:spTree>
    <p:extLst>
      <p:ext uri="{BB962C8B-B14F-4D97-AF65-F5344CB8AC3E}">
        <p14:creationId xmlns:p14="http://schemas.microsoft.com/office/powerpoint/2010/main" val="42164801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031D9-FE6C-1A1A-8740-9A4D590BE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3C2C2-D70C-1F27-4349-5B527AF50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4EC46-385A-F62E-8139-AA11CD507BD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F600E48-348E-C5E9-72BE-15DC98FC26BF}"/>
              </a:ext>
            </a:extLst>
          </p:cNvPr>
          <p:cNvSpPr>
            <a:spLocks noGrp="1"/>
          </p:cNvSpPr>
          <p:nvPr>
            <p:ph type="sldNum" sz="quarter" idx="5"/>
          </p:nvPr>
        </p:nvSpPr>
        <p:spPr/>
        <p:txBody>
          <a:bodyPr/>
          <a:lstStyle/>
          <a:p>
            <a:fld id="{7B61BF14-442A-4806-9528-3CAE044062F5}" type="slidenum">
              <a:rPr lang="en-AU" smtClean="0"/>
              <a:t>89</a:t>
            </a:fld>
            <a:endParaRPr lang="en-AU"/>
          </a:p>
        </p:txBody>
      </p:sp>
    </p:spTree>
    <p:extLst>
      <p:ext uri="{BB962C8B-B14F-4D97-AF65-F5344CB8AC3E}">
        <p14:creationId xmlns:p14="http://schemas.microsoft.com/office/powerpoint/2010/main" val="382986855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185E4-3E8D-138E-17D0-18C9D9BA4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A1D80-FA00-E224-5403-72E7E836B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CD82D-56B5-3B84-1EA5-474DD7F8A64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DC86540-8CB3-B9F6-B2F3-478375C1BD00}"/>
              </a:ext>
            </a:extLst>
          </p:cNvPr>
          <p:cNvSpPr>
            <a:spLocks noGrp="1"/>
          </p:cNvSpPr>
          <p:nvPr>
            <p:ph type="sldNum" sz="quarter" idx="5"/>
          </p:nvPr>
        </p:nvSpPr>
        <p:spPr/>
        <p:txBody>
          <a:bodyPr/>
          <a:lstStyle/>
          <a:p>
            <a:fld id="{7B61BF14-442A-4806-9528-3CAE044062F5}" type="slidenum">
              <a:rPr lang="en-AU" smtClean="0"/>
              <a:t>90</a:t>
            </a:fld>
            <a:endParaRPr lang="en-AU"/>
          </a:p>
        </p:txBody>
      </p:sp>
    </p:spTree>
    <p:extLst>
      <p:ext uri="{BB962C8B-B14F-4D97-AF65-F5344CB8AC3E}">
        <p14:creationId xmlns:p14="http://schemas.microsoft.com/office/powerpoint/2010/main" val="312687420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41C2-8C29-A9F5-C419-FF78814D1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66B94-872A-73DA-386E-D3A8F2D4A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7A4CB-CF5E-F5B1-A4A3-0A9D99AB531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E8DBF58-5B74-713D-4D10-EA82DF396422}"/>
              </a:ext>
            </a:extLst>
          </p:cNvPr>
          <p:cNvSpPr>
            <a:spLocks noGrp="1"/>
          </p:cNvSpPr>
          <p:nvPr>
            <p:ph type="sldNum" sz="quarter" idx="5"/>
          </p:nvPr>
        </p:nvSpPr>
        <p:spPr/>
        <p:txBody>
          <a:bodyPr/>
          <a:lstStyle/>
          <a:p>
            <a:fld id="{7B61BF14-442A-4806-9528-3CAE044062F5}" type="slidenum">
              <a:rPr lang="en-AU" smtClean="0"/>
              <a:t>91</a:t>
            </a:fld>
            <a:endParaRPr lang="en-AU"/>
          </a:p>
        </p:txBody>
      </p:sp>
    </p:spTree>
    <p:extLst>
      <p:ext uri="{BB962C8B-B14F-4D97-AF65-F5344CB8AC3E}">
        <p14:creationId xmlns:p14="http://schemas.microsoft.com/office/powerpoint/2010/main" val="41222448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30A26-5243-7BEE-ADAE-F1F3AA602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A9B85-0E95-972D-3092-0379EFF71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BFBFA-F67D-D5E1-FBDB-1A1E51E5C0B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00CA53D-02B1-BBFE-BB6A-864551C8136C}"/>
              </a:ext>
            </a:extLst>
          </p:cNvPr>
          <p:cNvSpPr>
            <a:spLocks noGrp="1"/>
          </p:cNvSpPr>
          <p:nvPr>
            <p:ph type="sldNum" sz="quarter" idx="5"/>
          </p:nvPr>
        </p:nvSpPr>
        <p:spPr/>
        <p:txBody>
          <a:bodyPr/>
          <a:lstStyle/>
          <a:p>
            <a:fld id="{7B61BF14-442A-4806-9528-3CAE044062F5}" type="slidenum">
              <a:rPr lang="en-AU" smtClean="0"/>
              <a:t>92</a:t>
            </a:fld>
            <a:endParaRPr lang="en-AU"/>
          </a:p>
        </p:txBody>
      </p:sp>
    </p:spTree>
    <p:extLst>
      <p:ext uri="{BB962C8B-B14F-4D97-AF65-F5344CB8AC3E}">
        <p14:creationId xmlns:p14="http://schemas.microsoft.com/office/powerpoint/2010/main" val="322138967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EA7AF-CC1B-857A-9ABA-7C04085FE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0D95D-F524-E9C3-D5A9-5B51D118B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7B9F6-E42C-888F-ED43-F117FDF2E69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5BC256B-FC4B-505E-9179-9931DFCA9591}"/>
              </a:ext>
            </a:extLst>
          </p:cNvPr>
          <p:cNvSpPr>
            <a:spLocks noGrp="1"/>
          </p:cNvSpPr>
          <p:nvPr>
            <p:ph type="sldNum" sz="quarter" idx="5"/>
          </p:nvPr>
        </p:nvSpPr>
        <p:spPr/>
        <p:txBody>
          <a:bodyPr/>
          <a:lstStyle/>
          <a:p>
            <a:fld id="{7B61BF14-442A-4806-9528-3CAE044062F5}" type="slidenum">
              <a:rPr lang="en-AU" smtClean="0"/>
              <a:t>93</a:t>
            </a:fld>
            <a:endParaRPr lang="en-AU"/>
          </a:p>
        </p:txBody>
      </p:sp>
    </p:spTree>
    <p:extLst>
      <p:ext uri="{BB962C8B-B14F-4D97-AF65-F5344CB8AC3E}">
        <p14:creationId xmlns:p14="http://schemas.microsoft.com/office/powerpoint/2010/main" val="25011761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E65F-9E21-C5E6-23F2-C89D05B3D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74A31-8730-FCC1-A9AE-08C65A6E4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20A67-C94F-5D60-62C9-BF56E4F1012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D47AB10-28B5-2C86-400C-8360D369FBDA}"/>
              </a:ext>
            </a:extLst>
          </p:cNvPr>
          <p:cNvSpPr>
            <a:spLocks noGrp="1"/>
          </p:cNvSpPr>
          <p:nvPr>
            <p:ph type="sldNum" sz="quarter" idx="5"/>
          </p:nvPr>
        </p:nvSpPr>
        <p:spPr/>
        <p:txBody>
          <a:bodyPr/>
          <a:lstStyle/>
          <a:p>
            <a:fld id="{7B61BF14-442A-4806-9528-3CAE044062F5}" type="slidenum">
              <a:rPr lang="en-AU" smtClean="0"/>
              <a:t>94</a:t>
            </a:fld>
            <a:endParaRPr lang="en-AU"/>
          </a:p>
        </p:txBody>
      </p:sp>
    </p:spTree>
    <p:extLst>
      <p:ext uri="{BB962C8B-B14F-4D97-AF65-F5344CB8AC3E}">
        <p14:creationId xmlns:p14="http://schemas.microsoft.com/office/powerpoint/2010/main" val="13871968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983C5-D07E-346C-4ABA-11B57F57E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9DADD-CDA6-5CFF-6094-4C6133163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CE9E7-6D68-C7D0-6A23-357BC2AD5CB0}"/>
              </a:ext>
            </a:extLst>
          </p:cNvPr>
          <p:cNvSpPr>
            <a:spLocks noGrp="1"/>
          </p:cNvSpPr>
          <p:nvPr>
            <p:ph type="body" idx="1"/>
          </p:nvPr>
        </p:nvSpPr>
        <p:spPr/>
        <p:txBody>
          <a:bodyPr/>
          <a:lstStyle/>
          <a:p>
            <a:r>
              <a:rPr lang="en-US" dirty="0"/>
              <a:t>Change KM colors to same. Change Exponential to dashed and Weibull to dotted to see the difference easier.</a:t>
            </a:r>
          </a:p>
          <a:p>
            <a:endParaRPr lang="en-US" dirty="0"/>
          </a:p>
        </p:txBody>
      </p:sp>
      <p:sp>
        <p:nvSpPr>
          <p:cNvPr id="4" name="Slide Number Placeholder 3">
            <a:extLst>
              <a:ext uri="{FF2B5EF4-FFF2-40B4-BE49-F238E27FC236}">
                <a16:creationId xmlns:a16="http://schemas.microsoft.com/office/drawing/2014/main" id="{3FAF81AE-BAF4-0266-AF2E-6F7DDDE23CED}"/>
              </a:ext>
            </a:extLst>
          </p:cNvPr>
          <p:cNvSpPr>
            <a:spLocks noGrp="1"/>
          </p:cNvSpPr>
          <p:nvPr>
            <p:ph type="sldNum" sz="quarter" idx="5"/>
          </p:nvPr>
        </p:nvSpPr>
        <p:spPr/>
        <p:txBody>
          <a:bodyPr/>
          <a:lstStyle/>
          <a:p>
            <a:fld id="{7B61BF14-442A-4806-9528-3CAE044062F5}" type="slidenum">
              <a:rPr lang="en-AU" smtClean="0"/>
              <a:t>95</a:t>
            </a:fld>
            <a:endParaRPr lang="en-AU"/>
          </a:p>
        </p:txBody>
      </p:sp>
    </p:spTree>
    <p:extLst>
      <p:ext uri="{BB962C8B-B14F-4D97-AF65-F5344CB8AC3E}">
        <p14:creationId xmlns:p14="http://schemas.microsoft.com/office/powerpoint/2010/main" val="27381107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F4A07-B97E-58BC-C1EB-22C0B6B21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584F9-1694-7057-4C95-0FC6E5855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0B8FD-9C35-6BDB-FEA4-0B841CDB46FA}"/>
              </a:ext>
            </a:extLst>
          </p:cNvPr>
          <p:cNvSpPr>
            <a:spLocks noGrp="1"/>
          </p:cNvSpPr>
          <p:nvPr>
            <p:ph type="body" idx="1"/>
          </p:nvPr>
        </p:nvSpPr>
        <p:spPr/>
        <p:txBody>
          <a:bodyPr/>
          <a:lstStyle/>
          <a:p>
            <a:r>
              <a:rPr lang="en-US" dirty="0"/>
              <a:t>Change KM colors to same. Change Exponential to dashed and Weibull to dotted to see the difference easier.</a:t>
            </a:r>
          </a:p>
          <a:p>
            <a:endParaRPr lang="en-US" dirty="0"/>
          </a:p>
        </p:txBody>
      </p:sp>
      <p:sp>
        <p:nvSpPr>
          <p:cNvPr id="4" name="Slide Number Placeholder 3">
            <a:extLst>
              <a:ext uri="{FF2B5EF4-FFF2-40B4-BE49-F238E27FC236}">
                <a16:creationId xmlns:a16="http://schemas.microsoft.com/office/drawing/2014/main" id="{AA478D46-8834-80E3-3A92-A861A865A6E8}"/>
              </a:ext>
            </a:extLst>
          </p:cNvPr>
          <p:cNvSpPr>
            <a:spLocks noGrp="1"/>
          </p:cNvSpPr>
          <p:nvPr>
            <p:ph type="sldNum" sz="quarter" idx="5"/>
          </p:nvPr>
        </p:nvSpPr>
        <p:spPr/>
        <p:txBody>
          <a:bodyPr/>
          <a:lstStyle/>
          <a:p>
            <a:fld id="{7B61BF14-442A-4806-9528-3CAE044062F5}" type="slidenum">
              <a:rPr lang="en-AU" smtClean="0"/>
              <a:t>96</a:t>
            </a:fld>
            <a:endParaRPr lang="en-AU"/>
          </a:p>
        </p:txBody>
      </p:sp>
    </p:spTree>
    <p:extLst>
      <p:ext uri="{BB962C8B-B14F-4D97-AF65-F5344CB8AC3E}">
        <p14:creationId xmlns:p14="http://schemas.microsoft.com/office/powerpoint/2010/main" val="282361226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C9EC-8AD3-4ABF-74EB-A377E6BFE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6F415-71C8-6E4B-F2DD-0E1F3A902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54941-B8FE-1DA3-D2F6-BFDCDF17584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C5B44C7-3FAC-E5C4-59FD-2BB9E4439FE3}"/>
              </a:ext>
            </a:extLst>
          </p:cNvPr>
          <p:cNvSpPr>
            <a:spLocks noGrp="1"/>
          </p:cNvSpPr>
          <p:nvPr>
            <p:ph type="sldNum" sz="quarter" idx="5"/>
          </p:nvPr>
        </p:nvSpPr>
        <p:spPr/>
        <p:txBody>
          <a:bodyPr/>
          <a:lstStyle/>
          <a:p>
            <a:fld id="{7B61BF14-442A-4806-9528-3CAE044062F5}" type="slidenum">
              <a:rPr lang="en-AU" smtClean="0"/>
              <a:t>97</a:t>
            </a:fld>
            <a:endParaRPr lang="en-AU"/>
          </a:p>
        </p:txBody>
      </p:sp>
    </p:spTree>
    <p:extLst>
      <p:ext uri="{BB962C8B-B14F-4D97-AF65-F5344CB8AC3E}">
        <p14:creationId xmlns:p14="http://schemas.microsoft.com/office/powerpoint/2010/main" val="351982523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E8F0E-A853-ACD6-97CE-8FE6CB519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75449-B078-BDC3-22B0-1B5E1F16A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17B93-8C18-8BAF-4932-C71DAB1A6B3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57087A6-3A0F-A1AE-1A15-D7FF25C05BB3}"/>
              </a:ext>
            </a:extLst>
          </p:cNvPr>
          <p:cNvSpPr>
            <a:spLocks noGrp="1"/>
          </p:cNvSpPr>
          <p:nvPr>
            <p:ph type="sldNum" sz="quarter" idx="5"/>
          </p:nvPr>
        </p:nvSpPr>
        <p:spPr/>
        <p:txBody>
          <a:bodyPr/>
          <a:lstStyle/>
          <a:p>
            <a:fld id="{7B61BF14-442A-4806-9528-3CAE044062F5}" type="slidenum">
              <a:rPr lang="en-AU" smtClean="0"/>
              <a:t>98</a:t>
            </a:fld>
            <a:endParaRPr lang="en-AU"/>
          </a:p>
        </p:txBody>
      </p:sp>
    </p:spTree>
    <p:extLst>
      <p:ext uri="{BB962C8B-B14F-4D97-AF65-F5344CB8AC3E}">
        <p14:creationId xmlns:p14="http://schemas.microsoft.com/office/powerpoint/2010/main" val="118381582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49869-3668-241D-8816-81276392E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E66CE-5B18-0F01-D003-4D59238DBC7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1388B17-8B48-88CB-9D6C-63FAFA2F5956}"/>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a:t>
                </a:r>
                <a:endParaRPr lang="en-AU" sz="1200" b="0" i="0" u="none" strike="noStrike" kern="1200" baseline="0" dirty="0">
                  <a:solidFill>
                    <a:schemeClr val="tx1"/>
                  </a:solidFill>
                  <a:latin typeface="+mn-lt"/>
                  <a:ea typeface="+mn-ea"/>
                  <a:cs typeface="+mn-cs"/>
                </a:endParaRPr>
              </a:p>
            </p:txBody>
          </p:sp>
        </mc:Choice>
        <mc:Fallback xmlns="">
          <p:sp>
            <p:nvSpPr>
              <p:cNvPr id="3" name="Notes Placeholder 2">
                <a:extLst>
                  <a:ext uri="{FF2B5EF4-FFF2-40B4-BE49-F238E27FC236}">
                    <a16:creationId xmlns:a16="http://schemas.microsoft.com/office/drawing/2014/main" id="{B2A9F5CA-FB4B-D8FB-22D8-B5BA7DD6431A}"/>
                  </a:ext>
                </a:extLst>
              </p:cNvPr>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Also gives the </a:t>
                </a:r>
                <a:r>
                  <a:rPr lang="en-US" sz="1200" b="0" i="0" u="none" strike="noStrike" kern="1200" baseline="0" dirty="0">
                    <a:solidFill>
                      <a:schemeClr val="tx1"/>
                    </a:solidFill>
                    <a:latin typeface="+mn-lt"/>
                    <a:ea typeface="+mn-ea"/>
                    <a:cs typeface="+mn-cs"/>
                  </a:rPr>
                  <a:t>95% confidence interval for TR </a:t>
                </a:r>
                <a:r>
                  <a:rPr lang="en-AU" sz="1200" b="0" i="0" u="none" strike="noStrike" kern="1200" baseline="0" dirty="0">
                    <a:solidFill>
                      <a:schemeClr val="tx1"/>
                    </a:solidFill>
                    <a:latin typeface="+mn-lt"/>
                    <a:ea typeface="+mn-ea"/>
                    <a:cs typeface="+mn-cs"/>
                  </a:rPr>
                  <a:t>(1.93, 6.53).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Log(9.472) = 2.248 (intercept in the </a:t>
                </a:r>
                <a:r>
                  <a:rPr lang="en-AU" sz="1200" b="0" i="0" u="none" strike="noStrike" kern="1200" baseline="0" dirty="0" err="1">
                    <a:solidFill>
                      <a:schemeClr val="tx1"/>
                    </a:solidFill>
                    <a:latin typeface="+mn-lt"/>
                    <a:ea typeface="+mn-ea"/>
                    <a:cs typeface="+mn-cs"/>
                  </a:rPr>
                  <a:t>survreg</a:t>
                </a:r>
                <a:r>
                  <a:rPr lang="en-AU" sz="1200" b="0" i="0" u="none" strike="noStrike" kern="1200" baseline="0" dirty="0">
                    <a:solidFill>
                      <a:schemeClr val="tx1"/>
                    </a:solidFill>
                    <a:latin typeface="+mn-lt"/>
                    <a:ea typeface="+mn-ea"/>
                    <a:cs typeface="+mn-cs"/>
                  </a:rPr>
                  <a:t>)</a:t>
                </a:r>
              </a:p>
              <a:p>
                <a:endParaRPr lang="en-AU"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Scale parameter relates to the 63.2% percentile for reference (placebo) group. Show the logic for this – you can work it out from the AFT Survival formulation like for the log-logistic</a:t>
                </a:r>
              </a:p>
              <a:p>
                <a:endParaRPr lang="en-AU" sz="1200" b="0" i="0" u="none" strike="noStrike" kern="1200" baseline="0" dirty="0">
                  <a:solidFill>
                    <a:schemeClr val="tx1"/>
                  </a:solidFill>
                  <a:latin typeface="+mn-lt"/>
                  <a:ea typeface="+mn-ea"/>
                  <a:cs typeface="+mn-cs"/>
                </a:endParaRPr>
              </a:p>
              <a:p>
                <a:r>
                  <a:rPr lang="en-AU" sz="1200" b="0" i="0" u="none" strike="noStrike" kern="1200" baseline="0">
                    <a:solidFill>
                      <a:schemeClr val="tx1"/>
                    </a:solidFill>
                    <a:latin typeface="Cambria Math" panose="02040503050406030204" pitchFamily="18" charset="0"/>
                    <a:ea typeface="Cambria Math" panose="02040503050406030204" pitchFamily="18" charset="0"/>
                    <a:cs typeface="+mn-cs"/>
                  </a:rPr>
                  <a:t>≈</a:t>
                </a:r>
                <a:endParaRPr lang="en-AU" sz="1200" b="0" i="0" u="none" strike="noStrike" kern="1200" baseline="0" dirty="0">
                  <a:solidFill>
                    <a:schemeClr val="tx1"/>
                  </a:solidFill>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06BC56B5-9D71-886B-D443-C86C505C2678}"/>
              </a:ext>
            </a:extLst>
          </p:cNvPr>
          <p:cNvSpPr>
            <a:spLocks noGrp="1"/>
          </p:cNvSpPr>
          <p:nvPr>
            <p:ph type="sldNum" sz="quarter" idx="5"/>
          </p:nvPr>
        </p:nvSpPr>
        <p:spPr/>
        <p:txBody>
          <a:bodyPr/>
          <a:lstStyle/>
          <a:p>
            <a:fld id="{7B61BF14-442A-4806-9528-3CAE044062F5}" type="slidenum">
              <a:rPr lang="en-AU" smtClean="0"/>
              <a:t>99</a:t>
            </a:fld>
            <a:endParaRPr lang="en-AU"/>
          </a:p>
        </p:txBody>
      </p:sp>
    </p:spTree>
    <p:extLst>
      <p:ext uri="{BB962C8B-B14F-4D97-AF65-F5344CB8AC3E}">
        <p14:creationId xmlns:p14="http://schemas.microsoft.com/office/powerpoint/2010/main" val="280549226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AA28-29A9-F0D0-B89E-B893B014A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D0328-422C-7B25-2A64-D26F6BCD9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DF606-192A-4412-4D30-A9021A5C9428}"/>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In the code above, I used the </a:t>
            </a:r>
            <a:r>
              <a:rPr lang="en-AU" sz="1200" b="1" kern="1200" dirty="0">
                <a:solidFill>
                  <a:schemeClr val="tx1"/>
                </a:solidFill>
                <a:effectLst/>
                <a:latin typeface="+mn-lt"/>
                <a:ea typeface="+mn-ea"/>
                <a:cs typeface="+mn-cs"/>
              </a:rPr>
              <a:t>Prentice parameterisation</a:t>
            </a:r>
            <a:r>
              <a:rPr lang="en-AU" sz="1200" kern="1200" dirty="0">
                <a:solidFill>
                  <a:schemeClr val="tx1"/>
                </a:solidFill>
                <a:effectLst/>
                <a:latin typeface="+mn-lt"/>
                <a:ea typeface="+mn-ea"/>
                <a:cs typeface="+mn-cs"/>
              </a:rPr>
              <a:t> (mu, sigma, Q) because that is what </a:t>
            </a:r>
            <a:r>
              <a:rPr lang="en-AU" sz="1200" kern="1200" dirty="0" err="1">
                <a:solidFill>
                  <a:schemeClr val="tx1"/>
                </a:solidFill>
                <a:effectLst/>
                <a:latin typeface="+mn-lt"/>
                <a:ea typeface="+mn-ea"/>
                <a:cs typeface="+mn-cs"/>
              </a:rPr>
              <a:t>flexsurv</a:t>
            </a:r>
            <a:r>
              <a:rPr lang="en-AU" sz="1200" kern="1200" dirty="0">
                <a:solidFill>
                  <a:schemeClr val="tx1"/>
                </a:solidFill>
                <a:effectLst/>
                <a:latin typeface="+mn-lt"/>
                <a:ea typeface="+mn-ea"/>
                <a:cs typeface="+mn-cs"/>
              </a:rPr>
              <a:t> uses internally. If you have Stacy parameters ($\lambda, k, p$), the conversion used in the code is:</a:t>
            </a:r>
          </a:p>
          <a:p>
            <a:r>
              <a:rPr lang="en-AU" sz="1200" kern="1200" dirty="0">
                <a:solidFill>
                  <a:schemeClr val="tx1"/>
                </a:solidFill>
                <a:effectLst/>
                <a:latin typeface="+mn-lt"/>
                <a:ea typeface="+mn-ea"/>
                <a:cs typeface="+mn-cs"/>
              </a:rPr>
              <a:t>$Q = 1/\sqrt{k}$</a:t>
            </a:r>
          </a:p>
          <a:p>
            <a:r>
              <a:rPr lang="en-AU" sz="1200" kern="1200" dirty="0">
                <a:solidFill>
                  <a:schemeClr val="tx1"/>
                </a:solidFill>
                <a:effectLst/>
                <a:latin typeface="+mn-lt"/>
                <a:ea typeface="+mn-ea"/>
                <a:cs typeface="+mn-cs"/>
              </a:rPr>
              <a:t>$\sigma = 1/(p\sqrt{k})$</a:t>
            </a:r>
          </a:p>
          <a:p>
            <a:r>
              <a:rPr lang="en-AU" sz="1200" kern="1200" dirty="0">
                <a:solidFill>
                  <a:schemeClr val="tx1"/>
                </a:solidFill>
                <a:effectLst/>
                <a:latin typeface="+mn-lt"/>
                <a:ea typeface="+mn-ea"/>
                <a:cs typeface="+mn-cs"/>
              </a:rPr>
              <a:t>$\mu = \log(1/\lambda)$</a:t>
            </a:r>
          </a:p>
          <a:p>
            <a:endParaRPr lang="en-AU"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2090A4BE-0079-F76B-2EF6-792192F56E3A}"/>
              </a:ext>
            </a:extLst>
          </p:cNvPr>
          <p:cNvSpPr>
            <a:spLocks noGrp="1"/>
          </p:cNvSpPr>
          <p:nvPr>
            <p:ph type="sldNum" sz="quarter" idx="5"/>
          </p:nvPr>
        </p:nvSpPr>
        <p:spPr/>
        <p:txBody>
          <a:bodyPr/>
          <a:lstStyle/>
          <a:p>
            <a:fld id="{7B61BF14-442A-4806-9528-3CAE044062F5}" type="slidenum">
              <a:rPr lang="en-AU" smtClean="0"/>
              <a:t>100</a:t>
            </a:fld>
            <a:endParaRPr lang="en-AU"/>
          </a:p>
        </p:txBody>
      </p:sp>
    </p:spTree>
    <p:extLst>
      <p:ext uri="{BB962C8B-B14F-4D97-AF65-F5344CB8AC3E}">
        <p14:creationId xmlns:p14="http://schemas.microsoft.com/office/powerpoint/2010/main" val="223348000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AC63F-DF70-6D4C-D55E-086BB46EC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706D8-A7DC-A773-67A1-21ED36CBB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B0844-5C17-9A7F-5164-A7E45DCAB8D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BEE6EE6-73D2-95DC-E913-7022AA700A55}"/>
              </a:ext>
            </a:extLst>
          </p:cNvPr>
          <p:cNvSpPr>
            <a:spLocks noGrp="1"/>
          </p:cNvSpPr>
          <p:nvPr>
            <p:ph type="sldNum" sz="quarter" idx="5"/>
          </p:nvPr>
        </p:nvSpPr>
        <p:spPr/>
        <p:txBody>
          <a:bodyPr/>
          <a:lstStyle/>
          <a:p>
            <a:fld id="{7B61BF14-442A-4806-9528-3CAE044062F5}" type="slidenum">
              <a:rPr lang="en-AU" smtClean="0"/>
              <a:t>101</a:t>
            </a:fld>
            <a:endParaRPr lang="en-AU"/>
          </a:p>
        </p:txBody>
      </p:sp>
    </p:spTree>
    <p:extLst>
      <p:ext uri="{BB962C8B-B14F-4D97-AF65-F5344CB8AC3E}">
        <p14:creationId xmlns:p14="http://schemas.microsoft.com/office/powerpoint/2010/main" val="108382428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ED72-3224-30AC-BBF4-A9ED6DDF3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84D92-C6D1-89A5-CC52-DC24E72AC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213F3-D24A-8CB3-FFEA-55691ABD48E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B1EF843-4A90-F230-9CB5-5A993385AB18}"/>
              </a:ext>
            </a:extLst>
          </p:cNvPr>
          <p:cNvSpPr>
            <a:spLocks noGrp="1"/>
          </p:cNvSpPr>
          <p:nvPr>
            <p:ph type="sldNum" sz="quarter" idx="5"/>
          </p:nvPr>
        </p:nvSpPr>
        <p:spPr/>
        <p:txBody>
          <a:bodyPr/>
          <a:lstStyle/>
          <a:p>
            <a:fld id="{7B61BF14-442A-4806-9528-3CAE044062F5}" type="slidenum">
              <a:rPr lang="en-AU" smtClean="0"/>
              <a:t>102</a:t>
            </a:fld>
            <a:endParaRPr lang="en-AU"/>
          </a:p>
        </p:txBody>
      </p:sp>
    </p:spTree>
    <p:extLst>
      <p:ext uri="{BB962C8B-B14F-4D97-AF65-F5344CB8AC3E}">
        <p14:creationId xmlns:p14="http://schemas.microsoft.com/office/powerpoint/2010/main" val="19771017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277E7-431B-D1A0-089C-65893E332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B7D74-69EA-BC7B-00F8-DDD76A184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DB4EF-460E-6560-A91C-CF5D7D78B8B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542F02F-B4BE-5F5D-F3C0-48B3498C7475}"/>
              </a:ext>
            </a:extLst>
          </p:cNvPr>
          <p:cNvSpPr>
            <a:spLocks noGrp="1"/>
          </p:cNvSpPr>
          <p:nvPr>
            <p:ph type="sldNum" sz="quarter" idx="5"/>
          </p:nvPr>
        </p:nvSpPr>
        <p:spPr/>
        <p:txBody>
          <a:bodyPr/>
          <a:lstStyle/>
          <a:p>
            <a:fld id="{7B61BF14-442A-4806-9528-3CAE044062F5}" type="slidenum">
              <a:rPr lang="en-AU" smtClean="0"/>
              <a:t>103</a:t>
            </a:fld>
            <a:endParaRPr lang="en-AU"/>
          </a:p>
        </p:txBody>
      </p:sp>
    </p:spTree>
    <p:extLst>
      <p:ext uri="{BB962C8B-B14F-4D97-AF65-F5344CB8AC3E}">
        <p14:creationId xmlns:p14="http://schemas.microsoft.com/office/powerpoint/2010/main" val="284231597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104</a:t>
            </a:fld>
            <a:endParaRPr lang="en-AU"/>
          </a:p>
        </p:txBody>
      </p:sp>
    </p:spTree>
    <p:extLst>
      <p:ext uri="{BB962C8B-B14F-4D97-AF65-F5344CB8AC3E}">
        <p14:creationId xmlns:p14="http://schemas.microsoft.com/office/powerpoint/2010/main" val="17953978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105</a:t>
            </a:fld>
            <a:endParaRPr lang="en-AU"/>
          </a:p>
        </p:txBody>
      </p:sp>
    </p:spTree>
    <p:extLst>
      <p:ext uri="{BB962C8B-B14F-4D97-AF65-F5344CB8AC3E}">
        <p14:creationId xmlns:p14="http://schemas.microsoft.com/office/powerpoint/2010/main" val="4063647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E4107255-DA02-4530-9828-3BA6ED96C1C3}" type="datetime1">
              <a:rPr lang="en-US" smtClean="0"/>
              <a:t>2/25/2026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8475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7A1861B4-C1BA-4ADF-8938-996090D0E67D}" type="datetime1">
              <a:rPr lang="en-US" smtClean="0"/>
              <a:t>2/25/2026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lvl1pPr>
              <a:defRPr sz="1200" b="1">
                <a:solidFill>
                  <a:schemeClr val="accent6">
                    <a:lumMod val="75000"/>
                  </a:schemeClr>
                </a:solidFill>
              </a:defRPr>
            </a:lvl1pPr>
          </a:lstStyle>
          <a:p>
            <a:r>
              <a:rPr lang="en-US" dirty="0"/>
              <a:t>Farzaneh.Boroumand@Sydney.edu.au</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722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8DC890F9-FBC5-4F12-8C1A-CD683D10173A}" type="datetime1">
              <a:rPr lang="en-US" smtClean="0"/>
              <a:t>2/25/2026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1183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B7E37677-CF8B-43CB-8FF1-87208B11E777}" type="datetime1">
              <a:rPr lang="en-US" smtClean="0"/>
              <a:t>2/25/2026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1450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46314F02-9106-4F69-8BAE-CFDA6DD342EB}" type="datetime1">
              <a:rPr lang="en-US" smtClean="0"/>
              <a:t>2/25/2026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Farzaneh.Boroumand@Sydney.edu.au</a:t>
            </a:r>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0860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72391F09-08C8-411F-8F49-BC96DB8D2F04}" type="datetime1">
              <a:rPr lang="en-US" smtClean="0"/>
              <a:t>2/25/2026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Farzaneh.Boroumand@Sydney.edu.au</a:t>
            </a:r>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1160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605CE28E-C0FE-48C5-AD71-6AC36A33E79A}" type="datetime1">
              <a:rPr lang="en-US" smtClean="0"/>
              <a:t>2/25/2026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Farzaneh.Boroumand@Sydney.edu.au</a:t>
            </a:r>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0918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78113BFC-3CDF-426F-8D4D-1621D25F610A}" type="datetime1">
              <a:rPr lang="en-US" smtClean="0"/>
              <a:t>2/25/2026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5325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8E83AF84-2327-4C45-A2AF-6088E826580A}" type="datetime1">
              <a:rPr lang="en-US" smtClean="0"/>
              <a:t>2/25/2026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5917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668846BF-BBDD-41F4-90BD-365E67260397}" type="datetime1">
              <a:rPr lang="en-US" smtClean="0"/>
              <a:t>2/25/2026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812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8DEDE3D6-2707-4668-8E8F-345A14A0BA7D}" type="datetime1">
              <a:rPr lang="en-US" smtClean="0"/>
              <a:t>2/25/2026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5657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6DA19E5A-9F18-4DF6-B1AD-BE9DBAA0BA38}" type="datetime1">
              <a:rPr lang="en-US" smtClean="0"/>
              <a:t>2/25/2026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79279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01.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88.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0.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10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9.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5.png"/></Relationships>
</file>

<file path=ppt/slides/_rels/slide10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E5E1C21-982A-FC98-8499-54401FCBC6FA}"/>
              </a:ext>
            </a:extLst>
          </p:cNvPr>
          <p:cNvSpPr>
            <a:spLocks noGrp="1"/>
          </p:cNvSpPr>
          <p:nvPr>
            <p:ph type="subTitle" idx="1"/>
          </p:nvPr>
        </p:nvSpPr>
        <p:spPr>
          <a:xfrm>
            <a:off x="5601862" y="1595659"/>
            <a:ext cx="5322013" cy="1624689"/>
          </a:xfrm>
        </p:spPr>
        <p:txBody>
          <a:bodyPr>
            <a:normAutofit/>
          </a:bodyPr>
          <a:lstStyle/>
          <a:p>
            <a:r>
              <a:rPr lang="en-AU" b="1" dirty="0"/>
              <a:t>Parametric survival models</a:t>
            </a:r>
            <a:endParaRPr lang="en-AU" dirty="0"/>
          </a:p>
          <a:p>
            <a:endParaRPr lang="en-AU" dirty="0"/>
          </a:p>
          <a:p>
            <a:r>
              <a:rPr lang="en-AU" sz="1800" dirty="0"/>
              <a:t>Maarit Laaksonen</a:t>
            </a:r>
          </a:p>
        </p:txBody>
      </p:sp>
      <p:pic>
        <p:nvPicPr>
          <p:cNvPr id="4" name="Picture 3" descr="Gradient pastel colors on a top view">
            <a:extLst>
              <a:ext uri="{FF2B5EF4-FFF2-40B4-BE49-F238E27FC236}">
                <a16:creationId xmlns:a16="http://schemas.microsoft.com/office/drawing/2014/main" id="{DE43E167-39D2-B9D0-F0F9-10C431DBC87E}"/>
              </a:ext>
            </a:extLst>
          </p:cNvPr>
          <p:cNvPicPr>
            <a:picLocks noChangeAspect="1"/>
          </p:cNvPicPr>
          <p:nvPr/>
        </p:nvPicPr>
        <p:blipFill>
          <a:blip r:embed="rId3"/>
          <a:srcRect l="36752" r="15781" b="-1"/>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3D2B189-5082-4F0F-939F-9A3A398CF1E4}"/>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6177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92378-04EE-7A9C-48F1-466FFB800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5B948-BB79-0538-CA2A-7BB0863D6B7B}"/>
              </a:ext>
            </a:extLst>
          </p:cNvPr>
          <p:cNvSpPr>
            <a:spLocks noGrp="1"/>
          </p:cNvSpPr>
          <p:nvPr>
            <p:ph type="title"/>
          </p:nvPr>
        </p:nvSpPr>
        <p:spPr/>
        <p:txBody>
          <a:bodyPr/>
          <a:lstStyle/>
          <a:p>
            <a:r>
              <a:rPr lang="en-US" dirty="0"/>
              <a:t>What is a parametric survival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6930CC-4FE5-EFEC-EE0F-7C88C74448E5}"/>
                  </a:ext>
                </a:extLst>
              </p:cNvPr>
              <p:cNvSpPr>
                <a:spLocks noGrp="1"/>
              </p:cNvSpPr>
              <p:nvPr>
                <p:ph idx="1"/>
              </p:nvPr>
            </p:nvSpPr>
            <p:spPr/>
            <p:txBody>
              <a:bodyPr>
                <a:normAutofit/>
              </a:bodyPr>
              <a:lstStyle/>
              <a:p>
                <a:r>
                  <a:rPr lang="en-US" dirty="0"/>
                  <a:t>A </a:t>
                </a:r>
                <a:r>
                  <a:rPr lang="en-US" b="1" dirty="0"/>
                  <a:t>parametric survival model </a:t>
                </a:r>
                <a:r>
                  <a:rPr lang="en-US" dirty="0"/>
                  <a:t>is one in which survival time </a:t>
                </a:r>
                <a:r>
                  <a:rPr lang="en-US" i="1" dirty="0"/>
                  <a:t>T</a:t>
                </a:r>
                <a:r>
                  <a:rPr lang="en-US" dirty="0"/>
                  <a:t> is assumed to follow a specific, known probability distribution</a:t>
                </a:r>
              </a:p>
              <a:p>
                <a:pPr marL="0" indent="0">
                  <a:buNone/>
                </a:pPr>
                <a:r>
                  <a:rPr lang="en-US" b="0" dirty="0"/>
                  <a:t>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e>
                        <m:r>
                          <a:rPr lang="en-US" b="0" i="1" smtClean="0">
                            <a:latin typeface="Cambria Math" panose="02040503050406030204" pitchFamily="18" charset="0"/>
                            <a:ea typeface="Cambria Math" panose="02040503050406030204" pitchFamily="18" charset="0"/>
                          </a:rPr>
                          <m:t>𝜃</m:t>
                        </m:r>
                      </m:e>
                    </m:d>
                  </m:oMath>
                </a14:m>
                <a:r>
                  <a:rPr lang="en-US" dirty="0"/>
                  <a:t>,</a:t>
                </a:r>
              </a:p>
              <a:p>
                <a:pPr>
                  <a:buClr>
                    <a:schemeClr val="bg1"/>
                  </a:buClr>
                </a:pPr>
                <a:r>
                  <a:rPr lang="en-US" dirty="0"/>
                  <a:t>where </a:t>
                </a:r>
                <a:r>
                  <a:rPr lang="en-US" i="1" dirty="0"/>
                  <a:t>f</a:t>
                </a:r>
                <a:r>
                  <a:rPr lang="en-US" dirty="0"/>
                  <a:t>  belongs to a known family (e.g., Exponential, Weibull)</a:t>
                </a:r>
              </a:p>
              <a:p>
                <a:r>
                  <a:rPr lang="en-US" dirty="0"/>
                  <a:t>While the </a:t>
                </a:r>
                <a:r>
                  <a:rPr lang="en-US" i="1" dirty="0"/>
                  <a:t>family</a:t>
                </a:r>
                <a:r>
                  <a:rPr lang="en-US" dirty="0"/>
                  <a:t> of the distribution is assumed, the exact distribution remains unknown until the vector of parameters </a:t>
                </a:r>
                <a14:m>
                  <m:oMath xmlns:m="http://schemas.openxmlformats.org/officeDocument/2006/math">
                    <m:r>
                      <a:rPr lang="en-US" b="0" i="1" smtClean="0">
                        <a:latin typeface="Cambria Math" panose="02040503050406030204" pitchFamily="18" charset="0"/>
                      </a:rPr>
                      <m:t>𝜃</m:t>
                    </m:r>
                  </m:oMath>
                </a14:m>
                <a:r>
                  <a:rPr lang="en-US" dirty="0"/>
                  <a:t> parameters is defined</a:t>
                </a:r>
              </a:p>
              <a:p>
                <a:r>
                  <a:rPr lang="en-US" dirty="0"/>
                  <a:t>We used observed data (including censored observations) to estimate these parameters – typically via maximum likelihood estimation (MLE) - to best fit the survival experience of the cohort</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E6930CC-4FE5-EFEC-EE0F-7C88C74448E5}"/>
                  </a:ext>
                </a:extLst>
              </p:cNvPr>
              <p:cNvSpPr>
                <a:spLocks noGrp="1" noRot="1" noChangeAspect="1" noMove="1" noResize="1" noEditPoints="1" noAdjustHandles="1" noChangeArrowheads="1" noChangeShapeType="1" noTextEdit="1"/>
              </p:cNvSpPr>
              <p:nvPr>
                <p:ph idx="1"/>
              </p:nvPr>
            </p:nvSpPr>
            <p:spPr>
              <a:blipFill>
                <a:blip r:embed="rId3"/>
                <a:stretch>
                  <a:fillRect l="-513"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B7F0FA53-AA3B-3A92-329E-DB2C25FBD133}"/>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3684586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2D995-BBE5-3156-1329-5F5D6CC26B7E}"/>
              </a:ext>
            </a:extLst>
          </p:cNvPr>
          <p:cNvSpPr>
            <a:spLocks noGrp="1"/>
          </p:cNvSpPr>
          <p:nvPr>
            <p:ph type="title"/>
          </p:nvPr>
        </p:nvSpPr>
        <p:spPr/>
        <p:txBody>
          <a:bodyPr/>
          <a:lstStyle/>
          <a:p>
            <a:r>
              <a:rPr lang="en-US" dirty="0"/>
              <a:t>Why parametric survival models?</a:t>
            </a:r>
            <a:endParaRPr lang="en-AU" dirty="0"/>
          </a:p>
        </p:txBody>
      </p:sp>
      <p:sp>
        <p:nvSpPr>
          <p:cNvPr id="3" name="Content Placeholder 2">
            <a:extLst>
              <a:ext uri="{FF2B5EF4-FFF2-40B4-BE49-F238E27FC236}">
                <a16:creationId xmlns:a16="http://schemas.microsoft.com/office/drawing/2014/main" id="{EE5A2613-1806-81D6-E341-0416A56BAC5B}"/>
              </a:ext>
            </a:extLst>
          </p:cNvPr>
          <p:cNvSpPr>
            <a:spLocks noGrp="1"/>
          </p:cNvSpPr>
          <p:nvPr>
            <p:ph idx="1"/>
          </p:nvPr>
        </p:nvSpPr>
        <p:spPr/>
        <p:txBody>
          <a:bodyPr>
            <a:normAutofit/>
          </a:bodyPr>
          <a:lstStyle/>
          <a:p>
            <a:pPr marL="0" indent="0">
              <a:buNone/>
            </a:pPr>
            <a:r>
              <a:rPr lang="en-US" sz="2800" dirty="0"/>
              <a:t>“If you want to do things like predict the outcome for a particular patient, it’s much more convenient to do that parametrically.”</a:t>
            </a:r>
          </a:p>
          <a:p>
            <a:pPr marL="0" indent="0">
              <a:buNone/>
            </a:pPr>
            <a:endParaRPr lang="en-US" sz="2800" dirty="0"/>
          </a:p>
          <a:p>
            <a:pPr marL="0" indent="0">
              <a:buNone/>
            </a:pPr>
            <a:r>
              <a:rPr lang="en-US" sz="2800" dirty="0"/>
              <a:t>Sir David Cox</a:t>
            </a:r>
            <a:endParaRPr lang="en-AU" sz="2800" dirty="0"/>
          </a:p>
        </p:txBody>
      </p:sp>
      <p:sp>
        <p:nvSpPr>
          <p:cNvPr id="4" name="Footer Placeholder 3">
            <a:extLst>
              <a:ext uri="{FF2B5EF4-FFF2-40B4-BE49-F238E27FC236}">
                <a16:creationId xmlns:a16="http://schemas.microsoft.com/office/drawing/2014/main" id="{98EC0FBF-B55D-8A7E-2378-EC644FF7E2B2}"/>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62976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959C-03D8-EAEA-3EC4-01F9B6DAC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8BD93-63C3-55FA-4521-F2EDDCFB8D93}"/>
              </a:ext>
            </a:extLst>
          </p:cNvPr>
          <p:cNvSpPr>
            <a:spLocks noGrp="1"/>
          </p:cNvSpPr>
          <p:nvPr>
            <p:ph type="title"/>
          </p:nvPr>
        </p:nvSpPr>
        <p:spPr/>
        <p:txBody>
          <a:bodyPr/>
          <a:lstStyle/>
          <a:p>
            <a:r>
              <a:rPr lang="en-US" dirty="0"/>
              <a:t>Why parametric survival models?</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BAEAB-91FA-B846-4CBE-011FA10456E0}"/>
                  </a:ext>
                </a:extLst>
              </p:cNvPr>
              <p:cNvSpPr>
                <a:spLocks noGrp="1"/>
              </p:cNvSpPr>
              <p:nvPr>
                <p:ph idx="1"/>
              </p:nvPr>
            </p:nvSpPr>
            <p:spPr/>
            <p:txBody>
              <a:bodyPr>
                <a:normAutofit/>
              </a:bodyPr>
              <a:lstStyle/>
              <a:p>
                <a:r>
                  <a:rPr lang="en-US" dirty="0"/>
                  <a:t>Flexibility vs. specification</a:t>
                </a:r>
              </a:p>
              <a:p>
                <a:pPr lvl="1"/>
                <a:r>
                  <a:rPr lang="en-US" dirty="0"/>
                  <a:t>Non-parametric methods (Kaplan-Meier) that make no assumptions and semi-parametric Cox model that assumes proportional hazards but no shape for baseline hazard are flexible and widely applicable</a:t>
                </a:r>
              </a:p>
              <a:p>
                <a:pPr lvl="1"/>
                <a:r>
                  <a:rPr lang="en-US" dirty="0"/>
                  <a:t>Parametric models that assume a specific shape for the baseline hazard have their advantages</a:t>
                </a:r>
              </a:p>
              <a:p>
                <a:r>
                  <a:rPr lang="en-US" dirty="0"/>
                  <a:t>Key advantages of parametric models:</a:t>
                </a:r>
              </a:p>
              <a:p>
                <a:pPr lvl="1"/>
                <a:r>
                  <a:rPr lang="en-US" dirty="0"/>
                  <a:t>Completeness: Both the hazard function </a:t>
                </a:r>
                <a14:m>
                  <m:oMath xmlns:m="http://schemas.openxmlformats.org/officeDocument/2006/math">
                    <m:r>
                      <a:rPr lang="en-AU" b="0" i="1" smtClean="0">
                        <a:latin typeface="Cambria Math" panose="02040503050406030204" pitchFamily="18" charset="0"/>
                      </a:rPr>
                      <m:t>h</m:t>
                    </m:r>
                    <m:r>
                      <a:rPr lang="en-AU" b="0" i="1" smtClean="0">
                        <a:latin typeface="Cambria Math" panose="02040503050406030204" pitchFamily="18" charset="0"/>
                      </a:rPr>
                      <m:t>(</m:t>
                    </m:r>
                    <m:r>
                      <a:rPr lang="en-AU" b="0" i="1" smtClean="0">
                        <a:latin typeface="Cambria Math" panose="02040503050406030204" pitchFamily="18" charset="0"/>
                      </a:rPr>
                      <m:t>𝑡</m:t>
                    </m:r>
                    <m:r>
                      <a:rPr lang="en-AU" b="0" i="1" smtClean="0">
                        <a:latin typeface="Cambria Math" panose="02040503050406030204" pitchFamily="18" charset="0"/>
                      </a:rPr>
                      <m:t>)</m:t>
                    </m:r>
                  </m:oMath>
                </a14:m>
                <a:r>
                  <a:rPr lang="en-US" dirty="0"/>
                  <a:t> and the survival function </a:t>
                </a:r>
                <a14:m>
                  <m:oMath xmlns:m="http://schemas.openxmlformats.org/officeDocument/2006/math">
                    <m:r>
                      <a:rPr lang="en-AU" b="0" i="1" smtClean="0">
                        <a:latin typeface="Cambria Math" panose="02040503050406030204" pitchFamily="18" charset="0"/>
                      </a:rPr>
                      <m:t>𝑆</m:t>
                    </m:r>
                    <m:r>
                      <a:rPr lang="en-AU" b="0" i="1" smtClean="0">
                        <a:latin typeface="Cambria Math" panose="02040503050406030204" pitchFamily="18" charset="0"/>
                      </a:rPr>
                      <m:t>(</m:t>
                    </m:r>
                    <m:r>
                      <a:rPr lang="en-AU" b="0" i="1" smtClean="0">
                        <a:latin typeface="Cambria Math" panose="02040503050406030204" pitchFamily="18" charset="0"/>
                      </a:rPr>
                      <m:t>𝑡</m:t>
                    </m:r>
                    <m:r>
                      <a:rPr lang="en-AU" b="0" i="1" smtClean="0">
                        <a:latin typeface="Cambria Math" panose="02040503050406030204" pitchFamily="18" charset="0"/>
                      </a:rPr>
                      <m:t>)</m:t>
                    </m:r>
                  </m:oMath>
                </a14:m>
                <a:r>
                  <a:rPr lang="en-US" dirty="0"/>
                  <a:t> are fully specified</a:t>
                </a:r>
              </a:p>
              <a:p>
                <a:pPr lvl="1"/>
                <a:r>
                  <a:rPr lang="en-US" dirty="0"/>
                  <a:t>Smoothness: Provide smooth, continuous functions, more consistent with biological theory</a:t>
                </a:r>
              </a:p>
              <a:p>
                <a:pPr lvl="1"/>
                <a:r>
                  <a:rPr lang="en-US" dirty="0"/>
                  <a:t>Extrapolation: Ability to predicting survival beyond the last observed event</a:t>
                </a:r>
              </a:p>
              <a:p>
                <a:pPr lvl="1"/>
                <a:r>
                  <a:rPr lang="en-US" dirty="0"/>
                  <a:t>Efficiency: If the chose distribution is a good fit for the data, inferences can be more precise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FA6BAEAB-91FA-B846-4CBE-011FA10456E0}"/>
                  </a:ext>
                </a:extLst>
              </p:cNvPr>
              <p:cNvSpPr>
                <a:spLocks noGrp="1" noRot="1" noChangeAspect="1" noMove="1" noResize="1" noEditPoints="1" noAdjustHandles="1" noChangeArrowheads="1" noChangeShapeType="1" noTextEdit="1"/>
              </p:cNvSpPr>
              <p:nvPr>
                <p:ph idx="1"/>
              </p:nvPr>
            </p:nvSpPr>
            <p:spPr>
              <a:blipFill>
                <a:blip r:embed="rId3"/>
                <a:stretch>
                  <a:fillRect l="-513" t="-816" r="-171"/>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283E61B6-E54B-E1FF-A195-783DC0CF5569}"/>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338881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F8E2-39DA-8935-0588-36DCF124A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F7F34-10AD-7CA4-F90B-30480EBE9A74}"/>
              </a:ext>
            </a:extLst>
          </p:cNvPr>
          <p:cNvSpPr>
            <a:spLocks noGrp="1"/>
          </p:cNvSpPr>
          <p:nvPr>
            <p:ph type="title"/>
          </p:nvPr>
        </p:nvSpPr>
        <p:spPr/>
        <p:txBody>
          <a:bodyPr/>
          <a:lstStyle/>
          <a:p>
            <a:r>
              <a:rPr lang="en-US" dirty="0"/>
              <a:t>What Can We Model in Survival Analysis?</a:t>
            </a:r>
            <a:endParaRPr lang="en-AU" dirty="0"/>
          </a:p>
        </p:txBody>
      </p:sp>
      <p:graphicFrame>
        <p:nvGraphicFramePr>
          <p:cNvPr id="4" name="Table 3">
            <a:extLst>
              <a:ext uri="{FF2B5EF4-FFF2-40B4-BE49-F238E27FC236}">
                <a16:creationId xmlns:a16="http://schemas.microsoft.com/office/drawing/2014/main" id="{3A76A110-EB21-EFA4-16B2-27DDC5CF433C}"/>
              </a:ext>
            </a:extLst>
          </p:cNvPr>
          <p:cNvGraphicFramePr>
            <a:graphicFrameLocks noGrp="1"/>
          </p:cNvGraphicFramePr>
          <p:nvPr/>
        </p:nvGraphicFramePr>
        <p:xfrm>
          <a:off x="973777" y="1805049"/>
          <a:ext cx="9524012" cy="4078159"/>
        </p:xfrm>
        <a:graphic>
          <a:graphicData uri="http://schemas.openxmlformats.org/drawingml/2006/table">
            <a:tbl>
              <a:tblPr>
                <a:tableStyleId>{10A1B5D5-9B99-4C35-A422-299274C87663}</a:tableStyleId>
              </a:tblPr>
              <a:tblGrid>
                <a:gridCol w="2381003">
                  <a:extLst>
                    <a:ext uri="{9D8B030D-6E8A-4147-A177-3AD203B41FA5}">
                      <a16:colId xmlns:a16="http://schemas.microsoft.com/office/drawing/2014/main" val="1197216168"/>
                    </a:ext>
                  </a:extLst>
                </a:gridCol>
                <a:gridCol w="2381003">
                  <a:extLst>
                    <a:ext uri="{9D8B030D-6E8A-4147-A177-3AD203B41FA5}">
                      <a16:colId xmlns:a16="http://schemas.microsoft.com/office/drawing/2014/main" val="636646469"/>
                    </a:ext>
                  </a:extLst>
                </a:gridCol>
                <a:gridCol w="2381003">
                  <a:extLst>
                    <a:ext uri="{9D8B030D-6E8A-4147-A177-3AD203B41FA5}">
                      <a16:colId xmlns:a16="http://schemas.microsoft.com/office/drawing/2014/main" val="314655829"/>
                    </a:ext>
                  </a:extLst>
                </a:gridCol>
                <a:gridCol w="2381003">
                  <a:extLst>
                    <a:ext uri="{9D8B030D-6E8A-4147-A177-3AD203B41FA5}">
                      <a16:colId xmlns:a16="http://schemas.microsoft.com/office/drawing/2014/main" val="433144649"/>
                    </a:ext>
                  </a:extLst>
                </a:gridCol>
              </a:tblGrid>
              <a:tr h="370743">
                <a:tc>
                  <a:txBody>
                    <a:bodyPr/>
                    <a:lstStyle/>
                    <a:p>
                      <a:r>
                        <a:rPr lang="en-AU" sz="1800" b="1" dirty="0">
                          <a:solidFill>
                            <a:schemeClr val="bg1"/>
                          </a:solidFill>
                        </a:rPr>
                        <a:t>Goal</a:t>
                      </a:r>
                      <a:endParaRPr lang="en-AU" sz="1800" dirty="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Question</a:t>
                      </a:r>
                      <a:endParaRPr lang="en-AU" sz="1800" dirty="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Model Type</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What We Get</a:t>
                      </a:r>
                      <a:endParaRPr lang="en-AU" sz="1800" dirty="0">
                        <a:solidFill>
                          <a:schemeClr val="bg1"/>
                        </a:solidFill>
                      </a:endParaRPr>
                    </a:p>
                  </a:txBody>
                  <a:tcPr marL="47951" marR="47951" marT="23975" marB="23975" anchor="ctr">
                    <a:solidFill>
                      <a:schemeClr val="accent6">
                        <a:lumMod val="75000"/>
                      </a:schemeClr>
                    </a:solidFill>
                  </a:tcPr>
                </a:tc>
                <a:extLst>
                  <a:ext uri="{0D108BD9-81ED-4DB2-BD59-A6C34878D82A}">
                    <a16:rowId xmlns:a16="http://schemas.microsoft.com/office/drawing/2014/main" val="450438816"/>
                  </a:ext>
                </a:extLst>
              </a:tr>
              <a:tr h="926854">
                <a:tc>
                  <a:txBody>
                    <a:bodyPr/>
                    <a:lstStyle/>
                    <a:p>
                      <a:r>
                        <a:rPr lang="en-US" sz="1800" dirty="0"/>
                        <a:t>1. Estimate </a:t>
                      </a:r>
                      <a:r>
                        <a:rPr lang="en-US" sz="1800" b="1" dirty="0"/>
                        <a:t>chance of surviving</a:t>
                      </a:r>
                      <a:endParaRPr lang="en-US" sz="1800" dirty="0"/>
                    </a:p>
                  </a:txBody>
                  <a:tcPr marL="47951" marR="47951" marT="23975" marB="23975" anchor="ctr"/>
                </a:tc>
                <a:tc>
                  <a:txBody>
                    <a:bodyPr/>
                    <a:lstStyle/>
                    <a:p>
                      <a:r>
                        <a:rPr lang="en-US" sz="1800" dirty="0"/>
                        <a:t>What’s the probability of still being event-free at time t?</a:t>
                      </a:r>
                    </a:p>
                  </a:txBody>
                  <a:tcPr marL="47951" marR="47951" marT="23975" marB="23975" anchor="ctr"/>
                </a:tc>
                <a:tc>
                  <a:txBody>
                    <a:bodyPr/>
                    <a:lstStyle/>
                    <a:p>
                      <a:r>
                        <a:rPr lang="en-AU" sz="1800" dirty="0"/>
                        <a:t>Kaplan-Meier, parametric models</a:t>
                      </a:r>
                    </a:p>
                  </a:txBody>
                  <a:tcPr marL="47951" marR="47951" marT="23975" marB="23975" anchor="ctr"/>
                </a:tc>
                <a:tc>
                  <a:txBody>
                    <a:bodyPr/>
                    <a:lstStyle/>
                    <a:p>
                      <a:r>
                        <a:rPr lang="en-AU" sz="1800" b="1" dirty="0"/>
                        <a:t>Survival curves</a:t>
                      </a:r>
                      <a:endParaRPr lang="en-AU" sz="1800" dirty="0"/>
                    </a:p>
                  </a:txBody>
                  <a:tcPr marL="47951" marR="47951" marT="23975" marB="23975" anchor="ctr"/>
                </a:tc>
                <a:extLst>
                  <a:ext uri="{0D108BD9-81ED-4DB2-BD59-A6C34878D82A}">
                    <a16:rowId xmlns:a16="http://schemas.microsoft.com/office/drawing/2014/main" val="2987545169"/>
                  </a:ext>
                </a:extLst>
              </a:tr>
              <a:tr h="926854">
                <a:tc>
                  <a:txBody>
                    <a:bodyPr/>
                    <a:lstStyle/>
                    <a:p>
                      <a:r>
                        <a:rPr lang="en-US" sz="1800" dirty="0"/>
                        <a:t>2. Estimate </a:t>
                      </a:r>
                      <a:r>
                        <a:rPr lang="en-US" sz="1800" b="1" dirty="0"/>
                        <a:t>average survival time</a:t>
                      </a:r>
                      <a:endParaRPr lang="en-US" sz="1800" dirty="0"/>
                    </a:p>
                  </a:txBody>
                  <a:tcPr marL="47951" marR="47951" marT="23975" marB="23975" anchor="ctr"/>
                </a:tc>
                <a:tc>
                  <a:txBody>
                    <a:bodyPr/>
                    <a:lstStyle/>
                    <a:p>
                      <a:r>
                        <a:rPr lang="en-US" sz="1800" dirty="0"/>
                        <a:t>How long do people survive, on average, up to a time point?</a:t>
                      </a:r>
                    </a:p>
                  </a:txBody>
                  <a:tcPr marL="47951" marR="47951" marT="23975" marB="23975" anchor="ctr"/>
                </a:tc>
                <a:tc>
                  <a:txBody>
                    <a:bodyPr/>
                    <a:lstStyle/>
                    <a:p>
                      <a:r>
                        <a:rPr lang="en-AU" sz="1800"/>
                        <a:t>RMST regression</a:t>
                      </a:r>
                    </a:p>
                  </a:txBody>
                  <a:tcPr marL="47951" marR="47951" marT="23975" marB="23975" anchor="ctr"/>
                </a:tc>
                <a:tc>
                  <a:txBody>
                    <a:bodyPr/>
                    <a:lstStyle/>
                    <a:p>
                      <a:r>
                        <a:rPr lang="en-AU" sz="1800" b="1" dirty="0"/>
                        <a:t>Average time survived (RMST)</a:t>
                      </a:r>
                      <a:endParaRPr lang="en-AU" sz="1800" dirty="0"/>
                    </a:p>
                  </a:txBody>
                  <a:tcPr marL="47951" marR="47951" marT="23975" marB="23975" anchor="ctr"/>
                </a:tc>
                <a:extLst>
                  <a:ext uri="{0D108BD9-81ED-4DB2-BD59-A6C34878D82A}">
                    <a16:rowId xmlns:a16="http://schemas.microsoft.com/office/drawing/2014/main" val="2252572675"/>
                  </a:ext>
                </a:extLst>
              </a:tr>
              <a:tr h="926854">
                <a:tc>
                  <a:txBody>
                    <a:bodyPr/>
                    <a:lstStyle/>
                    <a:p>
                      <a:r>
                        <a:rPr lang="en-US" sz="1800" dirty="0"/>
                        <a:t>3. Estimate </a:t>
                      </a:r>
                      <a:r>
                        <a:rPr lang="en-US" sz="1800" b="1" dirty="0"/>
                        <a:t>risk over time</a:t>
                      </a:r>
                      <a:endParaRPr lang="en-US" sz="1800" dirty="0"/>
                    </a:p>
                  </a:txBody>
                  <a:tcPr marL="47951" marR="47951" marT="23975" marB="23975" anchor="ctr"/>
                </a:tc>
                <a:tc>
                  <a:txBody>
                    <a:bodyPr/>
                    <a:lstStyle/>
                    <a:p>
                      <a:r>
                        <a:rPr lang="en-US" sz="1800" dirty="0"/>
                        <a:t>What’s the risk of the event at each time point?</a:t>
                      </a:r>
                    </a:p>
                  </a:txBody>
                  <a:tcPr marL="47951" marR="47951" marT="23975" marB="23975" anchor="ctr"/>
                </a:tc>
                <a:tc>
                  <a:txBody>
                    <a:bodyPr/>
                    <a:lstStyle/>
                    <a:p>
                      <a:r>
                        <a:rPr lang="en-AU" sz="1800" dirty="0"/>
                        <a:t>Cox model, parametric models (e.g., Weibull)</a:t>
                      </a:r>
                    </a:p>
                  </a:txBody>
                  <a:tcPr marL="47951" marR="47951" marT="23975" marB="23975" anchor="ctr"/>
                </a:tc>
                <a:tc>
                  <a:txBody>
                    <a:bodyPr/>
                    <a:lstStyle/>
                    <a:p>
                      <a:r>
                        <a:rPr lang="en-US" sz="1800" b="1" dirty="0"/>
                        <a:t>Hazard ratios</a:t>
                      </a:r>
                      <a:r>
                        <a:rPr lang="en-US" sz="1800" dirty="0"/>
                        <a:t> (e.g., treatment effect)</a:t>
                      </a:r>
                    </a:p>
                  </a:txBody>
                  <a:tcPr marL="47951" marR="47951" marT="23975" marB="23975" anchor="ctr"/>
                </a:tc>
                <a:extLst>
                  <a:ext uri="{0D108BD9-81ED-4DB2-BD59-A6C34878D82A}">
                    <a16:rowId xmlns:a16="http://schemas.microsoft.com/office/drawing/2014/main" val="596375627"/>
                  </a:ext>
                </a:extLst>
              </a:tr>
              <a:tr h="926854">
                <a:tc>
                  <a:txBody>
                    <a:bodyPr/>
                    <a:lstStyle/>
                    <a:p>
                      <a:r>
                        <a:rPr lang="en-AU" sz="1800" dirty="0"/>
                        <a:t>4. Compare </a:t>
                      </a:r>
                      <a:r>
                        <a:rPr lang="en-AU" sz="1800" b="1" dirty="0"/>
                        <a:t>event types</a:t>
                      </a:r>
                      <a:endParaRPr lang="en-AU" sz="1800" dirty="0"/>
                    </a:p>
                  </a:txBody>
                  <a:tcPr marL="47951" marR="47951" marT="23975" marB="23975" anchor="ctr"/>
                </a:tc>
                <a:tc>
                  <a:txBody>
                    <a:bodyPr/>
                    <a:lstStyle/>
                    <a:p>
                      <a:r>
                        <a:rPr lang="en-US" sz="1800" dirty="0"/>
                        <a:t>What’s the chance of dying from cause A vs. cause B?</a:t>
                      </a:r>
                    </a:p>
                  </a:txBody>
                  <a:tcPr marL="47951" marR="47951" marT="23975" marB="23975" anchor="ctr"/>
                </a:tc>
                <a:tc>
                  <a:txBody>
                    <a:bodyPr/>
                    <a:lstStyle/>
                    <a:p>
                      <a:r>
                        <a:rPr lang="en-AU" sz="1800" dirty="0"/>
                        <a:t>Competing risks models</a:t>
                      </a:r>
                    </a:p>
                  </a:txBody>
                  <a:tcPr marL="47951" marR="47951" marT="23975" marB="23975" anchor="ctr"/>
                </a:tc>
                <a:tc>
                  <a:txBody>
                    <a:bodyPr/>
                    <a:lstStyle/>
                    <a:p>
                      <a:r>
                        <a:rPr lang="en-AU" sz="1800" b="1" dirty="0"/>
                        <a:t>Cumulative incidence curves</a:t>
                      </a:r>
                      <a:endParaRPr lang="en-AU" sz="1800" dirty="0"/>
                    </a:p>
                  </a:txBody>
                  <a:tcPr marL="47951" marR="47951" marT="23975" marB="23975" anchor="ctr"/>
                </a:tc>
                <a:extLst>
                  <a:ext uri="{0D108BD9-81ED-4DB2-BD59-A6C34878D82A}">
                    <a16:rowId xmlns:a16="http://schemas.microsoft.com/office/drawing/2014/main" val="2878564748"/>
                  </a:ext>
                </a:extLst>
              </a:tr>
            </a:tbl>
          </a:graphicData>
        </a:graphic>
      </p:graphicFrame>
      <p:sp>
        <p:nvSpPr>
          <p:cNvPr id="3" name="Footer Placeholder 2">
            <a:extLst>
              <a:ext uri="{FF2B5EF4-FFF2-40B4-BE49-F238E27FC236}">
                <a16:creationId xmlns:a16="http://schemas.microsoft.com/office/drawing/2014/main" id="{C3F80FD8-6ABC-B961-196E-EB034685E592}"/>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1321566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860E6-4C92-D0B8-FA64-E8273181C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4DA33-82A8-8C89-7B03-61035ECECEE1}"/>
              </a:ext>
            </a:extLst>
          </p:cNvPr>
          <p:cNvSpPr>
            <a:spLocks noGrp="1"/>
          </p:cNvSpPr>
          <p:nvPr>
            <p:ph type="title"/>
          </p:nvPr>
        </p:nvSpPr>
        <p:spPr/>
        <p:txBody>
          <a:bodyPr/>
          <a:lstStyle/>
          <a:p>
            <a:r>
              <a:rPr lang="en-US" dirty="0"/>
              <a:t>What Can We Model in Survival Analysis?</a:t>
            </a:r>
            <a:endParaRPr lang="en-AU" dirty="0"/>
          </a:p>
        </p:txBody>
      </p:sp>
      <p:graphicFrame>
        <p:nvGraphicFramePr>
          <p:cNvPr id="4" name="Table 3">
            <a:extLst>
              <a:ext uri="{FF2B5EF4-FFF2-40B4-BE49-F238E27FC236}">
                <a16:creationId xmlns:a16="http://schemas.microsoft.com/office/drawing/2014/main" id="{36AA8BD3-5302-4887-2039-BE86C9D7258B}"/>
              </a:ext>
            </a:extLst>
          </p:cNvPr>
          <p:cNvGraphicFramePr>
            <a:graphicFrameLocks noGrp="1"/>
          </p:cNvGraphicFramePr>
          <p:nvPr/>
        </p:nvGraphicFramePr>
        <p:xfrm>
          <a:off x="973777" y="1805048"/>
          <a:ext cx="9524012" cy="4100997"/>
        </p:xfrm>
        <a:graphic>
          <a:graphicData uri="http://schemas.openxmlformats.org/drawingml/2006/table">
            <a:tbl>
              <a:tblPr>
                <a:tableStyleId>{10A1B5D5-9B99-4C35-A422-299274C87663}</a:tableStyleId>
              </a:tblPr>
              <a:tblGrid>
                <a:gridCol w="2381003">
                  <a:extLst>
                    <a:ext uri="{9D8B030D-6E8A-4147-A177-3AD203B41FA5}">
                      <a16:colId xmlns:a16="http://schemas.microsoft.com/office/drawing/2014/main" val="1197216168"/>
                    </a:ext>
                  </a:extLst>
                </a:gridCol>
                <a:gridCol w="2381003">
                  <a:extLst>
                    <a:ext uri="{9D8B030D-6E8A-4147-A177-3AD203B41FA5}">
                      <a16:colId xmlns:a16="http://schemas.microsoft.com/office/drawing/2014/main" val="636646469"/>
                    </a:ext>
                  </a:extLst>
                </a:gridCol>
                <a:gridCol w="2381003">
                  <a:extLst>
                    <a:ext uri="{9D8B030D-6E8A-4147-A177-3AD203B41FA5}">
                      <a16:colId xmlns:a16="http://schemas.microsoft.com/office/drawing/2014/main" val="314655829"/>
                    </a:ext>
                  </a:extLst>
                </a:gridCol>
                <a:gridCol w="2381003">
                  <a:extLst>
                    <a:ext uri="{9D8B030D-6E8A-4147-A177-3AD203B41FA5}">
                      <a16:colId xmlns:a16="http://schemas.microsoft.com/office/drawing/2014/main" val="433144649"/>
                    </a:ext>
                  </a:extLst>
                </a:gridCol>
              </a:tblGrid>
              <a:tr h="380012">
                <a:tc>
                  <a:txBody>
                    <a:bodyPr/>
                    <a:lstStyle/>
                    <a:p>
                      <a:r>
                        <a:rPr lang="en-AU" sz="1800" b="1">
                          <a:solidFill>
                            <a:schemeClr val="bg1"/>
                          </a:solidFill>
                        </a:rPr>
                        <a:t>Goal</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Question</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Model Type</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What We Get</a:t>
                      </a:r>
                      <a:endParaRPr lang="en-AU" sz="1800" dirty="0">
                        <a:solidFill>
                          <a:schemeClr val="bg1"/>
                        </a:solidFill>
                      </a:endParaRPr>
                    </a:p>
                  </a:txBody>
                  <a:tcPr marL="47951" marR="47951" marT="23975" marB="23975" anchor="ctr">
                    <a:solidFill>
                      <a:schemeClr val="accent6">
                        <a:lumMod val="75000"/>
                      </a:schemeClr>
                    </a:solidFill>
                  </a:tcPr>
                </a:tc>
                <a:extLst>
                  <a:ext uri="{0D108BD9-81ED-4DB2-BD59-A6C34878D82A}">
                    <a16:rowId xmlns:a16="http://schemas.microsoft.com/office/drawing/2014/main" val="450438816"/>
                  </a:ext>
                </a:extLst>
              </a:tr>
              <a:tr h="665019">
                <a:tc>
                  <a:txBody>
                    <a:bodyPr/>
                    <a:lstStyle/>
                    <a:p>
                      <a:r>
                        <a:rPr lang="en-US" sz="1800" dirty="0"/>
                        <a:t>5. Predict </a:t>
                      </a:r>
                      <a:r>
                        <a:rPr lang="en-US" sz="1800" b="1" dirty="0"/>
                        <a:t>specific time points</a:t>
                      </a:r>
                      <a:endParaRPr lang="en-US" sz="1800" dirty="0"/>
                    </a:p>
                  </a:txBody>
                  <a:tcPr marL="47951" marR="47951" marT="23975" marB="23975" anchor="ctr"/>
                </a:tc>
                <a:tc>
                  <a:txBody>
                    <a:bodyPr/>
                    <a:lstStyle/>
                    <a:p>
                      <a:r>
                        <a:rPr lang="en-US" sz="1800"/>
                        <a:t>When will 50% of people experience the event?</a:t>
                      </a:r>
                    </a:p>
                  </a:txBody>
                  <a:tcPr marL="47951" marR="47951" marT="23975" marB="23975" anchor="ctr"/>
                </a:tc>
                <a:tc>
                  <a:txBody>
                    <a:bodyPr/>
                    <a:lstStyle/>
                    <a:p>
                      <a:r>
                        <a:rPr lang="en-AU" sz="1800"/>
                        <a:t>Quantile survival models</a:t>
                      </a:r>
                    </a:p>
                  </a:txBody>
                  <a:tcPr marL="47951" marR="47951" marT="23975" marB="23975" anchor="ctr"/>
                </a:tc>
                <a:tc>
                  <a:txBody>
                    <a:bodyPr/>
                    <a:lstStyle/>
                    <a:p>
                      <a:r>
                        <a:rPr lang="en-AU" sz="1800" b="1" dirty="0"/>
                        <a:t>Median survival time</a:t>
                      </a:r>
                      <a:endParaRPr lang="en-AU" sz="1800" dirty="0"/>
                    </a:p>
                  </a:txBody>
                  <a:tcPr marL="47951" marR="47951" marT="23975" marB="23975" anchor="ctr"/>
                </a:tc>
                <a:extLst>
                  <a:ext uri="{0D108BD9-81ED-4DB2-BD59-A6C34878D82A}">
                    <a16:rowId xmlns:a16="http://schemas.microsoft.com/office/drawing/2014/main" val="1149085007"/>
                  </a:ext>
                </a:extLst>
              </a:tr>
              <a:tr h="950025">
                <a:tc>
                  <a:txBody>
                    <a:bodyPr/>
                    <a:lstStyle/>
                    <a:p>
                      <a:r>
                        <a:rPr lang="en-AU" sz="1800"/>
                        <a:t>6. Model </a:t>
                      </a:r>
                      <a:r>
                        <a:rPr lang="en-AU" sz="1800" b="1"/>
                        <a:t>time directly</a:t>
                      </a:r>
                      <a:endParaRPr lang="en-AU" sz="1800"/>
                    </a:p>
                  </a:txBody>
                  <a:tcPr marL="47951" marR="47951" marT="23975" marB="23975" anchor="ctr"/>
                </a:tc>
                <a:tc>
                  <a:txBody>
                    <a:bodyPr/>
                    <a:lstStyle/>
                    <a:p>
                      <a:r>
                        <a:rPr lang="en-US" sz="1800"/>
                        <a:t>How much longer does one group survive than another?</a:t>
                      </a:r>
                    </a:p>
                  </a:txBody>
                  <a:tcPr marL="47951" marR="47951" marT="23975" marB="23975" anchor="ctr"/>
                </a:tc>
                <a:tc>
                  <a:txBody>
                    <a:bodyPr/>
                    <a:lstStyle/>
                    <a:p>
                      <a:r>
                        <a:rPr lang="en-US" sz="1800" dirty="0"/>
                        <a:t>Accelerated failure time (AFT) models</a:t>
                      </a:r>
                    </a:p>
                  </a:txBody>
                  <a:tcPr marL="47951" marR="47951" marT="23975" marB="23975" anchor="ctr"/>
                </a:tc>
                <a:tc>
                  <a:txBody>
                    <a:bodyPr/>
                    <a:lstStyle/>
                    <a:p>
                      <a:r>
                        <a:rPr lang="en-AU" sz="1800" b="1"/>
                        <a:t>Time ratios</a:t>
                      </a:r>
                      <a:endParaRPr lang="en-AU" sz="1800"/>
                    </a:p>
                  </a:txBody>
                  <a:tcPr marL="47951" marR="47951" marT="23975" marB="23975" anchor="ctr"/>
                </a:tc>
                <a:extLst>
                  <a:ext uri="{0D108BD9-81ED-4DB2-BD59-A6C34878D82A}">
                    <a16:rowId xmlns:a16="http://schemas.microsoft.com/office/drawing/2014/main" val="1414395270"/>
                  </a:ext>
                </a:extLst>
              </a:tr>
              <a:tr h="950025">
                <a:tc>
                  <a:txBody>
                    <a:bodyPr/>
                    <a:lstStyle/>
                    <a:p>
                      <a:r>
                        <a:rPr lang="en-AU" sz="1800"/>
                        <a:t>7. Study </a:t>
                      </a:r>
                      <a:r>
                        <a:rPr lang="en-AU" sz="1800" b="1"/>
                        <a:t>repeated events</a:t>
                      </a:r>
                      <a:endParaRPr lang="en-AU" sz="1800"/>
                    </a:p>
                  </a:txBody>
                  <a:tcPr marL="47951" marR="47951" marT="23975" marB="23975" anchor="ctr"/>
                </a:tc>
                <a:tc>
                  <a:txBody>
                    <a:bodyPr/>
                    <a:lstStyle/>
                    <a:p>
                      <a:r>
                        <a:rPr lang="en-US" sz="1800"/>
                        <a:t>What happens when events can occur more than once?</a:t>
                      </a:r>
                    </a:p>
                  </a:txBody>
                  <a:tcPr marL="47951" marR="47951" marT="23975" marB="23975" anchor="ctr"/>
                </a:tc>
                <a:tc>
                  <a:txBody>
                    <a:bodyPr/>
                    <a:lstStyle/>
                    <a:p>
                      <a:r>
                        <a:rPr lang="en-AU" sz="1800"/>
                        <a:t>Recurrent event models</a:t>
                      </a:r>
                    </a:p>
                  </a:txBody>
                  <a:tcPr marL="47951" marR="47951" marT="23975" marB="23975" anchor="ctr"/>
                </a:tc>
                <a:tc>
                  <a:txBody>
                    <a:bodyPr/>
                    <a:lstStyle/>
                    <a:p>
                      <a:r>
                        <a:rPr lang="en-AU" sz="1800" b="1"/>
                        <a:t>Rate of events</a:t>
                      </a:r>
                      <a:endParaRPr lang="en-AU" sz="1800"/>
                    </a:p>
                  </a:txBody>
                  <a:tcPr marL="47951" marR="47951" marT="23975" marB="23975" anchor="ctr"/>
                </a:tc>
                <a:extLst>
                  <a:ext uri="{0D108BD9-81ED-4DB2-BD59-A6C34878D82A}">
                    <a16:rowId xmlns:a16="http://schemas.microsoft.com/office/drawing/2014/main" val="4256287718"/>
                  </a:ext>
                </a:extLst>
              </a:tr>
              <a:tr h="950025">
                <a:tc>
                  <a:txBody>
                    <a:bodyPr/>
                    <a:lstStyle/>
                    <a:p>
                      <a:r>
                        <a:rPr lang="en-AU" sz="1800"/>
                        <a:t>8. Understand </a:t>
                      </a:r>
                      <a:r>
                        <a:rPr lang="en-AU" sz="1800" b="1"/>
                        <a:t>causal effects</a:t>
                      </a:r>
                      <a:endParaRPr lang="en-AU" sz="1800"/>
                    </a:p>
                  </a:txBody>
                  <a:tcPr marL="47951" marR="47951" marT="23975" marB="23975" anchor="ctr"/>
                </a:tc>
                <a:tc>
                  <a:txBody>
                    <a:bodyPr/>
                    <a:lstStyle/>
                    <a:p>
                      <a:r>
                        <a:rPr lang="en-US" sz="1800"/>
                        <a:t>What would happen if we changed treatment or exposure?</a:t>
                      </a:r>
                    </a:p>
                  </a:txBody>
                  <a:tcPr marL="47951" marR="47951" marT="23975" marB="23975" anchor="ctr"/>
                </a:tc>
                <a:tc>
                  <a:txBody>
                    <a:bodyPr/>
                    <a:lstStyle/>
                    <a:p>
                      <a:r>
                        <a:rPr lang="en-AU" sz="1800" dirty="0"/>
                        <a:t>Causal survival models (IPW, g-formula)</a:t>
                      </a:r>
                    </a:p>
                  </a:txBody>
                  <a:tcPr marL="47951" marR="47951" marT="23975" marB="23975" anchor="ctr"/>
                </a:tc>
                <a:tc>
                  <a:txBody>
                    <a:bodyPr/>
                    <a:lstStyle/>
                    <a:p>
                      <a:r>
                        <a:rPr lang="en-US" sz="1800" b="1" dirty="0"/>
                        <a:t>Causal estimates</a:t>
                      </a:r>
                      <a:r>
                        <a:rPr lang="en-US" sz="1800" dirty="0"/>
                        <a:t> like survival curves or RMST</a:t>
                      </a:r>
                    </a:p>
                  </a:txBody>
                  <a:tcPr marL="47951" marR="47951" marT="23975" marB="23975" anchor="ctr"/>
                </a:tc>
                <a:extLst>
                  <a:ext uri="{0D108BD9-81ED-4DB2-BD59-A6C34878D82A}">
                    <a16:rowId xmlns:a16="http://schemas.microsoft.com/office/drawing/2014/main" val="1164728537"/>
                  </a:ext>
                </a:extLst>
              </a:tr>
            </a:tbl>
          </a:graphicData>
        </a:graphic>
      </p:graphicFrame>
      <p:sp>
        <p:nvSpPr>
          <p:cNvPr id="3" name="Footer Placeholder 2">
            <a:extLst>
              <a:ext uri="{FF2B5EF4-FFF2-40B4-BE49-F238E27FC236}">
                <a16:creationId xmlns:a16="http://schemas.microsoft.com/office/drawing/2014/main" id="{2D85460D-2275-C50F-7367-7F8C60297D46}"/>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56395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CBDA714-8544-B91B-A350-BD2177230164}"/>
              </a:ext>
            </a:extLst>
          </p:cNvPr>
          <p:cNvSpPr>
            <a:spLocks noGrp="1"/>
          </p:cNvSpPr>
          <p:nvPr>
            <p:ph idx="1"/>
          </p:nvPr>
        </p:nvSpPr>
        <p:spPr>
          <a:xfrm>
            <a:off x="704088" y="2141220"/>
            <a:ext cx="10691265" cy="2926080"/>
          </a:xfrm>
        </p:spPr>
        <p:txBody>
          <a:bodyPr>
            <a:normAutofit lnSpcReduction="10000"/>
          </a:bodyPr>
          <a:lstStyle/>
          <a:p>
            <a:pPr marL="0" indent="0">
              <a:buNone/>
            </a:pPr>
            <a:r>
              <a:rPr lang="en-US" sz="2800" dirty="0"/>
              <a:t>What is “risk over time”?</a:t>
            </a:r>
          </a:p>
          <a:p>
            <a:pPr marL="0" indent="0">
              <a:buNone/>
            </a:pPr>
            <a:r>
              <a:rPr lang="en-US" dirty="0"/>
              <a:t>It’s the event </a:t>
            </a:r>
            <a:r>
              <a:rPr lang="en-US" b="1" dirty="0"/>
              <a:t>rate at a particular time</a:t>
            </a:r>
            <a:r>
              <a:rPr lang="en-US" dirty="0"/>
              <a:t>, among people who have </a:t>
            </a:r>
            <a:r>
              <a:rPr lang="en-US" i="1" dirty="0"/>
              <a:t>not yet</a:t>
            </a:r>
            <a:r>
              <a:rPr lang="en-US" dirty="0"/>
              <a:t> had the event. </a:t>
            </a:r>
          </a:p>
          <a:p>
            <a:pPr marL="0" indent="0">
              <a:buNone/>
            </a:pPr>
            <a:endParaRPr lang="en-US" dirty="0"/>
          </a:p>
          <a:p>
            <a:r>
              <a:rPr lang="en-US" i="1" dirty="0"/>
              <a:t>Survival probability</a:t>
            </a:r>
            <a:r>
              <a:rPr lang="en-US" dirty="0"/>
              <a:t> (KM curve) is like the odometer reading: “how far we’ve gone without the event” (chance of still event-free by time </a:t>
            </a:r>
            <a:r>
              <a:rPr lang="en-US" i="1" dirty="0"/>
              <a:t>t</a:t>
            </a:r>
            <a:r>
              <a:rPr lang="en-US" dirty="0"/>
              <a:t>)</a:t>
            </a:r>
          </a:p>
          <a:p>
            <a:r>
              <a:rPr lang="en-US" i="1" dirty="0"/>
              <a:t>Hazard</a:t>
            </a:r>
            <a:r>
              <a:rPr lang="en-US" dirty="0"/>
              <a:t> is the speedometer: “how fast events are happening </a:t>
            </a:r>
            <a:r>
              <a:rPr lang="en-US" i="1" dirty="0"/>
              <a:t>right now</a:t>
            </a:r>
            <a:r>
              <a:rPr lang="en-US" dirty="0"/>
              <a:t> among those still event-free.”</a:t>
            </a:r>
          </a:p>
          <a:p>
            <a:pPr marL="0" indent="0">
              <a:buNone/>
            </a:pPr>
            <a:endParaRPr lang="en-AU" dirty="0"/>
          </a:p>
        </p:txBody>
      </p:sp>
      <p:sp>
        <p:nvSpPr>
          <p:cNvPr id="4" name="Footer Placeholder 3">
            <a:extLst>
              <a:ext uri="{FF2B5EF4-FFF2-40B4-BE49-F238E27FC236}">
                <a16:creationId xmlns:a16="http://schemas.microsoft.com/office/drawing/2014/main" id="{EED78F8B-DDB7-E89A-FD6F-11EB953DF010}"/>
              </a:ext>
            </a:extLst>
          </p:cNvPr>
          <p:cNvSpPr>
            <a:spLocks noGrp="1"/>
          </p:cNvSpPr>
          <p:nvPr>
            <p:ph type="ftr" sz="quarter" idx="11"/>
          </p:nvPr>
        </p:nvSpPr>
        <p:spPr/>
        <p:txBody>
          <a:bodyPr/>
          <a:lstStyle/>
          <a:p>
            <a:r>
              <a:rPr lang="en-US"/>
              <a:t>Farzaneh.Boroumand@Sydney.edu.au</a:t>
            </a:r>
            <a:endParaRPr lang="en-US" dirty="0"/>
          </a:p>
        </p:txBody>
      </p:sp>
      <p:pic>
        <p:nvPicPr>
          <p:cNvPr id="5" name="Picture 4">
            <a:extLst>
              <a:ext uri="{FF2B5EF4-FFF2-40B4-BE49-F238E27FC236}">
                <a16:creationId xmlns:a16="http://schemas.microsoft.com/office/drawing/2014/main" id="{689408CF-C07A-F832-4BD1-07F703056A44}"/>
              </a:ext>
            </a:extLst>
          </p:cNvPr>
          <p:cNvPicPr>
            <a:picLocks noChangeAspect="1"/>
          </p:cNvPicPr>
          <p:nvPr/>
        </p:nvPicPr>
        <p:blipFill>
          <a:blip r:embed="rId2"/>
          <a:stretch>
            <a:fillRect/>
          </a:stretch>
        </p:blipFill>
        <p:spPr>
          <a:xfrm>
            <a:off x="8397240" y="883959"/>
            <a:ext cx="2872740" cy="1645841"/>
          </a:xfrm>
          <a:prstGeom prst="rect">
            <a:avLst/>
          </a:prstGeom>
        </p:spPr>
      </p:pic>
    </p:spTree>
    <p:extLst>
      <p:ext uri="{BB962C8B-B14F-4D97-AF65-F5344CB8AC3E}">
        <p14:creationId xmlns:p14="http://schemas.microsoft.com/office/powerpoint/2010/main" val="4249677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1B8E-56C9-C384-BFB1-486E77594026}"/>
              </a:ext>
            </a:extLst>
          </p:cNvPr>
          <p:cNvSpPr>
            <a:spLocks noGrp="1"/>
          </p:cNvSpPr>
          <p:nvPr>
            <p:ph type="title"/>
          </p:nvPr>
        </p:nvSpPr>
        <p:spPr/>
        <p:txBody>
          <a:bodyPr/>
          <a:lstStyle/>
          <a:p>
            <a:r>
              <a:rPr lang="en-AU" dirty="0"/>
              <a:t>What is the link to survival?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1CD27B-BA02-4738-3D23-5C4A980AA5A6}"/>
                  </a:ext>
                </a:extLst>
              </p:cNvPr>
              <p:cNvSpPr>
                <a:spLocks noGrp="1"/>
              </p:cNvSpPr>
              <p:nvPr>
                <p:ph idx="1"/>
              </p:nvPr>
            </p:nvSpPr>
            <p:spPr/>
            <p:txBody>
              <a:bodyPr>
                <a:normAutofit/>
              </a:bodyPr>
              <a:lstStyle/>
              <a:p>
                <a:r>
                  <a:rPr lang="en-AU" dirty="0"/>
                  <a:t>Cumulative hazard: </a:t>
                </a:r>
                <a14:m>
                  <m:oMath xmlns:m="http://schemas.openxmlformats.org/officeDocument/2006/math">
                    <m:r>
                      <a:rPr lang="en-AU" b="0" i="1" smtClean="0">
                        <a:latin typeface="Cambria Math" panose="02040503050406030204" pitchFamily="18" charset="0"/>
                      </a:rPr>
                      <m:t>𝐻</m:t>
                    </m:r>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AU" b="0" i="1" smtClean="0">
                        <a:latin typeface="Cambria Math" panose="02040503050406030204" pitchFamily="18" charset="0"/>
                      </a:rPr>
                      <m:t>=</m:t>
                    </m:r>
                    <m:nary>
                      <m:naryPr>
                        <m:limLoc m:val="undOvr"/>
                        <m:ctrlPr>
                          <a:rPr lang="en-AU" b="0" i="1" smtClean="0">
                            <a:latin typeface="Cambria Math" panose="02040503050406030204" pitchFamily="18" charset="0"/>
                          </a:rPr>
                        </m:ctrlPr>
                      </m:naryPr>
                      <m:sub>
                        <m:r>
                          <m:rPr>
                            <m:brk m:alnAt="24"/>
                          </m:rPr>
                          <a:rPr lang="en-AU" b="0" i="1" smtClean="0">
                            <a:latin typeface="Cambria Math" panose="02040503050406030204" pitchFamily="18" charset="0"/>
                          </a:rPr>
                          <m:t>0</m:t>
                        </m:r>
                      </m:sub>
                      <m:sup>
                        <m:r>
                          <a:rPr lang="en-AU" b="0" i="1" smtClean="0">
                            <a:latin typeface="Cambria Math" panose="02040503050406030204" pitchFamily="18" charset="0"/>
                          </a:rPr>
                          <m:t>𝑡</m:t>
                        </m:r>
                      </m:sup>
                      <m:e>
                        <m:r>
                          <a:rPr lang="en-AU" b="0" i="1" smtClean="0">
                            <a:latin typeface="Cambria Math" panose="02040503050406030204" pitchFamily="18" charset="0"/>
                          </a:rPr>
                          <m:t>h</m:t>
                        </m:r>
                        <m:d>
                          <m:dPr>
                            <m:ctrlPr>
                              <a:rPr lang="en-AU" b="0" i="1" smtClean="0">
                                <a:latin typeface="Cambria Math" panose="02040503050406030204" pitchFamily="18" charset="0"/>
                              </a:rPr>
                            </m:ctrlPr>
                          </m:dPr>
                          <m:e>
                            <m:r>
                              <a:rPr lang="en-AU" b="0" i="1" smtClean="0">
                                <a:latin typeface="Cambria Math" panose="02040503050406030204" pitchFamily="18" charset="0"/>
                              </a:rPr>
                              <m:t>𝑢</m:t>
                            </m:r>
                          </m:e>
                        </m:d>
                        <m:r>
                          <a:rPr lang="en-AU" b="0" i="1" smtClean="0">
                            <a:latin typeface="Cambria Math" panose="02040503050406030204" pitchFamily="18" charset="0"/>
                          </a:rPr>
                          <m:t>𝑑𝑢</m:t>
                        </m:r>
                      </m:e>
                    </m:nary>
                  </m:oMath>
                </a14:m>
                <a:endParaRPr lang="en-AU" b="0" dirty="0"/>
              </a:p>
              <a:p>
                <a:r>
                  <a:rPr lang="en-AU" dirty="0"/>
                  <a:t>Survival curve: </a:t>
                </a:r>
                <a14:m>
                  <m:oMath xmlns:m="http://schemas.openxmlformats.org/officeDocument/2006/math">
                    <m:r>
                      <a:rPr lang="en-AU" b="0" i="1" smtClean="0">
                        <a:latin typeface="Cambria Math" panose="02040503050406030204" pitchFamily="18" charset="0"/>
                      </a:rPr>
                      <m:t>𝑆</m:t>
                    </m:r>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AU" b="0" i="1" smtClean="0">
                        <a:latin typeface="Cambria Math" panose="02040503050406030204" pitchFamily="18" charset="0"/>
                      </a:rPr>
                      <m:t>=</m:t>
                    </m:r>
                    <m:r>
                      <m:rPr>
                        <m:sty m:val="p"/>
                      </m:rPr>
                      <a:rPr lang="en-AU" b="0" i="0" smtClean="0">
                        <a:latin typeface="Cambria Math" panose="02040503050406030204" pitchFamily="18" charset="0"/>
                      </a:rPr>
                      <m:t>exp</m:t>
                    </m:r>
                    <m:r>
                      <a:rPr lang="en-AU" b="0" i="1" smtClean="0">
                        <a:latin typeface="Cambria Math" panose="02040503050406030204" pitchFamily="18" charset="0"/>
                      </a:rPr>
                      <m:t>⁡{−</m:t>
                    </m:r>
                    <m:r>
                      <a:rPr lang="en-AU" b="0" i="1" smtClean="0">
                        <a:latin typeface="Cambria Math" panose="02040503050406030204" pitchFamily="18" charset="0"/>
                      </a:rPr>
                      <m:t>𝐻</m:t>
                    </m:r>
                    <m:r>
                      <a:rPr lang="en-AU" b="0" i="1" smtClean="0">
                        <a:latin typeface="Cambria Math" panose="02040503050406030204" pitchFamily="18" charset="0"/>
                      </a:rPr>
                      <m:t>(</m:t>
                    </m:r>
                    <m:r>
                      <a:rPr lang="en-AU" b="0" i="1" smtClean="0">
                        <a:latin typeface="Cambria Math" panose="02040503050406030204" pitchFamily="18" charset="0"/>
                      </a:rPr>
                      <m:t>𝑡</m:t>
                    </m:r>
                    <m:r>
                      <a:rPr lang="en-AU" b="0" i="1" smtClean="0">
                        <a:latin typeface="Cambria Math" panose="02040503050406030204" pitchFamily="18" charset="0"/>
                      </a:rPr>
                      <m:t>)}</m:t>
                    </m:r>
                  </m:oMath>
                </a14:m>
                <a:endParaRPr lang="en-AU" dirty="0"/>
              </a:p>
              <a:p>
                <a:endParaRPr lang="en-AU" dirty="0"/>
              </a:p>
              <a:p>
                <a:pPr marL="0" indent="0">
                  <a:buNone/>
                </a:pPr>
                <a:r>
                  <a:rPr lang="en-US" b="1" dirty="0"/>
                  <a:t>The speedometer (hazard) determines the odometer (survival):</a:t>
                </a:r>
              </a:p>
              <a:p>
                <a:pPr marL="0" indent="0">
                  <a:buNone/>
                </a:pPr>
                <a:r>
                  <a:rPr lang="en-US" sz="1800" dirty="0"/>
                  <a:t>If we know the speed at each second, we can calculate the total distance travelled in one hour by adding up (integrating) those speeds over time. Similarly, if we know the hazard at each moment, we can calculate the cumulative hazard over a period of time. From the cumulative hazard, we can then determine the survival probability — how far we’ve made it without experiencing the event since the initial starting point.</a:t>
                </a:r>
              </a:p>
              <a:p>
                <a:pPr marL="0" indent="0">
                  <a:buNone/>
                </a:pPr>
                <a:r>
                  <a:rPr lang="en-US" sz="1800" b="1" i="1" dirty="0">
                    <a:solidFill>
                      <a:srgbClr val="FF0000"/>
                    </a:solidFill>
                  </a:rPr>
                  <a:t>Parametric models assume the "speed" (hazard) follows a specific mathematical formula (distribution) over time.</a:t>
                </a:r>
                <a:endParaRPr lang="en-AU" sz="1800" b="1" i="1" dirty="0">
                  <a:solidFill>
                    <a:srgbClr val="FF0000"/>
                  </a:solidFill>
                </a:endParaRPr>
              </a:p>
            </p:txBody>
          </p:sp>
        </mc:Choice>
        <mc:Fallback xmlns="">
          <p:sp>
            <p:nvSpPr>
              <p:cNvPr id="3" name="Content Placeholder 2">
                <a:extLst>
                  <a:ext uri="{FF2B5EF4-FFF2-40B4-BE49-F238E27FC236}">
                    <a16:creationId xmlns:a16="http://schemas.microsoft.com/office/drawing/2014/main" id="{A31CD27B-BA02-4738-3D23-5C4A980AA5A6}"/>
                  </a:ext>
                </a:extLst>
              </p:cNvPr>
              <p:cNvSpPr>
                <a:spLocks noGrp="1" noRot="1" noChangeAspect="1" noMove="1" noResize="1" noEditPoints="1" noAdjustHandles="1" noChangeArrowheads="1" noChangeShapeType="1" noTextEdit="1"/>
              </p:cNvSpPr>
              <p:nvPr>
                <p:ph idx="1"/>
              </p:nvPr>
            </p:nvSpPr>
            <p:spPr>
              <a:blipFill>
                <a:blip r:embed="rId3"/>
                <a:stretch>
                  <a:fillRect l="-627" b="-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01CFF6E1-E6B7-972A-0F9A-CF71FB52BCF3}"/>
              </a:ext>
            </a:extLst>
          </p:cNvPr>
          <p:cNvSpPr>
            <a:spLocks noGrp="1"/>
          </p:cNvSpPr>
          <p:nvPr>
            <p:ph type="ftr" sz="quarter" idx="11"/>
          </p:nvPr>
        </p:nvSpPr>
        <p:spPr/>
        <p:txBody>
          <a:bodyPr/>
          <a:lstStyle/>
          <a:p>
            <a:r>
              <a:rPr lang="en-US" dirty="0"/>
              <a:t>Farzaneh.Boroumand@Sydney.edu.au</a:t>
            </a:r>
          </a:p>
        </p:txBody>
      </p:sp>
      <p:pic>
        <p:nvPicPr>
          <p:cNvPr id="6" name="Picture 5">
            <a:extLst>
              <a:ext uri="{FF2B5EF4-FFF2-40B4-BE49-F238E27FC236}">
                <a16:creationId xmlns:a16="http://schemas.microsoft.com/office/drawing/2014/main" id="{344BCCEF-E8DE-345B-F211-7DA31D50B652}"/>
              </a:ext>
            </a:extLst>
          </p:cNvPr>
          <p:cNvPicPr>
            <a:picLocks noChangeAspect="1"/>
          </p:cNvPicPr>
          <p:nvPr/>
        </p:nvPicPr>
        <p:blipFill>
          <a:blip r:embed="rId4"/>
          <a:stretch>
            <a:fillRect/>
          </a:stretch>
        </p:blipFill>
        <p:spPr>
          <a:xfrm>
            <a:off x="8442995" y="884008"/>
            <a:ext cx="2871465" cy="1646063"/>
          </a:xfrm>
          <a:prstGeom prst="rect">
            <a:avLst/>
          </a:prstGeom>
        </p:spPr>
      </p:pic>
    </p:spTree>
    <p:extLst>
      <p:ext uri="{BB962C8B-B14F-4D97-AF65-F5344CB8AC3E}">
        <p14:creationId xmlns:p14="http://schemas.microsoft.com/office/powerpoint/2010/main" val="3996052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A11E-2627-E1F6-2E3E-B379C8659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185EC-8A20-E3A6-8B0C-7F84D1D7BEB9}"/>
              </a:ext>
            </a:extLst>
          </p:cNvPr>
          <p:cNvSpPr>
            <a:spLocks noGrp="1"/>
          </p:cNvSpPr>
          <p:nvPr>
            <p:ph type="title"/>
          </p:nvPr>
        </p:nvSpPr>
        <p:spPr/>
        <p:txBody>
          <a:bodyPr/>
          <a:lstStyle/>
          <a:p>
            <a:r>
              <a:rPr lang="en-US" dirty="0"/>
              <a:t>Common distributions</a:t>
            </a:r>
            <a:endParaRPr lang="en-AU" dirty="0"/>
          </a:p>
        </p:txBody>
      </p:sp>
      <p:sp>
        <p:nvSpPr>
          <p:cNvPr id="3" name="Content Placeholder 2">
            <a:extLst>
              <a:ext uri="{FF2B5EF4-FFF2-40B4-BE49-F238E27FC236}">
                <a16:creationId xmlns:a16="http://schemas.microsoft.com/office/drawing/2014/main" id="{FD53372F-2AB1-32A9-D792-E9BF977CAB58}"/>
              </a:ext>
            </a:extLst>
          </p:cNvPr>
          <p:cNvSpPr>
            <a:spLocks noGrp="1"/>
          </p:cNvSpPr>
          <p:nvPr>
            <p:ph idx="1"/>
          </p:nvPr>
        </p:nvSpPr>
        <p:spPr/>
        <p:txBody>
          <a:bodyPr>
            <a:normAutofit lnSpcReduction="10000"/>
          </a:bodyPr>
          <a:lstStyle/>
          <a:p>
            <a:r>
              <a:rPr lang="en-US" dirty="0"/>
              <a:t>Distributions commonly used for parametric survival models:</a:t>
            </a:r>
          </a:p>
          <a:p>
            <a:pPr lvl="1"/>
            <a:r>
              <a:rPr lang="en-US" b="1" dirty="0"/>
              <a:t>Exponential: </a:t>
            </a:r>
            <a:r>
              <a:rPr lang="en-US" dirty="0"/>
              <a:t>constant hazard (e.g., a speedometer stuck at 100 km/h)</a:t>
            </a:r>
          </a:p>
          <a:p>
            <a:pPr lvl="1"/>
            <a:r>
              <a:rPr lang="en-US" b="1" dirty="0"/>
              <a:t>Weibull: </a:t>
            </a:r>
            <a:r>
              <a:rPr lang="en-US" dirty="0"/>
              <a:t>monotonic hazard that can either increase or decrease over time (e.g., a car constantly accelerating or decelerating)</a:t>
            </a:r>
          </a:p>
          <a:p>
            <a:pPr lvl="1"/>
            <a:r>
              <a:rPr lang="en-US" b="1" dirty="0"/>
              <a:t>Log-logistic/lognormal: </a:t>
            </a:r>
            <a:r>
              <a:rPr lang="en-US" dirty="0"/>
              <a:t>useful for unimodal non-</a:t>
            </a:r>
            <a:r>
              <a:rPr lang="en-US" dirty="0" err="1"/>
              <a:t>monotic</a:t>
            </a:r>
            <a:r>
              <a:rPr lang="en-US" dirty="0"/>
              <a:t> hazard that first increases and then decreases (e.g., recovery from surgery)</a:t>
            </a:r>
          </a:p>
          <a:p>
            <a:pPr lvl="1"/>
            <a:r>
              <a:rPr lang="en-US" b="1" dirty="0"/>
              <a:t>Generalized gamma: </a:t>
            </a:r>
            <a:r>
              <a:rPr lang="en-US" dirty="0"/>
              <a:t>can accommodate various different hazard shapes (constant, increasing, decreasing, unimodal, bathtub)</a:t>
            </a:r>
            <a:endParaRPr lang="en-US" b="1" dirty="0"/>
          </a:p>
          <a:p>
            <a:pPr lvl="1"/>
            <a:r>
              <a:rPr lang="en-US" b="1" dirty="0"/>
              <a:t>Gompertz:</a:t>
            </a:r>
            <a:r>
              <a:rPr lang="en-US" dirty="0"/>
              <a:t> useful for modeling human mortality where hazard increases exponentially with age</a:t>
            </a:r>
          </a:p>
          <a:p>
            <a:pPr lvl="1"/>
            <a:r>
              <a:rPr lang="en-US" b="1" dirty="0"/>
              <a:t>Piecewise exponential: </a:t>
            </a:r>
            <a:r>
              <a:rPr lang="en-US" dirty="0"/>
              <a:t>a bridge between parametric and Cox models, uses a step-function approach to modelling flexible hazards by assuming a constant hazard with pre-defined time intervals</a:t>
            </a:r>
          </a:p>
          <a:p>
            <a:endParaRPr lang="en-US" b="1" dirty="0"/>
          </a:p>
        </p:txBody>
      </p:sp>
      <p:sp>
        <p:nvSpPr>
          <p:cNvPr id="4" name="Footer Placeholder 3">
            <a:extLst>
              <a:ext uri="{FF2B5EF4-FFF2-40B4-BE49-F238E27FC236}">
                <a16:creationId xmlns:a16="http://schemas.microsoft.com/office/drawing/2014/main" id="{910FF830-43B3-6B80-B5E2-D996FB7DF043}"/>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4095836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282B-26A1-2F95-3D6F-CB2EF1CB9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C6D6C-64CD-C3F7-8B3F-5A23E95BFF04}"/>
              </a:ext>
            </a:extLst>
          </p:cNvPr>
          <p:cNvSpPr>
            <a:spLocks noGrp="1"/>
          </p:cNvSpPr>
          <p:nvPr>
            <p:ph type="title"/>
          </p:nvPr>
        </p:nvSpPr>
        <p:spPr/>
        <p:txBody>
          <a:bodyPr/>
          <a:lstStyle/>
          <a:p>
            <a:r>
              <a:rPr lang="en-US" dirty="0"/>
              <a:t>Exponential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9F6527-6D68-716A-D2BA-E51C5440E2F2}"/>
                  </a:ext>
                </a:extLst>
              </p:cNvPr>
              <p:cNvSpPr>
                <a:spLocks noGrp="1"/>
              </p:cNvSpPr>
              <p:nvPr>
                <p:ph idx="1"/>
              </p:nvPr>
            </p:nvSpPr>
            <p:spPr/>
            <p:txBody>
              <a:bodyPr>
                <a:normAutofit/>
              </a:bodyPr>
              <a:lstStyle/>
              <a:p>
                <a:r>
                  <a:rPr lang="en-US" dirty="0"/>
                  <a:t>Suppose that the survival times of n individuals, </a:t>
                </a:r>
                <a14:m>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𝑡</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𝑡</m:t>
                        </m:r>
                      </m:e>
                      <m:sub>
                        <m:r>
                          <a:rPr lang="en-AU" b="0" i="1" smtClean="0">
                            <a:latin typeface="Cambria Math" panose="02040503050406030204" pitchFamily="18" charset="0"/>
                          </a:rPr>
                          <m:t>2</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𝑡</m:t>
                        </m:r>
                      </m:e>
                      <m:sub>
                        <m:r>
                          <a:rPr lang="en-AU" b="0" i="1" smtClean="0">
                            <a:latin typeface="Cambria Math" panose="02040503050406030204" pitchFamily="18" charset="0"/>
                          </a:rPr>
                          <m:t>𝑛</m:t>
                        </m:r>
                      </m:sub>
                    </m:sSub>
                  </m:oMath>
                </a14:m>
                <a:r>
                  <a:rPr lang="en-US" dirty="0"/>
                  <a:t> are assumed to have an exponential distribution, then </a:t>
                </a:r>
              </a:p>
              <a:p>
                <a:pPr>
                  <a:buClr>
                    <a:schemeClr val="bg1"/>
                  </a:buClr>
                </a:pPr>
                <a14:m>
                  <m:oMath xmlns:m="http://schemas.openxmlformats.org/officeDocument/2006/math">
                    <m:r>
                      <a:rPr lang="en-AU" b="0" i="1" smtClean="0">
                        <a:latin typeface="Cambria Math" panose="02040503050406030204" pitchFamily="18" charset="0"/>
                      </a:rPr>
                      <m:t>𝑓</m:t>
                    </m:r>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AU" b="0" i="1" smtClean="0">
                        <a:latin typeface="Cambria Math" panose="02040503050406030204" pitchFamily="18" charset="0"/>
                      </a:rPr>
                      <m:t>=</m:t>
                    </m:r>
                    <m:r>
                      <m:rPr>
                        <m:sty m:val="p"/>
                      </m:rPr>
                      <a:rPr lang="en-AU" b="0" i="1" smtClean="0">
                        <a:latin typeface="Cambria Math" panose="02040503050406030204" pitchFamily="18" charset="0"/>
                      </a:rPr>
                      <m:t>λ</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rPr>
                          <m:t>−</m:t>
                        </m:r>
                        <m:r>
                          <m:rPr>
                            <m:sty m:val="p"/>
                          </m:rPr>
                          <a:rPr lang="en-AU" b="0" i="1" smtClean="0">
                            <a:latin typeface="Cambria Math" panose="02040503050406030204" pitchFamily="18" charset="0"/>
                          </a:rPr>
                          <m:t>λt</m:t>
                        </m:r>
                        <m:r>
                          <a:rPr lang="en-AU" b="0" i="1" smtClean="0">
                            <a:latin typeface="Cambria Math" panose="02040503050406030204" pitchFamily="18" charset="0"/>
                          </a:rPr>
                          <m:t> </m:t>
                        </m:r>
                      </m:sup>
                    </m:sSup>
                  </m:oMath>
                </a14:m>
                <a:endParaRPr lang="en-US" dirty="0"/>
              </a:p>
              <a:p>
                <a:pPr>
                  <a:buClr>
                    <a:schemeClr val="bg1"/>
                  </a:buClr>
                </a:pPr>
                <a14:m>
                  <m:oMath xmlns:m="http://schemas.openxmlformats.org/officeDocument/2006/math">
                    <m:r>
                      <m:rPr>
                        <m:sty m:val="p"/>
                      </m:rPr>
                      <a:rPr lang="en-AU" b="0" i="1" smtClean="0">
                        <a:latin typeface="Cambria Math" panose="02040503050406030204" pitchFamily="18" charset="0"/>
                      </a:rPr>
                      <m:t>S</m:t>
                    </m:r>
                    <m:r>
                      <a:rPr lang="en-AU" b="0" i="1" smtClean="0">
                        <a:latin typeface="Cambria Math" panose="02040503050406030204" pitchFamily="18" charset="0"/>
                      </a:rPr>
                      <m:t>(</m:t>
                    </m:r>
                    <m:r>
                      <m:rPr>
                        <m:sty m:val="p"/>
                      </m:rPr>
                      <a:rPr lang="en-AU" b="0" i="1" smtClean="0">
                        <a:latin typeface="Cambria Math" panose="02040503050406030204" pitchFamily="18" charset="0"/>
                      </a:rPr>
                      <m:t>t</m:t>
                    </m:r>
                    <m:r>
                      <a:rPr lang="en-AU" b="0" i="1" smtClean="0">
                        <a:latin typeface="Cambria Math" panose="02040503050406030204" pitchFamily="18" charset="0"/>
                      </a:rPr>
                      <m:t>)=</m:t>
                    </m:r>
                    <m:r>
                      <m:rPr>
                        <m:sty m:val="p"/>
                      </m:rPr>
                      <a:rPr lang="en-AU" b="0" i="1" smtClean="0">
                        <a:latin typeface="Cambria Math" panose="02040503050406030204" pitchFamily="18" charset="0"/>
                      </a:rPr>
                      <m:t>P</m:t>
                    </m:r>
                    <m:r>
                      <a:rPr lang="en-AU" b="0" i="1" smtClean="0">
                        <a:latin typeface="Cambria Math" panose="02040503050406030204" pitchFamily="18" charset="0"/>
                      </a:rPr>
                      <m:t>(</m:t>
                    </m:r>
                    <m:r>
                      <m:rPr>
                        <m:sty m:val="p"/>
                      </m:rPr>
                      <a:rPr lang="en-AU" b="0" i="1" smtClean="0">
                        <a:latin typeface="Cambria Math" panose="02040503050406030204" pitchFamily="18" charset="0"/>
                      </a:rPr>
                      <m:t>T</m:t>
                    </m:r>
                    <m:r>
                      <a:rPr lang="en-AU" b="0" i="1" smtClean="0">
                        <a:latin typeface="Cambria Math" panose="02040503050406030204" pitchFamily="18" charset="0"/>
                      </a:rPr>
                      <m:t>&gt;</m:t>
                    </m:r>
                    <m:r>
                      <m:rPr>
                        <m:sty m:val="p"/>
                      </m:rPr>
                      <a:rPr lang="en-AU" b="0" i="1" smtClean="0">
                        <a:latin typeface="Cambria Math" panose="02040503050406030204" pitchFamily="18" charset="0"/>
                      </a:rPr>
                      <m:t>t</m:t>
                    </m:r>
                    <m:r>
                      <a:rPr lang="en-AU" b="0" i="1" smtClean="0">
                        <a:latin typeface="Cambria Math" panose="02040503050406030204" pitchFamily="18" charset="0"/>
                      </a:rPr>
                      <m:t>)=</m:t>
                    </m:r>
                    <m:nary>
                      <m:naryPr>
                        <m:ctrlPr>
                          <a:rPr lang="en-AU" b="0" i="1" smtClean="0">
                            <a:latin typeface="Cambria Math" panose="02040503050406030204" pitchFamily="18" charset="0"/>
                          </a:rPr>
                        </m:ctrlPr>
                      </m:naryPr>
                      <m:sub>
                        <m:r>
                          <m:rPr>
                            <m:sty m:val="p"/>
                            <m:brk m:alnAt="23"/>
                          </m:rPr>
                          <a:rPr lang="en-AU" b="0" i="1" smtClean="0">
                            <a:latin typeface="Cambria Math" panose="02040503050406030204" pitchFamily="18" charset="0"/>
                          </a:rPr>
                          <m:t>t</m:t>
                        </m:r>
                      </m:sub>
                      <m:sup>
                        <m:r>
                          <a:rPr lang="en-AU"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𝑓</m:t>
                        </m:r>
                        <m:r>
                          <a:rPr lang="en-AU" b="0" i="1" smtClean="0">
                            <a:latin typeface="Cambria Math" panose="02040503050406030204" pitchFamily="18" charset="0"/>
                          </a:rPr>
                          <m:t>(</m:t>
                        </m:r>
                        <m:r>
                          <m:rPr>
                            <m:sty m:val="p"/>
                          </m:rPr>
                          <a:rPr lang="en-AU" b="0" i="1" smtClean="0">
                            <a:latin typeface="Cambria Math" panose="02040503050406030204" pitchFamily="18" charset="0"/>
                          </a:rPr>
                          <m:t>u</m:t>
                        </m:r>
                        <m:r>
                          <a:rPr lang="en-AU" b="0" i="1" smtClean="0">
                            <a:latin typeface="Cambria Math" panose="02040503050406030204" pitchFamily="18" charset="0"/>
                          </a:rPr>
                          <m:t>)</m:t>
                        </m:r>
                        <m:r>
                          <m:rPr>
                            <m:sty m:val="p"/>
                          </m:rPr>
                          <a:rPr lang="en-AU" b="0" i="1" smtClean="0">
                            <a:latin typeface="Cambria Math" panose="02040503050406030204" pitchFamily="18" charset="0"/>
                          </a:rPr>
                          <m:t>du</m:t>
                        </m:r>
                        <m:r>
                          <a:rPr lang="en-AU" b="0" i="1" smtClean="0">
                            <a:latin typeface="Cambria Math" panose="02040503050406030204" pitchFamily="18" charset="0"/>
                          </a:rPr>
                          <m:t> = </m:t>
                        </m:r>
                      </m:e>
                    </m:nary>
                  </m:oMath>
                </a14:m>
                <a:r>
                  <a:rPr lang="en-AU" dirty="0"/>
                  <a:t> </a:t>
                </a:r>
                <a14:m>
                  <m:oMath xmlns:m="http://schemas.openxmlformats.org/officeDocument/2006/math">
                    <m:nary>
                      <m:naryPr>
                        <m:ctrlPr>
                          <a:rPr lang="en-AU" i="1">
                            <a:latin typeface="Cambria Math" panose="02040503050406030204" pitchFamily="18" charset="0"/>
                          </a:rPr>
                        </m:ctrlPr>
                      </m:naryPr>
                      <m:sub>
                        <m:r>
                          <m:rPr>
                            <m:sty m:val="p"/>
                            <m:brk m:alnAt="23"/>
                          </m:rPr>
                          <a:rPr lang="en-AU" i="1">
                            <a:latin typeface="Cambria Math" panose="02040503050406030204" pitchFamily="18" charset="0"/>
                          </a:rPr>
                          <m:t>t</m:t>
                        </m:r>
                      </m:sub>
                      <m:sup>
                        <m:r>
                          <a:rPr lang="en-AU" i="1">
                            <a:latin typeface="Cambria Math" panose="02040503050406030204" pitchFamily="18" charset="0"/>
                            <a:ea typeface="Cambria Math" panose="02040503050406030204" pitchFamily="18" charset="0"/>
                          </a:rPr>
                          <m:t>∞</m:t>
                        </m:r>
                      </m:sup>
                      <m:e>
                        <m:r>
                          <m:rPr>
                            <m:sty m:val="p"/>
                          </m:rPr>
                          <a:rPr lang="en-AU" i="1">
                            <a:latin typeface="Cambria Math" panose="02040503050406030204" pitchFamily="18" charset="0"/>
                          </a:rPr>
                          <m:t>λ</m:t>
                        </m:r>
                        <m:sSup>
                          <m:sSupPr>
                            <m:ctrlPr>
                              <a:rPr lang="en-AU" i="1">
                                <a:latin typeface="Cambria Math" panose="02040503050406030204" pitchFamily="18" charset="0"/>
                              </a:rPr>
                            </m:ctrlPr>
                          </m:sSupPr>
                          <m:e>
                            <m:r>
                              <a:rPr lang="en-AU" i="1">
                                <a:latin typeface="Cambria Math" panose="02040503050406030204" pitchFamily="18" charset="0"/>
                              </a:rPr>
                              <m:t>𝑒</m:t>
                            </m:r>
                          </m:e>
                          <m:sup>
                            <m:r>
                              <a:rPr lang="en-AU" i="1">
                                <a:latin typeface="Cambria Math" panose="02040503050406030204" pitchFamily="18" charset="0"/>
                              </a:rPr>
                              <m:t>−</m:t>
                            </m:r>
                            <m:r>
                              <m:rPr>
                                <m:sty m:val="p"/>
                              </m:rPr>
                              <a:rPr lang="en-AU" i="1">
                                <a:latin typeface="Cambria Math" panose="02040503050406030204" pitchFamily="18" charset="0"/>
                              </a:rPr>
                              <m:t>λu</m:t>
                            </m:r>
                            <m:r>
                              <a:rPr lang="en-AU" i="1">
                                <a:latin typeface="Cambria Math" panose="02040503050406030204" pitchFamily="18" charset="0"/>
                              </a:rPr>
                              <m:t> </m:t>
                            </m:r>
                          </m:sup>
                        </m:sSup>
                        <m:r>
                          <m:rPr>
                            <m:sty m:val="p"/>
                          </m:rPr>
                          <a:rPr lang="en-AU" i="1">
                            <a:latin typeface="Cambria Math" panose="02040503050406030204" pitchFamily="18" charset="0"/>
                          </a:rPr>
                          <m:t>du</m:t>
                        </m:r>
                        <m:r>
                          <a:rPr lang="en-AU" i="1">
                            <a:latin typeface="Cambria Math" panose="02040503050406030204" pitchFamily="18" charset="0"/>
                          </a:rPr>
                          <m:t> =</m:t>
                        </m:r>
                        <m:sSup>
                          <m:sSupPr>
                            <m:ctrlPr>
                              <a:rPr lang="en-AU" i="1">
                                <a:latin typeface="Cambria Math" panose="02040503050406030204" pitchFamily="18" charset="0"/>
                              </a:rPr>
                            </m:ctrlPr>
                          </m:sSupPr>
                          <m:e>
                            <m:r>
                              <a:rPr lang="en-AU" i="1">
                                <a:latin typeface="Cambria Math" panose="02040503050406030204" pitchFamily="18" charset="0"/>
                              </a:rPr>
                              <m:t>𝑒</m:t>
                            </m:r>
                          </m:e>
                          <m:sup>
                            <m:r>
                              <a:rPr lang="en-AU" i="1">
                                <a:latin typeface="Cambria Math" panose="02040503050406030204" pitchFamily="18" charset="0"/>
                              </a:rPr>
                              <m:t>−</m:t>
                            </m:r>
                            <m:r>
                              <m:rPr>
                                <m:sty m:val="p"/>
                              </m:rPr>
                              <a:rPr lang="en-AU" i="1">
                                <a:latin typeface="Cambria Math" panose="02040503050406030204" pitchFamily="18" charset="0"/>
                              </a:rPr>
                              <m:t>λt</m:t>
                            </m:r>
                            <m:r>
                              <a:rPr lang="en-AU" i="1">
                                <a:latin typeface="Cambria Math" panose="02040503050406030204" pitchFamily="18" charset="0"/>
                              </a:rPr>
                              <m:t> </m:t>
                            </m:r>
                          </m:sup>
                        </m:sSup>
                      </m:e>
                    </m:nary>
                  </m:oMath>
                </a14:m>
                <a:endParaRPr lang="en-US" dirty="0"/>
              </a:p>
              <a:p>
                <a:pPr>
                  <a:buClr>
                    <a:schemeClr val="bg1"/>
                  </a:buClr>
                </a:pPr>
                <a14:m>
                  <m:oMath xmlns:m="http://schemas.openxmlformats.org/officeDocument/2006/math">
                    <m:r>
                      <m:rPr>
                        <m:sty m:val="p"/>
                      </m:rPr>
                      <a:rPr lang="en-AU" b="0" i="1" smtClean="0">
                        <a:latin typeface="Cambria Math" panose="02040503050406030204" pitchFamily="18" charset="0"/>
                      </a:rPr>
                      <m:t>h</m:t>
                    </m:r>
                    <m:r>
                      <a:rPr lang="en-AU" b="0" i="1" smtClean="0">
                        <a:latin typeface="Cambria Math" panose="02040503050406030204" pitchFamily="18" charset="0"/>
                      </a:rPr>
                      <m:t>(</m:t>
                    </m:r>
                    <m:r>
                      <m:rPr>
                        <m:sty m:val="p"/>
                      </m:rPr>
                      <a:rPr lang="en-AU" b="0" i="1" smtClean="0">
                        <a:latin typeface="Cambria Math" panose="02040503050406030204" pitchFamily="18" charset="0"/>
                      </a:rPr>
                      <m:t>t</m:t>
                    </m:r>
                    <m:r>
                      <a:rPr lang="en-AU" b="0" i="1" smtClean="0">
                        <a:latin typeface="Cambria Math" panose="02040503050406030204" pitchFamily="18" charset="0"/>
                      </a:rPr>
                      <m:t>) = </m:t>
                    </m:r>
                    <m:f>
                      <m:fPr>
                        <m:ctrlPr>
                          <a:rPr lang="en-AU" b="0" i="1" smtClean="0">
                            <a:latin typeface="Cambria Math" panose="02040503050406030204" pitchFamily="18" charset="0"/>
                          </a:rPr>
                        </m:ctrlPr>
                      </m:fPr>
                      <m:num>
                        <m:r>
                          <a:rPr lang="en-AU" i="1">
                            <a:latin typeface="Cambria Math" panose="02040503050406030204" pitchFamily="18" charset="0"/>
                          </a:rPr>
                          <m:t>𝑓</m:t>
                        </m:r>
                        <m:d>
                          <m:dPr>
                            <m:ctrlPr>
                              <a:rPr lang="en-AU" i="1">
                                <a:latin typeface="Cambria Math" panose="02040503050406030204" pitchFamily="18" charset="0"/>
                              </a:rPr>
                            </m:ctrlPr>
                          </m:dPr>
                          <m:e>
                            <m:r>
                              <a:rPr lang="en-AU" i="1">
                                <a:latin typeface="Cambria Math" panose="02040503050406030204" pitchFamily="18" charset="0"/>
                              </a:rPr>
                              <m:t>𝑡</m:t>
                            </m:r>
                          </m:e>
                        </m:d>
                      </m:num>
                      <m:den>
                        <m:r>
                          <m:rPr>
                            <m:sty m:val="p"/>
                          </m:rPr>
                          <a:rPr lang="en-AU" i="1">
                            <a:latin typeface="Cambria Math" panose="02040503050406030204" pitchFamily="18" charset="0"/>
                          </a:rPr>
                          <m:t>S</m:t>
                        </m:r>
                        <m:r>
                          <a:rPr lang="en-AU" i="1">
                            <a:latin typeface="Cambria Math" panose="02040503050406030204" pitchFamily="18" charset="0"/>
                          </a:rPr>
                          <m:t>(</m:t>
                        </m:r>
                        <m:r>
                          <m:rPr>
                            <m:sty m:val="p"/>
                          </m:rPr>
                          <a:rPr lang="en-AU" i="1">
                            <a:latin typeface="Cambria Math" panose="02040503050406030204" pitchFamily="18" charset="0"/>
                          </a:rPr>
                          <m:t>t</m:t>
                        </m:r>
                        <m:r>
                          <a:rPr lang="en-AU" i="1">
                            <a:latin typeface="Cambria Math" panose="02040503050406030204" pitchFamily="18" charset="0"/>
                          </a:rPr>
                          <m:t>)</m:t>
                        </m:r>
                      </m:den>
                    </m:f>
                    <m:r>
                      <a:rPr lang="en-AU" b="0" i="1" smtClean="0">
                        <a:latin typeface="Cambria Math" panose="02040503050406030204" pitchFamily="18" charset="0"/>
                      </a:rPr>
                      <m:t>=</m:t>
                    </m:r>
                    <m:r>
                      <m:rPr>
                        <m:sty m:val="p"/>
                      </m:rPr>
                      <a:rPr lang="en-AU" b="0" i="1" smtClean="0">
                        <a:latin typeface="Cambria Math" panose="02040503050406030204" pitchFamily="18" charset="0"/>
                      </a:rPr>
                      <m:t>λ</m:t>
                    </m:r>
                    <m:r>
                      <a:rPr lang="en-AU" b="0" i="0" smtClean="0">
                        <a:latin typeface="Cambria Math" panose="02040503050406030204" pitchFamily="18" charset="0"/>
                      </a:rPr>
                      <m:t>, </m:t>
                    </m:r>
                    <m:r>
                      <m:rPr>
                        <m:sty m:val="p"/>
                      </m:rPr>
                      <a:rPr lang="en-AU" b="0" i="0" smtClean="0">
                        <a:latin typeface="Cambria Math" panose="02040503050406030204" pitchFamily="18" charset="0"/>
                      </a:rPr>
                      <m:t>a</m:t>
                    </m:r>
                    <m:r>
                      <a:rPr lang="en-AU" b="0" i="0" smtClean="0">
                        <a:latin typeface="Cambria Math" panose="02040503050406030204" pitchFamily="18" charset="0"/>
                      </a:rPr>
                      <m:t> </m:t>
                    </m:r>
                    <m:r>
                      <m:rPr>
                        <m:sty m:val="p"/>
                      </m:rPr>
                      <a:rPr lang="en-AU" b="0" i="0" smtClean="0">
                        <a:latin typeface="Cambria Math" panose="02040503050406030204" pitchFamily="18" charset="0"/>
                      </a:rPr>
                      <m:t>constant</m:t>
                    </m:r>
                    <m:r>
                      <a:rPr lang="en-AU" b="0" i="0" smtClean="0">
                        <a:latin typeface="Cambria Math" panose="02040503050406030204" pitchFamily="18" charset="0"/>
                      </a:rPr>
                      <m:t> </m:t>
                    </m:r>
                    <m:r>
                      <m:rPr>
                        <m:sty m:val="p"/>
                      </m:rPr>
                      <a:rPr lang="en-AU" b="0" i="0" smtClean="0">
                        <a:latin typeface="Cambria Math" panose="02040503050406030204" pitchFamily="18" charset="0"/>
                      </a:rPr>
                      <m:t>hazard</m:t>
                    </m:r>
                    <m:r>
                      <a:rPr lang="en-AU" b="0" i="0" smtClean="0">
                        <a:latin typeface="Cambria Math" panose="02040503050406030204" pitchFamily="18" charset="0"/>
                      </a:rPr>
                      <m:t> </m:t>
                    </m:r>
                    <m:r>
                      <m:rPr>
                        <m:sty m:val="p"/>
                      </m:rPr>
                      <a:rPr lang="en-AU" b="0" i="0" smtClean="0">
                        <a:latin typeface="Cambria Math" panose="02040503050406030204" pitchFamily="18" charset="0"/>
                      </a:rPr>
                      <m:t>rate</m:t>
                    </m:r>
                  </m:oMath>
                </a14:m>
                <a:endParaRPr lang="en-US" dirty="0"/>
              </a:p>
            </p:txBody>
          </p:sp>
        </mc:Choice>
        <mc:Fallback xmlns="">
          <p:sp>
            <p:nvSpPr>
              <p:cNvPr id="3" name="Content Placeholder 2">
                <a:extLst>
                  <a:ext uri="{FF2B5EF4-FFF2-40B4-BE49-F238E27FC236}">
                    <a16:creationId xmlns:a16="http://schemas.microsoft.com/office/drawing/2014/main" id="{5C9F6527-6D68-716A-D2BA-E51C5440E2F2}"/>
                  </a:ext>
                </a:extLst>
              </p:cNvPr>
              <p:cNvSpPr>
                <a:spLocks noGrp="1" noRot="1" noChangeAspect="1" noMove="1" noResize="1" noEditPoints="1" noAdjustHandles="1" noChangeArrowheads="1" noChangeShapeType="1" noTextEdit="1"/>
              </p:cNvSpPr>
              <p:nvPr>
                <p:ph idx="1"/>
              </p:nvPr>
            </p:nvSpPr>
            <p:spPr>
              <a:blipFill>
                <a:blip r:embed="rId3"/>
                <a:stretch>
                  <a:fillRect l="-513" t="-816" r="-969"/>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266E1724-8C3A-5ACC-2687-C1321EFA4035}"/>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64252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95C7C-BD9E-1733-353A-6D8817B08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1217F-DEDD-D056-4EA5-8347E136BCB9}"/>
              </a:ext>
            </a:extLst>
          </p:cNvPr>
          <p:cNvSpPr>
            <a:spLocks noGrp="1"/>
          </p:cNvSpPr>
          <p:nvPr>
            <p:ph type="title"/>
          </p:nvPr>
        </p:nvSpPr>
        <p:spPr/>
        <p:txBody>
          <a:bodyPr/>
          <a:lstStyle/>
          <a:p>
            <a:r>
              <a:rPr lang="en-US" dirty="0" err="1"/>
              <a:t>weibull</a:t>
            </a:r>
            <a:r>
              <a:rPr lang="en-US" dirty="0"/>
              <a:t>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F33A81-1B17-2440-F58D-DE9082EB643E}"/>
                  </a:ext>
                </a:extLst>
              </p:cNvPr>
              <p:cNvSpPr>
                <a:spLocks noGrp="1"/>
              </p:cNvSpPr>
              <p:nvPr>
                <p:ph idx="1"/>
              </p:nvPr>
            </p:nvSpPr>
            <p:spPr/>
            <p:txBody>
              <a:bodyPr>
                <a:normAutofit/>
              </a:bodyPr>
              <a:lstStyle/>
              <a:p>
                <a:r>
                  <a:rPr lang="en-US" dirty="0"/>
                  <a:t>The constant hazard rate assumption underlying exponentially distributed survival times can be unrealistic</a:t>
                </a:r>
              </a:p>
              <a:p>
                <a:r>
                  <a:rPr lang="en-US" dirty="0"/>
                  <a:t>The Weibull distribution allows more flexibility in the shape of the hazard function:</a:t>
                </a:r>
              </a:p>
              <a:p>
                <a:pPr lvl="1">
                  <a:buClr>
                    <a:schemeClr val="bg1"/>
                  </a:buClr>
                </a:pPr>
                <a14:m>
                  <m:oMath xmlns:m="http://schemas.openxmlformats.org/officeDocument/2006/math">
                    <m:r>
                      <m:rPr>
                        <m:sty m:val="p"/>
                      </m:rPr>
                      <a:rPr lang="en-AU" sz="2000" i="1">
                        <a:latin typeface="Cambria Math" panose="02040503050406030204" pitchFamily="18" charset="0"/>
                      </a:rPr>
                      <m:t>h</m:t>
                    </m:r>
                    <m:r>
                      <a:rPr lang="en-AU" sz="2000" i="1">
                        <a:latin typeface="Cambria Math" panose="02040503050406030204" pitchFamily="18" charset="0"/>
                      </a:rPr>
                      <m:t>(</m:t>
                    </m:r>
                    <m:r>
                      <m:rPr>
                        <m:sty m:val="p"/>
                      </m:rPr>
                      <a:rPr lang="en-AU" sz="2000" i="1">
                        <a:latin typeface="Cambria Math" panose="02040503050406030204" pitchFamily="18" charset="0"/>
                      </a:rPr>
                      <m:t>t</m:t>
                    </m:r>
                    <m:r>
                      <a:rPr lang="en-AU" sz="2000" i="1">
                        <a:latin typeface="Cambria Math" panose="02040503050406030204" pitchFamily="18" charset="0"/>
                      </a:rPr>
                      <m:t>)=</m:t>
                    </m:r>
                    <m:r>
                      <m:rPr>
                        <m:sty m:val="p"/>
                      </m:rPr>
                      <a:rPr lang="en-AU" sz="2000" i="1">
                        <a:latin typeface="Cambria Math" panose="02040503050406030204" pitchFamily="18" charset="0"/>
                      </a:rPr>
                      <m:t>λ</m:t>
                    </m:r>
                    <m:r>
                      <a:rPr lang="en-AU" sz="2000" i="1">
                        <a:latin typeface="Cambria Math" panose="02040503050406030204" pitchFamily="18" charset="0"/>
                      </a:rPr>
                      <m:t>𝛾</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AU" sz="2000" i="1">
                            <a:latin typeface="Cambria Math" panose="02040503050406030204" pitchFamily="18" charset="0"/>
                          </a:rPr>
                          <m:t>𝛾</m:t>
                        </m:r>
                        <m:r>
                          <a:rPr lang="en-AU" sz="2000" i="1">
                            <a:latin typeface="Cambria Math" panose="02040503050406030204" pitchFamily="18" charset="0"/>
                          </a:rPr>
                          <m:t>−1 </m:t>
                        </m:r>
                      </m:sup>
                    </m:sSup>
                  </m:oMath>
                </a14:m>
                <a:endParaRPr lang="en-US" sz="2000" dirty="0"/>
              </a:p>
              <a:p>
                <a:pPr lvl="1">
                  <a:buClr>
                    <a:schemeClr val="bg1"/>
                  </a:buClr>
                </a:pPr>
                <a14:m>
                  <m:oMath xmlns:m="http://schemas.openxmlformats.org/officeDocument/2006/math">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r>
                      <m:rPr>
                        <m:sty m:val="p"/>
                      </m:rPr>
                      <a:rPr lang="en-AU" sz="2000">
                        <a:latin typeface="Cambria Math" panose="02040503050406030204" pitchFamily="18" charset="0"/>
                      </a:rPr>
                      <m:t>exp</m:t>
                    </m:r>
                    <m:d>
                      <m:dPr>
                        <m:begChr m:val="["/>
                        <m:endChr m:val="]"/>
                        <m:ctrlPr>
                          <a:rPr lang="en-AU" sz="2000" i="1">
                            <a:latin typeface="Cambria Math" panose="02040503050406030204" pitchFamily="18" charset="0"/>
                          </a:rPr>
                        </m:ctrlPr>
                      </m:dPr>
                      <m:e>
                        <m:r>
                          <a:rPr lang="en-AU" sz="2000" i="1">
                            <a:latin typeface="Cambria Math" panose="02040503050406030204" pitchFamily="18" charset="0"/>
                          </a:rPr>
                          <m:t>−</m:t>
                        </m:r>
                        <m:r>
                          <a:rPr lang="en-AU" sz="2000" i="1">
                            <a:latin typeface="Cambria Math" panose="02040503050406030204" pitchFamily="18" charset="0"/>
                          </a:rPr>
                          <m:t>𝐻</m:t>
                        </m:r>
                        <m:d>
                          <m:dPr>
                            <m:ctrlPr>
                              <a:rPr lang="en-AU" sz="2000" i="1">
                                <a:latin typeface="Cambria Math" panose="02040503050406030204" pitchFamily="18" charset="0"/>
                              </a:rPr>
                            </m:ctrlPr>
                          </m:dPr>
                          <m:e>
                            <m:r>
                              <a:rPr lang="en-AU" sz="2000" i="1">
                                <a:latin typeface="Cambria Math" panose="02040503050406030204" pitchFamily="18" charset="0"/>
                              </a:rPr>
                              <m:t>𝑡</m:t>
                            </m:r>
                          </m:e>
                        </m:d>
                      </m:e>
                    </m:d>
                    <m:r>
                      <a:rPr lang="en-AU" sz="2000" i="1">
                        <a:latin typeface="Cambria Math" panose="02040503050406030204" pitchFamily="18" charset="0"/>
                      </a:rPr>
                      <m:t>=</m:t>
                    </m:r>
                    <m:r>
                      <m:rPr>
                        <m:nor/>
                      </m:rPr>
                      <a:rPr lang="en-AU" sz="2000">
                        <a:latin typeface="Cambria Math" panose="02040503050406030204" pitchFamily="18" charset="0"/>
                      </a:rPr>
                      <m:t>exp</m:t>
                    </m:r>
                    <m:d>
                      <m:dPr>
                        <m:begChr m:val="["/>
                        <m:endChr m:val="]"/>
                        <m:ctrlPr>
                          <a:rPr lang="en-AU" sz="2000" i="1">
                            <a:latin typeface="Cambria Math" panose="02040503050406030204" pitchFamily="18" charset="0"/>
                          </a:rPr>
                        </m:ctrlPr>
                      </m:dPr>
                      <m:e>
                        <m:r>
                          <a:rPr lang="en-AU" sz="2000" i="1">
                            <a:latin typeface="Cambria Math" panose="02040503050406030204" pitchFamily="18" charset="0"/>
                          </a:rPr>
                          <m:t>−</m:t>
                        </m:r>
                        <m:nary>
                          <m:naryPr>
                            <m:ctrlPr>
                              <a:rPr lang="en-AU" sz="2000" i="1">
                                <a:latin typeface="Cambria Math" panose="02040503050406030204" pitchFamily="18" charset="0"/>
                              </a:rPr>
                            </m:ctrlPr>
                          </m:naryPr>
                          <m:sub>
                            <m:r>
                              <a:rPr lang="en-AU" sz="2000" i="1">
                                <a:latin typeface="Cambria Math" panose="02040503050406030204" pitchFamily="18" charset="0"/>
                              </a:rPr>
                              <m:t>0</m:t>
                            </m:r>
                          </m:sub>
                          <m:sup>
                            <m:r>
                              <a:rPr lang="en-AU" sz="2000" i="1">
                                <a:latin typeface="Cambria Math" panose="02040503050406030204" pitchFamily="18" charset="0"/>
                                <a:ea typeface="Cambria Math" panose="02040503050406030204" pitchFamily="18" charset="0"/>
                              </a:rPr>
                              <m:t>𝑡</m:t>
                            </m:r>
                          </m:sup>
                          <m:e>
                            <m:r>
                              <a:rPr lang="en-AU" sz="2000" i="1">
                                <a:latin typeface="Cambria Math" panose="02040503050406030204" pitchFamily="18" charset="0"/>
                                <a:ea typeface="Cambria Math" panose="02040503050406030204" pitchFamily="18" charset="0"/>
                              </a:rPr>
                              <m:t>h</m:t>
                            </m:r>
                            <m:d>
                              <m:dPr>
                                <m:ctrlPr>
                                  <a:rPr lang="en-AU" sz="2000" i="1">
                                    <a:latin typeface="Cambria Math" panose="02040503050406030204" pitchFamily="18" charset="0"/>
                                    <a:ea typeface="Cambria Math" panose="02040503050406030204" pitchFamily="18" charset="0"/>
                                  </a:rPr>
                                </m:ctrlPr>
                              </m:dPr>
                              <m:e>
                                <m:r>
                                  <a:rPr lang="en-AU" sz="2000" i="1">
                                    <a:latin typeface="Cambria Math" panose="02040503050406030204" pitchFamily="18" charset="0"/>
                                  </a:rPr>
                                  <m:t>𝑢</m:t>
                                </m:r>
                              </m:e>
                            </m:d>
                            <m:r>
                              <a:rPr lang="en-AU" sz="2000" i="1">
                                <a:latin typeface="Cambria Math" panose="02040503050406030204" pitchFamily="18" charset="0"/>
                              </a:rPr>
                              <m:t>𝑑𝑢</m:t>
                            </m:r>
                            <m:r>
                              <a:rPr lang="en-AU" sz="2000" i="1">
                                <a:latin typeface="Cambria Math" panose="02040503050406030204" pitchFamily="18" charset="0"/>
                              </a:rPr>
                              <m:t>  </m:t>
                            </m:r>
                          </m:e>
                        </m:nary>
                      </m:e>
                    </m:d>
                    <m:r>
                      <a:rPr lang="en-AU" sz="2000" i="1">
                        <a:latin typeface="Cambria Math" panose="02040503050406030204" pitchFamily="18" charset="0"/>
                      </a:rPr>
                      <m:t>=</m:t>
                    </m:r>
                    <m:r>
                      <m:rPr>
                        <m:nor/>
                      </m:rPr>
                      <a:rPr lang="en-AU" sz="2000">
                        <a:latin typeface="Cambria Math" panose="02040503050406030204" pitchFamily="18" charset="0"/>
                      </a:rPr>
                      <m:t>exp</m:t>
                    </m:r>
                    <m:d>
                      <m:dPr>
                        <m:ctrlPr>
                          <a:rPr lang="en-AU" sz="2000" i="1">
                            <a:latin typeface="Cambria Math" panose="02040503050406030204" pitchFamily="18" charset="0"/>
                          </a:rPr>
                        </m:ctrlPr>
                      </m:dPr>
                      <m:e>
                        <m:sSup>
                          <m:sSupPr>
                            <m:ctrlPr>
                              <a:rPr lang="en-AU" sz="2000" i="1">
                                <a:latin typeface="Cambria Math" panose="02040503050406030204" pitchFamily="18" charset="0"/>
                              </a:rPr>
                            </m:ctrlPr>
                          </m:sSupPr>
                          <m:e>
                            <m:r>
                              <a:rPr lang="en-AU" sz="2000" i="1">
                                <a:latin typeface="Cambria Math" panose="02040503050406030204" pitchFamily="18" charset="0"/>
                              </a:rPr>
                              <m:t>−</m:t>
                            </m:r>
                            <m:r>
                              <a:rPr lang="en-AU" sz="2000" i="1">
                                <a:latin typeface="Cambria Math" panose="02040503050406030204" pitchFamily="18" charset="0"/>
                              </a:rPr>
                              <m:t>𝜆</m:t>
                            </m:r>
                            <m:r>
                              <a:rPr lang="en-AU" sz="2000" i="1">
                                <a:latin typeface="Cambria Math" panose="02040503050406030204" pitchFamily="18" charset="0"/>
                              </a:rPr>
                              <m:t>𝑡</m:t>
                            </m:r>
                          </m:e>
                          <m:sup>
                            <m:r>
                              <a:rPr lang="en-AU" sz="2000" i="1">
                                <a:latin typeface="Cambria Math" panose="02040503050406030204" pitchFamily="18" charset="0"/>
                              </a:rPr>
                              <m:t>𝛾</m:t>
                            </m:r>
                          </m:sup>
                        </m:sSup>
                      </m:e>
                    </m:d>
                  </m:oMath>
                </a14:m>
                <a:endParaRPr lang="en-US" sz="2000" dirty="0"/>
              </a:p>
              <a:p>
                <a:pPr lvl="1">
                  <a:buClr>
                    <a:schemeClr val="bg1"/>
                  </a:buClr>
                </a:pPr>
                <a14:m>
                  <m:oMath xmlns:m="http://schemas.openxmlformats.org/officeDocument/2006/math">
                    <m:r>
                      <a:rPr lang="en-AU" sz="2000" i="1">
                        <a:latin typeface="Cambria Math" panose="02040503050406030204" pitchFamily="18" charset="0"/>
                      </a:rPr>
                      <m:t>𝑓</m:t>
                    </m:r>
                    <m:d>
                      <m:dPr>
                        <m:ctrlPr>
                          <a:rPr lang="en-AU" sz="2000" i="1">
                            <a:latin typeface="Cambria Math" panose="02040503050406030204" pitchFamily="18" charset="0"/>
                          </a:rPr>
                        </m:ctrlPr>
                      </m:dPr>
                      <m:e>
                        <m:r>
                          <a:rPr lang="en-AU" sz="2000" i="1">
                            <a:latin typeface="Cambria Math" panose="02040503050406030204" pitchFamily="18" charset="0"/>
                          </a:rPr>
                          <m:t>𝑡</m:t>
                        </m:r>
                      </m:e>
                    </m:d>
                    <m:r>
                      <a:rPr lang="en-AU" sz="2000" i="1">
                        <a:latin typeface="Cambria Math" panose="02040503050406030204" pitchFamily="18" charset="0"/>
                      </a:rPr>
                      <m:t>=</m:t>
                    </m:r>
                    <m:r>
                      <m:rPr>
                        <m:sty m:val="p"/>
                      </m:rPr>
                      <a:rPr lang="en-AU" sz="2000" i="1">
                        <a:latin typeface="Cambria Math" panose="02040503050406030204" pitchFamily="18" charset="0"/>
                      </a:rPr>
                      <m:t>h</m:t>
                    </m:r>
                    <m:r>
                      <a:rPr lang="en-AU" sz="2000" i="1">
                        <a:latin typeface="Cambria Math" panose="02040503050406030204" pitchFamily="18" charset="0"/>
                      </a:rPr>
                      <m:t>(</m:t>
                    </m:r>
                    <m:r>
                      <m:rPr>
                        <m:sty m:val="p"/>
                      </m:rPr>
                      <a:rPr lang="en-AU" sz="2000" i="1">
                        <a:latin typeface="Cambria Math" panose="02040503050406030204" pitchFamily="18" charset="0"/>
                      </a:rPr>
                      <m:t>t</m:t>
                    </m:r>
                    <m:r>
                      <a:rPr lang="en-AU" sz="2000" i="1">
                        <a:latin typeface="Cambria Math" panose="02040503050406030204" pitchFamily="18" charset="0"/>
                      </a:rPr>
                      <m:t>)</m:t>
                    </m:r>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r>
                      <m:rPr>
                        <m:sty m:val="p"/>
                      </m:rPr>
                      <a:rPr lang="en-AU" sz="2000" i="1">
                        <a:latin typeface="Cambria Math" panose="02040503050406030204" pitchFamily="18" charset="0"/>
                      </a:rPr>
                      <m:t>λ</m:t>
                    </m:r>
                    <m:r>
                      <a:rPr lang="en-AU" sz="2000" i="1">
                        <a:latin typeface="Cambria Math" panose="02040503050406030204" pitchFamily="18" charset="0"/>
                      </a:rPr>
                      <m:t>𝛾</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AU" sz="2000" i="1">
                            <a:latin typeface="Cambria Math" panose="02040503050406030204" pitchFamily="18" charset="0"/>
                          </a:rPr>
                          <m:t>𝛾</m:t>
                        </m:r>
                        <m:r>
                          <a:rPr lang="en-AU" sz="2000" i="1">
                            <a:latin typeface="Cambria Math" panose="02040503050406030204" pitchFamily="18" charset="0"/>
                          </a:rPr>
                          <m:t>−1 </m:t>
                        </m:r>
                      </m:sup>
                    </m:sSup>
                  </m:oMath>
                </a14:m>
                <a:r>
                  <a:rPr lang="en-AU" sz="2000" dirty="0"/>
                  <a:t> </a:t>
                </a:r>
                <a14:m>
                  <m:oMath xmlns:m="http://schemas.openxmlformats.org/officeDocument/2006/math">
                    <m:r>
                      <m:rPr>
                        <m:nor/>
                      </m:rPr>
                      <a:rPr lang="en-AU" sz="2000">
                        <a:latin typeface="Cambria Math" panose="02040503050406030204" pitchFamily="18" charset="0"/>
                      </a:rPr>
                      <m:t>exp</m:t>
                    </m:r>
                    <m:d>
                      <m:dPr>
                        <m:ctrlPr>
                          <a:rPr lang="en-AU" sz="2000" i="1">
                            <a:latin typeface="Cambria Math" panose="02040503050406030204" pitchFamily="18" charset="0"/>
                          </a:rPr>
                        </m:ctrlPr>
                      </m:dPr>
                      <m:e>
                        <m:sSup>
                          <m:sSupPr>
                            <m:ctrlPr>
                              <a:rPr lang="en-AU" sz="2000" i="1">
                                <a:latin typeface="Cambria Math" panose="02040503050406030204" pitchFamily="18" charset="0"/>
                              </a:rPr>
                            </m:ctrlPr>
                          </m:sSupPr>
                          <m:e>
                            <m:r>
                              <a:rPr lang="en-AU" sz="2000" i="1">
                                <a:latin typeface="Cambria Math" panose="02040503050406030204" pitchFamily="18" charset="0"/>
                              </a:rPr>
                              <m:t>−</m:t>
                            </m:r>
                            <m:r>
                              <a:rPr lang="en-AU" sz="2000" i="1">
                                <a:latin typeface="Cambria Math" panose="02040503050406030204" pitchFamily="18" charset="0"/>
                              </a:rPr>
                              <m:t>𝜆</m:t>
                            </m:r>
                            <m:r>
                              <a:rPr lang="en-AU" sz="2000" i="1">
                                <a:latin typeface="Cambria Math" panose="02040503050406030204" pitchFamily="18" charset="0"/>
                              </a:rPr>
                              <m:t>𝑡</m:t>
                            </m:r>
                          </m:e>
                          <m:sup>
                            <m:r>
                              <a:rPr lang="en-AU" sz="2000" i="1">
                                <a:latin typeface="Cambria Math" panose="02040503050406030204" pitchFamily="18" charset="0"/>
                              </a:rPr>
                              <m:t>𝛾</m:t>
                            </m:r>
                          </m:sup>
                        </m:sSup>
                      </m:e>
                    </m:d>
                  </m:oMath>
                </a14:m>
                <a:endParaRPr lang="en-US" sz="2000" dirty="0"/>
              </a:p>
              <a:p>
                <a:pPr>
                  <a:buClr>
                    <a:schemeClr val="bg1"/>
                  </a:buClr>
                </a:pPr>
                <a:r>
                  <a:rPr lang="en-US" dirty="0"/>
                  <a:t>where </a:t>
                </a:r>
                <a14:m>
                  <m:oMath xmlns:m="http://schemas.openxmlformats.org/officeDocument/2006/math">
                    <m:r>
                      <m:rPr>
                        <m:sty m:val="p"/>
                      </m:rPr>
                      <a:rPr lang="en-AU" i="1">
                        <a:latin typeface="Cambria Math" panose="02040503050406030204" pitchFamily="18" charset="0"/>
                      </a:rPr>
                      <m:t>λ</m:t>
                    </m:r>
                  </m:oMath>
                </a14:m>
                <a:r>
                  <a:rPr lang="en-US" dirty="0"/>
                  <a:t> is the </a:t>
                </a:r>
                <a:r>
                  <a:rPr lang="en-US" i="1" dirty="0"/>
                  <a:t>scale</a:t>
                </a:r>
                <a:r>
                  <a:rPr lang="en-US" dirty="0"/>
                  <a:t> parameter and </a:t>
                </a:r>
                <a14:m>
                  <m:oMath xmlns:m="http://schemas.openxmlformats.org/officeDocument/2006/math">
                    <m:r>
                      <a:rPr lang="en-AU" i="1">
                        <a:latin typeface="Cambria Math" panose="02040503050406030204" pitchFamily="18" charset="0"/>
                      </a:rPr>
                      <m:t>𝛾</m:t>
                    </m:r>
                  </m:oMath>
                </a14:m>
                <a:r>
                  <a:rPr lang="en-US" dirty="0"/>
                  <a:t> the </a:t>
                </a:r>
                <a:r>
                  <a:rPr lang="en-US" i="1" dirty="0"/>
                  <a:t>shape</a:t>
                </a:r>
                <a:r>
                  <a:rPr lang="en-US" dirty="0"/>
                  <a:t> parameter</a:t>
                </a:r>
              </a:p>
              <a:p>
                <a:r>
                  <a:rPr lang="en-US" dirty="0"/>
                  <a:t>The Weibull simplifies to the exponential when </a:t>
                </a:r>
                <a14:m>
                  <m:oMath xmlns:m="http://schemas.openxmlformats.org/officeDocument/2006/math">
                    <m:r>
                      <a:rPr lang="en-AU" i="1">
                        <a:latin typeface="Cambria Math" panose="02040503050406030204" pitchFamily="18" charset="0"/>
                      </a:rPr>
                      <m:t>𝛾</m:t>
                    </m:r>
                    <m:r>
                      <a:rPr lang="en-AU" b="0" i="1"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B3F33A81-1B17-2440-F58D-DE9082EB643E}"/>
                  </a:ext>
                </a:extLst>
              </p:cNvPr>
              <p:cNvSpPr>
                <a:spLocks noGrp="1" noRot="1" noChangeAspect="1" noMove="1" noResize="1" noEditPoints="1" noAdjustHandles="1" noChangeArrowheads="1" noChangeShapeType="1" noTextEdit="1"/>
              </p:cNvSpPr>
              <p:nvPr>
                <p:ph idx="1"/>
              </p:nvPr>
            </p:nvSpPr>
            <p:spPr>
              <a:blipFill>
                <a:blip r:embed="rId3"/>
                <a:stretch>
                  <a:fillRect l="-513" t="-816" r="-57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9CC9B7C3-5BAA-C63B-B383-3D016F90952F}"/>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882352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0F327-B3B7-CC1D-851F-A748895E8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D6426-A3E9-9792-E853-FFC225B8D780}"/>
              </a:ext>
            </a:extLst>
          </p:cNvPr>
          <p:cNvSpPr>
            <a:spLocks noGrp="1"/>
          </p:cNvSpPr>
          <p:nvPr>
            <p:ph type="title"/>
          </p:nvPr>
        </p:nvSpPr>
        <p:spPr/>
        <p:txBody>
          <a:bodyPr/>
          <a:lstStyle/>
          <a:p>
            <a:r>
              <a:rPr lang="en-US" dirty="0"/>
              <a:t>Weibull distribution – hazard function</a:t>
            </a:r>
            <a:endParaRPr lang="en-AU" dirty="0"/>
          </a:p>
        </p:txBody>
      </p:sp>
      <p:sp>
        <p:nvSpPr>
          <p:cNvPr id="4" name="Footer Placeholder 3">
            <a:extLst>
              <a:ext uri="{FF2B5EF4-FFF2-40B4-BE49-F238E27FC236}">
                <a16:creationId xmlns:a16="http://schemas.microsoft.com/office/drawing/2014/main" id="{BEF85738-FCF4-69A9-B0A1-2F3AF2F0BB38}"/>
              </a:ext>
            </a:extLst>
          </p:cNvPr>
          <p:cNvSpPr>
            <a:spLocks noGrp="1"/>
          </p:cNvSpPr>
          <p:nvPr>
            <p:ph type="ftr" sz="quarter" idx="11"/>
          </p:nvPr>
        </p:nvSpPr>
        <p:spPr/>
        <p:txBody>
          <a:bodyPr/>
          <a:lstStyle/>
          <a:p>
            <a:r>
              <a:rPr lang="en-US" dirty="0"/>
              <a:t>maarit.laaksonen@sydney.edu.au</a:t>
            </a:r>
          </a:p>
        </p:txBody>
      </p:sp>
      <p:pic>
        <p:nvPicPr>
          <p:cNvPr id="9" name="Picture 8">
            <a:extLst>
              <a:ext uri="{FF2B5EF4-FFF2-40B4-BE49-F238E27FC236}">
                <a16:creationId xmlns:a16="http://schemas.microsoft.com/office/drawing/2014/main" id="{0E2141A3-70E4-818E-229B-C04A265928EF}"/>
              </a:ext>
            </a:extLst>
          </p:cNvPr>
          <p:cNvPicPr>
            <a:picLocks noChangeAspect="1"/>
          </p:cNvPicPr>
          <p:nvPr/>
        </p:nvPicPr>
        <p:blipFill>
          <a:blip r:embed="rId3"/>
          <a:stretch>
            <a:fillRect/>
          </a:stretch>
        </p:blipFill>
        <p:spPr>
          <a:xfrm>
            <a:off x="2137230" y="1687419"/>
            <a:ext cx="6533045" cy="4405800"/>
          </a:xfrm>
          <a:prstGeom prst="rect">
            <a:avLst/>
          </a:prstGeom>
        </p:spPr>
      </p:pic>
    </p:spTree>
    <p:extLst>
      <p:ext uri="{BB962C8B-B14F-4D97-AF65-F5344CB8AC3E}">
        <p14:creationId xmlns:p14="http://schemas.microsoft.com/office/powerpoint/2010/main" val="2639433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63E7-E31C-132E-C35E-505DE4191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B86F4-8604-B47F-B149-F56B4F45D5D7}"/>
              </a:ext>
            </a:extLst>
          </p:cNvPr>
          <p:cNvSpPr>
            <a:spLocks noGrp="1"/>
          </p:cNvSpPr>
          <p:nvPr>
            <p:ph type="title"/>
          </p:nvPr>
        </p:nvSpPr>
        <p:spPr/>
        <p:txBody>
          <a:bodyPr/>
          <a:lstStyle/>
          <a:p>
            <a:r>
              <a:rPr lang="en-US" dirty="0" err="1"/>
              <a:t>weibull</a:t>
            </a:r>
            <a:r>
              <a:rPr lang="en-US" dirty="0"/>
              <a:t> distribution – survival function</a:t>
            </a:r>
            <a:endParaRPr lang="en-AU" dirty="0"/>
          </a:p>
        </p:txBody>
      </p:sp>
      <p:sp>
        <p:nvSpPr>
          <p:cNvPr id="4" name="Footer Placeholder 3">
            <a:extLst>
              <a:ext uri="{FF2B5EF4-FFF2-40B4-BE49-F238E27FC236}">
                <a16:creationId xmlns:a16="http://schemas.microsoft.com/office/drawing/2014/main" id="{B2801222-4A1B-EAE6-5C2A-F6B0FC414B40}"/>
              </a:ext>
            </a:extLst>
          </p:cNvPr>
          <p:cNvSpPr>
            <a:spLocks noGrp="1"/>
          </p:cNvSpPr>
          <p:nvPr>
            <p:ph type="ftr" sz="quarter" idx="11"/>
          </p:nvPr>
        </p:nvSpPr>
        <p:spPr/>
        <p:txBody>
          <a:bodyPr/>
          <a:lstStyle/>
          <a:p>
            <a:r>
              <a:rPr lang="en-US" dirty="0"/>
              <a:t>maarit.laaksonen@sydney.edu.au</a:t>
            </a:r>
          </a:p>
        </p:txBody>
      </p:sp>
      <p:pic>
        <p:nvPicPr>
          <p:cNvPr id="3" name="Picture 2">
            <a:extLst>
              <a:ext uri="{FF2B5EF4-FFF2-40B4-BE49-F238E27FC236}">
                <a16:creationId xmlns:a16="http://schemas.microsoft.com/office/drawing/2014/main" id="{036B4083-1884-0008-2E98-5886EB8CA89E}"/>
              </a:ext>
            </a:extLst>
          </p:cNvPr>
          <p:cNvPicPr>
            <a:picLocks noChangeAspect="1"/>
          </p:cNvPicPr>
          <p:nvPr/>
        </p:nvPicPr>
        <p:blipFill>
          <a:blip r:embed="rId3"/>
          <a:stretch>
            <a:fillRect/>
          </a:stretch>
        </p:blipFill>
        <p:spPr>
          <a:xfrm>
            <a:off x="2225407" y="1733446"/>
            <a:ext cx="6510969" cy="4390913"/>
          </a:xfrm>
          <a:prstGeom prst="rect">
            <a:avLst/>
          </a:prstGeom>
        </p:spPr>
      </p:pic>
    </p:spTree>
    <p:extLst>
      <p:ext uri="{BB962C8B-B14F-4D97-AF65-F5344CB8AC3E}">
        <p14:creationId xmlns:p14="http://schemas.microsoft.com/office/powerpoint/2010/main" val="4225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D3506-649F-A06E-D18C-2FB773DA4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82134-F41E-DB53-F107-0C59BF057AC9}"/>
              </a:ext>
            </a:extLst>
          </p:cNvPr>
          <p:cNvSpPr>
            <a:spLocks noGrp="1"/>
          </p:cNvSpPr>
          <p:nvPr>
            <p:ph type="title"/>
          </p:nvPr>
        </p:nvSpPr>
        <p:spPr>
          <a:xfrm>
            <a:off x="700635" y="914400"/>
            <a:ext cx="11491365" cy="1307592"/>
          </a:xfrm>
        </p:spPr>
        <p:txBody>
          <a:bodyPr>
            <a:normAutofit fontScale="90000"/>
          </a:bodyPr>
          <a:lstStyle/>
          <a:p>
            <a:r>
              <a:rPr lang="en-US" dirty="0" err="1"/>
              <a:t>weibull</a:t>
            </a:r>
            <a:r>
              <a:rPr lang="en-US" dirty="0"/>
              <a:t> distribution – probability density function</a:t>
            </a:r>
            <a:endParaRPr lang="en-AU" dirty="0"/>
          </a:p>
        </p:txBody>
      </p:sp>
      <p:sp>
        <p:nvSpPr>
          <p:cNvPr id="4" name="Footer Placeholder 3">
            <a:extLst>
              <a:ext uri="{FF2B5EF4-FFF2-40B4-BE49-F238E27FC236}">
                <a16:creationId xmlns:a16="http://schemas.microsoft.com/office/drawing/2014/main" id="{B5DDD020-F268-B21B-80C4-30EAB083E1D0}"/>
              </a:ext>
            </a:extLst>
          </p:cNvPr>
          <p:cNvSpPr>
            <a:spLocks noGrp="1"/>
          </p:cNvSpPr>
          <p:nvPr>
            <p:ph type="ftr" sz="quarter" idx="11"/>
          </p:nvPr>
        </p:nvSpPr>
        <p:spPr/>
        <p:txBody>
          <a:bodyPr/>
          <a:lstStyle/>
          <a:p>
            <a:r>
              <a:rPr lang="en-US" dirty="0"/>
              <a:t>maarit.laaksonen@sydney.edu.au</a:t>
            </a:r>
          </a:p>
        </p:txBody>
      </p:sp>
      <p:pic>
        <p:nvPicPr>
          <p:cNvPr id="3" name="Picture 2">
            <a:extLst>
              <a:ext uri="{FF2B5EF4-FFF2-40B4-BE49-F238E27FC236}">
                <a16:creationId xmlns:a16="http://schemas.microsoft.com/office/drawing/2014/main" id="{34C77606-3E08-0998-726E-E8776EAAE121}"/>
              </a:ext>
            </a:extLst>
          </p:cNvPr>
          <p:cNvPicPr>
            <a:picLocks noChangeAspect="1"/>
          </p:cNvPicPr>
          <p:nvPr/>
        </p:nvPicPr>
        <p:blipFill>
          <a:blip r:embed="rId3"/>
          <a:stretch>
            <a:fillRect/>
          </a:stretch>
        </p:blipFill>
        <p:spPr>
          <a:xfrm>
            <a:off x="3064311" y="1637864"/>
            <a:ext cx="6764012" cy="4561561"/>
          </a:xfrm>
          <a:prstGeom prst="rect">
            <a:avLst/>
          </a:prstGeom>
        </p:spPr>
      </p:pic>
    </p:spTree>
    <p:extLst>
      <p:ext uri="{BB962C8B-B14F-4D97-AF65-F5344CB8AC3E}">
        <p14:creationId xmlns:p14="http://schemas.microsoft.com/office/powerpoint/2010/main" val="4083280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F48C6-1B65-97D4-55BF-F36D6B76D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054FF-9592-8C47-DDCF-B30332016F38}"/>
              </a:ext>
            </a:extLst>
          </p:cNvPr>
          <p:cNvSpPr>
            <a:spLocks noGrp="1"/>
          </p:cNvSpPr>
          <p:nvPr>
            <p:ph type="title"/>
          </p:nvPr>
        </p:nvSpPr>
        <p:spPr/>
        <p:txBody>
          <a:bodyPr/>
          <a:lstStyle/>
          <a:p>
            <a:r>
              <a:rPr lang="en-US" dirty="0"/>
              <a:t>Fitting a parametric survival model</a:t>
            </a:r>
            <a:endParaRPr lang="en-AU" dirty="0"/>
          </a:p>
        </p:txBody>
      </p:sp>
      <p:sp>
        <p:nvSpPr>
          <p:cNvPr id="3" name="Content Placeholder 2">
            <a:extLst>
              <a:ext uri="{FF2B5EF4-FFF2-40B4-BE49-F238E27FC236}">
                <a16:creationId xmlns:a16="http://schemas.microsoft.com/office/drawing/2014/main" id="{10B4440C-8CA2-23EE-7A10-1ED7A241E8EF}"/>
              </a:ext>
            </a:extLst>
          </p:cNvPr>
          <p:cNvSpPr>
            <a:spLocks noGrp="1"/>
          </p:cNvSpPr>
          <p:nvPr>
            <p:ph idx="1"/>
          </p:nvPr>
        </p:nvSpPr>
        <p:spPr/>
        <p:txBody>
          <a:bodyPr>
            <a:normAutofit fontScale="92500" lnSpcReduction="10000"/>
          </a:bodyPr>
          <a:lstStyle/>
          <a:p>
            <a:r>
              <a:rPr lang="en-US" dirty="0"/>
              <a:t>Parametric survival models are typically fitted to observed survival data using the method of maximum likelihood</a:t>
            </a:r>
          </a:p>
          <a:p>
            <a:r>
              <a:rPr lang="en-US" dirty="0"/>
              <a:t>In practice, a numerical procedure, such as Newton-Raphson algorithm, is often used to find the values of parameters that </a:t>
            </a:r>
            <a:r>
              <a:rPr lang="en-US" dirty="0" err="1"/>
              <a:t>maximise</a:t>
            </a:r>
            <a:r>
              <a:rPr lang="en-US" dirty="0"/>
              <a:t> the likelihood function</a:t>
            </a:r>
          </a:p>
          <a:p>
            <a:r>
              <a:rPr lang="en-AU" dirty="0"/>
              <a:t>We demonstrate fitting various parametric survival models using a data example by Gehan (1965) (originated from a randomised controlled trial by Freireich et al. 1963), in which</a:t>
            </a:r>
          </a:p>
          <a:p>
            <a:pPr lvl="1"/>
            <a:r>
              <a:rPr lang="en-AU" dirty="0"/>
              <a:t>42 children with acute leukaemia were enrolled in a randomised controlled trial, in which 21 patients received an experimental treatment (6-mercaptopurine or 6-MP) and the other 21 received a placebo</a:t>
            </a:r>
          </a:p>
          <a:p>
            <a:pPr lvl="1"/>
            <a:r>
              <a:rPr lang="en-AU" dirty="0"/>
              <a:t>Participants had complete or partial remission status at randomisation, and were matched by remission status (one randomised to 6-MP and the other to placebo)</a:t>
            </a:r>
          </a:p>
          <a:p>
            <a:pPr lvl="1"/>
            <a:r>
              <a:rPr lang="en-AU" dirty="0"/>
              <a:t>The participants were then followed until their leukaemia returned (relapse) or the end of study</a:t>
            </a:r>
          </a:p>
          <a:p>
            <a:pPr lvl="1"/>
            <a:endParaRPr lang="en-US" dirty="0"/>
          </a:p>
        </p:txBody>
      </p:sp>
      <p:sp>
        <p:nvSpPr>
          <p:cNvPr id="4" name="Footer Placeholder 3">
            <a:extLst>
              <a:ext uri="{FF2B5EF4-FFF2-40B4-BE49-F238E27FC236}">
                <a16:creationId xmlns:a16="http://schemas.microsoft.com/office/drawing/2014/main" id="{EBAC4F63-C558-B395-68A4-F29249170CA2}"/>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3875043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B729-FC9E-84AA-C907-D7539DB73BF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0013BD0-CDD9-4367-F4AF-5698173458B1}"/>
              </a:ext>
            </a:extLst>
          </p:cNvPr>
          <p:cNvSpPr>
            <a:spLocks noGrp="1"/>
          </p:cNvSpPr>
          <p:nvPr>
            <p:ph type="ftr" sz="quarter" idx="11"/>
          </p:nvPr>
        </p:nvSpPr>
        <p:spPr/>
        <p:txBody>
          <a:bodyPr/>
          <a:lstStyle/>
          <a:p>
            <a:r>
              <a:rPr lang="en-US" dirty="0"/>
              <a:t>maarit.laaksonen@sydney.edu.au</a:t>
            </a:r>
          </a:p>
        </p:txBody>
      </p:sp>
      <p:pic>
        <p:nvPicPr>
          <p:cNvPr id="10" name="Picture 9">
            <a:extLst>
              <a:ext uri="{FF2B5EF4-FFF2-40B4-BE49-F238E27FC236}">
                <a16:creationId xmlns:a16="http://schemas.microsoft.com/office/drawing/2014/main" id="{26624D1D-4150-9B23-D0A1-4DE3628F4AE1}"/>
              </a:ext>
            </a:extLst>
          </p:cNvPr>
          <p:cNvPicPr>
            <a:picLocks noChangeAspect="1"/>
          </p:cNvPicPr>
          <p:nvPr/>
        </p:nvPicPr>
        <p:blipFill>
          <a:blip r:embed="rId3"/>
          <a:stretch>
            <a:fillRect/>
          </a:stretch>
        </p:blipFill>
        <p:spPr>
          <a:xfrm>
            <a:off x="881078" y="890283"/>
            <a:ext cx="5542091" cy="5077434"/>
          </a:xfrm>
          <a:prstGeom prst="rect">
            <a:avLst/>
          </a:prstGeom>
        </p:spPr>
      </p:pic>
      <p:sp>
        <p:nvSpPr>
          <p:cNvPr id="13" name="TextBox 12">
            <a:extLst>
              <a:ext uri="{FF2B5EF4-FFF2-40B4-BE49-F238E27FC236}">
                <a16:creationId xmlns:a16="http://schemas.microsoft.com/office/drawing/2014/main" id="{E90F9E22-3557-9D70-A7B7-7DE895816C5B}"/>
              </a:ext>
            </a:extLst>
          </p:cNvPr>
          <p:cNvSpPr txBox="1"/>
          <p:nvPr/>
        </p:nvSpPr>
        <p:spPr>
          <a:xfrm>
            <a:off x="8296038" y="5701553"/>
            <a:ext cx="3128584" cy="369332"/>
          </a:xfrm>
          <a:prstGeom prst="rect">
            <a:avLst/>
          </a:prstGeom>
          <a:noFill/>
        </p:spPr>
        <p:txBody>
          <a:bodyPr wrap="square" rtlCol="0">
            <a:spAutoFit/>
          </a:bodyPr>
          <a:lstStyle/>
          <a:p>
            <a:r>
              <a:rPr lang="en-AU" dirty="0"/>
              <a:t>Klein and </a:t>
            </a:r>
            <a:r>
              <a:rPr lang="en-AU" dirty="0" err="1"/>
              <a:t>Moeschberger</a:t>
            </a:r>
            <a:r>
              <a:rPr lang="en-AU" dirty="0"/>
              <a:t> 2003</a:t>
            </a:r>
          </a:p>
        </p:txBody>
      </p:sp>
      <p:pic>
        <p:nvPicPr>
          <p:cNvPr id="19" name="Picture 18">
            <a:extLst>
              <a:ext uri="{FF2B5EF4-FFF2-40B4-BE49-F238E27FC236}">
                <a16:creationId xmlns:a16="http://schemas.microsoft.com/office/drawing/2014/main" id="{A11532F3-6F6E-E8E3-3879-9D63C071610A}"/>
              </a:ext>
            </a:extLst>
          </p:cNvPr>
          <p:cNvPicPr>
            <a:picLocks noChangeAspect="1"/>
          </p:cNvPicPr>
          <p:nvPr/>
        </p:nvPicPr>
        <p:blipFill>
          <a:blip r:embed="rId4"/>
          <a:stretch>
            <a:fillRect/>
          </a:stretch>
        </p:blipFill>
        <p:spPr>
          <a:xfrm>
            <a:off x="7176694" y="1761892"/>
            <a:ext cx="2238687" cy="3334215"/>
          </a:xfrm>
          <a:prstGeom prst="rect">
            <a:avLst/>
          </a:prstGeom>
        </p:spPr>
      </p:pic>
      <p:sp>
        <p:nvSpPr>
          <p:cNvPr id="20" name="TextBox 19">
            <a:extLst>
              <a:ext uri="{FF2B5EF4-FFF2-40B4-BE49-F238E27FC236}">
                <a16:creationId xmlns:a16="http://schemas.microsoft.com/office/drawing/2014/main" id="{94BCAA9E-F4F6-B622-91A5-A7DD8558F0A0}"/>
              </a:ext>
            </a:extLst>
          </p:cNvPr>
          <p:cNvSpPr txBox="1"/>
          <p:nvPr/>
        </p:nvSpPr>
        <p:spPr>
          <a:xfrm>
            <a:off x="7016245" y="971780"/>
            <a:ext cx="3128584" cy="646331"/>
          </a:xfrm>
          <a:prstGeom prst="rect">
            <a:avLst/>
          </a:prstGeom>
          <a:noFill/>
        </p:spPr>
        <p:txBody>
          <a:bodyPr wrap="square" rtlCol="0">
            <a:spAutoFit/>
          </a:bodyPr>
          <a:lstStyle/>
          <a:p>
            <a:r>
              <a:rPr lang="en-AU" dirty="0"/>
              <a:t>Also included in the </a:t>
            </a:r>
            <a:r>
              <a:rPr lang="en-AU" b="1" dirty="0"/>
              <a:t>MASS</a:t>
            </a:r>
            <a:r>
              <a:rPr lang="en-AU" dirty="0"/>
              <a:t> package as </a:t>
            </a:r>
            <a:r>
              <a:rPr lang="en-AU" i="1" dirty="0" err="1">
                <a:latin typeface="Courier New" panose="02070309020205020404" pitchFamily="49" charset="0"/>
                <a:cs typeface="Courier New" panose="02070309020205020404" pitchFamily="49" charset="0"/>
              </a:rPr>
              <a:t>gehan</a:t>
            </a:r>
            <a:endParaRPr lang="en-AU"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5970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CA0B9-318E-70F3-D56D-F1A894608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0C5F3-A091-6738-96CA-65C464F4917C}"/>
              </a:ext>
            </a:extLst>
          </p:cNvPr>
          <p:cNvSpPr>
            <a:spLocks noGrp="1"/>
          </p:cNvSpPr>
          <p:nvPr>
            <p:ph type="title"/>
          </p:nvPr>
        </p:nvSpPr>
        <p:spPr/>
        <p:txBody>
          <a:bodyPr/>
          <a:lstStyle/>
          <a:p>
            <a:r>
              <a:rPr lang="en-US" dirty="0"/>
              <a:t>Modelling approaches</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D08C89-451A-43FD-60AD-76C20E18B79B}"/>
                  </a:ext>
                </a:extLst>
              </p:cNvPr>
              <p:cNvSpPr>
                <a:spLocks noGrp="1"/>
              </p:cNvSpPr>
              <p:nvPr>
                <p:ph idx="1"/>
              </p:nvPr>
            </p:nvSpPr>
            <p:spPr>
              <a:xfrm>
                <a:off x="750367" y="1917192"/>
                <a:ext cx="10691265" cy="4178808"/>
              </a:xfrm>
            </p:spPr>
            <p:txBody>
              <a:bodyPr>
                <a:normAutofit fontScale="70000" lnSpcReduction="20000"/>
              </a:bodyPr>
              <a:lstStyle/>
              <a:p>
                <a:pPr marL="0" indent="0">
                  <a:spcAft>
                    <a:spcPts val="1200"/>
                  </a:spcAft>
                  <a:buNone/>
                </a:pPr>
                <a:r>
                  <a:rPr lang="en-US" dirty="0"/>
                  <a:t>To evaluate how covariates affect survival times, two modelling approaches can be employed:</a:t>
                </a:r>
              </a:p>
              <a:p>
                <a:pPr marL="457200" indent="-457200">
                  <a:buAutoNum type="arabicPeriod"/>
                </a:pPr>
                <a:r>
                  <a:rPr lang="en-US" b="1" dirty="0"/>
                  <a:t>Proportional hazards (PH) models</a:t>
                </a:r>
              </a:p>
              <a:p>
                <a:r>
                  <a:rPr lang="en-US" dirty="0"/>
                  <a:t>Regression models in survival analysis are typically specified </a:t>
                </a:r>
                <a:r>
                  <a:rPr lang="en-US" b="1" dirty="0"/>
                  <a:t>at the level of the hazard</a:t>
                </a:r>
              </a:p>
              <a:p>
                <a:r>
                  <a:rPr lang="en-US" dirty="0"/>
                  <a:t>The most common approach involves </a:t>
                </a:r>
                <a:r>
                  <a:rPr lang="en-US" b="1" dirty="0"/>
                  <a:t>relative risk models</a:t>
                </a:r>
                <a:r>
                  <a:rPr lang="en-US" dirty="0"/>
                  <a:t>, which assume that covariates have a </a:t>
                </a:r>
                <a:r>
                  <a:rPr lang="en-US" b="1" dirty="0"/>
                  <a:t>multiplicative effect on the hazard</a:t>
                </a:r>
              </a:p>
              <a:p>
                <a:r>
                  <a:rPr lang="en-US" dirty="0"/>
                  <a:t>For an individual </a:t>
                </a:r>
                <a:r>
                  <a:rPr lang="en-US" i="1" dirty="0" err="1"/>
                  <a:t>i</a:t>
                </a:r>
                <a:r>
                  <a:rPr lang="en-US" dirty="0"/>
                  <a:t> (</a:t>
                </a:r>
                <a:r>
                  <a:rPr lang="en-US" i="1" dirty="0" err="1"/>
                  <a:t>i</a:t>
                </a:r>
                <a:r>
                  <a:rPr lang="en-US" dirty="0"/>
                  <a:t> = 1,…, </a:t>
                </a:r>
                <a:r>
                  <a:rPr lang="en-US" i="1" dirty="0"/>
                  <a:t>n</a:t>
                </a:r>
                <a:r>
                  <a:rPr lang="en-US" dirty="0"/>
                  <a:t>) with a set of </a:t>
                </a:r>
                <a:r>
                  <a:rPr lang="en-US" i="1" dirty="0"/>
                  <a:t>p</a:t>
                </a:r>
                <a:r>
                  <a:rPr lang="en-US" dirty="0"/>
                  <a:t> covariates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𝑝</m:t>
                        </m:r>
                      </m:sub>
                    </m:sSub>
                  </m:oMath>
                </a14:m>
                <a:r>
                  <a:rPr lang="en-US" dirty="0"/>
                  <a:t>, the proportional hazards model defines the hazard function as:</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i="1">
                            <a:latin typeface="Cambria Math" panose="02040503050406030204" pitchFamily="18" charset="0"/>
                          </a:rPr>
                          <m:t>𝑡</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𝜓</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𝑡</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𝛽</m:t>
                            </m:r>
                          </m:e>
                        </m:d>
                      </m:e>
                    </m:func>
                  </m:oMath>
                </a14:m>
                <a:r>
                  <a:rPr lang="en-US" dirty="0">
                    <a:ea typeface="Cambria Math" panose="02040503050406030204" pitchFamily="18" charset="0"/>
                  </a:rPr>
                  <a:t>,</a:t>
                </a:r>
              </a:p>
              <a:p>
                <a:pPr>
                  <a:buClr>
                    <a:schemeClr val="bg1"/>
                  </a:buClr>
                </a:pP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is the time-dependent baseline hazard and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𝛽</m:t>
                            </m:r>
                          </m:e>
                        </m:d>
                      </m:e>
                    </m:func>
                  </m:oMath>
                </a14:m>
                <a:r>
                  <a:rPr lang="en-US" dirty="0"/>
                  <a:t> is the positive covariate-dependent ‘relative risk’ part</a:t>
                </a:r>
              </a:p>
              <a:p>
                <a:r>
                  <a:rPr lang="en-US" dirty="0"/>
                  <a:t>On the log-hazard scale this model writes down</a:t>
                </a:r>
              </a:p>
              <a:p>
                <a:pPr marL="0" indent="0">
                  <a:buNone/>
                </a:pPr>
                <a:r>
                  <a:rPr lang="en-US" dirty="0"/>
                  <a:t>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𝑡</m:t>
                            </m:r>
                          </m:e>
                        </m:d>
                      </m:e>
                    </m:func>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𝑡</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d>
                      </m:e>
                    </m:func>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m:t>
                        </m:r>
                      </m:e>
                    </m:func>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𝛽</m:t>
                    </m:r>
                  </m:oMath>
                </a14:m>
                <a:r>
                  <a:rPr lang="en-US" dirty="0">
                    <a:ea typeface="Cambria Math" panose="02040503050406030204" pitchFamily="18" charset="0"/>
                  </a:rPr>
                  <a:t>,</a:t>
                </a:r>
              </a:p>
              <a:p>
                <a:pPr>
                  <a:buClr>
                    <a:schemeClr val="bg1"/>
                  </a:buClr>
                </a:pPr>
                <a:r>
                  <a:rPr lang="en-US" dirty="0">
                    <a:ea typeface="Cambria Math" panose="02040503050406030204" pitchFamily="18" charset="0"/>
                  </a:rPr>
                  <a:t>showing how the </a:t>
                </a:r>
                <a:r>
                  <a:rPr lang="en-US" b="1" dirty="0">
                    <a:ea typeface="Cambria Math" panose="02040503050406030204" pitchFamily="18" charset="0"/>
                  </a:rPr>
                  <a:t>c</a:t>
                </a:r>
                <a:r>
                  <a:rPr lang="en-US" b="1" dirty="0"/>
                  <a:t>ovariates shift the hazard proportionally </a:t>
                </a:r>
                <a:r>
                  <a:rPr lang="en-US" dirty="0"/>
                  <a:t>(distance between the log-hazard curves remains constant over time)</a:t>
                </a:r>
              </a:p>
              <a:p>
                <a:pPr>
                  <a:buClr>
                    <a:schemeClr val="bg1"/>
                  </a:buClr>
                </a:pPr>
                <a:endParaRPr lang="en-US" dirty="0"/>
              </a:p>
              <a:p>
                <a:r>
                  <a:rPr lang="en-US" dirty="0"/>
                  <a:t>“Does the treatment lower the risk of </a:t>
                </a:r>
                <a:r>
                  <a:rPr lang="en-US" dirty="0" err="1"/>
                  <a:t>leukaemia</a:t>
                </a:r>
                <a:r>
                  <a:rPr lang="en-US" dirty="0"/>
                  <a:t> relapse compared to the placebo?” Results are typically reported as hazard ratios (HR)</a:t>
                </a:r>
              </a:p>
            </p:txBody>
          </p:sp>
        </mc:Choice>
        <mc:Fallback xmlns="">
          <p:sp>
            <p:nvSpPr>
              <p:cNvPr id="3" name="Content Placeholder 2">
                <a:extLst>
                  <a:ext uri="{FF2B5EF4-FFF2-40B4-BE49-F238E27FC236}">
                    <a16:creationId xmlns:a16="http://schemas.microsoft.com/office/drawing/2014/main" id="{A5D08C89-451A-43FD-60AD-76C20E18B79B}"/>
                  </a:ext>
                </a:extLst>
              </p:cNvPr>
              <p:cNvSpPr>
                <a:spLocks noGrp="1" noRot="1" noChangeAspect="1" noMove="1" noResize="1" noEditPoints="1" noAdjustHandles="1" noChangeArrowheads="1" noChangeShapeType="1" noTextEdit="1"/>
              </p:cNvSpPr>
              <p:nvPr>
                <p:ph idx="1"/>
              </p:nvPr>
            </p:nvSpPr>
            <p:spPr>
              <a:xfrm>
                <a:off x="750367" y="1917192"/>
                <a:ext cx="10691265" cy="4178808"/>
              </a:xfrm>
              <a:blipFill>
                <a:blip r:embed="rId3"/>
                <a:stretch>
                  <a:fillRect l="-171" t="-73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B0DA0BC1-F523-E65D-2290-398AA46E35DE}"/>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891078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8DBF-1B12-5EAE-14A3-AB4CC4EF7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30E31-7A25-DC21-FBAF-274E28D0C26B}"/>
              </a:ext>
            </a:extLst>
          </p:cNvPr>
          <p:cNvSpPr>
            <a:spLocks noGrp="1"/>
          </p:cNvSpPr>
          <p:nvPr>
            <p:ph type="title"/>
          </p:nvPr>
        </p:nvSpPr>
        <p:spPr/>
        <p:txBody>
          <a:bodyPr/>
          <a:lstStyle/>
          <a:p>
            <a:r>
              <a:rPr lang="en-US" dirty="0"/>
              <a:t>Modelling approaches</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E38F19-34A0-EA0F-B796-969B0C2F9E2A}"/>
                  </a:ext>
                </a:extLst>
              </p:cNvPr>
              <p:cNvSpPr>
                <a:spLocks noGrp="1"/>
              </p:cNvSpPr>
              <p:nvPr>
                <p:ph idx="1"/>
              </p:nvPr>
            </p:nvSpPr>
            <p:spPr>
              <a:xfrm>
                <a:off x="700635" y="1879092"/>
                <a:ext cx="11351665" cy="4477258"/>
              </a:xfrm>
            </p:spPr>
            <p:txBody>
              <a:bodyPr>
                <a:normAutofit fontScale="70000" lnSpcReduction="20000"/>
              </a:bodyPr>
              <a:lstStyle/>
              <a:p>
                <a:pPr marL="0" indent="0">
                  <a:spcAft>
                    <a:spcPts val="1200"/>
                  </a:spcAft>
                  <a:buNone/>
                </a:pPr>
                <a:r>
                  <a:rPr lang="en-US" dirty="0"/>
                  <a:t>To evaluate how covariates affect survival times, two modelling approaches can be employed:</a:t>
                </a:r>
              </a:p>
              <a:p>
                <a:pPr marL="0" indent="0">
                  <a:spcBef>
                    <a:spcPts val="1200"/>
                  </a:spcBef>
                  <a:buNone/>
                </a:pPr>
                <a:r>
                  <a:rPr lang="en-US" b="1" dirty="0"/>
                  <a:t>2. Accelerated Failure Time (AFT) models</a:t>
                </a:r>
                <a:r>
                  <a:rPr lang="en-US" dirty="0"/>
                  <a:t> </a:t>
                </a:r>
              </a:p>
              <a:p>
                <a:pPr>
                  <a:spcBef>
                    <a:spcPts val="1200"/>
                  </a:spcBef>
                </a:pPr>
                <a:r>
                  <a:rPr lang="en-US" dirty="0"/>
                  <a:t>Useful when the interest is on the </a:t>
                </a:r>
                <a:r>
                  <a:rPr lang="en-US" b="1" dirty="0"/>
                  <a:t>timing of an event </a:t>
                </a:r>
                <a:r>
                  <a:rPr lang="en-US" dirty="0"/>
                  <a:t>rather than the risk of its occurrence</a:t>
                </a:r>
              </a:p>
              <a:p>
                <a:pPr>
                  <a:spcBef>
                    <a:spcPts val="1200"/>
                  </a:spcBef>
                </a:pPr>
                <a:r>
                  <a:rPr lang="en-US" dirty="0"/>
                  <a:t>Because survival time </a:t>
                </a:r>
                <a:r>
                  <a:rPr lang="en-US" i="1" dirty="0"/>
                  <a:t>T</a:t>
                </a:r>
                <a:r>
                  <a:rPr lang="en-US" dirty="0"/>
                  <a:t> is a positive variable, the AFT model is framed as a </a:t>
                </a:r>
                <a:r>
                  <a:rPr lang="en-US" b="1" dirty="0"/>
                  <a:t>log-linear regression</a:t>
                </a:r>
                <a:r>
                  <a:rPr lang="en-US" dirty="0"/>
                  <a:t>, allowing us to </a:t>
                </a:r>
                <a:r>
                  <a:rPr lang="en-US" b="1" dirty="0"/>
                  <a:t>model the impact of covariates directly on the event time</a:t>
                </a:r>
              </a:p>
              <a:p>
                <a:pPr marL="0" indent="0">
                  <a:spcBef>
                    <a:spcPts val="1200"/>
                  </a:spcBef>
                  <a:buNone/>
                </a:pP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rPr>
                        <m:t>log</m:t>
                      </m:r>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T</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𝜇</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𝛼</m:t>
                      </m:r>
                      <m:r>
                        <a:rPr lang="en-US" i="1">
                          <a:latin typeface="Cambria Math" panose="02040503050406030204" pitchFamily="18" charset="0"/>
                        </a:rPr>
                        <m:t>+</m:t>
                      </m:r>
                      <m:r>
                        <m:rPr>
                          <m:sty m:val="p"/>
                        </m:rPr>
                        <a:rPr lang="en-US" i="1">
                          <a:latin typeface="Cambria Math" panose="02040503050406030204" pitchFamily="18" charset="0"/>
                        </a:rPr>
                        <m:t>σ</m:t>
                      </m:r>
                      <m:sSub>
                        <m:sSubPr>
                          <m:ctrlPr>
                            <a:rPr lang="en-US" i="1" smtClean="0">
                              <a:latin typeface="Cambria Math" panose="02040503050406030204" pitchFamily="18" charset="0"/>
                            </a:rPr>
                          </m:ctrlPr>
                        </m:sSubPr>
                        <m:e>
                          <m:r>
                            <m:rPr>
                              <m:sty m:val="p"/>
                            </m:rPr>
                            <a:rPr lang="en-US" i="1">
                              <a:latin typeface="Cambria Math" panose="02040503050406030204" pitchFamily="18" charset="0"/>
                            </a:rPr>
                            <m:t>ϵ</m:t>
                          </m:r>
                        </m:e>
                        <m:sub>
                          <m:r>
                            <a:rPr lang="en-US" b="0" i="1" smtClean="0">
                              <a:latin typeface="Cambria Math" panose="02040503050406030204" pitchFamily="18" charset="0"/>
                            </a:rPr>
                            <m:t>𝑖</m:t>
                          </m:r>
                        </m:sub>
                      </m:sSub>
                    </m:oMath>
                  </m:oMathPara>
                </a14:m>
                <a:endParaRPr lang="en-US" dirty="0"/>
              </a:p>
              <a:p>
                <a:pPr>
                  <a:spcBef>
                    <a:spcPts val="1200"/>
                  </a:spcBef>
                  <a:buClr>
                    <a:schemeClr val="bg1"/>
                  </a:buClr>
                </a:pPr>
                <a:r>
                  <a:rPr lang="en-US" dirty="0"/>
                  <a:t>where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𝜇</m:t>
                    </m:r>
                  </m:oMath>
                </a14:m>
                <a:r>
                  <a:rPr lang="en-US" dirty="0"/>
                  <a:t>  and </a:t>
                </a:r>
                <a14:m>
                  <m:oMath xmlns:m="http://schemas.openxmlformats.org/officeDocument/2006/math">
                    <m:r>
                      <m:rPr>
                        <m:sty m:val="p"/>
                      </m:rPr>
                      <a:rPr lang="en-US" i="1">
                        <a:latin typeface="Cambria Math" panose="02040503050406030204" pitchFamily="18" charset="0"/>
                      </a:rPr>
                      <m:t>σ</m:t>
                    </m:r>
                    <m:r>
                      <a:rPr lang="en-US" b="0" i="1" smtClean="0">
                        <a:latin typeface="Cambria Math" panose="02040503050406030204" pitchFamily="18" charset="0"/>
                      </a:rPr>
                      <m:t> </m:t>
                    </m:r>
                  </m:oMath>
                </a14:m>
                <a:r>
                  <a:rPr lang="en-US" dirty="0"/>
                  <a:t>represent location and scale parameters,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𝛼</m:t>
                    </m:r>
                  </m:oMath>
                </a14:m>
                <a:r>
                  <a:rPr lang="en-US" dirty="0"/>
                  <a:t> the linear predictor of covariates, and </a:t>
                </a:r>
                <a14:m>
                  <m:oMath xmlns:m="http://schemas.openxmlformats.org/officeDocument/2006/math">
                    <m:r>
                      <m:rPr>
                        <m:sty m:val="p"/>
                      </m:rPr>
                      <a:rPr lang="en-US" i="1">
                        <a:latin typeface="Cambria Math" panose="02040503050406030204" pitchFamily="18" charset="0"/>
                      </a:rPr>
                      <m:t>ϵ</m:t>
                    </m:r>
                  </m:oMath>
                </a14:m>
                <a:r>
                  <a:rPr lang="en-US" dirty="0"/>
                  <a:t> the error term</a:t>
                </a:r>
              </a:p>
              <a:p>
                <a:pPr>
                  <a:spcBef>
                    <a:spcPts val="1200"/>
                  </a:spcBef>
                </a:pPr>
                <a:r>
                  <a:rPr lang="en-US" dirty="0"/>
                  <a:t>The name of the AFT model is best understood through the survival function. For any individual </a:t>
                </a:r>
                <a:r>
                  <a:rPr lang="en-US" i="1" dirty="0" err="1"/>
                  <a:t>i</a:t>
                </a:r>
                <a:r>
                  <a:rPr lang="en-US" i="1" dirty="0"/>
                  <a:t>, </a:t>
                </a:r>
                <a:r>
                  <a:rPr lang="en-US" dirty="0"/>
                  <a:t>the AFT model assumes that</a:t>
                </a:r>
              </a:p>
              <a:p>
                <a:pPr marL="0" indent="0">
                  <a:spcBef>
                    <a:spcPts val="1200"/>
                  </a:spcBef>
                  <a:buNone/>
                </a:pPr>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b="0" i="1" smtClean="0">
                            <a:latin typeface="Cambria Math" panose="02040503050406030204" pitchFamily="18" charset="0"/>
                          </a:rPr>
                          <m:t>𝜙</m:t>
                        </m:r>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0</m:t>
                        </m:r>
                      </m:sub>
                    </m:sSub>
                    <m:d>
                      <m:dPr>
                        <m:ctrlPr>
                          <a:rPr lang="en-US"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𝛼</m:t>
                                </m:r>
                              </m:e>
                            </m:d>
                            <m:r>
                              <a:rPr lang="en-US" i="1">
                                <a:latin typeface="Cambria Math" panose="02040503050406030204" pitchFamily="18" charset="0"/>
                              </a:rPr>
                              <m:t>𝑡</m:t>
                            </m:r>
                          </m:e>
                        </m:func>
                      </m:e>
                    </m:d>
                  </m:oMath>
                </a14:m>
                <a:r>
                  <a:rPr lang="en-US" dirty="0"/>
                  <a:t>,</a:t>
                </a:r>
              </a:p>
              <a:p>
                <a:pPr>
                  <a:spcBef>
                    <a:spcPts val="1200"/>
                  </a:spcBef>
                  <a:buClr>
                    <a:schemeClr val="bg1"/>
                  </a:buClr>
                </a:pPr>
                <a:r>
                  <a:rPr lang="en-US" dirty="0"/>
                  <a:t>where </a:t>
                </a:r>
                <a14:m>
                  <m:oMath xmlns:m="http://schemas.openxmlformats.org/officeDocument/2006/math">
                    <m:r>
                      <a:rPr lang="en-US" i="1">
                        <a:latin typeface="Cambria Math" panose="02040503050406030204" pitchFamily="18" charset="0"/>
                      </a:rPr>
                      <m:t>𝜙</m:t>
                    </m:r>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𝛼</m:t>
                            </m:r>
                          </m:e>
                        </m:d>
                      </m:e>
                    </m:func>
                  </m:oMath>
                </a14:m>
                <a:r>
                  <a:rPr lang="en-US" dirty="0"/>
                  <a:t> is an </a:t>
                </a:r>
                <a:r>
                  <a:rPr lang="en-US" b="1" dirty="0"/>
                  <a:t>accelerator factor </a:t>
                </a:r>
                <a:r>
                  <a:rPr lang="en-US" dirty="0"/>
                  <a:t>that accelerates time if &gt; 1 and decelerates time if &lt;1</a:t>
                </a:r>
                <a:endParaRPr lang="en-US" b="1" dirty="0"/>
              </a:p>
              <a:p>
                <a:pPr>
                  <a:spcBef>
                    <a:spcPts val="1200"/>
                  </a:spcBef>
                </a:pPr>
                <a:r>
                  <a:rPr lang="en-US" dirty="0"/>
                  <a:t>Covariates thus act as multipliers of time,  stretching out or shrinking survival time (i.e., horizontal shift in the survival curve)</a:t>
                </a:r>
              </a:p>
              <a:p>
                <a:pPr>
                  <a:spcBef>
                    <a:spcPts val="1200"/>
                  </a:spcBef>
                </a:pPr>
                <a:endParaRPr lang="en-US" dirty="0"/>
              </a:p>
              <a:p>
                <a:pPr>
                  <a:spcBef>
                    <a:spcPts val="1200"/>
                  </a:spcBef>
                </a:pPr>
                <a:r>
                  <a:rPr lang="en-US" dirty="0"/>
                  <a:t>“How much longer can a patient expect to remain in remission on the treatment compared to the placebo?”</a:t>
                </a:r>
              </a:p>
            </p:txBody>
          </p:sp>
        </mc:Choice>
        <mc:Fallback xmlns="">
          <p:sp>
            <p:nvSpPr>
              <p:cNvPr id="3" name="Content Placeholder 2">
                <a:extLst>
                  <a:ext uri="{FF2B5EF4-FFF2-40B4-BE49-F238E27FC236}">
                    <a16:creationId xmlns:a16="http://schemas.microsoft.com/office/drawing/2014/main" id="{49E38F19-34A0-EA0F-B796-969B0C2F9E2A}"/>
                  </a:ext>
                </a:extLst>
              </p:cNvPr>
              <p:cNvSpPr>
                <a:spLocks noGrp="1" noRot="1" noChangeAspect="1" noMove="1" noResize="1" noEditPoints="1" noAdjustHandles="1" noChangeArrowheads="1" noChangeShapeType="1" noTextEdit="1"/>
              </p:cNvSpPr>
              <p:nvPr>
                <p:ph idx="1"/>
              </p:nvPr>
            </p:nvSpPr>
            <p:spPr>
              <a:xfrm>
                <a:off x="700635" y="1879092"/>
                <a:ext cx="11351665" cy="4477258"/>
              </a:xfrm>
              <a:blipFill>
                <a:blip r:embed="rId3"/>
                <a:stretch>
                  <a:fillRect l="-161" t="-544" r="-269"/>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C8B9C1A4-3A90-347D-0A3D-9D900BC7259B}"/>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082645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54F39-77CC-2894-189F-A5BD8D341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4EC9F-8F8B-179E-C455-D9259DCD547A}"/>
              </a:ext>
            </a:extLst>
          </p:cNvPr>
          <p:cNvSpPr>
            <a:spLocks noGrp="1"/>
          </p:cNvSpPr>
          <p:nvPr>
            <p:ph type="title"/>
          </p:nvPr>
        </p:nvSpPr>
        <p:spPr/>
        <p:txBody>
          <a:bodyPr>
            <a:normAutofit fontScale="90000"/>
          </a:bodyPr>
          <a:lstStyle/>
          <a:p>
            <a:r>
              <a:rPr lang="en-US" dirty="0"/>
              <a:t>Modelling approaches – exponential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AF4E91-92F3-C538-0B18-D71120D2205B}"/>
                  </a:ext>
                </a:extLst>
              </p:cNvPr>
              <p:cNvSpPr>
                <a:spLocks noGrp="1"/>
              </p:cNvSpPr>
              <p:nvPr>
                <p:ph idx="1"/>
              </p:nvPr>
            </p:nvSpPr>
            <p:spPr>
              <a:xfrm>
                <a:off x="700634" y="2221992"/>
                <a:ext cx="11273651" cy="4134358"/>
              </a:xfrm>
            </p:spPr>
            <p:txBody>
              <a:bodyPr>
                <a:normAutofit/>
              </a:bodyPr>
              <a:lstStyle/>
              <a:p>
                <a:pPr>
                  <a:spcAft>
                    <a:spcPts val="1200"/>
                  </a:spcAft>
                </a:pPr>
                <a:r>
                  <a:rPr lang="en-US" dirty="0"/>
                  <a:t>For exponential model, applied to the data example, where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 =</m:t>
                    </m:r>
                    <m:r>
                      <m:rPr>
                        <m:sty m:val="p"/>
                      </m:rPr>
                      <a:rPr lang="en-US" b="0" i="0" smtClean="0">
                        <a:latin typeface="Cambria Math" panose="02040503050406030204" pitchFamily="18" charset="0"/>
                      </a:rPr>
                      <m:t>group</m:t>
                    </m:r>
                  </m:oMath>
                </a14:m>
                <a:r>
                  <a:rPr lang="en-US" dirty="0"/>
                  <a:t> (1 = treatment, 0 = placebo)</a:t>
                </a:r>
              </a:p>
              <a:p>
                <a:pPr marL="0" indent="0">
                  <a:buNone/>
                </a:pPr>
                <a:r>
                  <a:rPr lang="en-US" b="1" dirty="0"/>
                  <a:t>1. Proportional hazards (PH) model</a:t>
                </a:r>
              </a:p>
              <a:p>
                <a:pPr>
                  <a:buClr>
                    <a:schemeClr val="bg1"/>
                  </a:buClr>
                </a:pP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𝑡</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 </m:t>
                    </m:r>
                    <m:r>
                      <a:rPr lang="en-US" i="1">
                        <a:latin typeface="Cambria Math" panose="02040503050406030204" pitchFamily="18" charset="0"/>
                      </a:rPr>
                      <m:t>=</m:t>
                    </m:r>
                    <m:r>
                      <a:rPr lang="en-US" i="1">
                        <a:latin typeface="Cambria Math" panose="02040503050406030204" pitchFamily="18" charset="0"/>
                      </a:rPr>
                      <m:t>𝜆</m:t>
                    </m:r>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m:t>
                    </m:r>
                    <m:r>
                      <m:rPr>
                        <m:nor/>
                      </m:rPr>
                      <a:rPr lang="en-AU" b="0" i="0" dirty="0" smtClean="0"/>
                      <m:t> = </m:t>
                    </m:r>
                    <m:r>
                      <m:rPr>
                        <m:sty m:val="p"/>
                      </m:rPr>
                      <a:rPr lang="en-US">
                        <a:latin typeface="Cambria Math" panose="02040503050406030204" pitchFamily="18" charset="0"/>
                      </a:rPr>
                      <m:t>exp</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m:t>
                    </m:r>
                    <m:r>
                      <a:rPr lang="en-US" i="1">
                        <a:latin typeface="Cambria Math" panose="02040503050406030204" pitchFamily="18" charset="0"/>
                      </a:rPr>
                      <m:t> </m:t>
                    </m:r>
                  </m:oMath>
                </a14:m>
                <a:endParaRPr lang="en-US" dirty="0"/>
              </a:p>
              <a:p>
                <a:pPr marL="0" indent="0">
                  <a:spcBef>
                    <a:spcPts val="1800"/>
                  </a:spcBef>
                  <a:buNone/>
                </a:pPr>
                <a:r>
                  <a:rPr lang="en-US" b="1" dirty="0"/>
                  <a:t>2. Accelerated failure time (AFT) model</a:t>
                </a:r>
                <a:r>
                  <a:rPr lang="en-US" dirty="0"/>
                  <a:t> </a:t>
                </a:r>
              </a:p>
              <a:p>
                <a:pPr>
                  <a:spcBef>
                    <a:spcPts val="1200"/>
                  </a:spcBef>
                  <a:buClr>
                    <a:schemeClr val="bg1"/>
                  </a:buClr>
                </a:pPr>
                <a14:m>
                  <m:oMath xmlns:m="http://schemas.openxmlformats.org/officeDocument/2006/math">
                    <m:r>
                      <m:rPr>
                        <m:sty m:val="p"/>
                      </m:rPr>
                      <a:rPr lang="en-US" i="1">
                        <a:latin typeface="Cambria Math" panose="02040503050406030204" pitchFamily="18" charset="0"/>
                      </a:rPr>
                      <m:t>logT</m:t>
                    </m:r>
                    <m:r>
                      <a:rPr lang="en-US" i="1">
                        <a:latin typeface="Cambria Math" panose="02040503050406030204" pitchFamily="18" charset="0"/>
                      </a:rPr>
                      <m:t> =</m:t>
                    </m:r>
                    <m:r>
                      <a:rPr lang="en-US" b="0" i="1" smtClean="0">
                        <a:latin typeface="Cambria Math" panose="02040503050406030204" pitchFamily="18" charset="0"/>
                      </a:rPr>
                      <m:t>𝜇</m:t>
                    </m:r>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1</m:t>
                        </m:r>
                      </m:sub>
                    </m:sSub>
                    <m:r>
                      <a:rPr lang="en-US" i="1">
                        <a:latin typeface="Cambria Math" panose="02040503050406030204" pitchFamily="18" charset="0"/>
                      </a:rPr>
                      <m:t>+</m:t>
                    </m:r>
                    <m:r>
                      <m:rPr>
                        <m:sty m:val="p"/>
                      </m:rPr>
                      <a:rPr lang="en-US" i="1">
                        <a:latin typeface="Cambria Math" panose="02040503050406030204" pitchFamily="18" charset="0"/>
                      </a:rPr>
                      <m:t>σϵ</m:t>
                    </m:r>
                  </m:oMath>
                </a14:m>
                <a:r>
                  <a:rPr lang="en-US" dirty="0"/>
                  <a:t>,</a:t>
                </a:r>
              </a:p>
              <a:p>
                <a:pPr>
                  <a:spcBef>
                    <a:spcPts val="1200"/>
                  </a:spcBef>
                  <a:buClr>
                    <a:schemeClr val="bg1"/>
                  </a:buClr>
                </a:pPr>
                <a:r>
                  <a:rPr lang="en-US" dirty="0"/>
                  <a:t>where for exponential model, the scale parameter </a:t>
                </a:r>
                <a14:m>
                  <m:oMath xmlns:m="http://schemas.openxmlformats.org/officeDocument/2006/math">
                    <m:r>
                      <m:rPr>
                        <m:sty m:val="p"/>
                      </m:rPr>
                      <a:rPr lang="en-US" i="1">
                        <a:latin typeface="Cambria Math" panose="02040503050406030204" pitchFamily="18" charset="0"/>
                      </a:rPr>
                      <m:t>σ</m:t>
                    </m:r>
                  </m:oMath>
                </a14:m>
                <a:r>
                  <a:rPr lang="en-US" dirty="0"/>
                  <a:t> is fixed at 1 </a:t>
                </a:r>
              </a:p>
              <a:p>
                <a:pPr>
                  <a:spcBef>
                    <a:spcPts val="1200"/>
                  </a:spcBef>
                </a:pPr>
                <a:endParaRPr lang="en-US" dirty="0"/>
              </a:p>
              <a:p>
                <a:pPr>
                  <a:spcBef>
                    <a:spcPts val="0"/>
                  </a:spcBef>
                </a:pPr>
                <a:r>
                  <a:rPr lang="en-US" dirty="0"/>
                  <a:t>Exponential PH and AFT models are the same model, the only difference is in their </a:t>
                </a:r>
                <a:r>
                  <a:rPr lang="en-US" dirty="0" err="1"/>
                  <a:t>parameterisation</a:t>
                </a:r>
                <a:endParaRPr lang="en-US" dirty="0"/>
              </a:p>
              <a:p>
                <a:pPr>
                  <a:spcBef>
                    <a:spcPts val="1200"/>
                  </a:spcBef>
                </a:pPr>
                <a:endParaRPr lang="en-US" dirty="0"/>
              </a:p>
            </p:txBody>
          </p:sp>
        </mc:Choice>
        <mc:Fallback xmlns="">
          <p:sp>
            <p:nvSpPr>
              <p:cNvPr id="3" name="Content Placeholder 2">
                <a:extLst>
                  <a:ext uri="{FF2B5EF4-FFF2-40B4-BE49-F238E27FC236}">
                    <a16:creationId xmlns:a16="http://schemas.microsoft.com/office/drawing/2014/main" id="{84AF4E91-92F3-C538-0B18-D71120D2205B}"/>
                  </a:ext>
                </a:extLst>
              </p:cNvPr>
              <p:cNvSpPr>
                <a:spLocks noGrp="1" noRot="1" noChangeAspect="1" noMove="1" noResize="1" noEditPoints="1" noAdjustHandles="1" noChangeArrowheads="1" noChangeShapeType="1" noTextEdit="1"/>
              </p:cNvSpPr>
              <p:nvPr>
                <p:ph idx="1"/>
              </p:nvPr>
            </p:nvSpPr>
            <p:spPr>
              <a:xfrm>
                <a:off x="700634" y="2221992"/>
                <a:ext cx="11273651" cy="4134358"/>
              </a:xfrm>
              <a:blipFill>
                <a:blip r:embed="rId3"/>
                <a:stretch>
                  <a:fillRect l="-595" t="-737" r="-541"/>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A02BE5F8-E344-313F-9A31-3D352F3A32D3}"/>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781910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BD3-0138-1777-C569-41426872C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3D1D3-A08C-6E63-0A12-F4891CA8A224}"/>
              </a:ext>
            </a:extLst>
          </p:cNvPr>
          <p:cNvSpPr>
            <a:spLocks noGrp="1"/>
          </p:cNvSpPr>
          <p:nvPr>
            <p:ph type="title"/>
          </p:nvPr>
        </p:nvSpPr>
        <p:spPr/>
        <p:txBody>
          <a:bodyPr>
            <a:normAutofit/>
          </a:bodyPr>
          <a:lstStyle/>
          <a:p>
            <a:r>
              <a:rPr lang="en-US" dirty="0"/>
              <a:t>exponential </a:t>
            </a:r>
            <a:r>
              <a:rPr lang="en-US" dirty="0" err="1">
                <a:solidFill>
                  <a:srgbClr val="FF0000"/>
                </a:solidFill>
              </a:rPr>
              <a:t>ph</a:t>
            </a:r>
            <a:r>
              <a:rPr lang="en-US" dirty="0">
                <a:solidFill>
                  <a:srgbClr val="FF0000"/>
                </a:solidFill>
              </a:rPr>
              <a: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1B1F9E-CC43-7FC8-3586-25C234BFDAFE}"/>
                  </a:ext>
                </a:extLst>
              </p:cNvPr>
              <p:cNvSpPr>
                <a:spLocks noGrp="1"/>
              </p:cNvSpPr>
              <p:nvPr>
                <p:ph idx="1"/>
              </p:nvPr>
            </p:nvSpPr>
            <p:spPr>
              <a:xfrm>
                <a:off x="750366" y="1822302"/>
                <a:ext cx="10691265" cy="4303076"/>
              </a:xfrm>
            </p:spPr>
            <p:txBody>
              <a:bodyPr>
                <a:normAutofit fontScale="70000" lnSpcReduction="20000"/>
              </a:bodyPr>
              <a:lstStyle/>
              <a:p>
                <a:pPr>
                  <a:spcAft>
                    <a:spcPts val="1200"/>
                  </a:spcAft>
                </a:pPr>
                <a:r>
                  <a:rPr lang="en-US" sz="2400" dirty="0"/>
                  <a:t>Can be estimated using </a:t>
                </a:r>
                <a:r>
                  <a:rPr lang="en-US" sz="2400" dirty="0" err="1">
                    <a:latin typeface="Courier New" panose="02070309020205020404" pitchFamily="49" charset="0"/>
                    <a:cs typeface="Courier New" panose="02070309020205020404" pitchFamily="49" charset="0"/>
                  </a:rPr>
                  <a:t>flexsurvreg</a:t>
                </a:r>
                <a:r>
                  <a:rPr lang="en-US" sz="2400" dirty="0"/>
                  <a:t> from the </a:t>
                </a:r>
                <a:r>
                  <a:rPr lang="en-US" sz="2400" dirty="0" err="1">
                    <a:latin typeface="Courier New" panose="02070309020205020404" pitchFamily="49" charset="0"/>
                    <a:cs typeface="Courier New" panose="02070309020205020404" pitchFamily="49" charset="0"/>
                  </a:rPr>
                  <a:t>flexsurv</a:t>
                </a:r>
                <a:r>
                  <a:rPr lang="en-US" sz="2400" dirty="0"/>
                  <a:t> package (</a:t>
                </a:r>
                <a:r>
                  <a:rPr lang="en-US" sz="2400" dirty="0" err="1"/>
                  <a:t>dist</a:t>
                </a:r>
                <a:r>
                  <a:rPr lang="en-US" sz="2400" dirty="0"/>
                  <a:t> = “exp”): </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pPr>
                  <a:spcBef>
                    <a:spcPts val="3600"/>
                  </a:spcBef>
                </a:pPr>
                <a14:m>
                  <m:oMath xmlns:m="http://schemas.openxmlformats.org/officeDocument/2006/math">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𝜆</m:t>
                            </m:r>
                          </m:e>
                        </m:acc>
                      </m:e>
                      <m:sub>
                        <m:r>
                          <a:rPr lang="en-US" sz="2300" i="1">
                            <a:latin typeface="Cambria Math" panose="02040503050406030204" pitchFamily="18" charset="0"/>
                          </a:rPr>
                          <m:t>0</m:t>
                        </m:r>
                      </m:sub>
                    </m:sSub>
                    <m:r>
                      <a:rPr lang="en-US" sz="2300" b="0" i="1" smtClean="0">
                        <a:latin typeface="Cambria Math" panose="02040503050406030204" pitchFamily="18" charset="0"/>
                      </a:rPr>
                      <m:t>=</m:t>
                    </m:r>
                    <m:r>
                      <m:rPr>
                        <m:sty m:val="p"/>
                      </m:rPr>
                      <a:rPr lang="en-US" sz="2300">
                        <a:latin typeface="Cambria Math" panose="02040503050406030204" pitchFamily="18" charset="0"/>
                      </a:rPr>
                      <m:t>exp</m:t>
                    </m:r>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smtClean="0">
                                <a:latin typeface="Cambria Math" panose="02040503050406030204" pitchFamily="18" charset="0"/>
                              </a:rPr>
                            </m:ctrlPr>
                          </m:accPr>
                          <m:e>
                            <m:r>
                              <a:rPr lang="en-US" sz="2300" b="0" i="1" smtClean="0">
                                <a:latin typeface="Cambria Math" panose="02040503050406030204" pitchFamily="18" charset="0"/>
                              </a:rPr>
                              <m:t>𝛽</m:t>
                            </m:r>
                          </m:e>
                        </m:acc>
                      </m:e>
                      <m:sub>
                        <m:r>
                          <a:rPr lang="en-US" sz="2300" i="1">
                            <a:latin typeface="Cambria Math" panose="02040503050406030204" pitchFamily="18" charset="0"/>
                          </a:rPr>
                          <m:t>0</m:t>
                        </m:r>
                      </m:sub>
                    </m:sSub>
                    <m:r>
                      <m:rPr>
                        <m:nor/>
                      </m:rPr>
                      <a:rPr lang="en-US" sz="2300" dirty="0"/>
                      <m:t>)</m:t>
                    </m:r>
                    <m:r>
                      <m:rPr>
                        <m:nor/>
                      </m:rPr>
                      <a:rPr lang="en-US" sz="2300" b="0" i="0" dirty="0" smtClean="0"/>
                      <m:t>= 0.115, </m:t>
                    </m:r>
                  </m:oMath>
                </a14:m>
                <a:r>
                  <a:rPr lang="en-US" sz="2300" dirty="0"/>
                  <a:t>HR = </a:t>
                </a:r>
                <a14:m>
                  <m:oMath xmlns:m="http://schemas.openxmlformats.org/officeDocument/2006/math">
                    <m:f>
                      <m:fPr>
                        <m:ctrlPr>
                          <a:rPr lang="en-US" sz="2300" i="1" smtClean="0">
                            <a:latin typeface="Cambria Math" panose="02040503050406030204" pitchFamily="18" charset="0"/>
                          </a:rPr>
                        </m:ctrlPr>
                      </m:fPr>
                      <m:num>
                        <m:r>
                          <m:rPr>
                            <m:sty m:val="p"/>
                          </m:rPr>
                          <a:rPr lang="en-US" sz="2300">
                            <a:latin typeface="Cambria Math" panose="02040503050406030204" pitchFamily="18" charset="0"/>
                          </a:rPr>
                          <m:t>exp</m:t>
                        </m:r>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i="1">
                                <a:latin typeface="Cambria Math" panose="02040503050406030204" pitchFamily="18" charset="0"/>
                              </a:rPr>
                              <m:t>0</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b="0" i="1" smtClean="0">
                                <a:latin typeface="Cambria Math" panose="02040503050406030204" pitchFamily="18" charset="0"/>
                              </a:rPr>
                              <m:t>1</m:t>
                            </m:r>
                          </m:sub>
                        </m:sSub>
                        <m:r>
                          <m:rPr>
                            <m:nor/>
                          </m:rPr>
                          <a:rPr lang="en-US" sz="2300" dirty="0"/>
                          <m:t>) </m:t>
                        </m:r>
                      </m:num>
                      <m:den>
                        <m:r>
                          <m:rPr>
                            <m:sty m:val="p"/>
                          </m:rPr>
                          <a:rPr lang="en-US" sz="2300">
                            <a:latin typeface="Cambria Math" panose="02040503050406030204" pitchFamily="18" charset="0"/>
                          </a:rPr>
                          <m:t>exp</m:t>
                        </m:r>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i="1">
                                <a:latin typeface="Cambria Math" panose="02040503050406030204" pitchFamily="18" charset="0"/>
                              </a:rPr>
                              <m:t>0</m:t>
                            </m:r>
                          </m:sub>
                        </m:sSub>
                        <m:r>
                          <m:rPr>
                            <m:nor/>
                          </m:rPr>
                          <a:rPr lang="en-US" sz="2300" dirty="0"/>
                          <m:t>) </m:t>
                        </m:r>
                      </m:den>
                    </m:f>
                  </m:oMath>
                </a14:m>
                <a:r>
                  <a:rPr lang="en-US" sz="2300" dirty="0"/>
                  <a:t> = </a:t>
                </a:r>
                <a14:m>
                  <m:oMath xmlns:m="http://schemas.openxmlformats.org/officeDocument/2006/math">
                    <m:r>
                      <m:rPr>
                        <m:sty m:val="p"/>
                      </m:rPr>
                      <a:rPr lang="en-US" sz="2300">
                        <a:latin typeface="Cambria Math" panose="02040503050406030204" pitchFamily="18" charset="0"/>
                      </a:rPr>
                      <m:t>exp</m:t>
                    </m:r>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i="1">
                            <a:latin typeface="Cambria Math" panose="02040503050406030204" pitchFamily="18" charset="0"/>
                          </a:rPr>
                          <m:t>1</m:t>
                        </m:r>
                      </m:sub>
                    </m:sSub>
                    <m:r>
                      <m:rPr>
                        <m:nor/>
                      </m:rPr>
                      <a:rPr lang="en-US" sz="2300" dirty="0"/>
                      <m:t>) </m:t>
                    </m:r>
                  </m:oMath>
                </a14:m>
                <a:r>
                  <a:rPr lang="en-US" sz="2300" dirty="0"/>
                  <a:t>= </a:t>
                </a:r>
                <a14:m>
                  <m:oMath xmlns:m="http://schemas.openxmlformats.org/officeDocument/2006/math">
                    <m:r>
                      <m:rPr>
                        <m:sty m:val="p"/>
                      </m:rPr>
                      <a:rPr lang="en-US" sz="2300">
                        <a:latin typeface="Cambria Math" panose="02040503050406030204" pitchFamily="18" charset="0"/>
                      </a:rPr>
                      <m:t>exp</m:t>
                    </m:r>
                    <m:r>
                      <a:rPr lang="en-US" sz="2300" i="1">
                        <a:latin typeface="Cambria Math" panose="02040503050406030204" pitchFamily="18" charset="0"/>
                      </a:rPr>
                      <m:t>⁡(</m:t>
                    </m:r>
                    <m:r>
                      <m:rPr>
                        <m:nor/>
                      </m:rPr>
                      <a:rPr lang="en-US" sz="2300" b="0" i="0" smtClean="0">
                        <a:latin typeface="Cambria Math" panose="02040503050406030204" pitchFamily="18" charset="0"/>
                      </a:rPr>
                      <m:t>−1.527</m:t>
                    </m:r>
                    <m:r>
                      <m:rPr>
                        <m:nor/>
                      </m:rPr>
                      <a:rPr lang="en-US" sz="2300" dirty="0"/>
                      <m:t>)</m:t>
                    </m:r>
                    <m:r>
                      <m:rPr>
                        <m:nor/>
                      </m:rPr>
                      <a:rPr lang="en-US" sz="2300" b="0" i="0" dirty="0" smtClean="0"/>
                      <m:t> = </m:t>
                    </m:r>
                    <m:r>
                      <m:rPr>
                        <m:nor/>
                      </m:rPr>
                      <a:rPr lang="en-US" sz="2300" dirty="0"/>
                      <m:t> </m:t>
                    </m:r>
                    <m:r>
                      <m:rPr>
                        <m:nor/>
                      </m:rPr>
                      <a:rPr lang="en-US" sz="2300" b="0" i="0" dirty="0" smtClean="0"/>
                      <m:t>0.217</m:t>
                    </m:r>
                  </m:oMath>
                </a14:m>
                <a:r>
                  <a:rPr lang="en-US" sz="2300" dirty="0"/>
                  <a:t>, </a:t>
                </a:r>
                <a14:m>
                  <m:oMath xmlns:m="http://schemas.openxmlformats.org/officeDocument/2006/math">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𝜆</m:t>
                            </m:r>
                          </m:e>
                        </m:acc>
                      </m:e>
                      <m:sub>
                        <m:r>
                          <a:rPr lang="en-US" sz="2300" i="1">
                            <a:latin typeface="Cambria Math" panose="02040503050406030204" pitchFamily="18" charset="0"/>
                          </a:rPr>
                          <m:t>1</m:t>
                        </m:r>
                      </m:sub>
                    </m:sSub>
                  </m:oMath>
                </a14:m>
                <a:r>
                  <a:rPr lang="en-US" sz="2300" dirty="0"/>
                  <a:t>= </a:t>
                </a:r>
                <a14:m>
                  <m:oMath xmlns:m="http://schemas.openxmlformats.org/officeDocument/2006/math">
                    <m:r>
                      <m:rPr>
                        <m:sty m:val="p"/>
                      </m:rPr>
                      <a:rPr lang="en-US" sz="2300">
                        <a:latin typeface="Cambria Math" panose="02040503050406030204" pitchFamily="18" charset="0"/>
                      </a:rPr>
                      <m:t>exp</m:t>
                    </m:r>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i="1">
                            <a:latin typeface="Cambria Math" panose="02040503050406030204" pitchFamily="18" charset="0"/>
                          </a:rPr>
                          <m:t>0</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𝛽</m:t>
                            </m:r>
                          </m:e>
                        </m:acc>
                      </m:e>
                      <m:sub>
                        <m:r>
                          <a:rPr lang="en-US" sz="2300" i="1">
                            <a:latin typeface="Cambria Math" panose="02040503050406030204" pitchFamily="18" charset="0"/>
                          </a:rPr>
                          <m:t>1</m:t>
                        </m:r>
                      </m:sub>
                    </m:sSub>
                    <m:r>
                      <m:rPr>
                        <m:nor/>
                      </m:rPr>
                      <a:rPr lang="en-US" sz="2300" dirty="0"/>
                      <m:t>) </m:t>
                    </m:r>
                    <m:r>
                      <m:rPr>
                        <m:nor/>
                      </m:rPr>
                      <a:rPr lang="en-US" sz="2300" b="0" i="0" dirty="0" smtClean="0"/>
                      <m:t>= 0.115∗</m:t>
                    </m:r>
                  </m:oMath>
                </a14:m>
                <a:r>
                  <a:rPr lang="en-US" sz="2300" dirty="0"/>
                  <a:t>0.217 = 0.025</a:t>
                </a:r>
              </a:p>
            </p:txBody>
          </p:sp>
        </mc:Choice>
        <mc:Fallback xmlns="">
          <p:sp>
            <p:nvSpPr>
              <p:cNvPr id="3" name="Content Placeholder 2">
                <a:extLst>
                  <a:ext uri="{FF2B5EF4-FFF2-40B4-BE49-F238E27FC236}">
                    <a16:creationId xmlns:a16="http://schemas.microsoft.com/office/drawing/2014/main" id="{881B1F9E-CC43-7FC8-3586-25C234BFDAFE}"/>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285" t="-1275"/>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C8B993AF-BE94-E3B1-2DC2-CB3C4D1460FF}"/>
              </a:ext>
            </a:extLst>
          </p:cNvPr>
          <p:cNvSpPr>
            <a:spLocks noGrp="1"/>
          </p:cNvSpPr>
          <p:nvPr>
            <p:ph type="ftr" sz="quarter" idx="11"/>
          </p:nvPr>
        </p:nvSpPr>
        <p:spPr/>
        <p:txBody>
          <a:bodyPr/>
          <a:lstStyle/>
          <a:p>
            <a:r>
              <a:rPr lang="en-US" dirty="0"/>
              <a:t>maarit.laaksonen@sydney.edu.au</a:t>
            </a:r>
          </a:p>
        </p:txBody>
      </p:sp>
      <p:sp>
        <p:nvSpPr>
          <p:cNvPr id="5" name="TextBox 4">
            <a:extLst>
              <a:ext uri="{FF2B5EF4-FFF2-40B4-BE49-F238E27FC236}">
                <a16:creationId xmlns:a16="http://schemas.microsoft.com/office/drawing/2014/main" id="{52BE6D64-D8D9-72FB-11D2-98E1A07A1FA6}"/>
              </a:ext>
            </a:extLst>
          </p:cNvPr>
          <p:cNvSpPr txBox="1"/>
          <p:nvPr/>
        </p:nvSpPr>
        <p:spPr>
          <a:xfrm>
            <a:off x="7442525" y="2437016"/>
            <a:ext cx="1145406" cy="369332"/>
          </a:xfrm>
          <a:prstGeom prst="rect">
            <a:avLst/>
          </a:prstGeom>
          <a:noFill/>
          <a:ln>
            <a:solidFill>
              <a:srgbClr val="FF0000"/>
            </a:solidFill>
          </a:ln>
        </p:spPr>
        <p:txBody>
          <a:bodyPr wrap="square" rtlCol="0">
            <a:spAutoFit/>
          </a:bodyPr>
          <a:lstStyle/>
          <a:p>
            <a:endParaRPr lang="en-AU" dirty="0"/>
          </a:p>
        </p:txBody>
      </p:sp>
      <p:pic>
        <p:nvPicPr>
          <p:cNvPr id="11" name="Picture 10">
            <a:extLst>
              <a:ext uri="{FF2B5EF4-FFF2-40B4-BE49-F238E27FC236}">
                <a16:creationId xmlns:a16="http://schemas.microsoft.com/office/drawing/2014/main" id="{446144B4-E3FC-8CDC-6704-F711AA749355}"/>
              </a:ext>
            </a:extLst>
          </p:cNvPr>
          <p:cNvPicPr>
            <a:picLocks noChangeAspect="1"/>
          </p:cNvPicPr>
          <p:nvPr/>
        </p:nvPicPr>
        <p:blipFill>
          <a:blip r:embed="rId4"/>
          <a:stretch>
            <a:fillRect/>
          </a:stretch>
        </p:blipFill>
        <p:spPr>
          <a:xfrm>
            <a:off x="1038494" y="2176287"/>
            <a:ext cx="7953106" cy="3258048"/>
          </a:xfrm>
          <a:prstGeom prst="rect">
            <a:avLst/>
          </a:prstGeom>
        </p:spPr>
      </p:pic>
      <p:sp>
        <p:nvSpPr>
          <p:cNvPr id="9" name="TextBox 8">
            <a:extLst>
              <a:ext uri="{FF2B5EF4-FFF2-40B4-BE49-F238E27FC236}">
                <a16:creationId xmlns:a16="http://schemas.microsoft.com/office/drawing/2014/main" id="{73AC0AAA-E603-E0D2-2F73-B2F9ECBA08D0}"/>
              </a:ext>
            </a:extLst>
          </p:cNvPr>
          <p:cNvSpPr txBox="1"/>
          <p:nvPr/>
        </p:nvSpPr>
        <p:spPr>
          <a:xfrm>
            <a:off x="7038856" y="2252350"/>
            <a:ext cx="1293971" cy="369332"/>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2621492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CA18-3FC1-5211-7669-FB8B8FE9F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1B1BD-D984-626A-8053-58621B39083C}"/>
              </a:ext>
            </a:extLst>
          </p:cNvPr>
          <p:cNvSpPr>
            <a:spLocks noGrp="1"/>
          </p:cNvSpPr>
          <p:nvPr>
            <p:ph type="title"/>
          </p:nvPr>
        </p:nvSpPr>
        <p:spPr/>
        <p:txBody>
          <a:bodyPr>
            <a:normAutofit/>
          </a:bodyPr>
          <a:lstStyle/>
          <a:p>
            <a:r>
              <a:rPr lang="en-US" dirty="0"/>
              <a:t>exponential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BA920D-2717-B4B9-145B-EE08CC9DEF97}"/>
                  </a:ext>
                </a:extLst>
              </p:cNvPr>
              <p:cNvSpPr>
                <a:spLocks noGrp="1"/>
              </p:cNvSpPr>
              <p:nvPr>
                <p:ph idx="1"/>
              </p:nvPr>
            </p:nvSpPr>
            <p:spPr>
              <a:xfrm>
                <a:off x="750366" y="1822302"/>
                <a:ext cx="10691265" cy="4303076"/>
              </a:xfrm>
            </p:spPr>
            <p:txBody>
              <a:bodyPr>
                <a:normAutofit fontScale="85000" lnSpcReduction="20000"/>
              </a:bodyPr>
              <a:lstStyle/>
              <a:p>
                <a:pPr>
                  <a:spcAft>
                    <a:spcPts val="1200"/>
                  </a:spcAft>
                </a:pPr>
                <a:r>
                  <a:rPr lang="en-US" sz="2200" dirty="0"/>
                  <a:t>Estimated using </a:t>
                </a:r>
                <a:r>
                  <a:rPr lang="en-US" sz="2200" dirty="0" err="1">
                    <a:latin typeface="Courier New" panose="02070309020205020404" pitchFamily="49" charset="0"/>
                    <a:cs typeface="Courier New" panose="02070309020205020404" pitchFamily="49" charset="0"/>
                  </a:rPr>
                  <a:t>survreg</a:t>
                </a:r>
                <a:r>
                  <a:rPr lang="en-US" sz="2200" dirty="0"/>
                  <a:t> from the </a:t>
                </a:r>
                <a:r>
                  <a:rPr lang="en-US" sz="2200" dirty="0">
                    <a:latin typeface="Courier New" panose="02070309020205020404" pitchFamily="49" charset="0"/>
                    <a:cs typeface="Courier New" panose="02070309020205020404" pitchFamily="49" charset="0"/>
                  </a:rPr>
                  <a:t>survival</a:t>
                </a:r>
                <a:r>
                  <a:rPr lang="en-US" sz="2200" dirty="0"/>
                  <a:t> package (AFT formulation, </a:t>
                </a:r>
                <a:r>
                  <a:rPr lang="en-US" dirty="0" err="1"/>
                  <a:t>dist</a:t>
                </a:r>
                <a:r>
                  <a:rPr lang="en-US" dirty="0"/>
                  <a:t> = “exponential”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14:m>
                  <m:oMath xmlns:m="http://schemas.openxmlformats.org/officeDocument/2006/math">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𝑇</m:t>
                            </m:r>
                          </m:e>
                        </m:acc>
                      </m:e>
                      <m:sub>
                        <m:r>
                          <a:rPr lang="en-US" i="1">
                            <a:latin typeface="Cambria Math" panose="02040503050406030204" pitchFamily="18" charset="0"/>
                          </a:rPr>
                          <m:t>0</m:t>
                        </m:r>
                      </m:sub>
                    </m:sSub>
                    <m:r>
                      <a:rPr lang="en-US" i="1">
                        <a:latin typeface="Cambria Math" panose="02040503050406030204" pitchFamily="18" charset="0"/>
                      </a:rPr>
                      <m:t>=</m:t>
                    </m:r>
                    <m:func>
                      <m:funcPr>
                        <m:ctrlPr>
                          <a:rPr lang="en-US" i="1">
                            <a:latin typeface="Cambria Math" panose="02040503050406030204" pitchFamily="18" charset="0"/>
                          </a:rPr>
                        </m:ctrlPr>
                      </m:funcPr>
                      <m:fName>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r>
                              <a:rPr lang="en-US" b="0" i="1" smtClean="0">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𝜇</m:t>
                                </m:r>
                              </m:e>
                            </m:acc>
                            <m:r>
                              <a:rPr lang="en-US" b="0" i="1" smtClean="0">
                                <a:latin typeface="Cambria Math" panose="02040503050406030204" pitchFamily="18" charset="0"/>
                              </a:rPr>
                              <m:t>)</m:t>
                            </m:r>
                          </m:e>
                        </m:func>
                        <m:r>
                          <a:rPr lang="en-US" b="0" i="1" smtClean="0">
                            <a:latin typeface="Cambria Math" panose="02040503050406030204" pitchFamily="18" charset="0"/>
                          </a:rPr>
                          <m:t>=</m:t>
                        </m:r>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i="1">
                                <a:latin typeface="Cambria Math" panose="02040503050406030204" pitchFamily="18" charset="0"/>
                              </a:rPr>
                              <m:t>2.159</m:t>
                            </m:r>
                          </m:e>
                        </m:d>
                        <m:r>
                          <a:rPr lang="en-US" i="1">
                            <a:latin typeface="Cambria Math" panose="02040503050406030204" pitchFamily="18" charset="0"/>
                          </a:rPr>
                          <m:t>=</m:t>
                        </m:r>
                        <m:r>
                          <a:rPr lang="en-US" b="0" i="1" smtClean="0">
                            <a:latin typeface="Cambria Math" panose="02040503050406030204" pitchFamily="18" charset="0"/>
                          </a:rPr>
                          <m:t>8.7 </m:t>
                        </m:r>
                        <m:r>
                          <a:rPr lang="en-US" i="1">
                            <a:latin typeface="Cambria Math" panose="02040503050406030204" pitchFamily="18" charset="0"/>
                          </a:rPr>
                          <m:t>, </m:t>
                        </m:r>
                      </m:e>
                    </m:func>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𝑇</m:t>
                            </m:r>
                          </m:e>
                        </m:acc>
                      </m:e>
                      <m:sub>
                        <m:r>
                          <a:rPr lang="en-US" i="1">
                            <a:latin typeface="Cambria Math" panose="02040503050406030204" pitchFamily="18" charset="0"/>
                          </a:rPr>
                          <m:t>1</m:t>
                        </m:r>
                      </m:sub>
                    </m:sSub>
                  </m:oMath>
                </a14:m>
                <a:r>
                  <a:rPr lang="en-US" dirty="0"/>
                  <a:t>=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𝜇</m:t>
                        </m:r>
                      </m:e>
                    </m:acc>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𝛼</m:t>
                            </m:r>
                          </m:e>
                        </m:acc>
                      </m:e>
                      <m:sub>
                        <m:r>
                          <a:rPr lang="en-US" i="1">
                            <a:latin typeface="Cambria Math" panose="02040503050406030204" pitchFamily="18" charset="0"/>
                          </a:rPr>
                          <m:t>1</m:t>
                        </m:r>
                      </m:sub>
                    </m:sSub>
                    <m:r>
                      <m:rPr>
                        <m:nor/>
                      </m:rPr>
                      <a:rPr lang="en-US" dirty="0"/>
                      <m:t>) =</m:t>
                    </m:r>
                    <m:r>
                      <a:rPr lang="en-US" b="0" i="0" dirty="0" smtClean="0">
                        <a:latin typeface="Cambria Math" panose="02040503050406030204" pitchFamily="18" charset="0"/>
                      </a:rPr>
                      <m:t> </m:t>
                    </m:r>
                    <m:r>
                      <m:rPr>
                        <m:sty m:val="p"/>
                      </m:rPr>
                      <a:rPr lang="en-US">
                        <a:latin typeface="Cambria Math" panose="02040503050406030204" pitchFamily="18" charset="0"/>
                      </a:rPr>
                      <m:t>exp</m:t>
                    </m:r>
                    <m:r>
                      <a:rPr lang="en-US" i="1">
                        <a:latin typeface="Cambria Math" panose="02040503050406030204" pitchFamily="18" charset="0"/>
                      </a:rPr>
                      <m:t>⁡(</m:t>
                    </m:r>
                    <m:r>
                      <a:rPr lang="en-US" b="0" i="1" smtClean="0">
                        <a:latin typeface="Cambria Math" panose="02040503050406030204" pitchFamily="18" charset="0"/>
                      </a:rPr>
                      <m:t>2.159</m:t>
                    </m:r>
                    <m:r>
                      <a:rPr lang="en-US" i="1">
                        <a:latin typeface="Cambria Math" panose="02040503050406030204" pitchFamily="18" charset="0"/>
                      </a:rPr>
                      <m:t>+</m:t>
                    </m:r>
                    <m:r>
                      <m:rPr>
                        <m:nor/>
                      </m:rPr>
                      <a:rPr lang="en-US" b="0" i="0" smtClean="0">
                        <a:latin typeface="Cambria Math" panose="02040503050406030204" pitchFamily="18" charset="0"/>
                      </a:rPr>
                      <m:t>1.527</m:t>
                    </m:r>
                    <m:r>
                      <m:rPr>
                        <m:nor/>
                      </m:rPr>
                      <a:rPr lang="en-US" dirty="0"/>
                      <m:t>)</m:t>
                    </m:r>
                  </m:oMath>
                </a14:m>
                <a:r>
                  <a:rPr lang="en-US" dirty="0"/>
                  <a:t> = 39.9,  TR =</a:t>
                </a:r>
                <a14:m>
                  <m:oMath xmlns:m="http://schemas.openxmlformats.org/officeDocument/2006/math">
                    <m:r>
                      <a:rPr lang="en-US" b="0" i="0" smtClean="0">
                        <a:latin typeface="Cambria Math" panose="02040503050406030204" pitchFamily="18" charset="0"/>
                      </a:rPr>
                      <m:t> </m:t>
                    </m:r>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1</m:t>
                            </m:r>
                          </m:sub>
                        </m:sSub>
                      </m:num>
                      <m:den>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0</m:t>
                            </m:r>
                          </m:sub>
                        </m:sSub>
                      </m:den>
                    </m:f>
                  </m:oMath>
                </a14:m>
                <a:r>
                  <a:rPr lang="en-US" dirty="0"/>
                  <a:t>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1.527</m:t>
                    </m:r>
                    <m:r>
                      <m:rPr>
                        <m:nor/>
                      </m:rPr>
                      <a:rPr lang="en-US" dirty="0"/>
                      <m:t>)</m:t>
                    </m:r>
                    <m:r>
                      <m:rPr>
                        <m:nor/>
                      </m:rPr>
                      <a:rPr lang="en-US" b="0" i="0" dirty="0" smtClean="0"/>
                      <m:t> = </m:t>
                    </m:r>
                    <m:r>
                      <m:rPr>
                        <m:nor/>
                      </m:rPr>
                      <a:rPr lang="en-US" dirty="0"/>
                      <m:t> </m:t>
                    </m:r>
                    <m:r>
                      <m:rPr>
                        <m:nor/>
                      </m:rPr>
                      <a:rPr lang="en-US" b="0" i="0" dirty="0" smtClean="0"/>
                      <m:t>4.60</m:t>
                    </m:r>
                  </m:oMath>
                </a14:m>
                <a:endParaRPr lang="en-US" dirty="0"/>
              </a:p>
            </p:txBody>
          </p:sp>
        </mc:Choice>
        <mc:Fallback xmlns="">
          <p:sp>
            <p:nvSpPr>
              <p:cNvPr id="3" name="Content Placeholder 2">
                <a:extLst>
                  <a:ext uri="{FF2B5EF4-FFF2-40B4-BE49-F238E27FC236}">
                    <a16:creationId xmlns:a16="http://schemas.microsoft.com/office/drawing/2014/main" id="{CBBA920D-2717-B4B9-145B-EE08CC9DEF97}"/>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399" t="-170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EB0F6804-637A-DE23-61AD-D91FABDD0D98}"/>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9F9D1C54-40F0-C64F-681F-EE91228F6B34}"/>
              </a:ext>
            </a:extLst>
          </p:cNvPr>
          <p:cNvPicPr>
            <a:picLocks noChangeAspect="1"/>
          </p:cNvPicPr>
          <p:nvPr/>
        </p:nvPicPr>
        <p:blipFill>
          <a:blip r:embed="rId4"/>
          <a:stretch>
            <a:fillRect/>
          </a:stretch>
        </p:blipFill>
        <p:spPr>
          <a:xfrm>
            <a:off x="1077490" y="2259584"/>
            <a:ext cx="7672810" cy="3238288"/>
          </a:xfrm>
          <a:prstGeom prst="rect">
            <a:avLst/>
          </a:prstGeom>
        </p:spPr>
      </p:pic>
      <p:pic>
        <p:nvPicPr>
          <p:cNvPr id="5" name="Picture 4">
            <a:extLst>
              <a:ext uri="{FF2B5EF4-FFF2-40B4-BE49-F238E27FC236}">
                <a16:creationId xmlns:a16="http://schemas.microsoft.com/office/drawing/2014/main" id="{35AB1336-1C72-61B6-8CF3-4D7047AD4D45}"/>
              </a:ext>
            </a:extLst>
          </p:cNvPr>
          <p:cNvPicPr>
            <a:picLocks noChangeAspect="1"/>
          </p:cNvPicPr>
          <p:nvPr/>
        </p:nvPicPr>
        <p:blipFill>
          <a:blip r:embed="rId5"/>
          <a:stretch>
            <a:fillRect/>
          </a:stretch>
        </p:blipFill>
        <p:spPr>
          <a:xfrm>
            <a:off x="6628198" y="2351799"/>
            <a:ext cx="1944302" cy="367892"/>
          </a:xfrm>
          <a:prstGeom prst="rect">
            <a:avLst/>
          </a:prstGeom>
        </p:spPr>
      </p:pic>
    </p:spTree>
    <p:extLst>
      <p:ext uri="{BB962C8B-B14F-4D97-AF65-F5344CB8AC3E}">
        <p14:creationId xmlns:p14="http://schemas.microsoft.com/office/powerpoint/2010/main" val="1460304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8DDF6-DB72-3715-2CCE-CA205278C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64D19-007F-C75E-2473-433BD7999EF0}"/>
              </a:ext>
            </a:extLst>
          </p:cNvPr>
          <p:cNvSpPr>
            <a:spLocks noGrp="1"/>
          </p:cNvSpPr>
          <p:nvPr>
            <p:ph type="title"/>
          </p:nvPr>
        </p:nvSpPr>
        <p:spPr/>
        <p:txBody>
          <a:bodyPr/>
          <a:lstStyle/>
          <a:p>
            <a:r>
              <a:rPr lang="en-US" dirty="0"/>
              <a:t>Exponential model –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184134-4185-8EF8-AAB8-1DAE24B6EA8C}"/>
                  </a:ext>
                </a:extLst>
              </p:cNvPr>
              <p:cNvSpPr>
                <a:spLocks noGrp="1"/>
              </p:cNvSpPr>
              <p:nvPr>
                <p:ph idx="1"/>
              </p:nvPr>
            </p:nvSpPr>
            <p:spPr>
              <a:xfrm>
                <a:off x="800100" y="1730990"/>
                <a:ext cx="10899182" cy="4441209"/>
              </a:xfrm>
            </p:spPr>
            <p:txBody>
              <a:bodyPr>
                <a:normAutofit fontScale="92500" lnSpcReduction="10000"/>
              </a:bodyPr>
              <a:lstStyle/>
              <a:p>
                <a:r>
                  <a:rPr lang="en-US" dirty="0"/>
                  <a:t>R function </a:t>
                </a:r>
                <a:r>
                  <a:rPr lang="en-US" dirty="0">
                    <a:latin typeface="Courier New" panose="02070309020205020404" pitchFamily="49" charset="0"/>
                    <a:cs typeface="Courier New" panose="02070309020205020404" pitchFamily="49" charset="0"/>
                  </a:rPr>
                  <a:t>predict</a:t>
                </a:r>
                <a:r>
                  <a:rPr lang="en-US" dirty="0"/>
                  <a:t> can compute median survival time (or other quantiles of survival times)</a:t>
                </a:r>
              </a:p>
              <a:p>
                <a:r>
                  <a:rPr lang="en-US" dirty="0"/>
                  <a:t>Median survival time for placebo and treatment group:</a:t>
                </a:r>
              </a:p>
              <a:p>
                <a:endParaRPr lang="en-US" dirty="0"/>
              </a:p>
              <a:p>
                <a:endParaRPr lang="en-US" dirty="0"/>
              </a:p>
              <a:p>
                <a:endParaRPr lang="en-US" dirty="0"/>
              </a:p>
              <a:p>
                <a:endParaRPr lang="en-US" dirty="0"/>
              </a:p>
              <a:p>
                <a:pPr marL="0" indent="0">
                  <a:buNone/>
                </a:pPr>
                <a:endParaRPr lang="en-US" dirty="0"/>
              </a:p>
              <a:p>
                <a:endParaRPr lang="en-US" dirty="0"/>
              </a:p>
              <a:p>
                <a:endParaRPr lang="en-US" dirty="0"/>
              </a:p>
              <a:p>
                <a:pPr>
                  <a:spcBef>
                    <a:spcPts val="1800"/>
                  </a:spcBef>
                </a:pPr>
                <a:r>
                  <a:rPr lang="en-US" dirty="0"/>
                  <a:t>Note: ratio of median survival times  </a:t>
                </a:r>
                <a14:m>
                  <m:oMath xmlns:m="http://schemas.openxmlformats.org/officeDocument/2006/math">
                    <m:r>
                      <m:rPr>
                        <m:sty m:val="p"/>
                      </m:rPr>
                      <a:rPr lang="en-US" b="0" i="0" smtClean="0">
                        <a:latin typeface="Cambria Math" panose="02040503050406030204" pitchFamily="18" charset="0"/>
                      </a:rPr>
                      <m:t>TR</m:t>
                    </m:r>
                    <m:r>
                      <a:rPr lang="en-US" b="0" i="0"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27.6</m:t>
                        </m:r>
                      </m:num>
                      <m:den>
                        <m:r>
                          <a:rPr lang="en-US" b="0" i="1" smtClean="0">
                            <a:latin typeface="Cambria Math" panose="02040503050406030204" pitchFamily="18" charset="0"/>
                          </a:rPr>
                          <m:t>6.0</m:t>
                        </m:r>
                      </m:den>
                    </m:f>
                  </m:oMath>
                </a14:m>
                <a:r>
                  <a:rPr lang="en-US" dirty="0"/>
                  <a:t> = 4.6</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8184134-4185-8EF8-AAB8-1DAE24B6EA8C}"/>
                  </a:ext>
                </a:extLst>
              </p:cNvPr>
              <p:cNvSpPr>
                <a:spLocks noGrp="1" noRot="1" noChangeAspect="1" noMove="1" noResize="1" noEditPoints="1" noAdjustHandles="1" noChangeArrowheads="1" noChangeShapeType="1" noTextEdit="1"/>
              </p:cNvSpPr>
              <p:nvPr>
                <p:ph idx="1"/>
              </p:nvPr>
            </p:nvSpPr>
            <p:spPr>
              <a:xfrm>
                <a:off x="800100" y="1730990"/>
                <a:ext cx="10899182" cy="4441209"/>
              </a:xfrm>
              <a:blipFill>
                <a:blip r:embed="rId3"/>
                <a:stretch>
                  <a:fillRect l="-391" t="-1099"/>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D0E69A60-493C-2578-1EC5-2A873FD92002}"/>
              </a:ext>
            </a:extLst>
          </p:cNvPr>
          <p:cNvSpPr>
            <a:spLocks noGrp="1"/>
          </p:cNvSpPr>
          <p:nvPr>
            <p:ph type="ftr" sz="quarter" idx="11"/>
          </p:nvPr>
        </p:nvSpPr>
        <p:spPr/>
        <p:txBody>
          <a:bodyPr/>
          <a:lstStyle/>
          <a:p>
            <a:r>
              <a:rPr lang="en-US" dirty="0"/>
              <a:t>maarit.laaksonen@sydney.edu.au</a:t>
            </a:r>
          </a:p>
        </p:txBody>
      </p:sp>
      <p:pic>
        <p:nvPicPr>
          <p:cNvPr id="9" name="Picture 8">
            <a:extLst>
              <a:ext uri="{FF2B5EF4-FFF2-40B4-BE49-F238E27FC236}">
                <a16:creationId xmlns:a16="http://schemas.microsoft.com/office/drawing/2014/main" id="{6B87C0C2-F2D9-694F-FA7C-86F1EFF17271}"/>
              </a:ext>
            </a:extLst>
          </p:cNvPr>
          <p:cNvPicPr>
            <a:picLocks noChangeAspect="1"/>
          </p:cNvPicPr>
          <p:nvPr/>
        </p:nvPicPr>
        <p:blipFill>
          <a:blip r:embed="rId4"/>
          <a:stretch>
            <a:fillRect/>
          </a:stretch>
        </p:blipFill>
        <p:spPr>
          <a:xfrm>
            <a:off x="1116701" y="2648002"/>
            <a:ext cx="9989186" cy="1285892"/>
          </a:xfrm>
          <a:prstGeom prst="rect">
            <a:avLst/>
          </a:prstGeom>
        </p:spPr>
      </p:pic>
      <p:pic>
        <p:nvPicPr>
          <p:cNvPr id="11" name="Picture 10">
            <a:extLst>
              <a:ext uri="{FF2B5EF4-FFF2-40B4-BE49-F238E27FC236}">
                <a16:creationId xmlns:a16="http://schemas.microsoft.com/office/drawing/2014/main" id="{429194CC-6581-9662-594C-99246FAD10D4}"/>
              </a:ext>
            </a:extLst>
          </p:cNvPr>
          <p:cNvPicPr>
            <a:picLocks noChangeAspect="1"/>
          </p:cNvPicPr>
          <p:nvPr/>
        </p:nvPicPr>
        <p:blipFill>
          <a:blip r:embed="rId5"/>
          <a:stretch>
            <a:fillRect/>
          </a:stretch>
        </p:blipFill>
        <p:spPr>
          <a:xfrm>
            <a:off x="1116700" y="4118045"/>
            <a:ext cx="8306699" cy="1481361"/>
          </a:xfrm>
          <a:prstGeom prst="rect">
            <a:avLst/>
          </a:prstGeom>
        </p:spPr>
      </p:pic>
    </p:spTree>
    <p:extLst>
      <p:ext uri="{BB962C8B-B14F-4D97-AF65-F5344CB8AC3E}">
        <p14:creationId xmlns:p14="http://schemas.microsoft.com/office/powerpoint/2010/main" val="2266113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A10B2-EC96-6B76-4F4E-5931CE2A7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E472B-EDAD-8285-364F-99EDD8446906}"/>
              </a:ext>
            </a:extLst>
          </p:cNvPr>
          <p:cNvSpPr>
            <a:spLocks noGrp="1"/>
          </p:cNvSpPr>
          <p:nvPr>
            <p:ph type="title"/>
          </p:nvPr>
        </p:nvSpPr>
        <p:spPr/>
        <p:txBody>
          <a:bodyPr>
            <a:normAutofit/>
          </a:bodyPr>
          <a:lstStyle/>
          <a:p>
            <a:r>
              <a:rPr lang="en-US" dirty="0"/>
              <a:t>Modelling approaches – </a:t>
            </a:r>
            <a:r>
              <a:rPr lang="en-US" dirty="0" err="1"/>
              <a:t>weibull</a:t>
            </a:r>
            <a:r>
              <a:rPr lang="en-US" dirty="0"/>
              <a:t>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639B52-A8C2-4949-ED58-3C3852F79D99}"/>
                  </a:ext>
                </a:extLst>
              </p:cNvPr>
              <p:cNvSpPr>
                <a:spLocks noGrp="1"/>
              </p:cNvSpPr>
              <p:nvPr>
                <p:ph idx="1"/>
              </p:nvPr>
            </p:nvSpPr>
            <p:spPr>
              <a:xfrm>
                <a:off x="700634" y="2221992"/>
                <a:ext cx="11273651" cy="3739896"/>
              </a:xfrm>
            </p:spPr>
            <p:txBody>
              <a:bodyPr>
                <a:normAutofit/>
              </a:bodyPr>
              <a:lstStyle/>
              <a:p>
                <a:pPr>
                  <a:spcAft>
                    <a:spcPts val="1200"/>
                  </a:spcAft>
                </a:pPr>
                <a:r>
                  <a:rPr lang="en-US" dirty="0"/>
                  <a:t>For Weibull model, applied to the data example, where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 =</m:t>
                    </m:r>
                    <m:r>
                      <m:rPr>
                        <m:sty m:val="p"/>
                      </m:rPr>
                      <a:rPr lang="en-US" b="0" i="0" smtClean="0">
                        <a:latin typeface="Cambria Math" panose="02040503050406030204" pitchFamily="18" charset="0"/>
                      </a:rPr>
                      <m:t>group</m:t>
                    </m:r>
                  </m:oMath>
                </a14:m>
                <a:r>
                  <a:rPr lang="en-US" dirty="0"/>
                  <a:t> (1 = treatment, 0 = placebo)</a:t>
                </a:r>
              </a:p>
              <a:p>
                <a:pPr marL="0" indent="0">
                  <a:buNone/>
                </a:pPr>
                <a:r>
                  <a:rPr lang="en-US" b="1" dirty="0"/>
                  <a:t>1. Proportional hazards (PH) model</a:t>
                </a:r>
              </a:p>
              <a:p>
                <a:pPr>
                  <a:buClr>
                    <a:schemeClr val="bg1"/>
                  </a:buClr>
                </a:pPr>
                <a14:m>
                  <m:oMath xmlns:m="http://schemas.openxmlformats.org/officeDocument/2006/math">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𝑡</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m:t>
                    </m:r>
                    <m:r>
                      <m:rPr>
                        <m:nor/>
                      </m:rPr>
                      <a:rPr lang="en-AU" b="0" i="0" dirty="0" smtClean="0"/>
                      <m:t> = </m:t>
                    </m:r>
                    <m:r>
                      <m:rPr>
                        <m:sty m:val="p"/>
                      </m:rPr>
                      <a:rPr lang="en-AU" i="1">
                        <a:latin typeface="Cambria Math" panose="02040503050406030204" pitchFamily="18" charset="0"/>
                      </a:rPr>
                      <m:t>λ</m:t>
                    </m:r>
                    <m:r>
                      <a:rPr lang="en-AU" i="1">
                        <a:latin typeface="Cambria Math" panose="02040503050406030204" pitchFamily="18" charset="0"/>
                      </a:rPr>
                      <m:t>𝛾</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AU" i="1">
                            <a:latin typeface="Cambria Math" panose="02040503050406030204" pitchFamily="18" charset="0"/>
                          </a:rPr>
                          <m:t>𝛾</m:t>
                        </m:r>
                        <m:r>
                          <a:rPr lang="en-AU" i="1">
                            <a:latin typeface="Cambria Math" panose="02040503050406030204" pitchFamily="18" charset="0"/>
                          </a:rPr>
                          <m:t>−1 </m:t>
                        </m:r>
                      </m:sup>
                    </m:sSup>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m:t>
                    </m:r>
                    <m:r>
                      <a:rPr lang="en-US" i="1">
                        <a:latin typeface="Cambria Math" panose="02040503050406030204" pitchFamily="18" charset="0"/>
                      </a:rPr>
                      <m:t>=</m:t>
                    </m:r>
                    <m:r>
                      <m:rPr>
                        <m:sty m:val="p"/>
                      </m:rPr>
                      <a:rPr lang="en-US">
                        <a:latin typeface="Cambria Math" panose="02040503050406030204" pitchFamily="18" charset="0"/>
                      </a:rPr>
                      <m:t>exp</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𝑋</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m:rPr>
                        <m:nor/>
                      </m:rPr>
                      <a:rPr lang="en-US" dirty="0"/>
                      <m:t>)</m:t>
                    </m:r>
                    <m:r>
                      <a:rPr lang="en-AU" i="1">
                        <a:latin typeface="Cambria Math" panose="02040503050406030204" pitchFamily="18" charset="0"/>
                      </a:rPr>
                      <m:t>𝛾</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AU" i="1">
                            <a:latin typeface="Cambria Math" panose="02040503050406030204" pitchFamily="18" charset="0"/>
                          </a:rPr>
                          <m:t>𝛾</m:t>
                        </m:r>
                        <m:r>
                          <a:rPr lang="en-AU" i="1">
                            <a:latin typeface="Cambria Math" panose="02040503050406030204" pitchFamily="18" charset="0"/>
                          </a:rPr>
                          <m:t>−1 </m:t>
                        </m:r>
                      </m:sup>
                    </m:sSup>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m:t>
                    </m:r>
                  </m:oMath>
                </a14:m>
                <a:r>
                  <a:rPr lang="en-US" dirty="0"/>
                  <a:t>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m:rPr>
                        <m:nor/>
                      </m:rPr>
                      <a:rPr lang="en-US" dirty="0"/>
                      <m:t>)</m:t>
                    </m:r>
                    <m:r>
                      <a:rPr lang="en-AU" i="1">
                        <a:latin typeface="Cambria Math" panose="02040503050406030204" pitchFamily="18" charset="0"/>
                      </a:rPr>
                      <m:t>𝛾</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AU" i="1">
                            <a:latin typeface="Cambria Math" panose="02040503050406030204" pitchFamily="18" charset="0"/>
                          </a:rPr>
                          <m:t>𝛾</m:t>
                        </m:r>
                        <m:r>
                          <a:rPr lang="en-AU" i="1">
                            <a:latin typeface="Cambria Math" panose="02040503050406030204" pitchFamily="18" charset="0"/>
                          </a:rPr>
                          <m:t>−1 </m:t>
                        </m:r>
                      </m:sup>
                    </m:sSup>
                  </m:oMath>
                </a14:m>
                <a:endParaRPr lang="en-US" dirty="0"/>
              </a:p>
              <a:p>
                <a:pPr marL="0" indent="0">
                  <a:buNone/>
                </a:pPr>
                <a:r>
                  <a:rPr lang="en-US" b="1" dirty="0"/>
                  <a:t>2. Accelerated failure time (AFT) model</a:t>
                </a:r>
                <a:r>
                  <a:rPr lang="en-US" dirty="0"/>
                  <a:t> </a:t>
                </a:r>
              </a:p>
              <a:p>
                <a:pPr>
                  <a:spcBef>
                    <a:spcPts val="1200"/>
                  </a:spcBef>
                  <a:buClr>
                    <a:schemeClr val="bg1"/>
                  </a:buClr>
                </a:pPr>
                <a14:m>
                  <m:oMath xmlns:m="http://schemas.openxmlformats.org/officeDocument/2006/math">
                    <m:r>
                      <m:rPr>
                        <m:sty m:val="p"/>
                      </m:rPr>
                      <a:rPr lang="en-US" i="1" smtClean="0">
                        <a:latin typeface="Cambria Math" panose="02040503050406030204" pitchFamily="18" charset="0"/>
                      </a:rPr>
                      <m:t>logT</m:t>
                    </m:r>
                    <m:r>
                      <a:rPr lang="en-US" i="1" smtClean="0">
                        <a:latin typeface="Cambria Math" panose="02040503050406030204" pitchFamily="18" charset="0"/>
                      </a:rPr>
                      <m:t> =</m:t>
                    </m:r>
                    <m:r>
                      <a:rPr lang="en-US" b="0" i="1" smtClean="0">
                        <a:latin typeface="Cambria Math" panose="02040503050406030204" pitchFamily="18" charset="0"/>
                      </a:rPr>
                      <m:t>𝜇</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i="1">
                            <a:latin typeface="Cambria Math" panose="02040503050406030204" pitchFamily="18" charset="0"/>
                          </a:rPr>
                          <m:t>1</m:t>
                        </m:r>
                      </m:sub>
                    </m:sSub>
                    <m:r>
                      <a:rPr lang="en-US" i="1">
                        <a:latin typeface="Cambria Math" panose="02040503050406030204" pitchFamily="18" charset="0"/>
                      </a:rPr>
                      <m:t>𝑋</m:t>
                    </m:r>
                    <m:r>
                      <a:rPr lang="en-US" i="1">
                        <a:latin typeface="Cambria Math" panose="02040503050406030204" pitchFamily="18" charset="0"/>
                      </a:rPr>
                      <m:t>+</m:t>
                    </m:r>
                    <m:r>
                      <m:rPr>
                        <m:sty m:val="p"/>
                      </m:rPr>
                      <a:rPr lang="en-US" i="1">
                        <a:latin typeface="Cambria Math" panose="02040503050406030204" pitchFamily="18" charset="0"/>
                      </a:rPr>
                      <m:t>σϵ</m:t>
                    </m:r>
                  </m:oMath>
                </a14:m>
                <a:endParaRPr lang="en-US" dirty="0"/>
              </a:p>
              <a:p>
                <a:pPr>
                  <a:spcBef>
                    <a:spcPts val="1200"/>
                  </a:spcBef>
                </a:pPr>
                <a:r>
                  <a:rPr lang="en-US" dirty="0"/>
                  <a:t>The following relationships apply:</a:t>
                </a:r>
              </a:p>
              <a:p>
                <a:pPr>
                  <a:spcBef>
                    <a:spcPts val="1200"/>
                  </a:spcBef>
                  <a:buClr>
                    <a:schemeClr val="bg1"/>
                  </a:buClr>
                </a:pPr>
                <a14:m>
                  <m:oMath xmlns:m="http://schemas.openxmlformats.org/officeDocument/2006/math">
                    <m:r>
                      <a:rPr lang="en-US" i="1">
                        <a:latin typeface="Cambria Math" panose="02040503050406030204" pitchFamily="18" charset="0"/>
                      </a:rPr>
                      <m:t>𝜆</m:t>
                    </m:r>
                  </m:oMath>
                </a14:m>
                <a:r>
                  <a:rPr lang="en-US" dirty="0"/>
                  <a:t> =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𝜇</m:t>
                            </m:r>
                            <m:r>
                              <a:rPr lang="en-US" i="1">
                                <a:latin typeface="Cambria Math" panose="02040503050406030204" pitchFamily="18" charset="0"/>
                              </a:rPr>
                              <m:t>/</m:t>
                            </m:r>
                            <m:r>
                              <m:rPr>
                                <m:sty m:val="p"/>
                              </m:rPr>
                              <a:rPr lang="en-US" i="1">
                                <a:latin typeface="Cambria Math" panose="02040503050406030204" pitchFamily="18" charset="0"/>
                              </a:rPr>
                              <m:t>σ</m:t>
                            </m:r>
                          </m:e>
                        </m:d>
                      </m:e>
                    </m:func>
                    <m:r>
                      <a:rPr lang="en-US" b="0" i="0" smtClean="0">
                        <a:latin typeface="Cambria Math" panose="02040503050406030204" pitchFamily="18" charset="0"/>
                      </a:rPr>
                      <m:t>,</m:t>
                    </m:r>
                  </m:oMath>
                </a14:m>
                <a:r>
                  <a:rPr lang="en-US" dirty="0"/>
                  <a:t> </a:t>
                </a:r>
                <a14:m>
                  <m:oMath xmlns:m="http://schemas.openxmlformats.org/officeDocument/2006/math">
                    <m:r>
                      <a:rPr lang="en-US" b="0" i="1" smtClean="0">
                        <a:latin typeface="Cambria Math" panose="02040503050406030204" pitchFamily="18" charset="0"/>
                      </a:rPr>
                      <m:t>𝛾</m:t>
                    </m:r>
                  </m:oMath>
                </a14:m>
                <a:r>
                  <a:rPr lang="en-US" dirty="0"/>
                  <a:t> = 1</a:t>
                </a:r>
                <a14:m>
                  <m:oMath xmlns:m="http://schemas.openxmlformats.org/officeDocument/2006/math">
                    <m:r>
                      <a:rPr lang="en-US" i="1">
                        <a:latin typeface="Cambria Math" panose="02040503050406030204" pitchFamily="18" charset="0"/>
                      </a:rPr>
                      <m:t>/</m:t>
                    </m:r>
                    <m:r>
                      <m:rPr>
                        <m:sty m:val="p"/>
                      </m:rPr>
                      <a:rPr lang="en-US" i="1">
                        <a:latin typeface="Cambria Math" panose="02040503050406030204" pitchFamily="18" charset="0"/>
                      </a:rPr>
                      <m:t>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𝛼</m:t>
                        </m:r>
                      </m:e>
                      <m:sub>
                        <m:r>
                          <a:rPr lang="en-US" i="1">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𝜎</m:t>
                    </m:r>
                  </m:oMath>
                </a14:m>
                <a:endParaRPr lang="en-US" dirty="0"/>
              </a:p>
              <a:p>
                <a:pPr>
                  <a:spcBef>
                    <a:spcPts val="1200"/>
                  </a:spcBef>
                </a:pPr>
                <a:endParaRPr lang="en-US" dirty="0"/>
              </a:p>
              <a:p>
                <a:pPr marL="0" indent="0">
                  <a:spcBef>
                    <a:spcPts val="1200"/>
                  </a:spcBef>
                  <a:buNone/>
                </a:pPr>
                <a:endParaRPr lang="en-US" dirty="0"/>
              </a:p>
            </p:txBody>
          </p:sp>
        </mc:Choice>
        <mc:Fallback xmlns="">
          <p:sp>
            <p:nvSpPr>
              <p:cNvPr id="3" name="Content Placeholder 2">
                <a:extLst>
                  <a:ext uri="{FF2B5EF4-FFF2-40B4-BE49-F238E27FC236}">
                    <a16:creationId xmlns:a16="http://schemas.microsoft.com/office/drawing/2014/main" id="{ED639B52-A8C2-4949-ED58-3C3852F79D99}"/>
                  </a:ext>
                </a:extLst>
              </p:cNvPr>
              <p:cNvSpPr>
                <a:spLocks noGrp="1" noRot="1" noChangeAspect="1" noMove="1" noResize="1" noEditPoints="1" noAdjustHandles="1" noChangeArrowheads="1" noChangeShapeType="1" noTextEdit="1"/>
              </p:cNvSpPr>
              <p:nvPr>
                <p:ph idx="1"/>
              </p:nvPr>
            </p:nvSpPr>
            <p:spPr>
              <a:xfrm>
                <a:off x="700634" y="2221992"/>
                <a:ext cx="11273651" cy="3739896"/>
              </a:xfrm>
              <a:blipFill>
                <a:blip r:embed="rId3"/>
                <a:stretch>
                  <a:fillRect l="-595"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DD3AEB81-BAC2-541C-669C-000F905DA42C}"/>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86134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9616-33AC-B64C-E55E-BAEB981A6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4F1DB-9450-2E18-4C65-C837598C29F9}"/>
              </a:ext>
            </a:extLst>
          </p:cNvPr>
          <p:cNvSpPr>
            <a:spLocks noGrp="1"/>
          </p:cNvSpPr>
          <p:nvPr>
            <p:ph type="title"/>
          </p:nvPr>
        </p:nvSpPr>
        <p:spPr/>
        <p:txBody>
          <a:bodyPr>
            <a:normAutofit/>
          </a:bodyPr>
          <a:lstStyle/>
          <a:p>
            <a:r>
              <a:rPr lang="en-US" dirty="0" err="1"/>
              <a:t>weibull</a:t>
            </a:r>
            <a:r>
              <a:rPr lang="en-US" dirty="0"/>
              <a:t> </a:t>
            </a:r>
            <a:r>
              <a:rPr lang="en-US" dirty="0" err="1">
                <a:solidFill>
                  <a:srgbClr val="FF0000"/>
                </a:solidFill>
              </a:rPr>
              <a:t>ph</a:t>
            </a:r>
            <a:r>
              <a:rPr lang="en-US" dirty="0">
                <a:solidFill>
                  <a:srgbClr val="FF0000"/>
                </a:solidFill>
              </a:rPr>
              <a: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3CC6AD-AB0F-551C-928B-8B678C2B2DAB}"/>
                  </a:ext>
                </a:extLst>
              </p:cNvPr>
              <p:cNvSpPr>
                <a:spLocks noGrp="1"/>
              </p:cNvSpPr>
              <p:nvPr>
                <p:ph idx="1"/>
              </p:nvPr>
            </p:nvSpPr>
            <p:spPr>
              <a:xfrm>
                <a:off x="750366" y="1822302"/>
                <a:ext cx="10691265" cy="4303076"/>
              </a:xfrm>
            </p:spPr>
            <p:txBody>
              <a:bodyPr>
                <a:normAutofit fontScale="85000" lnSpcReduction="20000"/>
              </a:bodyPr>
              <a:lstStyle/>
              <a:p>
                <a:pPr>
                  <a:spcAft>
                    <a:spcPts val="1200"/>
                  </a:spcAft>
                </a:pPr>
                <a:r>
                  <a:rPr lang="en-US" sz="2400" dirty="0"/>
                  <a:t>Can be estimated using </a:t>
                </a:r>
                <a:r>
                  <a:rPr lang="en-US" sz="2400" dirty="0" err="1">
                    <a:latin typeface="Courier New" panose="02070309020205020404" pitchFamily="49" charset="0"/>
                    <a:cs typeface="Courier New" panose="02070309020205020404" pitchFamily="49" charset="0"/>
                  </a:rPr>
                  <a:t>flexsurvreg</a:t>
                </a:r>
                <a:r>
                  <a:rPr lang="en-US" sz="2400" dirty="0"/>
                  <a:t> from the </a:t>
                </a:r>
                <a:r>
                  <a:rPr lang="en-US" sz="2400" dirty="0" err="1">
                    <a:latin typeface="Courier New" panose="02070309020205020404" pitchFamily="49" charset="0"/>
                    <a:cs typeface="Courier New" panose="02070309020205020404" pitchFamily="49" charset="0"/>
                  </a:rPr>
                  <a:t>flexsurv</a:t>
                </a:r>
                <a:r>
                  <a:rPr lang="en-US" sz="2400" dirty="0"/>
                  <a:t> package (</a:t>
                </a:r>
                <a:r>
                  <a:rPr lang="en-US" sz="2400" dirty="0" err="1"/>
                  <a:t>dist</a:t>
                </a:r>
                <a:r>
                  <a:rPr lang="en-US" sz="2400" dirty="0"/>
                  <a:t> = “</a:t>
                </a:r>
                <a:r>
                  <a:rPr lang="en-US" sz="2400" dirty="0" err="1"/>
                  <a:t>weibullPH</a:t>
                </a:r>
                <a:r>
                  <a:rPr lang="en-US" sz="24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sz="2400" dirty="0"/>
                  <a:t>HR = </a:t>
                </a:r>
                <a14:m>
                  <m:oMath xmlns:m="http://schemas.openxmlformats.org/officeDocument/2006/math">
                    <m:f>
                      <m:fPr>
                        <m:ctrlPr>
                          <a:rPr lang="en-US" sz="2400" i="1" smtClean="0">
                            <a:latin typeface="Cambria Math" panose="02040503050406030204" pitchFamily="18" charset="0"/>
                          </a:rPr>
                        </m:ctrlPr>
                      </m:fPr>
                      <m:num>
                        <m:r>
                          <m:rPr>
                            <m:sty m:val="p"/>
                          </m:rPr>
                          <a:rPr lang="en-US" sz="2400">
                            <a:latin typeface="Cambria Math" panose="02040503050406030204" pitchFamily="18" charset="0"/>
                          </a:rPr>
                          <m:t>exp</m:t>
                        </m:r>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1</m:t>
                            </m:r>
                          </m:sub>
                        </m:sSub>
                        <m:r>
                          <m:rPr>
                            <m:nor/>
                          </m:rPr>
                          <a:rPr lang="en-US" sz="2400" dirty="0"/>
                          <m:t>)</m:t>
                        </m:r>
                        <m:acc>
                          <m:accPr>
                            <m:chr m:val="̂"/>
                            <m:ctrlPr>
                              <a:rPr lang="en-US" sz="2400" i="1" dirty="0" smtClean="0">
                                <a:latin typeface="Cambria Math" panose="02040503050406030204" pitchFamily="18" charset="0"/>
                              </a:rPr>
                            </m:ctrlPr>
                          </m:accPr>
                          <m:e>
                            <m:r>
                              <a:rPr lang="en-AU" sz="2400" b="0" i="1" dirty="0" smtClean="0">
                                <a:latin typeface="Cambria Math" panose="02040503050406030204" pitchFamily="18" charset="0"/>
                              </a:rPr>
                              <m:t>𝛾</m:t>
                            </m:r>
                          </m:e>
                        </m:acc>
                        <m:sSup>
                          <m:sSupPr>
                            <m:ctrlPr>
                              <a:rPr lang="en-AU" sz="2400" i="1">
                                <a:latin typeface="Cambria Math" panose="02040503050406030204" pitchFamily="18" charset="0"/>
                              </a:rPr>
                            </m:ctrlPr>
                          </m:sSupPr>
                          <m:e>
                            <m:r>
                              <a:rPr lang="en-AU" sz="2400" i="1">
                                <a:latin typeface="Cambria Math" panose="02040503050406030204" pitchFamily="18" charset="0"/>
                              </a:rPr>
                              <m:t>𝑡</m:t>
                            </m:r>
                          </m:e>
                          <m:sup>
                            <m:acc>
                              <m:accPr>
                                <m:chr m:val="̂"/>
                                <m:ctrlPr>
                                  <a:rPr lang="en-US" sz="2400" i="1" dirty="0">
                                    <a:latin typeface="Cambria Math" panose="02040503050406030204" pitchFamily="18" charset="0"/>
                                  </a:rPr>
                                </m:ctrlPr>
                              </m:accPr>
                              <m:e>
                                <m:r>
                                  <a:rPr lang="en-AU" sz="2400" i="1" dirty="0">
                                    <a:latin typeface="Cambria Math" panose="02040503050406030204" pitchFamily="18" charset="0"/>
                                  </a:rPr>
                                  <m:t>𝛾</m:t>
                                </m:r>
                              </m:e>
                            </m:acc>
                            <m:r>
                              <a:rPr lang="en-AU" sz="2400" i="1">
                                <a:latin typeface="Cambria Math" panose="02040503050406030204" pitchFamily="18" charset="0"/>
                              </a:rPr>
                              <m:t>−1 </m:t>
                            </m:r>
                          </m:sup>
                        </m:sSup>
                      </m:num>
                      <m:den>
                        <m:r>
                          <m:rPr>
                            <m:sty m:val="p"/>
                          </m:rPr>
                          <a:rPr lang="en-US" sz="2400">
                            <a:latin typeface="Cambria Math" panose="02040503050406030204" pitchFamily="18" charset="0"/>
                          </a:rPr>
                          <m:t>exp</m:t>
                        </m:r>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0</m:t>
                            </m:r>
                          </m:sub>
                        </m:sSub>
                        <m:r>
                          <m:rPr>
                            <m:nor/>
                          </m:rPr>
                          <a:rPr lang="en-US" sz="2400" dirty="0"/>
                          <m:t>)</m:t>
                        </m:r>
                        <m:acc>
                          <m:accPr>
                            <m:chr m:val="̂"/>
                            <m:ctrlPr>
                              <a:rPr lang="en-US" sz="2400" i="1" dirty="0">
                                <a:latin typeface="Cambria Math" panose="02040503050406030204" pitchFamily="18" charset="0"/>
                              </a:rPr>
                            </m:ctrlPr>
                          </m:accPr>
                          <m:e>
                            <m:r>
                              <a:rPr lang="en-AU" sz="2400" i="1" dirty="0">
                                <a:latin typeface="Cambria Math" panose="02040503050406030204" pitchFamily="18" charset="0"/>
                              </a:rPr>
                              <m:t>𝛾</m:t>
                            </m:r>
                          </m:e>
                        </m:acc>
                        <m:sSup>
                          <m:sSupPr>
                            <m:ctrlPr>
                              <a:rPr lang="en-AU" sz="2400" i="1">
                                <a:latin typeface="Cambria Math" panose="02040503050406030204" pitchFamily="18" charset="0"/>
                              </a:rPr>
                            </m:ctrlPr>
                          </m:sSupPr>
                          <m:e>
                            <m:r>
                              <a:rPr lang="en-AU" sz="2400" i="1">
                                <a:latin typeface="Cambria Math" panose="02040503050406030204" pitchFamily="18" charset="0"/>
                              </a:rPr>
                              <m:t>𝑡</m:t>
                            </m:r>
                          </m:e>
                          <m:sup>
                            <m:acc>
                              <m:accPr>
                                <m:chr m:val="̂"/>
                                <m:ctrlPr>
                                  <a:rPr lang="en-US" sz="2400" i="1" dirty="0">
                                    <a:latin typeface="Cambria Math" panose="02040503050406030204" pitchFamily="18" charset="0"/>
                                  </a:rPr>
                                </m:ctrlPr>
                              </m:accPr>
                              <m:e>
                                <m:r>
                                  <a:rPr lang="en-AU" sz="2400" i="1" dirty="0">
                                    <a:latin typeface="Cambria Math" panose="02040503050406030204" pitchFamily="18" charset="0"/>
                                  </a:rPr>
                                  <m:t>𝛾</m:t>
                                </m:r>
                              </m:e>
                            </m:acc>
                            <m:r>
                              <a:rPr lang="en-AU" sz="2400" i="1">
                                <a:latin typeface="Cambria Math" panose="02040503050406030204" pitchFamily="18" charset="0"/>
                              </a:rPr>
                              <m:t>−1 </m:t>
                            </m:r>
                          </m:sup>
                        </m:sSup>
                      </m:den>
                    </m:f>
                  </m:oMath>
                </a14:m>
                <a:r>
                  <a:rPr lang="en-US" sz="2400" dirty="0"/>
                  <a:t> = </a:t>
                </a:r>
                <a14:m>
                  <m:oMath xmlns:m="http://schemas.openxmlformats.org/officeDocument/2006/math">
                    <m:r>
                      <m:rPr>
                        <m:sty m:val="p"/>
                      </m:rPr>
                      <a:rPr lang="en-US" sz="2400">
                        <a:latin typeface="Cambria Math" panose="02040503050406030204" pitchFamily="18" charset="0"/>
                      </a:rPr>
                      <m:t>exp</m:t>
                    </m:r>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1</m:t>
                        </m:r>
                      </m:sub>
                    </m:sSub>
                    <m:r>
                      <m:rPr>
                        <m:nor/>
                      </m:rPr>
                      <a:rPr lang="en-US" sz="2400" dirty="0"/>
                      <m:t>) </m:t>
                    </m:r>
                  </m:oMath>
                </a14:m>
                <a:r>
                  <a:rPr lang="en-US" sz="2400" dirty="0"/>
                  <a:t>= </a:t>
                </a:r>
                <a14:m>
                  <m:oMath xmlns:m="http://schemas.openxmlformats.org/officeDocument/2006/math">
                    <m:r>
                      <m:rPr>
                        <m:sty m:val="p"/>
                      </m:rPr>
                      <a:rPr lang="en-US" sz="2400">
                        <a:latin typeface="Cambria Math" panose="02040503050406030204" pitchFamily="18" charset="0"/>
                      </a:rPr>
                      <m:t>exp</m:t>
                    </m:r>
                    <m:r>
                      <a:rPr lang="en-US" sz="2400" i="1">
                        <a:latin typeface="Cambria Math" panose="02040503050406030204" pitchFamily="18" charset="0"/>
                      </a:rPr>
                      <m:t>⁡(</m:t>
                    </m:r>
                    <m:r>
                      <m:rPr>
                        <m:nor/>
                      </m:rPr>
                      <a:rPr lang="en-US" sz="2400" b="0" i="0" smtClean="0">
                        <a:latin typeface="Cambria Math" panose="02040503050406030204" pitchFamily="18" charset="0"/>
                      </a:rPr>
                      <m:t>−1.73</m:t>
                    </m:r>
                    <m:r>
                      <m:rPr>
                        <m:nor/>
                      </m:rPr>
                      <a:rPr lang="en-AU" sz="2400" b="0" i="0" smtClean="0">
                        <a:latin typeface="Cambria Math" panose="02040503050406030204" pitchFamily="18" charset="0"/>
                      </a:rPr>
                      <m:t>1</m:t>
                    </m:r>
                    <m:r>
                      <m:rPr>
                        <m:nor/>
                      </m:rPr>
                      <a:rPr lang="en-US" sz="2400" dirty="0"/>
                      <m:t>)</m:t>
                    </m:r>
                    <m:r>
                      <m:rPr>
                        <m:nor/>
                      </m:rPr>
                      <a:rPr lang="en-US" sz="2400" b="0" i="0" dirty="0" smtClean="0"/>
                      <m:t> = </m:t>
                    </m:r>
                    <m:r>
                      <m:rPr>
                        <m:nor/>
                      </m:rPr>
                      <a:rPr lang="en-US" sz="2400" dirty="0"/>
                      <m:t> </m:t>
                    </m:r>
                    <m:r>
                      <m:rPr>
                        <m:nor/>
                      </m:rPr>
                      <a:rPr lang="en-US" sz="2400" b="0" i="0" dirty="0" smtClean="0"/>
                      <m:t>0.1</m:t>
                    </m:r>
                    <m:r>
                      <m:rPr>
                        <m:nor/>
                      </m:rPr>
                      <a:rPr lang="en-AU" sz="2400" b="0" i="0" dirty="0" smtClean="0"/>
                      <m:t>77</m:t>
                    </m:r>
                  </m:oMath>
                </a14:m>
                <a:endParaRPr lang="en-US" sz="2400" dirty="0"/>
              </a:p>
            </p:txBody>
          </p:sp>
        </mc:Choice>
        <mc:Fallback xmlns="">
          <p:sp>
            <p:nvSpPr>
              <p:cNvPr id="3" name="Content Placeholder 2">
                <a:extLst>
                  <a:ext uri="{FF2B5EF4-FFF2-40B4-BE49-F238E27FC236}">
                    <a16:creationId xmlns:a16="http://schemas.microsoft.com/office/drawing/2014/main" id="{063CC6AD-AB0F-551C-928B-8B678C2B2DAB}"/>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368F5AD0-06CE-A72E-16D2-2274C74DCBBF}"/>
              </a:ext>
            </a:extLst>
          </p:cNvPr>
          <p:cNvSpPr>
            <a:spLocks noGrp="1"/>
          </p:cNvSpPr>
          <p:nvPr>
            <p:ph type="ftr" sz="quarter" idx="11"/>
          </p:nvPr>
        </p:nvSpPr>
        <p:spPr/>
        <p:txBody>
          <a:bodyPr/>
          <a:lstStyle/>
          <a:p>
            <a:r>
              <a:rPr lang="en-US" dirty="0"/>
              <a:t>maarit.laaksonen@sydney.edu.au</a:t>
            </a:r>
          </a:p>
        </p:txBody>
      </p:sp>
      <p:pic>
        <p:nvPicPr>
          <p:cNvPr id="11" name="Picture 10">
            <a:extLst>
              <a:ext uri="{FF2B5EF4-FFF2-40B4-BE49-F238E27FC236}">
                <a16:creationId xmlns:a16="http://schemas.microsoft.com/office/drawing/2014/main" id="{2F74EC91-35AC-9B25-D7D8-BA99DD225D57}"/>
              </a:ext>
            </a:extLst>
          </p:cNvPr>
          <p:cNvPicPr>
            <a:picLocks noChangeAspect="1"/>
          </p:cNvPicPr>
          <p:nvPr/>
        </p:nvPicPr>
        <p:blipFill>
          <a:blip r:embed="rId4"/>
          <a:stretch>
            <a:fillRect/>
          </a:stretch>
        </p:blipFill>
        <p:spPr>
          <a:xfrm>
            <a:off x="1093358" y="2221992"/>
            <a:ext cx="7593441" cy="3308151"/>
          </a:xfrm>
          <a:prstGeom prst="rect">
            <a:avLst/>
          </a:prstGeom>
        </p:spPr>
      </p:pic>
      <p:sp>
        <p:nvSpPr>
          <p:cNvPr id="9" name="TextBox 8">
            <a:extLst>
              <a:ext uri="{FF2B5EF4-FFF2-40B4-BE49-F238E27FC236}">
                <a16:creationId xmlns:a16="http://schemas.microsoft.com/office/drawing/2014/main" id="{EEF42C01-5A7F-0E26-2023-35CB1E9D23BD}"/>
              </a:ext>
            </a:extLst>
          </p:cNvPr>
          <p:cNvSpPr txBox="1"/>
          <p:nvPr/>
        </p:nvSpPr>
        <p:spPr>
          <a:xfrm>
            <a:off x="6783058" y="2240682"/>
            <a:ext cx="1752600" cy="381000"/>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3003587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9D332-985F-E93F-3527-A9C410EC3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CA299-4E35-47C4-F78E-2E8D274A9664}"/>
              </a:ext>
            </a:extLst>
          </p:cNvPr>
          <p:cNvSpPr>
            <a:spLocks noGrp="1"/>
          </p:cNvSpPr>
          <p:nvPr>
            <p:ph type="title"/>
          </p:nvPr>
        </p:nvSpPr>
        <p:spPr/>
        <p:txBody>
          <a:bodyPr>
            <a:normAutofit/>
          </a:bodyPr>
          <a:lstStyle/>
          <a:p>
            <a:r>
              <a:rPr lang="en-US" dirty="0" err="1"/>
              <a:t>weibull</a:t>
            </a:r>
            <a:r>
              <a:rPr lang="en-US" dirty="0"/>
              <a:t>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C1C8E9-131C-2C2F-2E0D-2023A28AC5CA}"/>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also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weibull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1.267</m:t>
                    </m:r>
                    <m:r>
                      <m:rPr>
                        <m:nor/>
                      </m:rPr>
                      <a:rPr lang="en-US" dirty="0"/>
                      <m:t>)</m:t>
                    </m:r>
                    <m:r>
                      <m:rPr>
                        <m:nor/>
                      </m:rPr>
                      <a:rPr lang="en-US" b="0" i="0" dirty="0" smtClean="0"/>
                      <m:t> = </m:t>
                    </m:r>
                    <m:r>
                      <m:rPr>
                        <m:nor/>
                      </m:rPr>
                      <a:rPr lang="en-US" dirty="0"/>
                      <m:t> </m:t>
                    </m:r>
                    <m:r>
                      <m:rPr>
                        <m:nor/>
                      </m:rPr>
                      <a:rPr lang="en-US" b="0" i="0" dirty="0" smtClean="0"/>
                      <m:t>3.55</m:t>
                    </m:r>
                  </m:oMath>
                </a14:m>
                <a:endParaRPr lang="en-US" dirty="0"/>
              </a:p>
            </p:txBody>
          </p:sp>
        </mc:Choice>
        <mc:Fallback xmlns="">
          <p:sp>
            <p:nvSpPr>
              <p:cNvPr id="3" name="Content Placeholder 2">
                <a:extLst>
                  <a:ext uri="{FF2B5EF4-FFF2-40B4-BE49-F238E27FC236}">
                    <a16:creationId xmlns:a16="http://schemas.microsoft.com/office/drawing/2014/main" id="{36C1C8E9-131C-2C2F-2E0D-2023A28AC5CA}"/>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4C89CC85-BC2F-6030-3D51-C8761264E7B3}"/>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E9971975-148D-FFBE-4DDA-2BDAA7DD3439}"/>
              </a:ext>
            </a:extLst>
          </p:cNvPr>
          <p:cNvPicPr>
            <a:picLocks noChangeAspect="1"/>
          </p:cNvPicPr>
          <p:nvPr/>
        </p:nvPicPr>
        <p:blipFill>
          <a:blip r:embed="rId4"/>
          <a:stretch>
            <a:fillRect/>
          </a:stretch>
        </p:blipFill>
        <p:spPr>
          <a:xfrm>
            <a:off x="1044153" y="2235374"/>
            <a:ext cx="8430047" cy="3350744"/>
          </a:xfrm>
          <a:prstGeom prst="rect">
            <a:avLst/>
          </a:prstGeom>
        </p:spPr>
      </p:pic>
      <p:sp>
        <p:nvSpPr>
          <p:cNvPr id="5" name="TextBox 4">
            <a:extLst>
              <a:ext uri="{FF2B5EF4-FFF2-40B4-BE49-F238E27FC236}">
                <a16:creationId xmlns:a16="http://schemas.microsoft.com/office/drawing/2014/main" id="{FE1461F2-5717-6201-0B60-5EAE62771BCF}"/>
              </a:ext>
            </a:extLst>
          </p:cNvPr>
          <p:cNvSpPr txBox="1"/>
          <p:nvPr/>
        </p:nvSpPr>
        <p:spPr>
          <a:xfrm>
            <a:off x="7613182" y="2365370"/>
            <a:ext cx="1771049" cy="469762"/>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251605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9F2C-5099-ADDE-5667-2AD559C18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256AC-FD4E-7720-F99E-1AA00FFD63C3}"/>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F42CE864-1005-90B5-2102-8AFCD80BB19B}"/>
              </a:ext>
            </a:extLst>
          </p:cNvPr>
          <p:cNvSpPr>
            <a:spLocks noGrp="1"/>
          </p:cNvSpPr>
          <p:nvPr>
            <p:ph idx="1"/>
          </p:nvPr>
        </p:nvSpPr>
        <p:spPr/>
        <p:txBody>
          <a:bodyPr>
            <a:normAutofit/>
          </a:bodyPr>
          <a:lstStyle/>
          <a:p>
            <a:r>
              <a:rPr lang="en-US" dirty="0"/>
              <a:t>One method of assessing goodness of fit of a parametric model is to visually compare the fitted parametric survival curve to the Kaplan-Meier curve, that makes no distributional assumptions</a:t>
            </a:r>
          </a:p>
        </p:txBody>
      </p:sp>
      <p:sp>
        <p:nvSpPr>
          <p:cNvPr id="4" name="Footer Placeholder 3">
            <a:extLst>
              <a:ext uri="{FF2B5EF4-FFF2-40B4-BE49-F238E27FC236}">
                <a16:creationId xmlns:a16="http://schemas.microsoft.com/office/drawing/2014/main" id="{78BAA741-D274-A5BE-7F35-581C6AD04378}"/>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363805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9FE8B-E9B3-0E2D-E0E4-2986E3F2C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CE2A2-6EA8-9EB3-F1EF-69487B9B8C08}"/>
              </a:ext>
            </a:extLst>
          </p:cNvPr>
          <p:cNvSpPr>
            <a:spLocks noGrp="1"/>
          </p:cNvSpPr>
          <p:nvPr>
            <p:ph type="title"/>
          </p:nvPr>
        </p:nvSpPr>
        <p:spPr/>
        <p:txBody>
          <a:bodyPr/>
          <a:lstStyle/>
          <a:p>
            <a:r>
              <a:rPr lang="en-US" dirty="0"/>
              <a:t>Model FIT – exponential model</a:t>
            </a:r>
            <a:endParaRPr lang="en-AU" dirty="0"/>
          </a:p>
        </p:txBody>
      </p:sp>
      <p:sp>
        <p:nvSpPr>
          <p:cNvPr id="4" name="Footer Placeholder 3">
            <a:extLst>
              <a:ext uri="{FF2B5EF4-FFF2-40B4-BE49-F238E27FC236}">
                <a16:creationId xmlns:a16="http://schemas.microsoft.com/office/drawing/2014/main" id="{1A77F21B-F475-4AF3-9515-81FD79185F32}"/>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2F2848D8-E3E1-5D30-26E1-01E5961A573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DCD63241-0815-7BAD-3F08-15175887E9C5}"/>
              </a:ext>
            </a:extLst>
          </p:cNvPr>
          <p:cNvPicPr>
            <a:picLocks noChangeAspect="1"/>
          </p:cNvPicPr>
          <p:nvPr/>
        </p:nvPicPr>
        <p:blipFill>
          <a:blip r:embed="rId3"/>
          <a:stretch>
            <a:fillRect/>
          </a:stretch>
        </p:blipFill>
        <p:spPr>
          <a:xfrm>
            <a:off x="2236424" y="1511449"/>
            <a:ext cx="6156321" cy="4436913"/>
          </a:xfrm>
          <a:prstGeom prst="rect">
            <a:avLst/>
          </a:prstGeom>
        </p:spPr>
      </p:pic>
    </p:spTree>
    <p:extLst>
      <p:ext uri="{BB962C8B-B14F-4D97-AF65-F5344CB8AC3E}">
        <p14:creationId xmlns:p14="http://schemas.microsoft.com/office/powerpoint/2010/main" val="3004641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48BCF-71A5-D400-999B-0DFA4A99E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F5692-EAAB-2B1C-FDB7-CE1210FDA624}"/>
              </a:ext>
            </a:extLst>
          </p:cNvPr>
          <p:cNvSpPr>
            <a:spLocks noGrp="1"/>
          </p:cNvSpPr>
          <p:nvPr>
            <p:ph type="title"/>
          </p:nvPr>
        </p:nvSpPr>
        <p:spPr/>
        <p:txBody>
          <a:bodyPr>
            <a:normAutofit fontScale="90000"/>
          </a:bodyPr>
          <a:lstStyle/>
          <a:p>
            <a:r>
              <a:rPr lang="en-US" dirty="0"/>
              <a:t>Model FIT – exponential and Weibull model</a:t>
            </a:r>
            <a:endParaRPr lang="en-AU" dirty="0"/>
          </a:p>
        </p:txBody>
      </p:sp>
      <p:sp>
        <p:nvSpPr>
          <p:cNvPr id="4" name="Footer Placeholder 3">
            <a:extLst>
              <a:ext uri="{FF2B5EF4-FFF2-40B4-BE49-F238E27FC236}">
                <a16:creationId xmlns:a16="http://schemas.microsoft.com/office/drawing/2014/main" id="{42381541-FABC-72DA-E74C-C44807E36376}"/>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CD3F86C5-079D-825A-3E97-FB8FCB08FF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4CFF26EF-3C9C-3D0E-A3EA-3830FC6CF20B}"/>
              </a:ext>
            </a:extLst>
          </p:cNvPr>
          <p:cNvPicPr>
            <a:picLocks noChangeAspect="1"/>
          </p:cNvPicPr>
          <p:nvPr/>
        </p:nvPicPr>
        <p:blipFill>
          <a:blip r:embed="rId3"/>
          <a:stretch>
            <a:fillRect/>
          </a:stretch>
        </p:blipFill>
        <p:spPr>
          <a:xfrm>
            <a:off x="2303442" y="1593975"/>
            <a:ext cx="6674303" cy="4501063"/>
          </a:xfrm>
          <a:prstGeom prst="rect">
            <a:avLst/>
          </a:prstGeom>
        </p:spPr>
      </p:pic>
    </p:spTree>
    <p:extLst>
      <p:ext uri="{BB962C8B-B14F-4D97-AF65-F5344CB8AC3E}">
        <p14:creationId xmlns:p14="http://schemas.microsoft.com/office/powerpoint/2010/main" val="2783856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68C8F-9FA1-BC18-4FE5-85A4E1B65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E3F94-E985-0BD3-0E97-4CEBB0C047CD}"/>
              </a:ext>
            </a:extLst>
          </p:cNvPr>
          <p:cNvSpPr>
            <a:spLocks noGrp="1"/>
          </p:cNvSpPr>
          <p:nvPr>
            <p:ph type="title"/>
          </p:nvPr>
        </p:nvSpPr>
        <p:spPr/>
        <p:txBody>
          <a:bodyPr/>
          <a:lstStyle/>
          <a:p>
            <a:r>
              <a:rPr lang="en-US" dirty="0"/>
              <a:t>Model validation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BECB18-0614-5B9F-9AD3-85C3847C6E83}"/>
                  </a:ext>
                </a:extLst>
              </p:cNvPr>
              <p:cNvSpPr>
                <a:spLocks noGrp="1"/>
              </p:cNvSpPr>
              <p:nvPr>
                <p:ph idx="1"/>
              </p:nvPr>
            </p:nvSpPr>
            <p:spPr>
              <a:xfrm>
                <a:off x="700635" y="1935664"/>
                <a:ext cx="10691265" cy="3739896"/>
              </a:xfrm>
            </p:spPr>
            <p:txBody>
              <a:bodyPr>
                <a:normAutofit/>
              </a:bodyPr>
              <a:lstStyle/>
              <a:p>
                <a:r>
                  <a:rPr lang="en-US" dirty="0"/>
                  <a:t>Alternatively, we could make comparisons with transformations of the survival function</a:t>
                </a:r>
              </a:p>
              <a:p>
                <a:pPr lvl="1"/>
                <a:r>
                  <a:rPr lang="en-US" dirty="0"/>
                  <a:t>For exponential model, the survival function is </a:t>
                </a:r>
                <a14:m>
                  <m:oMath xmlns:m="http://schemas.openxmlformats.org/officeDocument/2006/math">
                    <m:r>
                      <m:rPr>
                        <m:sty m:val="p"/>
                      </m:rPr>
                      <a:rPr lang="en-AU" i="1">
                        <a:latin typeface="Cambria Math" panose="02040503050406030204" pitchFamily="18" charset="0"/>
                      </a:rPr>
                      <m:t>S</m:t>
                    </m:r>
                    <m:r>
                      <a:rPr lang="en-AU" i="1">
                        <a:latin typeface="Cambria Math" panose="02040503050406030204" pitchFamily="18" charset="0"/>
                      </a:rPr>
                      <m:t>(</m:t>
                    </m:r>
                    <m:r>
                      <m:rPr>
                        <m:sty m:val="p"/>
                      </m:rPr>
                      <a:rPr lang="en-AU" i="1">
                        <a:latin typeface="Cambria Math" panose="02040503050406030204" pitchFamily="18" charset="0"/>
                      </a:rPr>
                      <m:t>t</m:t>
                    </m:r>
                    <m:r>
                      <a:rPr lang="en-AU" i="1">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𝑒</m:t>
                        </m:r>
                      </m:e>
                      <m:sup>
                        <m:r>
                          <a:rPr lang="en-AU" i="1">
                            <a:latin typeface="Cambria Math" panose="02040503050406030204" pitchFamily="18" charset="0"/>
                          </a:rPr>
                          <m:t>−</m:t>
                        </m:r>
                        <m:r>
                          <m:rPr>
                            <m:sty m:val="p"/>
                          </m:rPr>
                          <a:rPr lang="en-AU" i="1">
                            <a:latin typeface="Cambria Math" panose="02040503050406030204" pitchFamily="18" charset="0"/>
                          </a:rPr>
                          <m:t>λt</m:t>
                        </m:r>
                        <m:r>
                          <a:rPr lang="en-AU" i="1">
                            <a:latin typeface="Cambria Math" panose="02040503050406030204" pitchFamily="18" charset="0"/>
                          </a:rPr>
                          <m:t> </m:t>
                        </m:r>
                      </m:sup>
                    </m:sSup>
                  </m:oMath>
                </a14:m>
                <a:r>
                  <a:rPr lang="en-US" dirty="0"/>
                  <a:t> and </a:t>
                </a:r>
                <a14:m>
                  <m:oMath xmlns:m="http://schemas.openxmlformats.org/officeDocument/2006/math">
                    <m:r>
                      <a:rPr lang="en-AU" b="0" i="1" smtClean="0">
                        <a:latin typeface="Cambria Math" panose="02040503050406030204" pitchFamily="18" charset="0"/>
                      </a:rPr>
                      <m:t>−</m:t>
                    </m:r>
                    <m:r>
                      <m:rPr>
                        <m:nor/>
                      </m:rPr>
                      <a:rPr lang="en-AU" b="0" i="0" smtClean="0">
                        <a:latin typeface="Cambria Math" panose="02040503050406030204" pitchFamily="18" charset="0"/>
                      </a:rPr>
                      <m:t>log</m:t>
                    </m:r>
                    <m:r>
                      <a:rPr lang="en-AU" b="0" i="1" smtClean="0">
                        <a:latin typeface="Cambria Math" panose="02040503050406030204" pitchFamily="18" charset="0"/>
                      </a:rPr>
                      <m:t> </m:t>
                    </m:r>
                    <m:r>
                      <a:rPr lang="en-AU" b="0" i="1" smtClean="0">
                        <a:latin typeface="Cambria Math" panose="02040503050406030204" pitchFamily="18" charset="0"/>
                      </a:rPr>
                      <m:t>𝑆</m:t>
                    </m:r>
                    <m:d>
                      <m:dPr>
                        <m:ctrlPr>
                          <a:rPr lang="en-AU" b="0" i="1" smtClean="0">
                            <a:latin typeface="Cambria Math" panose="02040503050406030204" pitchFamily="18" charset="0"/>
                          </a:rPr>
                        </m:ctrlPr>
                      </m:dPr>
                      <m:e>
                        <m:r>
                          <a:rPr lang="en-AU" b="0" i="1" smtClean="0">
                            <a:latin typeface="Cambria Math" panose="02040503050406030204" pitchFamily="18" charset="0"/>
                          </a:rPr>
                          <m:t>𝑡</m:t>
                        </m:r>
                      </m:e>
                    </m:d>
                    <m:r>
                      <a:rPr lang="en-AU" b="0" i="1" smtClean="0">
                        <a:latin typeface="Cambria Math" panose="02040503050406030204" pitchFamily="18" charset="0"/>
                      </a:rPr>
                      <m:t>=</m:t>
                    </m:r>
                    <m:r>
                      <a:rPr lang="en-AU" b="0" i="1" smtClean="0">
                        <a:latin typeface="Cambria Math" panose="02040503050406030204" pitchFamily="18" charset="0"/>
                      </a:rPr>
                      <m:t>𝜆</m:t>
                    </m:r>
                    <m:r>
                      <a:rPr lang="en-AU" b="0" i="1" smtClean="0">
                        <a:latin typeface="Cambria Math" panose="02040503050406030204" pitchFamily="18" charset="0"/>
                      </a:rPr>
                      <m:t>𝑡</m:t>
                    </m:r>
                  </m:oMath>
                </a14:m>
                <a:r>
                  <a:rPr lang="en-US" dirty="0"/>
                  <a:t>,                                     and thus the </a:t>
                </a:r>
                <a:r>
                  <a:rPr lang="en-US" b="1" dirty="0"/>
                  <a:t>cumulative hazard</a:t>
                </a:r>
                <a:r>
                  <a:rPr lang="en-US" dirty="0"/>
                  <a:t>, </a:t>
                </a:r>
                <a14:m>
                  <m:oMath xmlns:m="http://schemas.openxmlformats.org/officeDocument/2006/math">
                    <m:r>
                      <a:rPr lang="en-AU" i="1">
                        <a:latin typeface="Cambria Math" panose="02040503050406030204" pitchFamily="18" charset="0"/>
                      </a:rPr>
                      <m:t>−</m:t>
                    </m:r>
                    <m:r>
                      <m:rPr>
                        <m:nor/>
                      </m:rPr>
                      <a:rPr lang="en-AU">
                        <a:latin typeface="Cambria Math" panose="02040503050406030204" pitchFamily="18" charset="0"/>
                      </a:rPr>
                      <m:t>log</m:t>
                    </m:r>
                    <m:r>
                      <a:rPr lang="en-AU" i="1">
                        <a:latin typeface="Cambria Math" panose="02040503050406030204" pitchFamily="18" charset="0"/>
                      </a:rPr>
                      <m:t> </m:t>
                    </m:r>
                    <m:r>
                      <a:rPr lang="en-AU" i="1">
                        <a:latin typeface="Cambria Math" panose="02040503050406030204" pitchFamily="18" charset="0"/>
                      </a:rPr>
                      <m:t>𝑆</m:t>
                    </m:r>
                    <m:d>
                      <m:dPr>
                        <m:ctrlPr>
                          <a:rPr lang="en-AU" i="1">
                            <a:latin typeface="Cambria Math" panose="02040503050406030204" pitchFamily="18" charset="0"/>
                          </a:rPr>
                        </m:ctrlPr>
                      </m:dPr>
                      <m:e>
                        <m:r>
                          <a:rPr lang="en-AU" i="1">
                            <a:latin typeface="Cambria Math" panose="02040503050406030204" pitchFamily="18" charset="0"/>
                          </a:rPr>
                          <m:t>𝑡</m:t>
                        </m:r>
                      </m:e>
                    </m:d>
                    <m:r>
                      <a:rPr lang="en-AU" b="0" i="1" smtClean="0">
                        <a:latin typeface="Cambria Math" panose="02040503050406030204" pitchFamily="18" charset="0"/>
                      </a:rPr>
                      <m:t>,</m:t>
                    </m:r>
                  </m:oMath>
                </a14:m>
                <a:r>
                  <a:rPr lang="en-US" dirty="0"/>
                  <a:t> </a:t>
                </a:r>
                <a:r>
                  <a:rPr lang="en-US" b="1" dirty="0"/>
                  <a:t>is a linear function of </a:t>
                </a:r>
                <a14:m>
                  <m:oMath xmlns:m="http://schemas.openxmlformats.org/officeDocument/2006/math">
                    <m:r>
                      <a:rPr lang="en-US" b="1" i="0" smtClean="0">
                        <a:latin typeface="Cambria Math" panose="02040503050406030204" pitchFamily="18" charset="0"/>
                      </a:rPr>
                      <m:t>𝐭𝐢𝐦𝐞</m:t>
                    </m:r>
                  </m:oMath>
                </a14:m>
                <a:r>
                  <a:rPr lang="en-US" b="1" dirty="0"/>
                  <a:t>, </a:t>
                </a:r>
                <a:r>
                  <a:rPr lang="en-US" dirty="0"/>
                  <a:t>with intercept 0 and slope </a:t>
                </a:r>
                <a14:m>
                  <m:oMath xmlns:m="http://schemas.openxmlformats.org/officeDocument/2006/math">
                    <m:r>
                      <a:rPr lang="en-AU" i="1">
                        <a:latin typeface="Cambria Math" panose="02040503050406030204" pitchFamily="18" charset="0"/>
                      </a:rPr>
                      <m:t>𝜆</m:t>
                    </m:r>
                  </m:oMath>
                </a14:m>
                <a:endParaRPr lang="en-US" b="1" dirty="0"/>
              </a:p>
              <a:p>
                <a:pPr marL="457200" lvl="1" indent="0">
                  <a:buNone/>
                </a:pPr>
                <a:r>
                  <a:rPr lang="en-US" dirty="0">
                    <a:sym typeface="Wingdings" panose="05000000000000000000" pitchFamily="2" charset="2"/>
                  </a:rPr>
                  <a:t> </a:t>
                </a:r>
                <a:r>
                  <a:rPr lang="en-US" dirty="0"/>
                  <a:t>We can check whether plotting the cumulative hazard against time gives a straight line</a:t>
                </a:r>
              </a:p>
            </p:txBody>
          </p:sp>
        </mc:Choice>
        <mc:Fallback xmlns="">
          <p:sp>
            <p:nvSpPr>
              <p:cNvPr id="3" name="Content Placeholder 2">
                <a:extLst>
                  <a:ext uri="{FF2B5EF4-FFF2-40B4-BE49-F238E27FC236}">
                    <a16:creationId xmlns:a16="http://schemas.microsoft.com/office/drawing/2014/main" id="{D7BECB18-0614-5B9F-9AD3-85C3847C6E83}"/>
                  </a:ext>
                </a:extLst>
              </p:cNvPr>
              <p:cNvSpPr>
                <a:spLocks noGrp="1" noRot="1" noChangeAspect="1" noMove="1" noResize="1" noEditPoints="1" noAdjustHandles="1" noChangeArrowheads="1" noChangeShapeType="1" noTextEdit="1"/>
              </p:cNvSpPr>
              <p:nvPr>
                <p:ph idx="1"/>
              </p:nvPr>
            </p:nvSpPr>
            <p:spPr>
              <a:xfrm>
                <a:off x="700635" y="1935664"/>
                <a:ext cx="10691265" cy="3739896"/>
              </a:xfrm>
              <a:blipFill>
                <a:blip r:embed="rId3"/>
                <a:stretch>
                  <a:fillRect l="-513" t="-816" r="-741"/>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390D395B-9B4A-E2E4-837D-6178805EAF87}"/>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475592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5F09-B303-FE30-CA45-0E856247718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4CF1985-8E26-3F41-B8DD-20C312B8ADBF}"/>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CDAE4544-0D7D-7573-5C79-EE028222C5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 name="Title 5">
            <a:extLst>
              <a:ext uri="{FF2B5EF4-FFF2-40B4-BE49-F238E27FC236}">
                <a16:creationId xmlns:a16="http://schemas.microsoft.com/office/drawing/2014/main" id="{555EBBE6-0E01-1900-5A5D-4E540DE0CA5A}"/>
              </a:ext>
            </a:extLst>
          </p:cNvPr>
          <p:cNvSpPr>
            <a:spLocks noGrp="1"/>
          </p:cNvSpPr>
          <p:nvPr>
            <p:ph type="title"/>
          </p:nvPr>
        </p:nvSpPr>
        <p:spPr/>
        <p:txBody>
          <a:bodyPr/>
          <a:lstStyle/>
          <a:p>
            <a:r>
              <a:rPr lang="en-US" dirty="0"/>
              <a:t>Model FIT – exponential model</a:t>
            </a:r>
            <a:endParaRPr lang="en-AU" dirty="0"/>
          </a:p>
        </p:txBody>
      </p:sp>
      <p:pic>
        <p:nvPicPr>
          <p:cNvPr id="8" name="Picture 7">
            <a:extLst>
              <a:ext uri="{FF2B5EF4-FFF2-40B4-BE49-F238E27FC236}">
                <a16:creationId xmlns:a16="http://schemas.microsoft.com/office/drawing/2014/main" id="{A15BD311-5A63-511E-B963-024A2E629D28}"/>
              </a:ext>
            </a:extLst>
          </p:cNvPr>
          <p:cNvPicPr>
            <a:picLocks noChangeAspect="1"/>
          </p:cNvPicPr>
          <p:nvPr/>
        </p:nvPicPr>
        <p:blipFill>
          <a:blip r:embed="rId3"/>
          <a:stretch>
            <a:fillRect/>
          </a:stretch>
        </p:blipFill>
        <p:spPr>
          <a:xfrm>
            <a:off x="1464672" y="1856232"/>
            <a:ext cx="6667500" cy="4114800"/>
          </a:xfrm>
          <a:prstGeom prst="rect">
            <a:avLst/>
          </a:prstGeom>
        </p:spPr>
      </p:pic>
    </p:spTree>
    <p:extLst>
      <p:ext uri="{BB962C8B-B14F-4D97-AF65-F5344CB8AC3E}">
        <p14:creationId xmlns:p14="http://schemas.microsoft.com/office/powerpoint/2010/main" val="205780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446F5-930D-A1B4-8615-35F26931B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E913A-8540-88A2-97DC-D809DC83F2A3}"/>
              </a:ext>
            </a:extLst>
          </p:cNvPr>
          <p:cNvSpPr>
            <a:spLocks noGrp="1"/>
          </p:cNvSpPr>
          <p:nvPr>
            <p:ph type="title"/>
          </p:nvPr>
        </p:nvSpPr>
        <p:spPr/>
        <p:txBody>
          <a:bodyPr/>
          <a:lstStyle/>
          <a:p>
            <a:r>
              <a:rPr lang="en-US" dirty="0"/>
              <a:t>Model validation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42DE28-4F0A-6AFD-5DF0-6F886811D250}"/>
                  </a:ext>
                </a:extLst>
              </p:cNvPr>
              <p:cNvSpPr>
                <a:spLocks noGrp="1"/>
              </p:cNvSpPr>
              <p:nvPr>
                <p:ph idx="1"/>
              </p:nvPr>
            </p:nvSpPr>
            <p:spPr>
              <a:xfrm>
                <a:off x="700635" y="1903338"/>
                <a:ext cx="10790730" cy="4040262"/>
              </a:xfrm>
            </p:spPr>
            <p:txBody>
              <a:bodyPr>
                <a:normAutofit fontScale="92500"/>
              </a:bodyPr>
              <a:lstStyle/>
              <a:p>
                <a:r>
                  <a:rPr lang="en-US" sz="2200" dirty="0"/>
                  <a:t>Alternatively, we could make comparisons with transformations of the survival function</a:t>
                </a:r>
              </a:p>
              <a:p>
                <a:pPr lvl="1"/>
                <a:r>
                  <a:rPr lang="en-US" sz="1900" dirty="0"/>
                  <a:t>Exponential survival function is </a:t>
                </a:r>
                <a14:m>
                  <m:oMath xmlns:m="http://schemas.openxmlformats.org/officeDocument/2006/math">
                    <m:r>
                      <m:rPr>
                        <m:sty m:val="p"/>
                      </m:rPr>
                      <a:rPr lang="en-AU" sz="1900" i="1">
                        <a:latin typeface="Cambria Math" panose="02040503050406030204" pitchFamily="18" charset="0"/>
                      </a:rPr>
                      <m:t>S</m:t>
                    </m:r>
                    <m:r>
                      <a:rPr lang="en-AU" sz="1900" i="1">
                        <a:latin typeface="Cambria Math" panose="02040503050406030204" pitchFamily="18" charset="0"/>
                      </a:rPr>
                      <m:t>(</m:t>
                    </m:r>
                    <m:r>
                      <m:rPr>
                        <m:sty m:val="p"/>
                      </m:rPr>
                      <a:rPr lang="en-AU" sz="1900" i="1">
                        <a:latin typeface="Cambria Math" panose="02040503050406030204" pitchFamily="18" charset="0"/>
                      </a:rPr>
                      <m:t>t</m:t>
                    </m:r>
                    <m:r>
                      <a:rPr lang="en-AU" sz="1900" i="1">
                        <a:latin typeface="Cambria Math" panose="02040503050406030204" pitchFamily="18" charset="0"/>
                      </a:rPr>
                      <m:t>)=</m:t>
                    </m:r>
                    <m:sSup>
                      <m:sSupPr>
                        <m:ctrlPr>
                          <a:rPr lang="en-AU" sz="1900" i="1">
                            <a:latin typeface="Cambria Math" panose="02040503050406030204" pitchFamily="18" charset="0"/>
                          </a:rPr>
                        </m:ctrlPr>
                      </m:sSupPr>
                      <m:e>
                        <m:r>
                          <a:rPr lang="en-AU" sz="1900" i="1">
                            <a:latin typeface="Cambria Math" panose="02040503050406030204" pitchFamily="18" charset="0"/>
                          </a:rPr>
                          <m:t>𝑒</m:t>
                        </m:r>
                      </m:e>
                      <m:sup>
                        <m:r>
                          <a:rPr lang="en-AU" sz="1900" i="1">
                            <a:latin typeface="Cambria Math" panose="02040503050406030204" pitchFamily="18" charset="0"/>
                          </a:rPr>
                          <m:t>−</m:t>
                        </m:r>
                        <m:r>
                          <m:rPr>
                            <m:sty m:val="p"/>
                          </m:rPr>
                          <a:rPr lang="en-AU" sz="1900" i="1">
                            <a:latin typeface="Cambria Math" panose="02040503050406030204" pitchFamily="18" charset="0"/>
                          </a:rPr>
                          <m:t>λt</m:t>
                        </m:r>
                        <m:r>
                          <a:rPr lang="en-AU" sz="1900" i="1">
                            <a:latin typeface="Cambria Math" panose="02040503050406030204" pitchFamily="18" charset="0"/>
                          </a:rPr>
                          <m:t> </m:t>
                        </m:r>
                      </m:sup>
                    </m:sSup>
                  </m:oMath>
                </a14:m>
                <a:r>
                  <a:rPr lang="en-US" sz="1900" dirty="0"/>
                  <a:t> and </a:t>
                </a:r>
                <a14:m>
                  <m:oMath xmlns:m="http://schemas.openxmlformats.org/officeDocument/2006/math">
                    <m:r>
                      <a:rPr lang="en-AU" sz="1900" b="0" i="1" smtClean="0">
                        <a:latin typeface="Cambria Math" panose="02040503050406030204" pitchFamily="18" charset="0"/>
                      </a:rPr>
                      <m:t>−</m:t>
                    </m:r>
                    <m:r>
                      <m:rPr>
                        <m:nor/>
                      </m:rPr>
                      <a:rPr lang="en-AU" sz="1900" b="0" i="0" smtClean="0">
                        <a:latin typeface="Cambria Math" panose="02040503050406030204" pitchFamily="18" charset="0"/>
                      </a:rPr>
                      <m:t>log</m:t>
                    </m:r>
                    <m:r>
                      <a:rPr lang="en-AU" sz="1900" b="0" i="1" smtClean="0">
                        <a:latin typeface="Cambria Math" panose="02040503050406030204" pitchFamily="18" charset="0"/>
                      </a:rPr>
                      <m:t> </m:t>
                    </m:r>
                    <m:r>
                      <a:rPr lang="en-AU" sz="1900" b="0" i="1" smtClean="0">
                        <a:latin typeface="Cambria Math" panose="02040503050406030204" pitchFamily="18" charset="0"/>
                      </a:rPr>
                      <m:t>𝑆</m:t>
                    </m:r>
                    <m:d>
                      <m:dPr>
                        <m:ctrlPr>
                          <a:rPr lang="en-AU" sz="1900" b="0" i="1" smtClean="0">
                            <a:latin typeface="Cambria Math" panose="02040503050406030204" pitchFamily="18" charset="0"/>
                          </a:rPr>
                        </m:ctrlPr>
                      </m:dPr>
                      <m:e>
                        <m:r>
                          <a:rPr lang="en-AU" sz="1900" b="0" i="1" smtClean="0">
                            <a:latin typeface="Cambria Math" panose="02040503050406030204" pitchFamily="18" charset="0"/>
                          </a:rPr>
                          <m:t>𝑡</m:t>
                        </m:r>
                      </m:e>
                    </m:d>
                    <m:r>
                      <a:rPr lang="en-AU" sz="1900" b="0" i="1" smtClean="0">
                        <a:latin typeface="Cambria Math" panose="02040503050406030204" pitchFamily="18" charset="0"/>
                      </a:rPr>
                      <m:t>=</m:t>
                    </m:r>
                    <m:r>
                      <a:rPr lang="en-AU" sz="1900" b="0" i="1" smtClean="0">
                        <a:latin typeface="Cambria Math" panose="02040503050406030204" pitchFamily="18" charset="0"/>
                      </a:rPr>
                      <m:t>𝜆</m:t>
                    </m:r>
                    <m:r>
                      <a:rPr lang="en-AU" sz="1900" b="0" i="1" smtClean="0">
                        <a:latin typeface="Cambria Math" panose="02040503050406030204" pitchFamily="18" charset="0"/>
                      </a:rPr>
                      <m:t>𝑡</m:t>
                    </m:r>
                  </m:oMath>
                </a14:m>
                <a:r>
                  <a:rPr lang="en-US" sz="1900" dirty="0"/>
                  <a:t>,                                                                  and thus the cumulative hazard, </a:t>
                </a:r>
                <a14:m>
                  <m:oMath xmlns:m="http://schemas.openxmlformats.org/officeDocument/2006/math">
                    <m:r>
                      <a:rPr lang="en-AU" sz="1900" i="1">
                        <a:latin typeface="Cambria Math" panose="02040503050406030204" pitchFamily="18" charset="0"/>
                      </a:rPr>
                      <m:t>−</m:t>
                    </m:r>
                    <m:r>
                      <m:rPr>
                        <m:nor/>
                      </m:rPr>
                      <a:rPr lang="en-AU" sz="1900">
                        <a:latin typeface="Cambria Math" panose="02040503050406030204" pitchFamily="18" charset="0"/>
                      </a:rPr>
                      <m:t>log</m:t>
                    </m:r>
                    <m:r>
                      <a:rPr lang="en-AU" sz="1900" i="1">
                        <a:latin typeface="Cambria Math" panose="02040503050406030204" pitchFamily="18" charset="0"/>
                      </a:rPr>
                      <m:t> </m:t>
                    </m:r>
                    <m:r>
                      <a:rPr lang="en-AU" sz="1900" i="1">
                        <a:latin typeface="Cambria Math" panose="02040503050406030204" pitchFamily="18" charset="0"/>
                      </a:rPr>
                      <m:t>𝑆</m:t>
                    </m:r>
                    <m:d>
                      <m:dPr>
                        <m:ctrlPr>
                          <a:rPr lang="en-AU" sz="1900" i="1">
                            <a:latin typeface="Cambria Math" panose="02040503050406030204" pitchFamily="18" charset="0"/>
                          </a:rPr>
                        </m:ctrlPr>
                      </m:dPr>
                      <m:e>
                        <m:r>
                          <a:rPr lang="en-AU" sz="1900" i="1">
                            <a:latin typeface="Cambria Math" panose="02040503050406030204" pitchFamily="18" charset="0"/>
                          </a:rPr>
                          <m:t>𝑡</m:t>
                        </m:r>
                      </m:e>
                    </m:d>
                    <m:r>
                      <a:rPr lang="en-AU" sz="1900" b="0" i="1" smtClean="0">
                        <a:latin typeface="Cambria Math" panose="02040503050406030204" pitchFamily="18" charset="0"/>
                      </a:rPr>
                      <m:t>,</m:t>
                    </m:r>
                  </m:oMath>
                </a14:m>
                <a:r>
                  <a:rPr lang="en-US" sz="1900" dirty="0"/>
                  <a:t> </a:t>
                </a:r>
                <a:r>
                  <a:rPr lang="en-US" sz="2000" dirty="0"/>
                  <a:t>is a linear function of </a:t>
                </a:r>
                <a14:m>
                  <m:oMath xmlns:m="http://schemas.openxmlformats.org/officeDocument/2006/math">
                    <m:r>
                      <m:rPr>
                        <m:sty m:val="p"/>
                      </m:rPr>
                      <a:rPr lang="en-US" sz="2000" b="0" i="0">
                        <a:latin typeface="Cambria Math" panose="02040503050406030204" pitchFamily="18" charset="0"/>
                      </a:rPr>
                      <m:t>t</m:t>
                    </m:r>
                    <m:r>
                      <m:rPr>
                        <m:sty m:val="p"/>
                      </m:rPr>
                      <a:rPr lang="en-US" sz="2000" b="0" i="0" smtClean="0">
                        <a:latin typeface="Cambria Math" panose="02040503050406030204" pitchFamily="18" charset="0"/>
                      </a:rPr>
                      <m:t>ime</m:t>
                    </m:r>
                  </m:oMath>
                </a14:m>
                <a:r>
                  <a:rPr lang="en-US" sz="2000" b="1" dirty="0"/>
                  <a:t>, </a:t>
                </a:r>
                <a:r>
                  <a:rPr lang="en-US" sz="2000" dirty="0"/>
                  <a:t>with intercept 0 and slope </a:t>
                </a:r>
                <a14:m>
                  <m:oMath xmlns:m="http://schemas.openxmlformats.org/officeDocument/2006/math">
                    <m:r>
                      <a:rPr lang="en-AU" sz="2000" i="1">
                        <a:latin typeface="Cambria Math" panose="02040503050406030204" pitchFamily="18" charset="0"/>
                      </a:rPr>
                      <m:t>𝜆</m:t>
                    </m:r>
                  </m:oMath>
                </a14:m>
                <a:endParaRPr lang="en-US" sz="2000" b="1" dirty="0"/>
              </a:p>
              <a:p>
                <a:pPr marL="457200" lvl="1" indent="0">
                  <a:buNone/>
                </a:pPr>
                <a:r>
                  <a:rPr lang="en-US" sz="1900" dirty="0">
                    <a:sym typeface="Wingdings" panose="05000000000000000000" pitchFamily="2" charset="2"/>
                  </a:rPr>
                  <a:t> </a:t>
                </a:r>
                <a:r>
                  <a:rPr lang="en-US" sz="1900" dirty="0"/>
                  <a:t>We can check whether plotting the cumulative hazard against time gives a straight line</a:t>
                </a:r>
              </a:p>
              <a:p>
                <a:pPr lvl="1"/>
                <a:r>
                  <a:rPr lang="en-US" sz="1900" dirty="0"/>
                  <a:t>Weibull survival function is </a:t>
                </a:r>
                <a14:m>
                  <m:oMath xmlns:m="http://schemas.openxmlformats.org/officeDocument/2006/math">
                    <m:r>
                      <m:rPr>
                        <m:sty m:val="p"/>
                      </m:rPr>
                      <a:rPr lang="en-AU" sz="1900" i="1">
                        <a:latin typeface="Cambria Math" panose="02040503050406030204" pitchFamily="18" charset="0"/>
                      </a:rPr>
                      <m:t>S</m:t>
                    </m:r>
                    <m:d>
                      <m:dPr>
                        <m:ctrlPr>
                          <a:rPr lang="en-AU" sz="1900" i="1">
                            <a:latin typeface="Cambria Math" panose="02040503050406030204" pitchFamily="18" charset="0"/>
                          </a:rPr>
                        </m:ctrlPr>
                      </m:dPr>
                      <m:e>
                        <m:r>
                          <m:rPr>
                            <m:sty m:val="p"/>
                          </m:rPr>
                          <a:rPr lang="en-AU" sz="1900" i="1">
                            <a:latin typeface="Cambria Math" panose="02040503050406030204" pitchFamily="18" charset="0"/>
                          </a:rPr>
                          <m:t>t</m:t>
                        </m:r>
                      </m:e>
                    </m:d>
                    <m:r>
                      <a:rPr lang="en-AU" sz="1900" i="1">
                        <a:latin typeface="Cambria Math" panose="02040503050406030204" pitchFamily="18" charset="0"/>
                      </a:rPr>
                      <m:t>=</m:t>
                    </m:r>
                    <m:r>
                      <m:rPr>
                        <m:nor/>
                      </m:rPr>
                      <a:rPr lang="en-AU" sz="1900">
                        <a:latin typeface="Cambria Math" panose="02040503050406030204" pitchFamily="18" charset="0"/>
                      </a:rPr>
                      <m:t>exp</m:t>
                    </m:r>
                    <m:d>
                      <m:dPr>
                        <m:ctrlPr>
                          <a:rPr lang="en-AU" sz="1900" i="1">
                            <a:latin typeface="Cambria Math" panose="02040503050406030204" pitchFamily="18" charset="0"/>
                          </a:rPr>
                        </m:ctrlPr>
                      </m:dPr>
                      <m:e>
                        <m:sSup>
                          <m:sSupPr>
                            <m:ctrlPr>
                              <a:rPr lang="en-AU" sz="1900" i="1">
                                <a:latin typeface="Cambria Math" panose="02040503050406030204" pitchFamily="18" charset="0"/>
                              </a:rPr>
                            </m:ctrlPr>
                          </m:sSupPr>
                          <m:e>
                            <m:r>
                              <a:rPr lang="en-AU" sz="1900" i="1">
                                <a:latin typeface="Cambria Math" panose="02040503050406030204" pitchFamily="18" charset="0"/>
                              </a:rPr>
                              <m:t>−</m:t>
                            </m:r>
                            <m:r>
                              <a:rPr lang="en-AU" sz="1900" i="1">
                                <a:latin typeface="Cambria Math" panose="02040503050406030204" pitchFamily="18" charset="0"/>
                              </a:rPr>
                              <m:t>𝜆</m:t>
                            </m:r>
                            <m:r>
                              <a:rPr lang="en-AU" sz="1900" i="1">
                                <a:latin typeface="Cambria Math" panose="02040503050406030204" pitchFamily="18" charset="0"/>
                              </a:rPr>
                              <m:t>𝑡</m:t>
                            </m:r>
                          </m:e>
                          <m:sup>
                            <m:r>
                              <a:rPr lang="en-AU" sz="1900" i="1">
                                <a:latin typeface="Cambria Math" panose="02040503050406030204" pitchFamily="18" charset="0"/>
                              </a:rPr>
                              <m:t>𝛾</m:t>
                            </m:r>
                          </m:sup>
                        </m:sSup>
                      </m:e>
                    </m:d>
                  </m:oMath>
                </a14:m>
                <a:r>
                  <a:rPr lang="en-US" sz="1900" dirty="0"/>
                  <a:t> and </a:t>
                </a:r>
                <a14:m>
                  <m:oMath xmlns:m="http://schemas.openxmlformats.org/officeDocument/2006/math">
                    <m:r>
                      <m:rPr>
                        <m:sty m:val="p"/>
                      </m:rPr>
                      <a:rPr lang="en-US" sz="1900" b="0" i="0" smtClean="0">
                        <a:latin typeface="Cambria Math" panose="02040503050406030204" pitchFamily="18" charset="0"/>
                      </a:rPr>
                      <m:t>log</m:t>
                    </m:r>
                    <m:d>
                      <m:dPr>
                        <m:ctrlPr>
                          <a:rPr lang="en-US" sz="1900" b="0" i="1" smtClean="0">
                            <a:latin typeface="Cambria Math" panose="02040503050406030204" pitchFamily="18" charset="0"/>
                          </a:rPr>
                        </m:ctrlPr>
                      </m:dPr>
                      <m:e>
                        <m:r>
                          <a:rPr lang="en-AU" sz="1900" i="1">
                            <a:latin typeface="Cambria Math" panose="02040503050406030204" pitchFamily="18" charset="0"/>
                          </a:rPr>
                          <m:t>−</m:t>
                        </m:r>
                        <m:r>
                          <m:rPr>
                            <m:nor/>
                          </m:rPr>
                          <a:rPr lang="en-AU" sz="1900">
                            <a:latin typeface="Cambria Math" panose="02040503050406030204" pitchFamily="18" charset="0"/>
                          </a:rPr>
                          <m:t>log</m:t>
                        </m:r>
                        <m:r>
                          <a:rPr lang="en-AU" sz="1900" i="1">
                            <a:latin typeface="Cambria Math" panose="02040503050406030204" pitchFamily="18" charset="0"/>
                          </a:rPr>
                          <m:t> </m:t>
                        </m:r>
                        <m:r>
                          <a:rPr lang="en-AU" sz="1900" i="1">
                            <a:latin typeface="Cambria Math" panose="02040503050406030204" pitchFamily="18" charset="0"/>
                          </a:rPr>
                          <m:t>𝑆</m:t>
                        </m:r>
                        <m:d>
                          <m:dPr>
                            <m:ctrlPr>
                              <a:rPr lang="en-AU" sz="1900" i="1">
                                <a:latin typeface="Cambria Math" panose="02040503050406030204" pitchFamily="18" charset="0"/>
                              </a:rPr>
                            </m:ctrlPr>
                          </m:dPr>
                          <m:e>
                            <m:r>
                              <a:rPr lang="en-AU" sz="1900" i="1">
                                <a:latin typeface="Cambria Math" panose="02040503050406030204" pitchFamily="18" charset="0"/>
                              </a:rPr>
                              <m:t>𝑡</m:t>
                            </m:r>
                          </m:e>
                        </m:d>
                      </m:e>
                    </m:d>
                    <m:r>
                      <a:rPr lang="en-AU" sz="1900" i="1">
                        <a:latin typeface="Cambria Math" panose="02040503050406030204" pitchFamily="18" charset="0"/>
                      </a:rPr>
                      <m:t>=</m:t>
                    </m:r>
                    <m:r>
                      <m:rPr>
                        <m:nor/>
                      </m:rPr>
                      <a:rPr lang="en-US" sz="1900" b="0" i="0" smtClean="0">
                        <a:latin typeface="Cambria Math" panose="02040503050406030204" pitchFamily="18" charset="0"/>
                      </a:rPr>
                      <m:t>log</m:t>
                    </m:r>
                    <m:r>
                      <a:rPr lang="en-AU" sz="1900" i="1">
                        <a:latin typeface="Cambria Math" panose="02040503050406030204" pitchFamily="18" charset="0"/>
                      </a:rPr>
                      <m:t>𝜆</m:t>
                    </m:r>
                    <m:r>
                      <a:rPr lang="en-US" sz="1900" b="0" i="1" smtClean="0">
                        <a:latin typeface="Cambria Math" panose="02040503050406030204" pitchFamily="18" charset="0"/>
                      </a:rPr>
                      <m:t>+</m:t>
                    </m:r>
                    <m:r>
                      <m:rPr>
                        <m:sty m:val="p"/>
                      </m:rPr>
                      <a:rPr lang="en-US" sz="1900" b="0" i="1" smtClean="0">
                        <a:latin typeface="Cambria Math" panose="02040503050406030204" pitchFamily="18" charset="0"/>
                      </a:rPr>
                      <m:t>γ</m:t>
                    </m:r>
                    <m:r>
                      <m:rPr>
                        <m:nor/>
                      </m:rPr>
                      <a:rPr lang="en-US" sz="1900" b="0" i="0" smtClean="0">
                        <a:latin typeface="Cambria Math" panose="02040503050406030204" pitchFamily="18" charset="0"/>
                      </a:rPr>
                      <m:t>log</m:t>
                    </m:r>
                    <m:r>
                      <a:rPr lang="en-AU" sz="1900" i="1">
                        <a:latin typeface="Cambria Math" panose="02040503050406030204" pitchFamily="18" charset="0"/>
                      </a:rPr>
                      <m:t>𝑡</m:t>
                    </m:r>
                  </m:oMath>
                </a14:m>
                <a:r>
                  <a:rPr lang="en-US" sz="1900" dirty="0"/>
                  <a:t>,                             and thus the log cumulative hazard </a:t>
                </a:r>
                <a14:m>
                  <m:oMath xmlns:m="http://schemas.openxmlformats.org/officeDocument/2006/math">
                    <m:r>
                      <m:rPr>
                        <m:sty m:val="p"/>
                      </m:rPr>
                      <a:rPr lang="en-US" sz="1900">
                        <a:latin typeface="Cambria Math" panose="02040503050406030204" pitchFamily="18" charset="0"/>
                      </a:rPr>
                      <m:t>log</m:t>
                    </m:r>
                    <m:d>
                      <m:dPr>
                        <m:ctrlPr>
                          <a:rPr lang="en-US" sz="1900" i="1">
                            <a:latin typeface="Cambria Math" panose="02040503050406030204" pitchFamily="18" charset="0"/>
                          </a:rPr>
                        </m:ctrlPr>
                      </m:dPr>
                      <m:e>
                        <m:r>
                          <a:rPr lang="en-AU" sz="1900" i="1">
                            <a:latin typeface="Cambria Math" panose="02040503050406030204" pitchFamily="18" charset="0"/>
                          </a:rPr>
                          <m:t>−</m:t>
                        </m:r>
                        <m:r>
                          <m:rPr>
                            <m:nor/>
                          </m:rPr>
                          <a:rPr lang="en-AU" sz="1900">
                            <a:latin typeface="Cambria Math" panose="02040503050406030204" pitchFamily="18" charset="0"/>
                          </a:rPr>
                          <m:t>log</m:t>
                        </m:r>
                        <m:r>
                          <a:rPr lang="en-AU" sz="1900" i="1">
                            <a:latin typeface="Cambria Math" panose="02040503050406030204" pitchFamily="18" charset="0"/>
                          </a:rPr>
                          <m:t> </m:t>
                        </m:r>
                        <m:r>
                          <a:rPr lang="en-AU" sz="1900" i="1">
                            <a:latin typeface="Cambria Math" panose="02040503050406030204" pitchFamily="18" charset="0"/>
                          </a:rPr>
                          <m:t>𝑆</m:t>
                        </m:r>
                        <m:d>
                          <m:dPr>
                            <m:ctrlPr>
                              <a:rPr lang="en-AU" sz="1900" i="1">
                                <a:latin typeface="Cambria Math" panose="02040503050406030204" pitchFamily="18" charset="0"/>
                              </a:rPr>
                            </m:ctrlPr>
                          </m:dPr>
                          <m:e>
                            <m:r>
                              <a:rPr lang="en-AU" sz="1900" i="1">
                                <a:latin typeface="Cambria Math" panose="02040503050406030204" pitchFamily="18" charset="0"/>
                              </a:rPr>
                              <m:t>𝑡</m:t>
                            </m:r>
                          </m:e>
                        </m:d>
                      </m:e>
                    </m:d>
                  </m:oMath>
                </a14:m>
                <a:r>
                  <a:rPr lang="en-US" sz="1900" dirty="0"/>
                  <a:t> is a linear function of log</a:t>
                </a:r>
                <a:r>
                  <a:rPr lang="en-US" sz="1900" i="1" dirty="0"/>
                  <a:t> </a:t>
                </a:r>
                <a:r>
                  <a:rPr lang="en-US" sz="1900" dirty="0"/>
                  <a:t>time, with intercept </a:t>
                </a:r>
                <a14:m>
                  <m:oMath xmlns:m="http://schemas.openxmlformats.org/officeDocument/2006/math">
                    <m:r>
                      <m:rPr>
                        <m:nor/>
                      </m:rPr>
                      <a:rPr lang="en-US" dirty="0">
                        <a:solidFill>
                          <a:srgbClr val="000000"/>
                        </a:solidFill>
                        <a:latin typeface="Cambria Math" panose="02040503050406030204" pitchFamily="18" charset="0"/>
                      </a:rPr>
                      <m:t>log</m:t>
                    </m:r>
                    <m:r>
                      <a:rPr lang="en-AU" i="1">
                        <a:solidFill>
                          <a:srgbClr val="000000"/>
                        </a:solidFill>
                        <a:latin typeface="Cambria Math" panose="02040503050406030204" pitchFamily="18" charset="0"/>
                      </a:rPr>
                      <m:t>𝜆</m:t>
                    </m:r>
                    <m:r>
                      <a:rPr lang="en-AU" i="1">
                        <a:latin typeface="Cambria Math" panose="02040503050406030204" pitchFamily="18" charset="0"/>
                      </a:rPr>
                      <m:t> </m:t>
                    </m:r>
                    <m:r>
                      <a:rPr lang="en-US" b="0" i="1" smtClean="0">
                        <a:latin typeface="Cambria Math" panose="02040503050406030204" pitchFamily="18" charset="0"/>
                      </a:rPr>
                      <m:t> </m:t>
                    </m:r>
                  </m:oMath>
                </a14:m>
                <a:r>
                  <a:rPr lang="en-US" dirty="0"/>
                  <a:t>and slope</a:t>
                </a:r>
                <a14:m>
                  <m:oMath xmlns:m="http://schemas.openxmlformats.org/officeDocument/2006/math">
                    <m:r>
                      <a:rPr lang="en-US" b="0" i="0" smtClean="0">
                        <a:latin typeface="Cambria Math" panose="02040503050406030204" pitchFamily="18" charset="0"/>
                      </a:rPr>
                      <m:t> </m:t>
                    </m:r>
                    <m:r>
                      <m:rPr>
                        <m:sty m:val="p"/>
                      </m:rPr>
                      <a:rPr lang="en-US" i="1">
                        <a:latin typeface="Cambria Math" panose="02040503050406030204" pitchFamily="18" charset="0"/>
                      </a:rPr>
                      <m:t>γ</m:t>
                    </m:r>
                  </m:oMath>
                </a14:m>
                <a:endParaRPr lang="en-US" sz="1900" i="1" dirty="0"/>
              </a:p>
              <a:p>
                <a:pPr marL="457200" lvl="1" indent="0">
                  <a:buNone/>
                </a:pPr>
                <a:r>
                  <a:rPr lang="en-US" sz="1900" dirty="0">
                    <a:sym typeface="Wingdings" panose="05000000000000000000" pitchFamily="2" charset="2"/>
                  </a:rPr>
                  <a:t></a:t>
                </a:r>
                <a:r>
                  <a:rPr lang="en-US" sz="1900" dirty="0"/>
                  <a:t>We can check whether plotting log cumulative hazard against the log of time gives a straight line</a:t>
                </a:r>
              </a:p>
              <a:p>
                <a:pPr lvl="1"/>
                <a:endParaRPr lang="en-US" dirty="0"/>
              </a:p>
            </p:txBody>
          </p:sp>
        </mc:Choice>
        <mc:Fallback xmlns="">
          <p:sp>
            <p:nvSpPr>
              <p:cNvPr id="3" name="Content Placeholder 2">
                <a:extLst>
                  <a:ext uri="{FF2B5EF4-FFF2-40B4-BE49-F238E27FC236}">
                    <a16:creationId xmlns:a16="http://schemas.microsoft.com/office/drawing/2014/main" id="{4942DE28-4F0A-6AFD-5DF0-6F886811D250}"/>
                  </a:ext>
                </a:extLst>
              </p:cNvPr>
              <p:cNvSpPr>
                <a:spLocks noGrp="1" noRot="1" noChangeAspect="1" noMove="1" noResize="1" noEditPoints="1" noAdjustHandles="1" noChangeArrowheads="1" noChangeShapeType="1" noTextEdit="1"/>
              </p:cNvSpPr>
              <p:nvPr>
                <p:ph idx="1"/>
              </p:nvPr>
            </p:nvSpPr>
            <p:spPr>
              <a:xfrm>
                <a:off x="700635" y="1903338"/>
                <a:ext cx="10790730" cy="4040262"/>
              </a:xfrm>
              <a:blipFill>
                <a:blip r:embed="rId3"/>
                <a:stretch>
                  <a:fillRect l="-508" t="-603" r="-23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84F6819C-97D4-F6EF-525E-B3DFB48007CC}"/>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794308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D6A3D-2BD3-D71D-2E5B-904AA715E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4B1AA-70A0-B9F3-C484-C5CA320122BB}"/>
              </a:ext>
            </a:extLst>
          </p:cNvPr>
          <p:cNvSpPr>
            <a:spLocks noGrp="1"/>
          </p:cNvSpPr>
          <p:nvPr>
            <p:ph type="title"/>
          </p:nvPr>
        </p:nvSpPr>
        <p:spPr/>
        <p:txBody>
          <a:bodyPr/>
          <a:lstStyle/>
          <a:p>
            <a:r>
              <a:rPr lang="en-US" dirty="0"/>
              <a:t>Model FIT – </a:t>
            </a:r>
            <a:r>
              <a:rPr lang="en-US" dirty="0" err="1"/>
              <a:t>weibull</a:t>
            </a:r>
            <a:r>
              <a:rPr lang="en-US" dirty="0"/>
              <a:t> model</a:t>
            </a:r>
            <a:endParaRPr lang="en-AU" dirty="0"/>
          </a:p>
        </p:txBody>
      </p:sp>
      <p:sp>
        <p:nvSpPr>
          <p:cNvPr id="4" name="Footer Placeholder 3">
            <a:extLst>
              <a:ext uri="{FF2B5EF4-FFF2-40B4-BE49-F238E27FC236}">
                <a16:creationId xmlns:a16="http://schemas.microsoft.com/office/drawing/2014/main" id="{0103028E-B6E3-14E1-D654-0AC626944590}"/>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8A17D72B-F73D-3E4F-741A-973D3C63691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a:extLst>
              <a:ext uri="{FF2B5EF4-FFF2-40B4-BE49-F238E27FC236}">
                <a16:creationId xmlns:a16="http://schemas.microsoft.com/office/drawing/2014/main" id="{391BA413-DD56-65E4-3595-6444EA14F383}"/>
              </a:ext>
            </a:extLst>
          </p:cNvPr>
          <p:cNvPicPr>
            <a:picLocks noChangeAspect="1"/>
          </p:cNvPicPr>
          <p:nvPr/>
        </p:nvPicPr>
        <p:blipFill>
          <a:blip r:embed="rId3"/>
          <a:stretch>
            <a:fillRect/>
          </a:stretch>
        </p:blipFill>
        <p:spPr>
          <a:xfrm>
            <a:off x="897508" y="1710157"/>
            <a:ext cx="6462320" cy="4359018"/>
          </a:xfrm>
          <a:prstGeom prst="rect">
            <a:avLst/>
          </a:prstGeom>
        </p:spPr>
      </p:pic>
    </p:spTree>
    <p:extLst>
      <p:ext uri="{BB962C8B-B14F-4D97-AF65-F5344CB8AC3E}">
        <p14:creationId xmlns:p14="http://schemas.microsoft.com/office/powerpoint/2010/main" val="2426865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F3FC-F5BD-1894-2E5B-CA335C739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C6272-376D-6900-991E-DE886F75427C}"/>
              </a:ext>
            </a:extLst>
          </p:cNvPr>
          <p:cNvSpPr>
            <a:spLocks noGrp="1"/>
          </p:cNvSpPr>
          <p:nvPr>
            <p:ph type="title"/>
          </p:nvPr>
        </p:nvSpPr>
        <p:spPr/>
        <p:txBody>
          <a:bodyPr/>
          <a:lstStyle/>
          <a:p>
            <a:r>
              <a:rPr lang="en-US" dirty="0"/>
              <a:t>Model FIT – </a:t>
            </a:r>
            <a:r>
              <a:rPr lang="en-US" dirty="0" err="1"/>
              <a:t>weibull</a:t>
            </a:r>
            <a:r>
              <a:rPr lang="en-US" dirty="0"/>
              <a:t> model</a:t>
            </a:r>
            <a:endParaRPr lang="en-AU" dirty="0"/>
          </a:p>
        </p:txBody>
      </p:sp>
      <p:sp>
        <p:nvSpPr>
          <p:cNvPr id="4" name="Footer Placeholder 3">
            <a:extLst>
              <a:ext uri="{FF2B5EF4-FFF2-40B4-BE49-F238E27FC236}">
                <a16:creationId xmlns:a16="http://schemas.microsoft.com/office/drawing/2014/main" id="{44AC78EE-EADC-7D70-5DA9-986F46B63A4B}"/>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9A4F6F58-B72C-137E-1FCF-6C0E872C98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TextBox 2">
            <a:extLst>
              <a:ext uri="{FF2B5EF4-FFF2-40B4-BE49-F238E27FC236}">
                <a16:creationId xmlns:a16="http://schemas.microsoft.com/office/drawing/2014/main" id="{2F59E90C-F4FD-20F1-5D30-ECB9CFA64E89}"/>
              </a:ext>
            </a:extLst>
          </p:cNvPr>
          <p:cNvSpPr txBox="1"/>
          <p:nvPr/>
        </p:nvSpPr>
        <p:spPr>
          <a:xfrm>
            <a:off x="7556700" y="1852660"/>
            <a:ext cx="4469045" cy="2800767"/>
          </a:xfrm>
          <a:prstGeom prst="rect">
            <a:avLst/>
          </a:prstGeom>
          <a:noFill/>
        </p:spPr>
        <p:txBody>
          <a:bodyPr wrap="square" rtlCol="0">
            <a:spAutoFit/>
          </a:bodyPr>
          <a:lstStyle/>
          <a:p>
            <a:pPr marL="342900" indent="-342900">
              <a:buFont typeface="+mj-lt"/>
              <a:buAutoNum type="arabicPeriod"/>
            </a:pPr>
            <a:r>
              <a:rPr lang="en-US" sz="1600" dirty="0"/>
              <a:t>Parallel straight lines                                       </a:t>
            </a:r>
            <a:r>
              <a:rPr lang="en-US" sz="1600" dirty="0">
                <a:sym typeface="Wingdings" panose="05000000000000000000" pitchFamily="2" charset="2"/>
              </a:rPr>
              <a:t> Weibull, PH (and AFT) assumptions hold</a:t>
            </a:r>
            <a:endParaRPr lang="en-US" sz="1600" dirty="0"/>
          </a:p>
          <a:p>
            <a:pPr marL="342900" indent="-342900">
              <a:buFont typeface="+mj-lt"/>
              <a:buAutoNum type="arabicPeriod"/>
            </a:pPr>
            <a:r>
              <a:rPr lang="en-US" sz="1600" dirty="0"/>
              <a:t>Parallel straight lines with slope of 1            </a:t>
            </a:r>
            <a:r>
              <a:rPr lang="en-US" sz="1600" dirty="0">
                <a:sym typeface="Wingdings" panose="05000000000000000000" pitchFamily="2" charset="2"/>
              </a:rPr>
              <a:t> Exponential</a:t>
            </a:r>
            <a:endParaRPr lang="en-US" sz="1600" dirty="0"/>
          </a:p>
          <a:p>
            <a:pPr marL="342900" indent="-342900">
              <a:buFont typeface="+mj-lt"/>
              <a:buAutoNum type="arabicPeriod"/>
            </a:pPr>
            <a:r>
              <a:rPr lang="en-US" sz="1600" dirty="0"/>
              <a:t>Parallel but not straight lines                         </a:t>
            </a:r>
            <a:r>
              <a:rPr lang="en-US" sz="1600" dirty="0">
                <a:sym typeface="Wingdings" panose="05000000000000000000" pitchFamily="2" charset="2"/>
              </a:rPr>
              <a:t>PH but not Weibull (could use Cox)</a:t>
            </a:r>
            <a:endParaRPr lang="en-US" sz="1600" dirty="0"/>
          </a:p>
          <a:p>
            <a:pPr marL="342900" indent="-342900">
              <a:buFont typeface="+mj-lt"/>
              <a:buAutoNum type="arabicPeriod"/>
            </a:pPr>
            <a:r>
              <a:rPr lang="en-US" sz="1600" dirty="0"/>
              <a:t>Not parallel and not straight                         </a:t>
            </a:r>
            <a:r>
              <a:rPr lang="en-US" sz="1600" dirty="0">
                <a:sym typeface="Wingdings" panose="05000000000000000000" pitchFamily="2" charset="2"/>
              </a:rPr>
              <a:t> Not Weibull, PH violated</a:t>
            </a:r>
            <a:endParaRPr lang="en-US" sz="1600" dirty="0"/>
          </a:p>
          <a:p>
            <a:pPr marL="342900" indent="-342900">
              <a:buFont typeface="+mj-lt"/>
              <a:buAutoNum type="arabicPeriod"/>
            </a:pPr>
            <a:r>
              <a:rPr lang="en-US" sz="1600" dirty="0"/>
              <a:t>Not parallel but straight                                 </a:t>
            </a:r>
            <a:r>
              <a:rPr lang="en-US" sz="1600" dirty="0">
                <a:sym typeface="Wingdings" panose="05000000000000000000" pitchFamily="2" charset="2"/>
              </a:rPr>
              <a:t> Weibull holds, but PH and AFT violated, different gamma in the two groups</a:t>
            </a:r>
            <a:endParaRPr lang="en-AU" sz="1600" dirty="0"/>
          </a:p>
        </p:txBody>
      </p:sp>
      <p:pic>
        <p:nvPicPr>
          <p:cNvPr id="6" name="Picture 5">
            <a:extLst>
              <a:ext uri="{FF2B5EF4-FFF2-40B4-BE49-F238E27FC236}">
                <a16:creationId xmlns:a16="http://schemas.microsoft.com/office/drawing/2014/main" id="{B8BB4ACE-9CD1-72FD-7EA5-006A314E451E}"/>
              </a:ext>
            </a:extLst>
          </p:cNvPr>
          <p:cNvPicPr>
            <a:picLocks noChangeAspect="1"/>
          </p:cNvPicPr>
          <p:nvPr/>
        </p:nvPicPr>
        <p:blipFill>
          <a:blip r:embed="rId3"/>
          <a:stretch>
            <a:fillRect/>
          </a:stretch>
        </p:blipFill>
        <p:spPr>
          <a:xfrm>
            <a:off x="897508" y="1710157"/>
            <a:ext cx="6462320" cy="4359018"/>
          </a:xfrm>
          <a:prstGeom prst="rect">
            <a:avLst/>
          </a:prstGeom>
        </p:spPr>
      </p:pic>
    </p:spTree>
    <p:extLst>
      <p:ext uri="{BB962C8B-B14F-4D97-AF65-F5344CB8AC3E}">
        <p14:creationId xmlns:p14="http://schemas.microsoft.com/office/powerpoint/2010/main" val="3073757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36BD-186C-206A-8560-89DA641E3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D82FE-3301-FEF6-82E7-E3BDAA1BCD8A}"/>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A3D99E3C-A1C5-09D2-9D7D-518B13B40B22}"/>
              </a:ext>
            </a:extLst>
          </p:cNvPr>
          <p:cNvSpPr>
            <a:spLocks noGrp="1"/>
          </p:cNvSpPr>
          <p:nvPr>
            <p:ph idx="1"/>
          </p:nvPr>
        </p:nvSpPr>
        <p:spPr/>
        <p:txBody>
          <a:bodyPr>
            <a:normAutofit/>
          </a:bodyPr>
          <a:lstStyle/>
          <a:p>
            <a:r>
              <a:rPr lang="en-US" dirty="0"/>
              <a:t>We could also visually compare the fitted parametric hazard to kernel density estimates</a:t>
            </a:r>
          </a:p>
        </p:txBody>
      </p:sp>
      <p:sp>
        <p:nvSpPr>
          <p:cNvPr id="4" name="Footer Placeholder 3">
            <a:extLst>
              <a:ext uri="{FF2B5EF4-FFF2-40B4-BE49-F238E27FC236}">
                <a16:creationId xmlns:a16="http://schemas.microsoft.com/office/drawing/2014/main" id="{55DF279D-DA4F-5741-F19A-10168144A337}"/>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306904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D689-2DC2-CC25-79C4-336B46150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706BA-EFE0-324E-3A9C-C6167D992BAD}"/>
              </a:ext>
            </a:extLst>
          </p:cNvPr>
          <p:cNvSpPr>
            <a:spLocks noGrp="1"/>
          </p:cNvSpPr>
          <p:nvPr>
            <p:ph type="title"/>
          </p:nvPr>
        </p:nvSpPr>
        <p:spPr/>
        <p:txBody>
          <a:bodyPr>
            <a:normAutofit fontScale="90000"/>
          </a:bodyPr>
          <a:lstStyle/>
          <a:p>
            <a:r>
              <a:rPr lang="en-US" dirty="0"/>
              <a:t>Model FIT – exponential and Weibull model</a:t>
            </a:r>
            <a:endParaRPr lang="en-AU" dirty="0"/>
          </a:p>
        </p:txBody>
      </p:sp>
      <p:sp>
        <p:nvSpPr>
          <p:cNvPr id="4" name="Footer Placeholder 3">
            <a:extLst>
              <a:ext uri="{FF2B5EF4-FFF2-40B4-BE49-F238E27FC236}">
                <a16:creationId xmlns:a16="http://schemas.microsoft.com/office/drawing/2014/main" id="{C4F8A408-F755-1CB9-A68F-5D513C0AE48B}"/>
              </a:ext>
            </a:extLst>
          </p:cNvPr>
          <p:cNvSpPr>
            <a:spLocks noGrp="1"/>
          </p:cNvSpPr>
          <p:nvPr>
            <p:ph type="ftr" sz="quarter" idx="11"/>
          </p:nvPr>
        </p:nvSpPr>
        <p:spPr/>
        <p:txBody>
          <a:bodyPr/>
          <a:lstStyle/>
          <a:p>
            <a:r>
              <a:rPr lang="en-US" dirty="0"/>
              <a:t>maarit.laaksonen@sydney.edu.au</a:t>
            </a:r>
          </a:p>
        </p:txBody>
      </p:sp>
      <p:sp>
        <p:nvSpPr>
          <p:cNvPr id="6" name="AutoShape 2">
            <a:extLst>
              <a:ext uri="{FF2B5EF4-FFF2-40B4-BE49-F238E27FC236}">
                <a16:creationId xmlns:a16="http://schemas.microsoft.com/office/drawing/2014/main" id="{647424FF-B390-4E9D-DBF5-E551F718EAD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9" name="Picture 8">
            <a:extLst>
              <a:ext uri="{FF2B5EF4-FFF2-40B4-BE49-F238E27FC236}">
                <a16:creationId xmlns:a16="http://schemas.microsoft.com/office/drawing/2014/main" id="{5B6D2F42-BB4F-B5DC-6F17-14A786ABB5A7}"/>
              </a:ext>
            </a:extLst>
          </p:cNvPr>
          <p:cNvPicPr>
            <a:picLocks noChangeAspect="1"/>
          </p:cNvPicPr>
          <p:nvPr/>
        </p:nvPicPr>
        <p:blipFill>
          <a:blip r:embed="rId3"/>
          <a:stretch>
            <a:fillRect/>
          </a:stretch>
        </p:blipFill>
        <p:spPr>
          <a:xfrm>
            <a:off x="800100" y="1860207"/>
            <a:ext cx="5564405" cy="3442386"/>
          </a:xfrm>
          <a:prstGeom prst="rect">
            <a:avLst/>
          </a:prstGeom>
        </p:spPr>
      </p:pic>
      <p:pic>
        <p:nvPicPr>
          <p:cNvPr id="11" name="Picture 10">
            <a:extLst>
              <a:ext uri="{FF2B5EF4-FFF2-40B4-BE49-F238E27FC236}">
                <a16:creationId xmlns:a16="http://schemas.microsoft.com/office/drawing/2014/main" id="{9B407E7B-E661-BF4C-6CE9-EABDE3F5F337}"/>
              </a:ext>
            </a:extLst>
          </p:cNvPr>
          <p:cNvPicPr>
            <a:picLocks noChangeAspect="1"/>
          </p:cNvPicPr>
          <p:nvPr/>
        </p:nvPicPr>
        <p:blipFill>
          <a:blip r:embed="rId4"/>
          <a:stretch>
            <a:fillRect/>
          </a:stretch>
        </p:blipFill>
        <p:spPr>
          <a:xfrm>
            <a:off x="6400800" y="1860206"/>
            <a:ext cx="5564406" cy="3442387"/>
          </a:xfrm>
          <a:prstGeom prst="rect">
            <a:avLst/>
          </a:prstGeom>
        </p:spPr>
      </p:pic>
    </p:spTree>
    <p:extLst>
      <p:ext uri="{BB962C8B-B14F-4D97-AF65-F5344CB8AC3E}">
        <p14:creationId xmlns:p14="http://schemas.microsoft.com/office/powerpoint/2010/main" val="201803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61D7-65BB-2DEC-ABD1-CA9701BD2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53042-20DB-D0A1-F3D7-75942C3AB315}"/>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4F9B6E42-F710-1DF9-B2DB-5C93CC741868}"/>
              </a:ext>
            </a:extLst>
          </p:cNvPr>
          <p:cNvSpPr>
            <a:spLocks noGrp="1"/>
          </p:cNvSpPr>
          <p:nvPr>
            <p:ph idx="1"/>
          </p:nvPr>
        </p:nvSpPr>
        <p:spPr>
          <a:xfrm>
            <a:off x="700635" y="1903338"/>
            <a:ext cx="11223510" cy="4040262"/>
          </a:xfrm>
        </p:spPr>
        <p:txBody>
          <a:bodyPr>
            <a:normAutofit/>
          </a:bodyPr>
          <a:lstStyle/>
          <a:p>
            <a:pPr>
              <a:spcBef>
                <a:spcPts val="1200"/>
              </a:spcBef>
            </a:pPr>
            <a:r>
              <a:rPr lang="en-US" sz="2200" dirty="0"/>
              <a:t>AFT model assumes a covariate multiplies survival time by a constant factor</a:t>
            </a:r>
          </a:p>
          <a:p>
            <a:pPr marL="0" indent="0">
              <a:spcBef>
                <a:spcPts val="600"/>
              </a:spcBef>
              <a:buNone/>
            </a:pPr>
            <a:r>
              <a:rPr lang="en-US" sz="2200" dirty="0">
                <a:sym typeface="Wingdings" panose="05000000000000000000" pitchFamily="2" charset="2"/>
              </a:rPr>
              <a:t>We can check whether there is a constant horizontal shift between survival curves plotted against log time</a:t>
            </a:r>
            <a:endParaRPr lang="en-US" sz="2200" dirty="0"/>
          </a:p>
          <a:p>
            <a:pPr marL="0" indent="0">
              <a:buNone/>
            </a:pPr>
            <a:endParaRPr lang="en-US" sz="2100" dirty="0"/>
          </a:p>
          <a:p>
            <a:pPr lvl="1"/>
            <a:endParaRPr lang="en-US" dirty="0"/>
          </a:p>
        </p:txBody>
      </p:sp>
      <p:sp>
        <p:nvSpPr>
          <p:cNvPr id="4" name="Footer Placeholder 3">
            <a:extLst>
              <a:ext uri="{FF2B5EF4-FFF2-40B4-BE49-F238E27FC236}">
                <a16:creationId xmlns:a16="http://schemas.microsoft.com/office/drawing/2014/main" id="{6F08D163-E9ED-7EA2-A648-0C7D0AEFB789}"/>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969931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6ACB3-AB9F-D0EB-6643-4E740CCF6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8A07E-EFFB-A210-BC8C-0846D128F61C}"/>
              </a:ext>
            </a:extLst>
          </p:cNvPr>
          <p:cNvSpPr>
            <a:spLocks noGrp="1"/>
          </p:cNvSpPr>
          <p:nvPr>
            <p:ph type="title"/>
          </p:nvPr>
        </p:nvSpPr>
        <p:spPr/>
        <p:txBody>
          <a:bodyPr>
            <a:normAutofit fontScale="90000"/>
          </a:bodyPr>
          <a:lstStyle/>
          <a:p>
            <a:r>
              <a:rPr lang="en-US" dirty="0"/>
              <a:t>Aft Model FIT – exponential and Weibull model</a:t>
            </a:r>
            <a:endParaRPr lang="en-AU" dirty="0"/>
          </a:p>
        </p:txBody>
      </p:sp>
      <p:sp>
        <p:nvSpPr>
          <p:cNvPr id="4" name="Footer Placeholder 3">
            <a:extLst>
              <a:ext uri="{FF2B5EF4-FFF2-40B4-BE49-F238E27FC236}">
                <a16:creationId xmlns:a16="http://schemas.microsoft.com/office/drawing/2014/main" id="{C1AD915E-01DE-0162-F441-6A57985AD9FE}"/>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01FA63B7-417F-670E-63C8-CB3CE6E973C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8E6ABAAC-8244-6DDC-EE11-0FB467602E99}"/>
              </a:ext>
            </a:extLst>
          </p:cNvPr>
          <p:cNvPicPr>
            <a:picLocks noChangeAspect="1"/>
          </p:cNvPicPr>
          <p:nvPr/>
        </p:nvPicPr>
        <p:blipFill>
          <a:blip r:embed="rId3"/>
          <a:stretch>
            <a:fillRect/>
          </a:stretch>
        </p:blipFill>
        <p:spPr>
          <a:xfrm>
            <a:off x="2033562" y="1568196"/>
            <a:ext cx="7371016" cy="4548970"/>
          </a:xfrm>
          <a:prstGeom prst="rect">
            <a:avLst/>
          </a:prstGeom>
        </p:spPr>
      </p:pic>
    </p:spTree>
    <p:extLst>
      <p:ext uri="{BB962C8B-B14F-4D97-AF65-F5344CB8AC3E}">
        <p14:creationId xmlns:p14="http://schemas.microsoft.com/office/powerpoint/2010/main" val="2086515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C100A-8D7B-901E-5CA6-35D82C778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6E80E-3019-8C4F-A935-2A06C5F94FD1}"/>
              </a:ext>
            </a:extLst>
          </p:cNvPr>
          <p:cNvSpPr>
            <a:spLocks noGrp="1"/>
          </p:cNvSpPr>
          <p:nvPr>
            <p:ph type="title"/>
          </p:nvPr>
        </p:nvSpPr>
        <p:spPr/>
        <p:txBody>
          <a:bodyPr>
            <a:normAutofit/>
          </a:bodyPr>
          <a:lstStyle/>
          <a:p>
            <a:r>
              <a:rPr lang="en-US" dirty="0"/>
              <a:t>Model SELECTION – exponential vs </a:t>
            </a:r>
            <a:r>
              <a:rPr lang="en-US" dirty="0" err="1"/>
              <a:t>weibull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761550-21C7-C678-A976-CF21D4B87740}"/>
                  </a:ext>
                </a:extLst>
              </p:cNvPr>
              <p:cNvSpPr>
                <a:spLocks noGrp="1"/>
              </p:cNvSpPr>
              <p:nvPr>
                <p:ph idx="1"/>
              </p:nvPr>
            </p:nvSpPr>
            <p:spPr>
              <a:xfrm>
                <a:off x="700634" y="1933303"/>
                <a:ext cx="10691265" cy="4028585"/>
              </a:xfrm>
            </p:spPr>
            <p:txBody>
              <a:bodyPr>
                <a:normAutofit lnSpcReduction="10000"/>
              </a:bodyPr>
              <a:lstStyle/>
              <a:p>
                <a:r>
                  <a:rPr lang="en-US" dirty="0"/>
                  <a:t>Because the exponential distribution is a special case of the Weibull distribution (where </a:t>
                </a:r>
                <a14:m>
                  <m:oMath xmlns:m="http://schemas.openxmlformats.org/officeDocument/2006/math">
                    <m:r>
                      <a:rPr lang="en-US" i="1">
                        <a:latin typeface="Cambria Math" panose="02040503050406030204" pitchFamily="18" charset="0"/>
                      </a:rPr>
                      <m:t>𝛾</m:t>
                    </m:r>
                    <m:r>
                      <a:rPr lang="en-US" b="0" i="1" smtClean="0">
                        <a:latin typeface="Cambria Math" panose="02040503050406030204" pitchFamily="18" charset="0"/>
                      </a:rPr>
                      <m:t>=</m:t>
                    </m:r>
                    <m:r>
                      <a:rPr lang="en-US" i="1">
                        <a:latin typeface="Cambria Math" panose="02040503050406030204" pitchFamily="18" charset="0"/>
                      </a:rPr>
                      <m:t>1</m:t>
                    </m:r>
                    <m:r>
                      <a:rPr lang="en-US" b="0" i="1" smtClean="0">
                        <a:latin typeface="Cambria Math" panose="02040503050406030204" pitchFamily="18" charset="0"/>
                      </a:rPr>
                      <m:t>),</m:t>
                    </m:r>
                    <m:r>
                      <a:rPr lang="en-US" b="0" i="0" smtClean="0">
                        <a:latin typeface="Cambria Math" panose="02040503050406030204" pitchFamily="18" charset="0"/>
                      </a:rPr>
                      <m:t>  </m:t>
                    </m:r>
                    <m:r>
                      <m:rPr>
                        <m:sty m:val="p"/>
                      </m:rPr>
                      <a:rPr lang="en-US" b="0" i="0" smtClean="0">
                        <a:latin typeface="Cambria Math" panose="02040503050406030204" pitchFamily="18" charset="0"/>
                      </a:rPr>
                      <m:t>we</m:t>
                    </m:r>
                    <m:r>
                      <a:rPr lang="en-US" b="0" i="0" smtClean="0">
                        <a:latin typeface="Cambria Math" panose="02040503050406030204" pitchFamily="18" charset="0"/>
                      </a:rPr>
                      <m:t> </m:t>
                    </m:r>
                    <m:r>
                      <m:rPr>
                        <m:sty m:val="p"/>
                      </m:rPr>
                      <a:rPr lang="en-US" b="0" i="0" smtClean="0">
                        <a:latin typeface="Cambria Math" panose="02040503050406030204" pitchFamily="18" charset="0"/>
                      </a:rPr>
                      <m:t>can</m:t>
                    </m:r>
                  </m:oMath>
                </a14:m>
                <a:r>
                  <a:rPr lang="en-US" dirty="0"/>
                  <a:t> use the likelihood ratio test (LRT) to determine which model provides a better fit</a:t>
                </a:r>
              </a:p>
              <a:p>
                <a:r>
                  <a:rPr lang="en-US" dirty="0"/>
                  <a:t>To test whether a Weibull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m:t>
                    </m:r>
                  </m:oMath>
                </a14:m>
                <a:r>
                  <a:rPr lang="en-US" dirty="0"/>
                  <a:t> distribution gives a significantly better fit than an exponential (</a:t>
                </a: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oMath>
                </a14:m>
                <a:r>
                  <a:rPr lang="en-US" dirty="0"/>
                  <a:t> distribution, we test the following null hypothesis:</a:t>
                </a:r>
              </a:p>
              <a:p>
                <a:pPr>
                  <a:buClr>
                    <a:schemeClr val="bg1"/>
                  </a:buCl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=1</m:t>
                    </m:r>
                  </m:oMath>
                </a14:m>
                <a:r>
                  <a:rPr lang="en-US" b="0" dirty="0"/>
                  <a:t> (Exponential model)</a:t>
                </a:r>
              </a:p>
              <a:p>
                <a:pPr>
                  <a:buClr>
                    <a:schemeClr val="bg1"/>
                  </a:buCl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1</m:t>
                    </m:r>
                    <m:r>
                      <a:rPr lang="en-US" b="0" i="1" smtClean="0">
                        <a:latin typeface="Cambria Math" panose="02040503050406030204" pitchFamily="18" charset="0"/>
                      </a:rPr>
                      <m:t> </m:t>
                    </m:r>
                  </m:oMath>
                </a14:m>
                <a:r>
                  <a:rPr lang="en-US" dirty="0"/>
                  <a:t>(Weibull model)</a:t>
                </a:r>
              </a:p>
              <a:p>
                <a:r>
                  <a:rPr lang="en-US" dirty="0"/>
                  <a:t>The likelihood ratio test statistic, under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is</a:t>
                </a:r>
              </a:p>
              <a:p>
                <a:pPr>
                  <a:buClr>
                    <a:schemeClr val="bg1"/>
                  </a:buClr>
                </a:pP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𝜆</m:t>
                        </m:r>
                      </m:e>
                    </m:acc>
                    <m:r>
                      <a:rPr lang="en-US" b="0" i="1" smtClean="0">
                        <a:latin typeface="Cambria Math" panose="02040503050406030204" pitchFamily="18" charset="0"/>
                      </a:rPr>
                      <m:t>,1)</m:t>
                    </m:r>
                    <m:r>
                      <m:rPr>
                        <m:lit/>
                      </m:rPr>
                      <a:rPr lang="en-US" b="0" i="1" smtClean="0">
                        <a:latin typeface="Cambria Math" panose="02040503050406030204" pitchFamily="18" charset="0"/>
                      </a:rPr>
                      <m:t>=</m:t>
                    </m:r>
                    <m:r>
                      <a:rPr lang="en-US" b="0" i="0" smtClean="0">
                        <a:latin typeface="Cambria Math" panose="02040503050406030204" pitchFamily="18" charset="0"/>
                      </a:rPr>
                      <m:t>2(</m:t>
                    </m:r>
                    <m:r>
                      <m:rPr>
                        <m:sty m:val="p"/>
                      </m:rPr>
                      <a:rPr lang="en-US" b="0" i="0" smtClean="0">
                        <a:latin typeface="Cambria Math" panose="02040503050406030204" pitchFamily="18" charset="0"/>
                      </a:rPr>
                      <m:t>logL</m:t>
                    </m:r>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𝜆</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𝛾</m:t>
                            </m:r>
                          </m:e>
                        </m:acc>
                      </m:e>
                    </m:d>
                  </m:oMath>
                </a14:m>
                <a:r>
                  <a:rPr lang="en-US" dirty="0"/>
                  <a:t> </a:t>
                </a:r>
                <a14:m>
                  <m:oMath xmlns:m="http://schemas.openxmlformats.org/officeDocument/2006/math">
                    <m:r>
                      <a:rPr lang="en-US" i="1" dirty="0">
                        <a:latin typeface="Cambria Math" panose="02040503050406030204" pitchFamily="18" charset="0"/>
                      </a:rPr>
                      <m:t>−</m:t>
                    </m:r>
                  </m:oMath>
                </a14:m>
                <a:r>
                  <a:rPr lang="en-US" dirty="0"/>
                  <a:t> </a:t>
                </a:r>
                <a14:m>
                  <m:oMath xmlns:m="http://schemas.openxmlformats.org/officeDocument/2006/math">
                    <m:r>
                      <m:rPr>
                        <m:sty m:val="p"/>
                      </m:rPr>
                      <a:rPr lang="en-US">
                        <a:latin typeface="Cambria Math" panose="02040503050406030204" pitchFamily="18" charset="0"/>
                      </a:rPr>
                      <m:t>logL</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𝜆</m:t>
                                </m:r>
                              </m:e>
                            </m:acc>
                          </m:e>
                          <m:sub>
                            <m:r>
                              <a:rPr lang="en-US" b="0" i="1" smtClean="0">
                                <a:latin typeface="Cambria Math" panose="02040503050406030204" pitchFamily="18" charset="0"/>
                              </a:rPr>
                              <m:t>0</m:t>
                            </m:r>
                          </m:sub>
                        </m:sSub>
                        <m:r>
                          <a:rPr lang="en-US" i="1">
                            <a:latin typeface="Cambria Math" panose="02040503050406030204" pitchFamily="18" charset="0"/>
                          </a:rPr>
                          <m:t>,</m:t>
                        </m:r>
                        <m:r>
                          <a:rPr lang="en-US" b="0" i="1" smtClean="0">
                            <a:latin typeface="Cambria Math" panose="02040503050406030204" pitchFamily="18" charset="0"/>
                          </a:rPr>
                          <m:t>1</m:t>
                        </m:r>
                        <m:r>
                          <a:rPr lang="en-US" i="1" smtClean="0">
                            <a:latin typeface="Cambria Math" panose="02040503050406030204" pitchFamily="18" charset="0"/>
                          </a:rPr>
                          <m:t> </m:t>
                        </m:r>
                      </m:e>
                    </m:d>
                  </m:oMath>
                </a14:m>
                <a:r>
                  <a:rPr lang="en-US" dirty="0"/>
                  <a:t>)</a:t>
                </a:r>
                <a14:m>
                  <m:oMath xmlns:m="http://schemas.openxmlformats.org/officeDocument/2006/math">
                    <m:r>
                      <a:rPr lang="en-US" b="0"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m:rPr>
                            <m:sty m:val="p"/>
                          </m:rPr>
                          <a:rPr lang="en-US" b="0" i="0" dirty="0" smtClean="0">
                            <a:latin typeface="Cambria Math" panose="02040503050406030204" pitchFamily="18" charset="0"/>
                            <a:ea typeface="Cambria Math" panose="02040503050406030204" pitchFamily="18" charset="0"/>
                          </a:rPr>
                          <m:t>Χ</m:t>
                        </m:r>
                      </m:e>
                      <m:sub>
                        <m:r>
                          <a:rPr lang="en-US" b="0" i="1" dirty="0" smtClean="0">
                            <a:latin typeface="Cambria Math" panose="02040503050406030204" pitchFamily="18" charset="0"/>
                            <a:ea typeface="Cambria Math" panose="02040503050406030204" pitchFamily="18" charset="0"/>
                          </a:rPr>
                          <m:t>1</m:t>
                        </m:r>
                      </m:sub>
                      <m:sup>
                        <m:r>
                          <a:rPr lang="en-US" b="0" i="1" dirty="0" smtClean="0">
                            <a:latin typeface="Cambria Math" panose="02040503050406030204" pitchFamily="18" charset="0"/>
                            <a:ea typeface="Cambria Math" panose="02040503050406030204" pitchFamily="18" charset="0"/>
                          </a:rPr>
                          <m:t>2</m:t>
                        </m:r>
                      </m:sup>
                    </m:sSubSup>
                    <m:r>
                      <a:rPr lang="en-US" b="0" i="1" dirty="0"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pPr>
                  <a:buClr>
                    <a:schemeClr val="bg1"/>
                  </a:buClr>
                </a:pPr>
                <a:r>
                  <a:rPr lang="en-US" dirty="0"/>
                  <a:t>where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𝜆</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𝛾</m:t>
                        </m:r>
                      </m:e>
                    </m:acc>
                  </m:oMath>
                </a14:m>
                <a:r>
                  <a:rPr lang="en-US" dirty="0"/>
                  <a:t> are MLEs for a Weibull model with unconstrained </a:t>
                </a:r>
                <a14:m>
                  <m:oMath xmlns:m="http://schemas.openxmlformats.org/officeDocument/2006/math">
                    <m:r>
                      <a:rPr lang="en-US" i="1">
                        <a:latin typeface="Cambria Math" panose="02040503050406030204" pitchFamily="18" charset="0"/>
                      </a:rPr>
                      <m:t>𝛾</m:t>
                    </m:r>
                  </m:oMath>
                </a14:m>
                <a:r>
                  <a:rPr lang="en-US" dirty="0"/>
                  <a:t>, and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𝜆</m:t>
                            </m:r>
                          </m:e>
                        </m:acc>
                      </m:e>
                      <m:sub>
                        <m:r>
                          <a:rPr lang="en-US" i="1">
                            <a:latin typeface="Cambria Math" panose="02040503050406030204" pitchFamily="18" charset="0"/>
                          </a:rPr>
                          <m:t>0</m:t>
                        </m:r>
                      </m:sub>
                    </m:sSub>
                    <m:r>
                      <a:rPr lang="en-US" i="1">
                        <a:latin typeface="Cambria Math" panose="02040503050406030204" pitchFamily="18" charset="0"/>
                      </a:rPr>
                      <m:t> </m:t>
                    </m:r>
                  </m:oMath>
                </a14:m>
                <a:r>
                  <a:rPr lang="en-US" dirty="0"/>
                  <a:t>is the MLE for a Weibull model with </a:t>
                </a:r>
                <a14:m>
                  <m:oMath xmlns:m="http://schemas.openxmlformats.org/officeDocument/2006/math">
                    <m:r>
                      <a:rPr lang="en-US" i="1">
                        <a:latin typeface="Cambria Math" panose="02040503050406030204" pitchFamily="18" charset="0"/>
                      </a:rPr>
                      <m:t>𝛾</m:t>
                    </m:r>
                    <m:r>
                      <a:rPr lang="en-US" b="0" i="1" smtClean="0">
                        <a:latin typeface="Cambria Math" panose="02040503050406030204" pitchFamily="18" charset="0"/>
                      </a:rPr>
                      <m:t>=1 </m:t>
                    </m:r>
                  </m:oMath>
                </a14:m>
                <a:r>
                  <a:rPr lang="en-US" dirty="0"/>
                  <a:t>(i.e., MLE for the exponential model)</a:t>
                </a:r>
              </a:p>
            </p:txBody>
          </p:sp>
        </mc:Choice>
        <mc:Fallback xmlns="">
          <p:sp>
            <p:nvSpPr>
              <p:cNvPr id="3" name="Content Placeholder 2">
                <a:extLst>
                  <a:ext uri="{FF2B5EF4-FFF2-40B4-BE49-F238E27FC236}">
                    <a16:creationId xmlns:a16="http://schemas.microsoft.com/office/drawing/2014/main" id="{35761550-21C7-C678-A976-CF21D4B87740}"/>
                  </a:ext>
                </a:extLst>
              </p:cNvPr>
              <p:cNvSpPr>
                <a:spLocks noGrp="1" noRot="1" noChangeAspect="1" noMove="1" noResize="1" noEditPoints="1" noAdjustHandles="1" noChangeArrowheads="1" noChangeShapeType="1" noTextEdit="1"/>
              </p:cNvSpPr>
              <p:nvPr>
                <p:ph idx="1"/>
              </p:nvPr>
            </p:nvSpPr>
            <p:spPr>
              <a:xfrm>
                <a:off x="700634" y="1933303"/>
                <a:ext cx="10691265" cy="4028585"/>
              </a:xfrm>
              <a:blipFill>
                <a:blip r:embed="rId3"/>
                <a:stretch>
                  <a:fillRect l="-513" t="-756" b="-1059"/>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7C35924B-9257-69CF-FDEA-AD038358588A}"/>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367179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801C9-7634-921C-86B1-CE2707336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7915A-8522-511D-353D-1B948D07C686}"/>
              </a:ext>
            </a:extLst>
          </p:cNvPr>
          <p:cNvSpPr>
            <a:spLocks noGrp="1"/>
          </p:cNvSpPr>
          <p:nvPr>
            <p:ph type="title"/>
          </p:nvPr>
        </p:nvSpPr>
        <p:spPr/>
        <p:txBody>
          <a:bodyPr>
            <a:normAutofit/>
          </a:bodyPr>
          <a:lstStyle/>
          <a:p>
            <a:r>
              <a:rPr lang="en-US" dirty="0"/>
              <a:t>exponential </a:t>
            </a:r>
            <a:r>
              <a:rPr lang="en-US" dirty="0" err="1">
                <a:solidFill>
                  <a:srgbClr val="FF0000"/>
                </a:solidFill>
              </a:rPr>
              <a:t>ph</a:t>
            </a:r>
            <a:r>
              <a:rPr lang="en-US" dirty="0">
                <a:solidFill>
                  <a:srgbClr val="FF0000"/>
                </a:solidFill>
              </a:rPr>
              <a:t> model </a:t>
            </a:r>
            <a:r>
              <a:rPr lang="en-US" dirty="0"/>
              <a:t>– r example</a:t>
            </a:r>
            <a:endParaRPr lang="en-AU" dirty="0"/>
          </a:p>
        </p:txBody>
      </p:sp>
      <p:sp>
        <p:nvSpPr>
          <p:cNvPr id="3" name="Content Placeholder 2">
            <a:extLst>
              <a:ext uri="{FF2B5EF4-FFF2-40B4-BE49-F238E27FC236}">
                <a16:creationId xmlns:a16="http://schemas.microsoft.com/office/drawing/2014/main" id="{33CE1575-132F-D472-17C8-2E43DFA9DC72}"/>
              </a:ext>
            </a:extLst>
          </p:cNvPr>
          <p:cNvSpPr>
            <a:spLocks noGrp="1"/>
          </p:cNvSpPr>
          <p:nvPr>
            <p:ph idx="1"/>
          </p:nvPr>
        </p:nvSpPr>
        <p:spPr>
          <a:xfrm>
            <a:off x="750366" y="1822302"/>
            <a:ext cx="10691265" cy="4303076"/>
          </a:xfrm>
        </p:spPr>
        <p:txBody>
          <a:bodyPr>
            <a:normAutofit/>
          </a:bodyPr>
          <a:lstStyle/>
          <a:p>
            <a:pPr>
              <a:spcAft>
                <a:spcPts val="1200"/>
              </a:spcAft>
            </a:pPr>
            <a:r>
              <a:rPr lang="en-US" sz="2400" dirty="0"/>
              <a:t>Can be estimated using </a:t>
            </a:r>
            <a:r>
              <a:rPr lang="en-US" sz="2400" dirty="0" err="1">
                <a:latin typeface="Courier New" panose="02070309020205020404" pitchFamily="49" charset="0"/>
                <a:cs typeface="Courier New" panose="02070309020205020404" pitchFamily="49" charset="0"/>
              </a:rPr>
              <a:t>flexsurvreg</a:t>
            </a:r>
            <a:r>
              <a:rPr lang="en-US" sz="2400" dirty="0"/>
              <a:t> from the </a:t>
            </a:r>
            <a:r>
              <a:rPr lang="en-US" sz="2400" dirty="0" err="1">
                <a:latin typeface="Courier New" panose="02070309020205020404" pitchFamily="49" charset="0"/>
                <a:cs typeface="Courier New" panose="02070309020205020404" pitchFamily="49" charset="0"/>
              </a:rPr>
              <a:t>flexsurv</a:t>
            </a:r>
            <a:r>
              <a:rPr lang="en-US" sz="2400" dirty="0"/>
              <a:t> package (</a:t>
            </a:r>
            <a:r>
              <a:rPr lang="en-US" sz="2400" dirty="0" err="1"/>
              <a:t>dist</a:t>
            </a:r>
            <a:r>
              <a:rPr lang="en-US" sz="2400" dirty="0"/>
              <a:t> = “exp”): </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pPr>
              <a:spcBef>
                <a:spcPts val="3600"/>
              </a:spcBef>
            </a:pPr>
            <a:endParaRPr lang="en-US" sz="2300" dirty="0"/>
          </a:p>
        </p:txBody>
      </p:sp>
      <p:sp>
        <p:nvSpPr>
          <p:cNvPr id="4" name="Footer Placeholder 3">
            <a:extLst>
              <a:ext uri="{FF2B5EF4-FFF2-40B4-BE49-F238E27FC236}">
                <a16:creationId xmlns:a16="http://schemas.microsoft.com/office/drawing/2014/main" id="{EE01D18B-5E6B-B772-B9A1-CD4435BAA535}"/>
              </a:ext>
            </a:extLst>
          </p:cNvPr>
          <p:cNvSpPr>
            <a:spLocks noGrp="1"/>
          </p:cNvSpPr>
          <p:nvPr>
            <p:ph type="ftr" sz="quarter" idx="11"/>
          </p:nvPr>
        </p:nvSpPr>
        <p:spPr/>
        <p:txBody>
          <a:bodyPr/>
          <a:lstStyle/>
          <a:p>
            <a:r>
              <a:rPr lang="en-US" dirty="0"/>
              <a:t>maarit.laaksonen@sydney.edu.au</a:t>
            </a:r>
          </a:p>
        </p:txBody>
      </p:sp>
      <p:sp>
        <p:nvSpPr>
          <p:cNvPr id="5" name="TextBox 4">
            <a:extLst>
              <a:ext uri="{FF2B5EF4-FFF2-40B4-BE49-F238E27FC236}">
                <a16:creationId xmlns:a16="http://schemas.microsoft.com/office/drawing/2014/main" id="{2A2DEC1F-B01D-F41E-8F6B-E75CB6279A38}"/>
              </a:ext>
            </a:extLst>
          </p:cNvPr>
          <p:cNvSpPr txBox="1"/>
          <p:nvPr/>
        </p:nvSpPr>
        <p:spPr>
          <a:xfrm>
            <a:off x="7442525" y="2437016"/>
            <a:ext cx="1145406" cy="369332"/>
          </a:xfrm>
          <a:prstGeom prst="rect">
            <a:avLst/>
          </a:prstGeom>
          <a:noFill/>
          <a:ln>
            <a:solidFill>
              <a:srgbClr val="FF0000"/>
            </a:solidFill>
          </a:ln>
        </p:spPr>
        <p:txBody>
          <a:bodyPr wrap="square" rtlCol="0">
            <a:spAutoFit/>
          </a:bodyPr>
          <a:lstStyle/>
          <a:p>
            <a:endParaRPr lang="en-AU" dirty="0"/>
          </a:p>
        </p:txBody>
      </p:sp>
      <p:pic>
        <p:nvPicPr>
          <p:cNvPr id="11" name="Picture 10">
            <a:extLst>
              <a:ext uri="{FF2B5EF4-FFF2-40B4-BE49-F238E27FC236}">
                <a16:creationId xmlns:a16="http://schemas.microsoft.com/office/drawing/2014/main" id="{3AD6D8E5-068D-1180-72B4-AF1EB98AA036}"/>
              </a:ext>
            </a:extLst>
          </p:cNvPr>
          <p:cNvPicPr>
            <a:picLocks noChangeAspect="1"/>
          </p:cNvPicPr>
          <p:nvPr/>
        </p:nvPicPr>
        <p:blipFill>
          <a:blip r:embed="rId3"/>
          <a:stretch>
            <a:fillRect/>
          </a:stretch>
        </p:blipFill>
        <p:spPr>
          <a:xfrm>
            <a:off x="1000394" y="2344816"/>
            <a:ext cx="8969106" cy="3674260"/>
          </a:xfrm>
          <a:prstGeom prst="rect">
            <a:avLst/>
          </a:prstGeom>
        </p:spPr>
      </p:pic>
      <p:sp>
        <p:nvSpPr>
          <p:cNvPr id="6" name="TextBox 5">
            <a:extLst>
              <a:ext uri="{FF2B5EF4-FFF2-40B4-BE49-F238E27FC236}">
                <a16:creationId xmlns:a16="http://schemas.microsoft.com/office/drawing/2014/main" id="{858A580F-D987-251A-558B-E3AA6B8DC351}"/>
              </a:ext>
            </a:extLst>
          </p:cNvPr>
          <p:cNvSpPr txBox="1"/>
          <p:nvPr/>
        </p:nvSpPr>
        <p:spPr>
          <a:xfrm>
            <a:off x="1123116" y="5575299"/>
            <a:ext cx="2610683" cy="233317"/>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13522435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F312-6637-3A9A-C98B-3F2569D1E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E0229-F0C1-81A3-AFAA-FC9ABCBCCA0E}"/>
              </a:ext>
            </a:extLst>
          </p:cNvPr>
          <p:cNvSpPr>
            <a:spLocks noGrp="1"/>
          </p:cNvSpPr>
          <p:nvPr>
            <p:ph type="title"/>
          </p:nvPr>
        </p:nvSpPr>
        <p:spPr/>
        <p:txBody>
          <a:bodyPr>
            <a:normAutofit/>
          </a:bodyPr>
          <a:lstStyle/>
          <a:p>
            <a:r>
              <a:rPr lang="en-US" dirty="0"/>
              <a:t>exponential </a:t>
            </a:r>
            <a:r>
              <a:rPr lang="en-US" dirty="0">
                <a:solidFill>
                  <a:srgbClr val="FF0000"/>
                </a:solidFill>
              </a:rPr>
              <a:t>AFT model </a:t>
            </a:r>
            <a:r>
              <a:rPr lang="en-US" dirty="0"/>
              <a:t>– r example</a:t>
            </a:r>
            <a:endParaRPr lang="en-AU" dirty="0"/>
          </a:p>
        </p:txBody>
      </p:sp>
      <p:sp>
        <p:nvSpPr>
          <p:cNvPr id="3" name="Content Placeholder 2">
            <a:extLst>
              <a:ext uri="{FF2B5EF4-FFF2-40B4-BE49-F238E27FC236}">
                <a16:creationId xmlns:a16="http://schemas.microsoft.com/office/drawing/2014/main" id="{06A1B9B7-1C40-B40D-F4BA-689D45685F7C}"/>
              </a:ext>
            </a:extLst>
          </p:cNvPr>
          <p:cNvSpPr>
            <a:spLocks noGrp="1"/>
          </p:cNvSpPr>
          <p:nvPr>
            <p:ph idx="1"/>
          </p:nvPr>
        </p:nvSpPr>
        <p:spPr>
          <a:xfrm>
            <a:off x="750366" y="1822302"/>
            <a:ext cx="10691265" cy="4303076"/>
          </a:xfrm>
        </p:spPr>
        <p:txBody>
          <a:bodyPr>
            <a:normAutofit/>
          </a:bodyPr>
          <a:lstStyle/>
          <a:p>
            <a:pPr>
              <a:spcAft>
                <a:spcPts val="1200"/>
              </a:spcAft>
            </a:pPr>
            <a:r>
              <a:rPr lang="en-US" sz="2200" dirty="0"/>
              <a:t>Estimated using </a:t>
            </a:r>
            <a:r>
              <a:rPr lang="en-US" sz="2200" dirty="0" err="1">
                <a:latin typeface="Courier New" panose="02070309020205020404" pitchFamily="49" charset="0"/>
                <a:cs typeface="Courier New" panose="02070309020205020404" pitchFamily="49" charset="0"/>
              </a:rPr>
              <a:t>survreg</a:t>
            </a:r>
            <a:r>
              <a:rPr lang="en-US" sz="2200" dirty="0"/>
              <a:t> from the </a:t>
            </a:r>
            <a:r>
              <a:rPr lang="en-US" sz="2200" dirty="0">
                <a:latin typeface="Courier New" panose="02070309020205020404" pitchFamily="49" charset="0"/>
                <a:cs typeface="Courier New" panose="02070309020205020404" pitchFamily="49" charset="0"/>
              </a:rPr>
              <a:t>survival</a:t>
            </a:r>
            <a:r>
              <a:rPr lang="en-US" sz="2200" dirty="0"/>
              <a:t> package (AFT formulation, </a:t>
            </a:r>
            <a:r>
              <a:rPr lang="en-US" dirty="0" err="1"/>
              <a:t>dist</a:t>
            </a:r>
            <a:r>
              <a:rPr lang="en-US" dirty="0"/>
              <a:t> = “exponential”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0CCF779F-A455-05B2-7F23-36C69ABFB51C}"/>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B108D266-47C0-B7B9-3EE3-51409768A2B7}"/>
              </a:ext>
            </a:extLst>
          </p:cNvPr>
          <p:cNvPicPr>
            <a:picLocks noChangeAspect="1"/>
          </p:cNvPicPr>
          <p:nvPr/>
        </p:nvPicPr>
        <p:blipFill>
          <a:blip r:embed="rId3"/>
          <a:stretch>
            <a:fillRect/>
          </a:stretch>
        </p:blipFill>
        <p:spPr>
          <a:xfrm>
            <a:off x="1077490" y="2221992"/>
            <a:ext cx="8817990" cy="3721608"/>
          </a:xfrm>
          <a:prstGeom prst="rect">
            <a:avLst/>
          </a:prstGeom>
        </p:spPr>
      </p:pic>
      <p:sp>
        <p:nvSpPr>
          <p:cNvPr id="6" name="TextBox 5">
            <a:extLst>
              <a:ext uri="{FF2B5EF4-FFF2-40B4-BE49-F238E27FC236}">
                <a16:creationId xmlns:a16="http://schemas.microsoft.com/office/drawing/2014/main" id="{D0366C24-45E9-6A0C-5978-2131CAB8D209}"/>
              </a:ext>
            </a:extLst>
          </p:cNvPr>
          <p:cNvSpPr txBox="1"/>
          <p:nvPr/>
        </p:nvSpPr>
        <p:spPr>
          <a:xfrm>
            <a:off x="1077490" y="5059017"/>
            <a:ext cx="2421084" cy="248384"/>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3055959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89A7-9D58-0E75-39BA-5F8E3E224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91009-325C-5294-613C-F625AB54229E}"/>
              </a:ext>
            </a:extLst>
          </p:cNvPr>
          <p:cNvSpPr>
            <a:spLocks noGrp="1"/>
          </p:cNvSpPr>
          <p:nvPr>
            <p:ph type="title"/>
          </p:nvPr>
        </p:nvSpPr>
        <p:spPr/>
        <p:txBody>
          <a:bodyPr>
            <a:normAutofit/>
          </a:bodyPr>
          <a:lstStyle/>
          <a:p>
            <a:r>
              <a:rPr lang="en-US" dirty="0" err="1"/>
              <a:t>weibull</a:t>
            </a:r>
            <a:r>
              <a:rPr lang="en-US" dirty="0"/>
              <a:t> </a:t>
            </a:r>
            <a:r>
              <a:rPr lang="en-US" dirty="0" err="1">
                <a:solidFill>
                  <a:srgbClr val="FF0000"/>
                </a:solidFill>
              </a:rPr>
              <a:t>ph</a:t>
            </a:r>
            <a:r>
              <a:rPr lang="en-US" dirty="0">
                <a:solidFill>
                  <a:srgbClr val="FF0000"/>
                </a:solidFill>
              </a:rPr>
              <a:t> model </a:t>
            </a:r>
            <a:r>
              <a:rPr lang="en-US" dirty="0"/>
              <a:t>– r example</a:t>
            </a:r>
            <a:endParaRPr lang="en-AU" dirty="0"/>
          </a:p>
        </p:txBody>
      </p:sp>
      <p:sp>
        <p:nvSpPr>
          <p:cNvPr id="3" name="Content Placeholder 2">
            <a:extLst>
              <a:ext uri="{FF2B5EF4-FFF2-40B4-BE49-F238E27FC236}">
                <a16:creationId xmlns:a16="http://schemas.microsoft.com/office/drawing/2014/main" id="{191B79EA-7E8F-3E7A-6D26-7DAC47B5069B}"/>
              </a:ext>
            </a:extLst>
          </p:cNvPr>
          <p:cNvSpPr>
            <a:spLocks noGrp="1"/>
          </p:cNvSpPr>
          <p:nvPr>
            <p:ph idx="1"/>
          </p:nvPr>
        </p:nvSpPr>
        <p:spPr>
          <a:xfrm>
            <a:off x="750366" y="1822302"/>
            <a:ext cx="10691265" cy="4303076"/>
          </a:xfrm>
        </p:spPr>
        <p:txBody>
          <a:bodyPr>
            <a:normAutofit/>
          </a:bodyPr>
          <a:lstStyle/>
          <a:p>
            <a:pPr>
              <a:spcAft>
                <a:spcPts val="1200"/>
              </a:spcAft>
            </a:pPr>
            <a:r>
              <a:rPr lang="en-US" dirty="0"/>
              <a:t>Can be estimated using </a:t>
            </a:r>
            <a:r>
              <a:rPr lang="en-US" dirty="0" err="1">
                <a:latin typeface="Courier New" panose="02070309020205020404" pitchFamily="49" charset="0"/>
                <a:cs typeface="Courier New" panose="02070309020205020404" pitchFamily="49" charset="0"/>
              </a:rPr>
              <a:t>flexsurvreg</a:t>
            </a:r>
            <a:r>
              <a:rPr lang="en-US" dirty="0"/>
              <a:t> from the </a:t>
            </a:r>
            <a:r>
              <a:rPr lang="en-US" dirty="0" err="1">
                <a:latin typeface="Courier New" panose="02070309020205020404" pitchFamily="49" charset="0"/>
                <a:cs typeface="Courier New" panose="02070309020205020404" pitchFamily="49" charset="0"/>
              </a:rPr>
              <a:t>flexsurv</a:t>
            </a:r>
            <a:r>
              <a:rPr lang="en-US" dirty="0"/>
              <a:t> package (</a:t>
            </a:r>
            <a:r>
              <a:rPr lang="en-US" dirty="0" err="1"/>
              <a:t>dist</a:t>
            </a:r>
            <a:r>
              <a:rPr lang="en-US" dirty="0"/>
              <a:t> = </a:t>
            </a:r>
            <a:r>
              <a:rPr lang="en-US" sz="2400" dirty="0"/>
              <a:t>“</a:t>
            </a:r>
            <a:r>
              <a:rPr lang="en-US" sz="2400" dirty="0" err="1"/>
              <a:t>weibullPH</a:t>
            </a:r>
            <a:r>
              <a:rPr lang="en-US" sz="24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DEA022E4-A84B-2369-1504-91BB04B1242F}"/>
              </a:ext>
            </a:extLst>
          </p:cNvPr>
          <p:cNvSpPr>
            <a:spLocks noGrp="1"/>
          </p:cNvSpPr>
          <p:nvPr>
            <p:ph type="ftr" sz="quarter" idx="11"/>
          </p:nvPr>
        </p:nvSpPr>
        <p:spPr/>
        <p:txBody>
          <a:bodyPr/>
          <a:lstStyle/>
          <a:p>
            <a:r>
              <a:rPr lang="en-US" dirty="0"/>
              <a:t>maarit.laaksonen@sydney.edu.au</a:t>
            </a:r>
          </a:p>
        </p:txBody>
      </p:sp>
      <p:pic>
        <p:nvPicPr>
          <p:cNvPr id="11" name="Picture 10">
            <a:extLst>
              <a:ext uri="{FF2B5EF4-FFF2-40B4-BE49-F238E27FC236}">
                <a16:creationId xmlns:a16="http://schemas.microsoft.com/office/drawing/2014/main" id="{424BD74E-D7D0-918D-F45E-0595935677ED}"/>
              </a:ext>
            </a:extLst>
          </p:cNvPr>
          <p:cNvPicPr>
            <a:picLocks noChangeAspect="1"/>
          </p:cNvPicPr>
          <p:nvPr/>
        </p:nvPicPr>
        <p:blipFill>
          <a:blip r:embed="rId3"/>
          <a:stretch>
            <a:fillRect/>
          </a:stretch>
        </p:blipFill>
        <p:spPr>
          <a:xfrm>
            <a:off x="1093358" y="2221992"/>
            <a:ext cx="8724991" cy="3801121"/>
          </a:xfrm>
          <a:prstGeom prst="rect">
            <a:avLst/>
          </a:prstGeom>
        </p:spPr>
      </p:pic>
      <p:sp>
        <p:nvSpPr>
          <p:cNvPr id="5" name="TextBox 4">
            <a:extLst>
              <a:ext uri="{FF2B5EF4-FFF2-40B4-BE49-F238E27FC236}">
                <a16:creationId xmlns:a16="http://schemas.microsoft.com/office/drawing/2014/main" id="{17A6945D-D414-2EF9-B9A8-563DAD82CDFA}"/>
              </a:ext>
            </a:extLst>
          </p:cNvPr>
          <p:cNvSpPr txBox="1"/>
          <p:nvPr/>
        </p:nvSpPr>
        <p:spPr>
          <a:xfrm>
            <a:off x="1114697" y="5556070"/>
            <a:ext cx="2560320" cy="269964"/>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4280023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595C-C5D6-AEDA-BD2A-D6F1D2B36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FC6AF-9A5F-5EEA-E56D-0D8A8C4F2BA0}"/>
              </a:ext>
            </a:extLst>
          </p:cNvPr>
          <p:cNvSpPr>
            <a:spLocks noGrp="1"/>
          </p:cNvSpPr>
          <p:nvPr>
            <p:ph type="title"/>
          </p:nvPr>
        </p:nvSpPr>
        <p:spPr/>
        <p:txBody>
          <a:bodyPr>
            <a:normAutofit/>
          </a:bodyPr>
          <a:lstStyle/>
          <a:p>
            <a:r>
              <a:rPr lang="en-US" dirty="0" err="1"/>
              <a:t>weibull</a:t>
            </a:r>
            <a:r>
              <a:rPr lang="en-US" dirty="0"/>
              <a:t> </a:t>
            </a:r>
            <a:r>
              <a:rPr lang="en-US" dirty="0">
                <a:solidFill>
                  <a:srgbClr val="FF0000"/>
                </a:solidFill>
              </a:rPr>
              <a:t>AFT model </a:t>
            </a:r>
            <a:r>
              <a:rPr lang="en-US" dirty="0"/>
              <a:t>– r example</a:t>
            </a:r>
            <a:endParaRPr lang="en-AU" dirty="0"/>
          </a:p>
        </p:txBody>
      </p:sp>
      <p:sp>
        <p:nvSpPr>
          <p:cNvPr id="3" name="Content Placeholder 2">
            <a:extLst>
              <a:ext uri="{FF2B5EF4-FFF2-40B4-BE49-F238E27FC236}">
                <a16:creationId xmlns:a16="http://schemas.microsoft.com/office/drawing/2014/main" id="{40FDD6EA-56CD-7775-A33F-EAB79FEAD997}"/>
              </a:ext>
            </a:extLst>
          </p:cNvPr>
          <p:cNvSpPr>
            <a:spLocks noGrp="1"/>
          </p:cNvSpPr>
          <p:nvPr>
            <p:ph idx="1"/>
          </p:nvPr>
        </p:nvSpPr>
        <p:spPr>
          <a:xfrm>
            <a:off x="750366" y="1822302"/>
            <a:ext cx="10691265" cy="4303076"/>
          </a:xfrm>
        </p:spPr>
        <p:txBody>
          <a:bodyPr>
            <a:normAutofit/>
          </a:bodyPr>
          <a:lstStyle/>
          <a:p>
            <a:pPr>
              <a:spcAft>
                <a:spcPts val="1200"/>
              </a:spcAft>
            </a:pPr>
            <a:r>
              <a:rPr lang="en-US" sz="2200" dirty="0"/>
              <a:t>Can also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weibull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22CB8ED1-8821-5DBE-FEC9-316D244F8FB2}"/>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03D168DA-6E06-6B66-2C44-E644AF271DE2}"/>
              </a:ext>
            </a:extLst>
          </p:cNvPr>
          <p:cNvPicPr>
            <a:picLocks noChangeAspect="1"/>
          </p:cNvPicPr>
          <p:nvPr/>
        </p:nvPicPr>
        <p:blipFill>
          <a:blip r:embed="rId3"/>
          <a:stretch>
            <a:fillRect/>
          </a:stretch>
        </p:blipFill>
        <p:spPr>
          <a:xfrm>
            <a:off x="1044153" y="2221992"/>
            <a:ext cx="9329426" cy="3708226"/>
          </a:xfrm>
          <a:prstGeom prst="rect">
            <a:avLst/>
          </a:prstGeom>
        </p:spPr>
      </p:pic>
      <p:pic>
        <p:nvPicPr>
          <p:cNvPr id="6" name="Picture 5">
            <a:extLst>
              <a:ext uri="{FF2B5EF4-FFF2-40B4-BE49-F238E27FC236}">
                <a16:creationId xmlns:a16="http://schemas.microsoft.com/office/drawing/2014/main" id="{A72A07C0-8091-5948-A6DA-EA9A5214867E}"/>
              </a:ext>
            </a:extLst>
          </p:cNvPr>
          <p:cNvPicPr>
            <a:picLocks noChangeAspect="1"/>
          </p:cNvPicPr>
          <p:nvPr/>
        </p:nvPicPr>
        <p:blipFill>
          <a:blip r:embed="rId4"/>
          <a:stretch>
            <a:fillRect/>
          </a:stretch>
        </p:blipFill>
        <p:spPr>
          <a:xfrm>
            <a:off x="1044153" y="5405152"/>
            <a:ext cx="2920262" cy="280440"/>
          </a:xfrm>
          <a:prstGeom prst="rect">
            <a:avLst/>
          </a:prstGeom>
        </p:spPr>
      </p:pic>
    </p:spTree>
    <p:extLst>
      <p:ext uri="{BB962C8B-B14F-4D97-AF65-F5344CB8AC3E}">
        <p14:creationId xmlns:p14="http://schemas.microsoft.com/office/powerpoint/2010/main" val="2259573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B5CF-3DAD-89A4-0119-2A1E80335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8AF35-3ECC-51A3-E489-324101503242}"/>
              </a:ext>
            </a:extLst>
          </p:cNvPr>
          <p:cNvSpPr>
            <a:spLocks noGrp="1"/>
          </p:cNvSpPr>
          <p:nvPr>
            <p:ph type="title"/>
          </p:nvPr>
        </p:nvSpPr>
        <p:spPr/>
        <p:txBody>
          <a:bodyPr/>
          <a:lstStyle/>
          <a:p>
            <a:r>
              <a:rPr lang="en-US" dirty="0"/>
              <a:t>Model SELECTION – exponential vs </a:t>
            </a:r>
            <a:r>
              <a:rPr lang="en-US" dirty="0" err="1"/>
              <a:t>weibull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8A9CD0-7BFF-A9B7-CD41-9190B6D7A4F9}"/>
                  </a:ext>
                </a:extLst>
              </p:cNvPr>
              <p:cNvSpPr>
                <a:spLocks noGrp="1"/>
              </p:cNvSpPr>
              <p:nvPr>
                <p:ph idx="1"/>
              </p:nvPr>
            </p:nvSpPr>
            <p:spPr/>
            <p:txBody>
              <a:bodyPr>
                <a:normAutofit/>
              </a:bodyPr>
              <a:lstStyle/>
              <a:p>
                <a:pPr marL="0" indent="0">
                  <a:buNone/>
                </a:pPr>
                <a:r>
                  <a:rPr lang="en-US" dirty="0"/>
                  <a:t>We get:</a:t>
                </a:r>
              </a:p>
              <a:p>
                <a:pPr marL="0" indent="0">
                  <a:buNone/>
                </a:pPr>
                <a14:m>
                  <m:oMath xmlns:m="http://schemas.openxmlformats.org/officeDocument/2006/math">
                    <m:r>
                      <a:rPr lang="en-US" b="0" i="1" smtClean="0">
                        <a:latin typeface="Cambria Math" panose="02040503050406030204" pitchFamily="18" charset="0"/>
                      </a:rPr>
                      <m:t>𝑊</m:t>
                    </m:r>
                    <m:r>
                      <m:rPr>
                        <m:lit/>
                      </m:rPr>
                      <a:rPr lang="en-US" b="0" i="1" smtClean="0">
                        <a:latin typeface="Cambria Math" panose="02040503050406030204" pitchFamily="18" charset="0"/>
                      </a:rPr>
                      <m:t>=</m:t>
                    </m:r>
                    <m:r>
                      <a:rPr lang="en-US" b="0" i="0" smtClean="0">
                        <a:latin typeface="Cambria Math" panose="02040503050406030204" pitchFamily="18" charset="0"/>
                      </a:rPr>
                      <m:t>2(−106.5795 −</m:t>
                    </m:r>
                  </m:oMath>
                </a14:m>
                <a:r>
                  <a:rPr lang="en-US" dirty="0"/>
                  <a:t> </a:t>
                </a:r>
                <a14:m>
                  <m:oMath xmlns:m="http://schemas.openxmlformats.org/officeDocument/2006/math">
                    <m:r>
                      <a:rPr lang="en-US" b="0" i="1" dirty="0" smtClean="0">
                        <a:latin typeface="Cambria Math" panose="02040503050406030204" pitchFamily="18" charset="0"/>
                      </a:rPr>
                      <m:t>(−108.524)</m:t>
                    </m:r>
                  </m:oMath>
                </a14:m>
                <a:r>
                  <a:rPr lang="en-US" dirty="0"/>
                  <a:t>)</a:t>
                </a:r>
                <a14:m>
                  <m:oMath xmlns:m="http://schemas.openxmlformats.org/officeDocument/2006/math">
                    <m:r>
                      <a:rPr lang="en-US" b="0"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3.8</m:t>
                        </m:r>
                        <m:r>
                          <a:rPr lang="en-US" b="0" i="0" dirty="0" smtClean="0">
                            <a:latin typeface="Cambria Math" panose="02040503050406030204" pitchFamily="18" charset="0"/>
                            <a:ea typeface="Cambria Math" panose="02040503050406030204" pitchFamily="18" charset="0"/>
                          </a:rPr>
                          <m:t>9&gt;3.84= </m:t>
                        </m:r>
                        <m:r>
                          <m:rPr>
                            <m:sty m:val="p"/>
                          </m:rPr>
                          <a:rPr lang="en-US" b="0" i="0" dirty="0" smtClean="0">
                            <a:latin typeface="Cambria Math" panose="02040503050406030204" pitchFamily="18" charset="0"/>
                            <a:ea typeface="Cambria Math" panose="02040503050406030204" pitchFamily="18" charset="0"/>
                          </a:rPr>
                          <m:t>Χ</m:t>
                        </m:r>
                      </m:e>
                      <m:sub>
                        <m:r>
                          <a:rPr lang="en-US" b="0" i="1" dirty="0" smtClean="0">
                            <a:latin typeface="Cambria Math" panose="02040503050406030204" pitchFamily="18" charset="0"/>
                            <a:ea typeface="Cambria Math" panose="02040503050406030204" pitchFamily="18" charset="0"/>
                          </a:rPr>
                          <m:t>1,0.95</m:t>
                        </m:r>
                      </m:sub>
                      <m:sup>
                        <m:r>
                          <a:rPr lang="en-US" b="0" i="1" dirty="0" smtClean="0">
                            <a:latin typeface="Cambria Math" panose="02040503050406030204" pitchFamily="18" charset="0"/>
                            <a:ea typeface="Cambria Math" panose="02040503050406030204" pitchFamily="18" charset="0"/>
                          </a:rPr>
                          <m:t>2</m:t>
                        </m:r>
                      </m:sup>
                    </m:sSubSup>
                  </m:oMath>
                </a14:m>
                <a:r>
                  <a:rPr lang="en-US" b="0" dirty="0">
                    <a:ea typeface="Cambria Math" panose="02040503050406030204" pitchFamily="18" charset="0"/>
                  </a:rPr>
                  <a:t> , p-value = 0.0486</a:t>
                </a:r>
              </a:p>
              <a:p>
                <a:pPr marL="0" indent="0">
                  <a:buNone/>
                </a:pPr>
                <a:r>
                  <a:rPr lang="en-US" dirty="0"/>
                  <a:t>so we would reject the null hypothesis at 5% significance level, and conclude that a general Weibull distribution is better than an exponential distribution</a:t>
                </a:r>
              </a:p>
              <a:p>
                <a:pPr marL="0" indent="0">
                  <a:buNone/>
                </a:pPr>
                <a:r>
                  <a:rPr lang="en-US" dirty="0"/>
                  <a:t>The </a:t>
                </a:r>
                <a:r>
                  <a:rPr lang="en-US" dirty="0" err="1">
                    <a:latin typeface="Courier New" panose="02070309020205020404" pitchFamily="49" charset="0"/>
                    <a:cs typeface="Courier New" panose="02070309020205020404" pitchFamily="49" charset="0"/>
                  </a:rPr>
                  <a:t>lrtest</a:t>
                </a:r>
                <a:r>
                  <a:rPr lang="en-US" dirty="0">
                    <a:latin typeface="Courier New" panose="02070309020205020404" pitchFamily="49" charset="0"/>
                    <a:cs typeface="Courier New" panose="02070309020205020404" pitchFamily="49" charset="0"/>
                  </a:rPr>
                  <a:t> </a:t>
                </a:r>
                <a:r>
                  <a:rPr lang="en-US" dirty="0"/>
                  <a:t>function can be used to compare two nested </a:t>
                </a:r>
                <a:r>
                  <a:rPr lang="en-US" dirty="0" err="1">
                    <a:latin typeface="Courier New" panose="02070309020205020404" pitchFamily="49" charset="0"/>
                    <a:cs typeface="Courier New" panose="02070309020205020404" pitchFamily="49" charset="0"/>
                  </a:rPr>
                  <a:t>flexsurvreg</a:t>
                </a:r>
                <a:r>
                  <a:rPr lang="en-US" dirty="0"/>
                  <a:t> objects:</a:t>
                </a:r>
              </a:p>
              <a:p>
                <a:pPr marL="0" indent="0">
                  <a:buNone/>
                </a:pPr>
                <a:endParaRPr lang="en-US" dirty="0">
                  <a:latin typeface="Courier New" panose="02070309020205020404" pitchFamily="49" charset="0"/>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B98A9CD0-7BFF-A9B7-CD41-9190B6D7A4F9}"/>
                  </a:ext>
                </a:extLst>
              </p:cNvPr>
              <p:cNvSpPr>
                <a:spLocks noGrp="1" noRot="1" noChangeAspect="1" noMove="1" noResize="1" noEditPoints="1" noAdjustHandles="1" noChangeArrowheads="1" noChangeShapeType="1" noTextEdit="1"/>
              </p:cNvSpPr>
              <p:nvPr>
                <p:ph idx="1"/>
              </p:nvPr>
            </p:nvSpPr>
            <p:spPr>
              <a:blipFill>
                <a:blip r:embed="rId3"/>
                <a:stretch>
                  <a:fillRect l="-62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D8FFB4F0-3B42-74DD-F45F-8F3D7A43FEE3}"/>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102AF76C-83A8-49F7-0C0E-747BEC8AA24F}"/>
              </a:ext>
            </a:extLst>
          </p:cNvPr>
          <p:cNvPicPr>
            <a:picLocks noChangeAspect="1"/>
          </p:cNvPicPr>
          <p:nvPr/>
        </p:nvPicPr>
        <p:blipFill>
          <a:blip r:embed="rId4"/>
          <a:stretch>
            <a:fillRect/>
          </a:stretch>
        </p:blipFill>
        <p:spPr>
          <a:xfrm>
            <a:off x="890275" y="4417914"/>
            <a:ext cx="5472425" cy="1715237"/>
          </a:xfrm>
          <a:prstGeom prst="rect">
            <a:avLst/>
          </a:prstGeom>
        </p:spPr>
      </p:pic>
    </p:spTree>
    <p:extLst>
      <p:ext uri="{BB962C8B-B14F-4D97-AF65-F5344CB8AC3E}">
        <p14:creationId xmlns:p14="http://schemas.microsoft.com/office/powerpoint/2010/main" val="382273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772B4-9CA5-9DAA-D39C-012A3F33E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E5E02-5F8F-AC0C-6D1D-2D63C7F4FE1C}"/>
              </a:ext>
            </a:extLst>
          </p:cNvPr>
          <p:cNvSpPr>
            <a:spLocks noGrp="1"/>
          </p:cNvSpPr>
          <p:nvPr>
            <p:ph type="title"/>
          </p:nvPr>
        </p:nvSpPr>
        <p:spPr/>
        <p:txBody>
          <a:bodyPr/>
          <a:lstStyle/>
          <a:p>
            <a:r>
              <a:rPr lang="en-US" dirty="0"/>
              <a:t>Model SELECTION – exponential vs </a:t>
            </a:r>
            <a:r>
              <a:rPr lang="en-US" dirty="0" err="1"/>
              <a:t>weibull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C257F8-8ABD-9C92-C2CB-CEB1BB714E91}"/>
                  </a:ext>
                </a:extLst>
              </p:cNvPr>
              <p:cNvSpPr>
                <a:spLocks noGrp="1"/>
              </p:cNvSpPr>
              <p:nvPr>
                <p:ph idx="1"/>
              </p:nvPr>
            </p:nvSpPr>
            <p:spPr/>
            <p:txBody>
              <a:bodyPr>
                <a:normAutofit/>
              </a:bodyPr>
              <a:lstStyle/>
              <a:p>
                <a:r>
                  <a:rPr lang="en-US" dirty="0"/>
                  <a:t>We can also use AIC to compare the goodness-of-fit of Exponential vs. Weibull:</a:t>
                </a:r>
              </a:p>
              <a:p>
                <a:r>
                  <a:rPr lang="en-US" dirty="0"/>
                  <a:t>AIC Exponential: </a:t>
                </a:r>
                <a14:m>
                  <m:oMath xmlns:m="http://schemas.openxmlformats.org/officeDocument/2006/math">
                    <m:r>
                      <a:rPr lang="en-US" b="0" i="0" smtClean="0">
                        <a:latin typeface="Cambria Math" panose="02040503050406030204" pitchFamily="18" charset="0"/>
                      </a:rPr>
                      <m:t>−</m:t>
                    </m:r>
                    <m:r>
                      <a:rPr lang="en-US">
                        <a:latin typeface="Cambria Math" panose="02040503050406030204" pitchFamily="18" charset="0"/>
                      </a:rPr>
                      <m:t>2</m:t>
                    </m:r>
                    <m:r>
                      <m:rPr>
                        <m:sty m:val="p"/>
                      </m:rPr>
                      <a:rPr lang="en-US">
                        <a:latin typeface="Cambria Math" panose="02040503050406030204" pitchFamily="18" charset="0"/>
                      </a:rPr>
                      <m:t>logL</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𝜆</m:t>
                                </m:r>
                              </m:e>
                            </m:acc>
                          </m:e>
                          <m:sub>
                            <m:r>
                              <a:rPr lang="en-US" i="1">
                                <a:latin typeface="Cambria Math" panose="02040503050406030204" pitchFamily="18" charset="0"/>
                              </a:rPr>
                              <m:t>0</m:t>
                            </m:r>
                          </m:sub>
                        </m:sSub>
                        <m:r>
                          <a:rPr lang="en-US" i="1">
                            <a:latin typeface="Cambria Math" panose="02040503050406030204" pitchFamily="18" charset="0"/>
                          </a:rPr>
                          <m:t>,1 </m:t>
                        </m:r>
                      </m:e>
                    </m:d>
                    <m:r>
                      <a:rPr lang="en-US" b="0" i="1" smtClean="0">
                        <a:latin typeface="Cambria Math" panose="02040503050406030204" pitchFamily="18" charset="0"/>
                      </a:rPr>
                      <m:t>+2∗2</m:t>
                    </m:r>
                  </m:oMath>
                </a14:m>
                <a:r>
                  <a:rPr lang="en-US" dirty="0">
                    <a:ea typeface="Cambria Math" panose="02040503050406030204" pitchFamily="18" charset="0"/>
                  </a:rPr>
                  <a:t> = </a:t>
                </a:r>
                <a14:m>
                  <m:oMath xmlns:m="http://schemas.openxmlformats.org/officeDocument/2006/math">
                    <m:r>
                      <a:rPr lang="en-US" b="0" i="0" dirty="0" smtClean="0">
                        <a:latin typeface="Cambria Math" panose="02040503050406030204" pitchFamily="18" charset="0"/>
                      </a:rPr>
                      <m:t>−2∗</m:t>
                    </m:r>
                    <m:d>
                      <m:dPr>
                        <m:ctrlPr>
                          <a:rPr lang="en-US" b="0" i="1" dirty="0" smtClean="0">
                            <a:latin typeface="Cambria Math" panose="02040503050406030204" pitchFamily="18" charset="0"/>
                          </a:rPr>
                        </m:ctrlPr>
                      </m:dPr>
                      <m:e>
                        <m:r>
                          <a:rPr lang="en-US" i="1" dirty="0">
                            <a:latin typeface="Cambria Math" panose="02040503050406030204" pitchFamily="18" charset="0"/>
                          </a:rPr>
                          <m:t>−108.524</m:t>
                        </m:r>
                      </m:e>
                    </m:d>
                    <m:r>
                      <a:rPr lang="en-US" b="0" i="1" dirty="0" smtClean="0">
                        <a:latin typeface="Cambria Math" panose="02040503050406030204" pitchFamily="18" charset="0"/>
                      </a:rPr>
                      <m:t>+4=</m:t>
                    </m:r>
                  </m:oMath>
                </a14:m>
                <a:r>
                  <a:rPr lang="en-US" dirty="0">
                    <a:ea typeface="Cambria Math" panose="02040503050406030204" pitchFamily="18" charset="0"/>
                  </a:rPr>
                  <a:t> </a:t>
                </a:r>
                <a:r>
                  <a:rPr lang="en-AU" dirty="0"/>
                  <a:t>221.048</a:t>
                </a:r>
                <a:endParaRPr lang="en-US" dirty="0">
                  <a:ea typeface="Cambria Math" panose="02040503050406030204" pitchFamily="18" charset="0"/>
                </a:endParaRPr>
              </a:p>
              <a:p>
                <a14:m>
                  <m:oMath xmlns:m="http://schemas.openxmlformats.org/officeDocument/2006/math">
                    <m:r>
                      <m:rPr>
                        <m:sty m:val="p"/>
                      </m:rPr>
                      <a:rPr lang="en-US" smtClean="0">
                        <a:latin typeface="Cambria Math" panose="02040503050406030204" pitchFamily="18" charset="0"/>
                      </a:rPr>
                      <m:t>A</m:t>
                    </m:r>
                    <m:r>
                      <m:rPr>
                        <m:sty m:val="p"/>
                      </m:rPr>
                      <a:rPr lang="en-US" b="0" i="0" smtClean="0">
                        <a:latin typeface="Cambria Math" panose="02040503050406030204" pitchFamily="18" charset="0"/>
                      </a:rPr>
                      <m:t>IC</m:t>
                    </m:r>
                    <m:r>
                      <a:rPr lang="en-US" b="0" i="0" smtClean="0">
                        <a:latin typeface="Cambria Math" panose="02040503050406030204" pitchFamily="18" charset="0"/>
                      </a:rPr>
                      <m:t> </m:t>
                    </m:r>
                    <m:r>
                      <m:rPr>
                        <m:sty m:val="p"/>
                      </m:rPr>
                      <a:rPr lang="en-US" b="0" i="0" smtClean="0">
                        <a:latin typeface="Cambria Math" panose="02040503050406030204" pitchFamily="18" charset="0"/>
                      </a:rPr>
                      <m:t>Weibull</m:t>
                    </m:r>
                    <m:r>
                      <a:rPr lang="en-US" b="0" i="0" smtClean="0">
                        <a:latin typeface="Cambria Math" panose="02040503050406030204" pitchFamily="18" charset="0"/>
                      </a:rPr>
                      <m:t>:−2</m:t>
                    </m:r>
                    <m:r>
                      <m:rPr>
                        <m:sty m:val="p"/>
                      </m:rPr>
                      <a:rPr lang="en-US">
                        <a:latin typeface="Cambria Math" panose="02040503050406030204" pitchFamily="18" charset="0"/>
                      </a:rPr>
                      <m:t>logL</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𝜆</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𝛾</m:t>
                            </m:r>
                          </m:e>
                        </m:acc>
                      </m:e>
                    </m:d>
                    <m:r>
                      <a:rPr lang="en-US" b="0" i="1" smtClean="0">
                        <a:latin typeface="Cambria Math" panose="02040503050406030204" pitchFamily="18" charset="0"/>
                      </a:rPr>
                      <m:t>+2∗3</m:t>
                    </m:r>
                  </m:oMath>
                </a14:m>
                <a:r>
                  <a:rPr lang="en-US" dirty="0">
                    <a:ea typeface="Cambria Math" panose="02040503050406030204" pitchFamily="18" charset="0"/>
                  </a:rPr>
                  <a:t> = </a:t>
                </a:r>
                <a14:m>
                  <m:oMath xmlns:m="http://schemas.openxmlformats.org/officeDocument/2006/math">
                    <m:r>
                      <a:rPr lang="en-US" dirty="0">
                        <a:latin typeface="Cambria Math" panose="02040503050406030204" pitchFamily="18" charset="0"/>
                      </a:rPr>
                      <m:t>−2∗</m:t>
                    </m:r>
                    <m:d>
                      <m:dPr>
                        <m:ctrlPr>
                          <a:rPr lang="en-US" i="1" dirty="0">
                            <a:latin typeface="Cambria Math" panose="02040503050406030204" pitchFamily="18" charset="0"/>
                          </a:rPr>
                        </m:ctrlPr>
                      </m:dPr>
                      <m:e>
                        <m:r>
                          <a:rPr lang="en-US">
                            <a:latin typeface="Cambria Math" panose="02040503050406030204" pitchFamily="18" charset="0"/>
                          </a:rPr>
                          <m:t>−106.5795</m:t>
                        </m:r>
                      </m:e>
                    </m:d>
                    <m:r>
                      <a:rPr lang="en-US" i="1" dirty="0">
                        <a:latin typeface="Cambria Math" panose="02040503050406030204" pitchFamily="18" charset="0"/>
                      </a:rPr>
                      <m:t>+</m:t>
                    </m:r>
                    <m:r>
                      <a:rPr lang="en-US" b="0" i="1" dirty="0" smtClean="0">
                        <a:latin typeface="Cambria Math" panose="02040503050406030204" pitchFamily="18" charset="0"/>
                      </a:rPr>
                      <m:t>6</m:t>
                    </m:r>
                    <m:r>
                      <a:rPr lang="en-US" i="1" dirty="0">
                        <a:latin typeface="Cambria Math" panose="02040503050406030204" pitchFamily="18" charset="0"/>
                      </a:rPr>
                      <m:t>=</m:t>
                    </m:r>
                  </m:oMath>
                </a14:m>
                <a:r>
                  <a:rPr lang="en-US" dirty="0">
                    <a:ea typeface="Cambria Math" panose="02040503050406030204" pitchFamily="18" charset="0"/>
                  </a:rPr>
                  <a:t> </a:t>
                </a:r>
                <a:r>
                  <a:rPr lang="en-AU" dirty="0"/>
                  <a:t>221.048</a:t>
                </a:r>
                <a:r>
                  <a:rPr lang="en-US" dirty="0">
                    <a:ea typeface="Cambria Math" panose="02040503050406030204" pitchFamily="18" charset="0"/>
                  </a:rPr>
                  <a:t> = 219.159</a:t>
                </a:r>
              </a:p>
              <a:p>
                <a:pPr marL="0" indent="0">
                  <a:spcBef>
                    <a:spcPts val="1200"/>
                  </a:spcBef>
                  <a:buNone/>
                </a:pPr>
                <a:r>
                  <a:rPr lang="en-US" dirty="0"/>
                  <a:t>Weibull model has a lower AIC value indicating a better model fit</a:t>
                </a:r>
              </a:p>
              <a:p>
                <a:pPr marL="0" indent="0">
                  <a:spcBef>
                    <a:spcPts val="1800"/>
                  </a:spcBef>
                  <a:buNone/>
                </a:pPr>
                <a:r>
                  <a:rPr lang="en-US" dirty="0"/>
                  <a:t>The </a:t>
                </a:r>
                <a:r>
                  <a:rPr lang="en-US" dirty="0">
                    <a:latin typeface="Courier New" panose="02070309020205020404" pitchFamily="49" charset="0"/>
                    <a:cs typeface="Courier New" panose="02070309020205020404" pitchFamily="49" charset="0"/>
                  </a:rPr>
                  <a:t>AIC </a:t>
                </a:r>
                <a:r>
                  <a:rPr lang="en-US" dirty="0"/>
                  <a:t>function can be used to compare two models:</a:t>
                </a:r>
              </a:p>
            </p:txBody>
          </p:sp>
        </mc:Choice>
        <mc:Fallback xmlns="">
          <p:sp>
            <p:nvSpPr>
              <p:cNvPr id="3" name="Content Placeholder 2">
                <a:extLst>
                  <a:ext uri="{FF2B5EF4-FFF2-40B4-BE49-F238E27FC236}">
                    <a16:creationId xmlns:a16="http://schemas.microsoft.com/office/drawing/2014/main" id="{2DC257F8-8ABD-9C92-C2CB-CEB1BB714E91}"/>
                  </a:ext>
                </a:extLst>
              </p:cNvPr>
              <p:cNvSpPr>
                <a:spLocks noGrp="1" noRot="1" noChangeAspect="1" noMove="1" noResize="1" noEditPoints="1" noAdjustHandles="1" noChangeArrowheads="1" noChangeShapeType="1" noTextEdit="1"/>
              </p:cNvSpPr>
              <p:nvPr>
                <p:ph idx="1"/>
              </p:nvPr>
            </p:nvSpPr>
            <p:spPr>
              <a:blipFill>
                <a:blip r:embed="rId3"/>
                <a:stretch>
                  <a:fillRect l="-62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2FC7665D-F83A-0F61-964B-4A0F6DB5A1D8}"/>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698742D9-6EEB-B84C-BF31-CC5CF08D5A62}"/>
              </a:ext>
            </a:extLst>
          </p:cNvPr>
          <p:cNvPicPr>
            <a:picLocks noChangeAspect="1"/>
          </p:cNvPicPr>
          <p:nvPr/>
        </p:nvPicPr>
        <p:blipFill>
          <a:blip r:embed="rId4"/>
          <a:stretch>
            <a:fillRect/>
          </a:stretch>
        </p:blipFill>
        <p:spPr>
          <a:xfrm>
            <a:off x="800100" y="4768877"/>
            <a:ext cx="3135796" cy="1162090"/>
          </a:xfrm>
          <a:prstGeom prst="rect">
            <a:avLst/>
          </a:prstGeom>
        </p:spPr>
      </p:pic>
    </p:spTree>
    <p:extLst>
      <p:ext uri="{BB962C8B-B14F-4D97-AF65-F5344CB8AC3E}">
        <p14:creationId xmlns:p14="http://schemas.microsoft.com/office/powerpoint/2010/main" val="4069558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AC8A-CC37-42DC-5945-BF2F823DE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15EC6-25BB-07C7-31A1-17690E9B5BFA}"/>
              </a:ext>
            </a:extLst>
          </p:cNvPr>
          <p:cNvSpPr>
            <a:spLocks noGrp="1"/>
          </p:cNvSpPr>
          <p:nvPr>
            <p:ph type="title"/>
          </p:nvPr>
        </p:nvSpPr>
        <p:spPr/>
        <p:txBody>
          <a:bodyPr>
            <a:normAutofit/>
          </a:bodyPr>
          <a:lstStyle/>
          <a:p>
            <a:r>
              <a:rPr lang="en-US" dirty="0"/>
              <a:t>exponential </a:t>
            </a:r>
            <a:r>
              <a:rPr lang="en-US" dirty="0" err="1">
                <a:solidFill>
                  <a:srgbClr val="FF0000"/>
                </a:solidFill>
              </a:rPr>
              <a:t>ph</a:t>
            </a:r>
            <a:r>
              <a:rPr lang="en-US" dirty="0">
                <a:solidFill>
                  <a:srgbClr val="FF0000"/>
                </a:solidFill>
              </a:rPr>
              <a:t> model </a:t>
            </a:r>
            <a:r>
              <a:rPr lang="en-US" dirty="0"/>
              <a:t>– r example</a:t>
            </a:r>
            <a:endParaRPr lang="en-AU" dirty="0"/>
          </a:p>
        </p:txBody>
      </p:sp>
      <p:sp>
        <p:nvSpPr>
          <p:cNvPr id="3" name="Content Placeholder 2">
            <a:extLst>
              <a:ext uri="{FF2B5EF4-FFF2-40B4-BE49-F238E27FC236}">
                <a16:creationId xmlns:a16="http://schemas.microsoft.com/office/drawing/2014/main" id="{F85476A9-7A54-5BC3-1D0D-B1C23583EEFF}"/>
              </a:ext>
            </a:extLst>
          </p:cNvPr>
          <p:cNvSpPr>
            <a:spLocks noGrp="1"/>
          </p:cNvSpPr>
          <p:nvPr>
            <p:ph idx="1"/>
          </p:nvPr>
        </p:nvSpPr>
        <p:spPr>
          <a:xfrm>
            <a:off x="750366" y="1822302"/>
            <a:ext cx="10691265" cy="4303076"/>
          </a:xfrm>
        </p:spPr>
        <p:txBody>
          <a:bodyPr>
            <a:normAutofit/>
          </a:bodyPr>
          <a:lstStyle/>
          <a:p>
            <a:pPr>
              <a:spcAft>
                <a:spcPts val="1200"/>
              </a:spcAft>
            </a:pPr>
            <a:r>
              <a:rPr lang="en-US" sz="2400" dirty="0"/>
              <a:t>Can be estimated using </a:t>
            </a:r>
            <a:r>
              <a:rPr lang="en-US" sz="2400" dirty="0" err="1">
                <a:latin typeface="Courier New" panose="02070309020205020404" pitchFamily="49" charset="0"/>
                <a:cs typeface="Courier New" panose="02070309020205020404" pitchFamily="49" charset="0"/>
              </a:rPr>
              <a:t>flexsurvreg</a:t>
            </a:r>
            <a:r>
              <a:rPr lang="en-US" sz="2400" dirty="0"/>
              <a:t> from the </a:t>
            </a:r>
            <a:r>
              <a:rPr lang="en-US" sz="2400" dirty="0" err="1">
                <a:latin typeface="Courier New" panose="02070309020205020404" pitchFamily="49" charset="0"/>
                <a:cs typeface="Courier New" panose="02070309020205020404" pitchFamily="49" charset="0"/>
              </a:rPr>
              <a:t>flexsurv</a:t>
            </a:r>
            <a:r>
              <a:rPr lang="en-US" sz="2400" dirty="0"/>
              <a:t> package (</a:t>
            </a:r>
            <a:r>
              <a:rPr lang="en-US" sz="2400" dirty="0" err="1"/>
              <a:t>dist</a:t>
            </a:r>
            <a:r>
              <a:rPr lang="en-US" sz="2400" dirty="0"/>
              <a:t> = “exp”): </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pPr>
              <a:spcBef>
                <a:spcPts val="3600"/>
              </a:spcBef>
            </a:pPr>
            <a:endParaRPr lang="en-US" sz="2300" dirty="0"/>
          </a:p>
        </p:txBody>
      </p:sp>
      <p:sp>
        <p:nvSpPr>
          <p:cNvPr id="4" name="Footer Placeholder 3">
            <a:extLst>
              <a:ext uri="{FF2B5EF4-FFF2-40B4-BE49-F238E27FC236}">
                <a16:creationId xmlns:a16="http://schemas.microsoft.com/office/drawing/2014/main" id="{94110CD8-CD44-C951-7B5C-DE0870CAE398}"/>
              </a:ext>
            </a:extLst>
          </p:cNvPr>
          <p:cNvSpPr>
            <a:spLocks noGrp="1"/>
          </p:cNvSpPr>
          <p:nvPr>
            <p:ph type="ftr" sz="quarter" idx="11"/>
          </p:nvPr>
        </p:nvSpPr>
        <p:spPr/>
        <p:txBody>
          <a:bodyPr/>
          <a:lstStyle/>
          <a:p>
            <a:r>
              <a:rPr lang="en-US" dirty="0"/>
              <a:t>maarit.laaksonen@sydney.edu.au</a:t>
            </a:r>
          </a:p>
        </p:txBody>
      </p:sp>
      <p:sp>
        <p:nvSpPr>
          <p:cNvPr id="5" name="TextBox 4">
            <a:extLst>
              <a:ext uri="{FF2B5EF4-FFF2-40B4-BE49-F238E27FC236}">
                <a16:creationId xmlns:a16="http://schemas.microsoft.com/office/drawing/2014/main" id="{7DC62E5A-3E45-C81E-5983-1B5DB18391AC}"/>
              </a:ext>
            </a:extLst>
          </p:cNvPr>
          <p:cNvSpPr txBox="1"/>
          <p:nvPr/>
        </p:nvSpPr>
        <p:spPr>
          <a:xfrm>
            <a:off x="7442525" y="2437016"/>
            <a:ext cx="1145406" cy="369332"/>
          </a:xfrm>
          <a:prstGeom prst="rect">
            <a:avLst/>
          </a:prstGeom>
          <a:noFill/>
          <a:ln>
            <a:solidFill>
              <a:srgbClr val="FF0000"/>
            </a:solidFill>
          </a:ln>
        </p:spPr>
        <p:txBody>
          <a:bodyPr wrap="square" rtlCol="0">
            <a:spAutoFit/>
          </a:bodyPr>
          <a:lstStyle/>
          <a:p>
            <a:endParaRPr lang="en-AU" dirty="0"/>
          </a:p>
        </p:txBody>
      </p:sp>
      <p:pic>
        <p:nvPicPr>
          <p:cNvPr id="11" name="Picture 10">
            <a:extLst>
              <a:ext uri="{FF2B5EF4-FFF2-40B4-BE49-F238E27FC236}">
                <a16:creationId xmlns:a16="http://schemas.microsoft.com/office/drawing/2014/main" id="{6F0E6551-1803-34FC-2916-B73BC2B7ED55}"/>
              </a:ext>
            </a:extLst>
          </p:cNvPr>
          <p:cNvPicPr>
            <a:picLocks noChangeAspect="1"/>
          </p:cNvPicPr>
          <p:nvPr/>
        </p:nvPicPr>
        <p:blipFill>
          <a:blip r:embed="rId3"/>
          <a:stretch>
            <a:fillRect/>
          </a:stretch>
        </p:blipFill>
        <p:spPr>
          <a:xfrm>
            <a:off x="1000394" y="2344816"/>
            <a:ext cx="8969106" cy="3674260"/>
          </a:xfrm>
          <a:prstGeom prst="rect">
            <a:avLst/>
          </a:prstGeom>
        </p:spPr>
      </p:pic>
      <p:sp>
        <p:nvSpPr>
          <p:cNvPr id="6" name="TextBox 5">
            <a:extLst>
              <a:ext uri="{FF2B5EF4-FFF2-40B4-BE49-F238E27FC236}">
                <a16:creationId xmlns:a16="http://schemas.microsoft.com/office/drawing/2014/main" id="{A69DA2F5-24BE-5BD2-1949-1DE2149B2151}"/>
              </a:ext>
            </a:extLst>
          </p:cNvPr>
          <p:cNvSpPr txBox="1"/>
          <p:nvPr/>
        </p:nvSpPr>
        <p:spPr>
          <a:xfrm>
            <a:off x="1083360" y="5784574"/>
            <a:ext cx="1649901" cy="212899"/>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880802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1D55-ED3B-9E20-C86C-0402411F0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86593-A060-8844-A696-1AF6F6A219EF}"/>
              </a:ext>
            </a:extLst>
          </p:cNvPr>
          <p:cNvSpPr>
            <a:spLocks noGrp="1"/>
          </p:cNvSpPr>
          <p:nvPr>
            <p:ph type="title"/>
          </p:nvPr>
        </p:nvSpPr>
        <p:spPr/>
        <p:txBody>
          <a:bodyPr>
            <a:normAutofit/>
          </a:bodyPr>
          <a:lstStyle/>
          <a:p>
            <a:r>
              <a:rPr lang="en-US" dirty="0"/>
              <a:t>exponential </a:t>
            </a:r>
            <a:r>
              <a:rPr lang="en-US" dirty="0">
                <a:solidFill>
                  <a:srgbClr val="FF0000"/>
                </a:solidFill>
              </a:rPr>
              <a:t>AFT model </a:t>
            </a:r>
            <a:r>
              <a:rPr lang="en-US" dirty="0"/>
              <a:t>– r example</a:t>
            </a:r>
            <a:endParaRPr lang="en-AU" dirty="0"/>
          </a:p>
        </p:txBody>
      </p:sp>
      <p:sp>
        <p:nvSpPr>
          <p:cNvPr id="3" name="Content Placeholder 2">
            <a:extLst>
              <a:ext uri="{FF2B5EF4-FFF2-40B4-BE49-F238E27FC236}">
                <a16:creationId xmlns:a16="http://schemas.microsoft.com/office/drawing/2014/main" id="{10E435DB-3B44-8196-9CDB-9ED118532B98}"/>
              </a:ext>
            </a:extLst>
          </p:cNvPr>
          <p:cNvSpPr>
            <a:spLocks noGrp="1"/>
          </p:cNvSpPr>
          <p:nvPr>
            <p:ph idx="1"/>
          </p:nvPr>
        </p:nvSpPr>
        <p:spPr>
          <a:xfrm>
            <a:off x="750366" y="1822302"/>
            <a:ext cx="10691265" cy="4303076"/>
          </a:xfrm>
        </p:spPr>
        <p:txBody>
          <a:bodyPr>
            <a:normAutofit/>
          </a:bodyPr>
          <a:lstStyle/>
          <a:p>
            <a:pPr>
              <a:spcAft>
                <a:spcPts val="1200"/>
              </a:spcAft>
            </a:pPr>
            <a:r>
              <a:rPr lang="en-US" sz="2200" dirty="0"/>
              <a:t>Estimated using </a:t>
            </a:r>
            <a:r>
              <a:rPr lang="en-US" sz="2200" dirty="0" err="1">
                <a:latin typeface="Courier New" panose="02070309020205020404" pitchFamily="49" charset="0"/>
                <a:cs typeface="Courier New" panose="02070309020205020404" pitchFamily="49" charset="0"/>
              </a:rPr>
              <a:t>survreg</a:t>
            </a:r>
            <a:r>
              <a:rPr lang="en-US" sz="2200" dirty="0"/>
              <a:t> from the </a:t>
            </a:r>
            <a:r>
              <a:rPr lang="en-US" sz="2200" dirty="0">
                <a:latin typeface="Courier New" panose="02070309020205020404" pitchFamily="49" charset="0"/>
                <a:cs typeface="Courier New" panose="02070309020205020404" pitchFamily="49" charset="0"/>
              </a:rPr>
              <a:t>survival</a:t>
            </a:r>
            <a:r>
              <a:rPr lang="en-US" sz="2200" dirty="0"/>
              <a:t> package (AFT formulation, </a:t>
            </a:r>
            <a:r>
              <a:rPr lang="en-US" dirty="0" err="1"/>
              <a:t>dist</a:t>
            </a:r>
            <a:r>
              <a:rPr lang="en-US" dirty="0"/>
              <a:t> = “exponential”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A30956CE-FD08-6AFF-550F-99B4E4C68786}"/>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B5570B0E-55A2-4CC6-EC27-6701DF0FFB23}"/>
              </a:ext>
            </a:extLst>
          </p:cNvPr>
          <p:cNvPicPr>
            <a:picLocks noChangeAspect="1"/>
          </p:cNvPicPr>
          <p:nvPr/>
        </p:nvPicPr>
        <p:blipFill>
          <a:blip r:embed="rId3"/>
          <a:stretch>
            <a:fillRect/>
          </a:stretch>
        </p:blipFill>
        <p:spPr>
          <a:xfrm>
            <a:off x="1077490" y="2221992"/>
            <a:ext cx="8817990" cy="3721608"/>
          </a:xfrm>
          <a:prstGeom prst="rect">
            <a:avLst/>
          </a:prstGeom>
        </p:spPr>
      </p:pic>
    </p:spTree>
    <p:extLst>
      <p:ext uri="{BB962C8B-B14F-4D97-AF65-F5344CB8AC3E}">
        <p14:creationId xmlns:p14="http://schemas.microsoft.com/office/powerpoint/2010/main" val="5956442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2F9D-93DE-686E-E2DA-923680A3C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57BFD-38C0-426A-EB6B-32455088BA30}"/>
              </a:ext>
            </a:extLst>
          </p:cNvPr>
          <p:cNvSpPr>
            <a:spLocks noGrp="1"/>
          </p:cNvSpPr>
          <p:nvPr>
            <p:ph type="title"/>
          </p:nvPr>
        </p:nvSpPr>
        <p:spPr/>
        <p:txBody>
          <a:bodyPr>
            <a:normAutofit/>
          </a:bodyPr>
          <a:lstStyle/>
          <a:p>
            <a:r>
              <a:rPr lang="en-US" dirty="0" err="1"/>
              <a:t>weibull</a:t>
            </a:r>
            <a:r>
              <a:rPr lang="en-US" dirty="0"/>
              <a:t> </a:t>
            </a:r>
            <a:r>
              <a:rPr lang="en-US" dirty="0" err="1">
                <a:solidFill>
                  <a:srgbClr val="FF0000"/>
                </a:solidFill>
              </a:rPr>
              <a:t>ph</a:t>
            </a:r>
            <a:r>
              <a:rPr lang="en-US" dirty="0">
                <a:solidFill>
                  <a:srgbClr val="FF0000"/>
                </a:solidFill>
              </a:rPr>
              <a:t> model </a:t>
            </a:r>
            <a:r>
              <a:rPr lang="en-US" dirty="0"/>
              <a:t>– r example</a:t>
            </a:r>
            <a:endParaRPr lang="en-AU" dirty="0"/>
          </a:p>
        </p:txBody>
      </p:sp>
      <p:sp>
        <p:nvSpPr>
          <p:cNvPr id="3" name="Content Placeholder 2">
            <a:extLst>
              <a:ext uri="{FF2B5EF4-FFF2-40B4-BE49-F238E27FC236}">
                <a16:creationId xmlns:a16="http://schemas.microsoft.com/office/drawing/2014/main" id="{F9397FEC-D46A-9D33-6820-3E71912EB182}"/>
              </a:ext>
            </a:extLst>
          </p:cNvPr>
          <p:cNvSpPr>
            <a:spLocks noGrp="1"/>
          </p:cNvSpPr>
          <p:nvPr>
            <p:ph idx="1"/>
          </p:nvPr>
        </p:nvSpPr>
        <p:spPr>
          <a:xfrm>
            <a:off x="750366" y="1822302"/>
            <a:ext cx="10691265" cy="4303076"/>
          </a:xfrm>
        </p:spPr>
        <p:txBody>
          <a:bodyPr>
            <a:normAutofit/>
          </a:bodyPr>
          <a:lstStyle/>
          <a:p>
            <a:pPr>
              <a:spcAft>
                <a:spcPts val="1200"/>
              </a:spcAft>
            </a:pPr>
            <a:r>
              <a:rPr lang="en-US" dirty="0"/>
              <a:t>Can be estimated using </a:t>
            </a:r>
            <a:r>
              <a:rPr lang="en-US" dirty="0" err="1">
                <a:latin typeface="Courier New" panose="02070309020205020404" pitchFamily="49" charset="0"/>
                <a:cs typeface="Courier New" panose="02070309020205020404" pitchFamily="49" charset="0"/>
              </a:rPr>
              <a:t>flexsurvreg</a:t>
            </a:r>
            <a:r>
              <a:rPr lang="en-US" dirty="0"/>
              <a:t> from the </a:t>
            </a:r>
            <a:r>
              <a:rPr lang="en-US" dirty="0" err="1">
                <a:latin typeface="Courier New" panose="02070309020205020404" pitchFamily="49" charset="0"/>
                <a:cs typeface="Courier New" panose="02070309020205020404" pitchFamily="49" charset="0"/>
              </a:rPr>
              <a:t>flexsurv</a:t>
            </a:r>
            <a:r>
              <a:rPr lang="en-US" dirty="0"/>
              <a:t> package (</a:t>
            </a:r>
            <a:r>
              <a:rPr lang="en-US" dirty="0" err="1"/>
              <a:t>dist</a:t>
            </a:r>
            <a:r>
              <a:rPr lang="en-US" dirty="0"/>
              <a:t> = </a:t>
            </a:r>
            <a:r>
              <a:rPr lang="en-US" sz="2400" dirty="0"/>
              <a:t>“</a:t>
            </a:r>
            <a:r>
              <a:rPr lang="en-US" sz="2400" dirty="0" err="1"/>
              <a:t>weibullPH</a:t>
            </a:r>
            <a:r>
              <a:rPr lang="en-US" sz="24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0182A47C-86E3-9624-9DA4-BF7654D16CFE}"/>
              </a:ext>
            </a:extLst>
          </p:cNvPr>
          <p:cNvSpPr>
            <a:spLocks noGrp="1"/>
          </p:cNvSpPr>
          <p:nvPr>
            <p:ph type="ftr" sz="quarter" idx="11"/>
          </p:nvPr>
        </p:nvSpPr>
        <p:spPr/>
        <p:txBody>
          <a:bodyPr/>
          <a:lstStyle/>
          <a:p>
            <a:r>
              <a:rPr lang="en-US" dirty="0"/>
              <a:t>maarit.laaksonen@sydney.edu.au</a:t>
            </a:r>
          </a:p>
        </p:txBody>
      </p:sp>
      <p:pic>
        <p:nvPicPr>
          <p:cNvPr id="11" name="Picture 10">
            <a:extLst>
              <a:ext uri="{FF2B5EF4-FFF2-40B4-BE49-F238E27FC236}">
                <a16:creationId xmlns:a16="http://schemas.microsoft.com/office/drawing/2014/main" id="{0177A3C7-227F-13CE-C55C-7F404B50266D}"/>
              </a:ext>
            </a:extLst>
          </p:cNvPr>
          <p:cNvPicPr>
            <a:picLocks noChangeAspect="1"/>
          </p:cNvPicPr>
          <p:nvPr/>
        </p:nvPicPr>
        <p:blipFill>
          <a:blip r:embed="rId3"/>
          <a:stretch>
            <a:fillRect/>
          </a:stretch>
        </p:blipFill>
        <p:spPr>
          <a:xfrm>
            <a:off x="1093358" y="2221992"/>
            <a:ext cx="8724991" cy="3801121"/>
          </a:xfrm>
          <a:prstGeom prst="rect">
            <a:avLst/>
          </a:prstGeom>
        </p:spPr>
      </p:pic>
      <p:sp>
        <p:nvSpPr>
          <p:cNvPr id="5" name="TextBox 4">
            <a:extLst>
              <a:ext uri="{FF2B5EF4-FFF2-40B4-BE49-F238E27FC236}">
                <a16:creationId xmlns:a16="http://schemas.microsoft.com/office/drawing/2014/main" id="{2B693812-1F24-7F5F-C25E-CC3A469C5DB3}"/>
              </a:ext>
            </a:extLst>
          </p:cNvPr>
          <p:cNvSpPr txBox="1"/>
          <p:nvPr/>
        </p:nvSpPr>
        <p:spPr>
          <a:xfrm>
            <a:off x="1093358" y="5750255"/>
            <a:ext cx="1698078" cy="258896"/>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528524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062AF-86A8-E588-DA17-EEF9C962B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816A2-5173-7EAE-468C-00578BCD5C8E}"/>
              </a:ext>
            </a:extLst>
          </p:cNvPr>
          <p:cNvSpPr>
            <a:spLocks noGrp="1"/>
          </p:cNvSpPr>
          <p:nvPr>
            <p:ph type="title"/>
          </p:nvPr>
        </p:nvSpPr>
        <p:spPr/>
        <p:txBody>
          <a:bodyPr>
            <a:normAutofit/>
          </a:bodyPr>
          <a:lstStyle/>
          <a:p>
            <a:r>
              <a:rPr lang="en-US" dirty="0" err="1"/>
              <a:t>weibull</a:t>
            </a:r>
            <a:r>
              <a:rPr lang="en-US" dirty="0"/>
              <a:t> </a:t>
            </a:r>
            <a:r>
              <a:rPr lang="en-US" dirty="0">
                <a:solidFill>
                  <a:srgbClr val="FF0000"/>
                </a:solidFill>
              </a:rPr>
              <a:t>AFT model </a:t>
            </a:r>
            <a:r>
              <a:rPr lang="en-US" dirty="0"/>
              <a:t>– r example</a:t>
            </a:r>
            <a:endParaRPr lang="en-AU" dirty="0"/>
          </a:p>
        </p:txBody>
      </p:sp>
      <p:sp>
        <p:nvSpPr>
          <p:cNvPr id="3" name="Content Placeholder 2">
            <a:extLst>
              <a:ext uri="{FF2B5EF4-FFF2-40B4-BE49-F238E27FC236}">
                <a16:creationId xmlns:a16="http://schemas.microsoft.com/office/drawing/2014/main" id="{D4DA88A5-A512-FE0E-428C-0907DA298C24}"/>
              </a:ext>
            </a:extLst>
          </p:cNvPr>
          <p:cNvSpPr>
            <a:spLocks noGrp="1"/>
          </p:cNvSpPr>
          <p:nvPr>
            <p:ph idx="1"/>
          </p:nvPr>
        </p:nvSpPr>
        <p:spPr>
          <a:xfrm>
            <a:off x="750366" y="1822302"/>
            <a:ext cx="10691265" cy="4303076"/>
          </a:xfrm>
        </p:spPr>
        <p:txBody>
          <a:bodyPr>
            <a:normAutofit/>
          </a:bodyPr>
          <a:lstStyle/>
          <a:p>
            <a:pPr>
              <a:spcAft>
                <a:spcPts val="1200"/>
              </a:spcAft>
            </a:pPr>
            <a:r>
              <a:rPr lang="en-US" sz="2200" dirty="0"/>
              <a:t>Can also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weibull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E2F8EF48-C51C-9116-5F13-2462FACA2FE4}"/>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DA47B76F-A65A-F9D3-58F5-CB154A10F878}"/>
              </a:ext>
            </a:extLst>
          </p:cNvPr>
          <p:cNvPicPr>
            <a:picLocks noChangeAspect="1"/>
          </p:cNvPicPr>
          <p:nvPr/>
        </p:nvPicPr>
        <p:blipFill>
          <a:blip r:embed="rId3"/>
          <a:stretch>
            <a:fillRect/>
          </a:stretch>
        </p:blipFill>
        <p:spPr>
          <a:xfrm>
            <a:off x="1044153" y="2221992"/>
            <a:ext cx="9329426" cy="3708226"/>
          </a:xfrm>
          <a:prstGeom prst="rect">
            <a:avLst/>
          </a:prstGeom>
        </p:spPr>
      </p:pic>
      <p:pic>
        <p:nvPicPr>
          <p:cNvPr id="6" name="Picture 5">
            <a:extLst>
              <a:ext uri="{FF2B5EF4-FFF2-40B4-BE49-F238E27FC236}">
                <a16:creationId xmlns:a16="http://schemas.microsoft.com/office/drawing/2014/main" id="{313EB6A0-4AAC-2758-15FD-771478B9765C}"/>
              </a:ext>
            </a:extLst>
          </p:cNvPr>
          <p:cNvPicPr>
            <a:picLocks noChangeAspect="1"/>
          </p:cNvPicPr>
          <p:nvPr/>
        </p:nvPicPr>
        <p:blipFill>
          <a:blip r:embed="rId4"/>
          <a:stretch>
            <a:fillRect/>
          </a:stretch>
        </p:blipFill>
        <p:spPr>
          <a:xfrm>
            <a:off x="1044153" y="5635486"/>
            <a:ext cx="1589717" cy="269997"/>
          </a:xfrm>
          <a:prstGeom prst="rect">
            <a:avLst/>
          </a:prstGeom>
        </p:spPr>
      </p:pic>
    </p:spTree>
    <p:extLst>
      <p:ext uri="{BB962C8B-B14F-4D97-AF65-F5344CB8AC3E}">
        <p14:creationId xmlns:p14="http://schemas.microsoft.com/office/powerpoint/2010/main" val="3544848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921B-B32D-CEA1-56F3-A6A7C5019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A2078-C79D-C7A2-91F3-CBBFCFF05F17}"/>
              </a:ext>
            </a:extLst>
          </p:cNvPr>
          <p:cNvSpPr>
            <a:spLocks noGrp="1"/>
          </p:cNvSpPr>
          <p:nvPr>
            <p:ph type="title"/>
          </p:nvPr>
        </p:nvSpPr>
        <p:spPr/>
        <p:txBody>
          <a:bodyPr/>
          <a:lstStyle/>
          <a:p>
            <a:r>
              <a:rPr lang="en-US" dirty="0"/>
              <a:t>Log-logistic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5C7761-78E3-4C16-067C-826D70B2DF90}"/>
                  </a:ext>
                </a:extLst>
              </p:cNvPr>
              <p:cNvSpPr>
                <a:spLocks noGrp="1"/>
              </p:cNvSpPr>
              <p:nvPr>
                <p:ph idx="1"/>
              </p:nvPr>
            </p:nvSpPr>
            <p:spPr/>
            <p:txBody>
              <a:bodyPr>
                <a:normAutofit/>
              </a:bodyPr>
              <a:lstStyle/>
              <a:p>
                <a:r>
                  <a:rPr lang="en-US" dirty="0"/>
                  <a:t>One limitation of the Weibull hazard function is that it is a monotonic function of time, and situations in which the hazard function changes direction can arise (e.g., transplantation)</a:t>
                </a:r>
              </a:p>
              <a:p>
                <a:r>
                  <a:rPr lang="en-US" dirty="0"/>
                  <a:t>The log-logistic distribution allows more flexibility in the shape of the hazard function:</a:t>
                </a:r>
              </a:p>
              <a:p>
                <a:pPr lvl="1">
                  <a:buClr>
                    <a:schemeClr val="bg1"/>
                  </a:buClr>
                </a:pPr>
                <a14:m>
                  <m:oMath xmlns:m="http://schemas.openxmlformats.org/officeDocument/2006/math">
                    <m:r>
                      <m:rPr>
                        <m:sty m:val="p"/>
                      </m:rPr>
                      <a:rPr lang="en-AU" sz="2000" i="1">
                        <a:latin typeface="Cambria Math" panose="02040503050406030204" pitchFamily="18" charset="0"/>
                      </a:rPr>
                      <m:t>h</m:t>
                    </m:r>
                    <m:r>
                      <a:rPr lang="en-AU" sz="2000" i="1">
                        <a:latin typeface="Cambria Math" panose="02040503050406030204" pitchFamily="18" charset="0"/>
                      </a:rPr>
                      <m:t>(</m:t>
                    </m:r>
                    <m:r>
                      <m:rPr>
                        <m:sty m:val="p"/>
                      </m:rPr>
                      <a:rPr lang="en-AU" sz="2000" i="1">
                        <a:latin typeface="Cambria Math" panose="02040503050406030204" pitchFamily="18" charset="0"/>
                      </a:rPr>
                      <m:t>t</m:t>
                    </m:r>
                    <m:r>
                      <a:rPr lang="en-AU" sz="2000" i="1">
                        <a:latin typeface="Cambria Math" panose="02040503050406030204" pitchFamily="18" charset="0"/>
                      </a:rPr>
                      <m:t>)=</m:t>
                    </m:r>
                    <m:f>
                      <m:fPr>
                        <m:ctrlPr>
                          <a:rPr lang="en-AU" sz="2000" i="1" smtClean="0">
                            <a:latin typeface="Cambria Math" panose="02040503050406030204" pitchFamily="18" charset="0"/>
                          </a:rPr>
                        </m:ctrlPr>
                      </m:fPr>
                      <m:num>
                        <m:r>
                          <m:rPr>
                            <m:sty m:val="p"/>
                          </m:rPr>
                          <a:rPr lang="en-AU" sz="2000" i="1">
                            <a:latin typeface="Cambria Math" panose="02040503050406030204" pitchFamily="18" charset="0"/>
                          </a:rPr>
                          <m:t>λ</m:t>
                        </m:r>
                        <m:r>
                          <a:rPr lang="en-AU" sz="2000" i="1">
                            <a:latin typeface="Cambria Math" panose="02040503050406030204" pitchFamily="18" charset="0"/>
                          </a:rPr>
                          <m:t>𝛾</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AU" sz="2000" i="1">
                                <a:latin typeface="Cambria Math" panose="02040503050406030204" pitchFamily="18" charset="0"/>
                              </a:rPr>
                              <m:t>𝛾</m:t>
                            </m:r>
                            <m:r>
                              <a:rPr lang="en-AU" sz="2000" i="1">
                                <a:latin typeface="Cambria Math" panose="02040503050406030204" pitchFamily="18" charset="0"/>
                              </a:rPr>
                              <m:t>−1 </m:t>
                            </m:r>
                          </m:sup>
                        </m:sSup>
                      </m:num>
                      <m:den>
                        <m:r>
                          <a:rPr lang="en-US" sz="2000" b="0" i="1" smtClean="0">
                            <a:latin typeface="Cambria Math" panose="02040503050406030204" pitchFamily="18" charset="0"/>
                          </a:rPr>
                          <m:t>1+</m:t>
                        </m:r>
                        <m:r>
                          <a:rPr lang="en-US" sz="2000" b="0" i="1" smtClean="0">
                            <a:latin typeface="Cambria Math" panose="02040503050406030204" pitchFamily="18" charset="0"/>
                          </a:rPr>
                          <m:t>𝜆</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US" sz="2000" b="0" i="1" smtClean="0">
                                <a:latin typeface="Cambria Math" panose="02040503050406030204" pitchFamily="18" charset="0"/>
                              </a:rPr>
                              <m:t>𝛾</m:t>
                            </m:r>
                            <m:r>
                              <a:rPr lang="en-AU" sz="2000" i="1">
                                <a:latin typeface="Cambria Math" panose="02040503050406030204" pitchFamily="18" charset="0"/>
                              </a:rPr>
                              <m:t> </m:t>
                            </m:r>
                          </m:sup>
                        </m:sSup>
                      </m:den>
                    </m:f>
                  </m:oMath>
                </a14:m>
                <a:endParaRPr lang="en-US" sz="2000" dirty="0"/>
              </a:p>
              <a:p>
                <a:pPr lvl="1">
                  <a:buClr>
                    <a:schemeClr val="bg1"/>
                  </a:buClr>
                </a:pPr>
                <a14:m>
                  <m:oMath xmlns:m="http://schemas.openxmlformats.org/officeDocument/2006/math">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f>
                      <m:fPr>
                        <m:ctrlPr>
                          <a:rPr lang="en-AU" sz="2000" i="1">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rPr>
                          <m:t>1+</m:t>
                        </m:r>
                        <m:r>
                          <a:rPr lang="en-US" sz="2000" i="1">
                            <a:latin typeface="Cambria Math" panose="02040503050406030204" pitchFamily="18" charset="0"/>
                          </a:rPr>
                          <m:t>𝜆</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US" sz="2000" i="1">
                                <a:latin typeface="Cambria Math" panose="02040503050406030204" pitchFamily="18" charset="0"/>
                              </a:rPr>
                              <m:t>𝛾</m:t>
                            </m:r>
                            <m:r>
                              <a:rPr lang="en-AU" sz="2000" i="1">
                                <a:latin typeface="Cambria Math" panose="02040503050406030204" pitchFamily="18" charset="0"/>
                              </a:rPr>
                              <m:t> </m:t>
                            </m:r>
                          </m:sup>
                        </m:sSup>
                      </m:den>
                    </m:f>
                  </m:oMath>
                </a14:m>
                <a:endParaRPr lang="en-US" sz="2000" dirty="0"/>
              </a:p>
              <a:p>
                <a:pPr lvl="1">
                  <a:buClr>
                    <a:schemeClr val="bg1"/>
                  </a:buClr>
                </a:pPr>
                <a14:m>
                  <m:oMath xmlns:m="http://schemas.openxmlformats.org/officeDocument/2006/math">
                    <m:r>
                      <a:rPr lang="en-AU" sz="2000" i="1">
                        <a:latin typeface="Cambria Math" panose="02040503050406030204" pitchFamily="18" charset="0"/>
                      </a:rPr>
                      <m:t>𝑓</m:t>
                    </m:r>
                    <m:d>
                      <m:dPr>
                        <m:ctrlPr>
                          <a:rPr lang="en-AU" sz="2000" i="1">
                            <a:latin typeface="Cambria Math" panose="02040503050406030204" pitchFamily="18" charset="0"/>
                          </a:rPr>
                        </m:ctrlPr>
                      </m:dPr>
                      <m:e>
                        <m:r>
                          <a:rPr lang="en-AU" sz="2000" i="1">
                            <a:latin typeface="Cambria Math" panose="02040503050406030204" pitchFamily="18" charset="0"/>
                          </a:rPr>
                          <m:t>𝑡</m:t>
                        </m:r>
                      </m:e>
                    </m:d>
                    <m:r>
                      <a:rPr lang="en-AU" sz="2000" i="1">
                        <a:latin typeface="Cambria Math" panose="02040503050406030204" pitchFamily="18" charset="0"/>
                      </a:rPr>
                      <m:t>=</m:t>
                    </m:r>
                    <m:f>
                      <m:fPr>
                        <m:ctrlPr>
                          <a:rPr lang="en-AU" sz="2000" i="1" smtClean="0">
                            <a:latin typeface="Cambria Math" panose="02040503050406030204" pitchFamily="18" charset="0"/>
                          </a:rPr>
                        </m:ctrlPr>
                      </m:fPr>
                      <m:num>
                        <m:r>
                          <m:rPr>
                            <m:sty m:val="p"/>
                          </m:rPr>
                          <a:rPr lang="en-AU" sz="2000" i="1">
                            <a:latin typeface="Cambria Math" panose="02040503050406030204" pitchFamily="18" charset="0"/>
                          </a:rPr>
                          <m:t>λ</m:t>
                        </m:r>
                        <m:r>
                          <a:rPr lang="en-AU" sz="2000" i="1">
                            <a:latin typeface="Cambria Math" panose="02040503050406030204" pitchFamily="18" charset="0"/>
                          </a:rPr>
                          <m:t>𝛾</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AU" sz="2000" i="1">
                                <a:latin typeface="Cambria Math" panose="02040503050406030204" pitchFamily="18" charset="0"/>
                              </a:rPr>
                              <m:t>𝛾</m:t>
                            </m:r>
                            <m:r>
                              <a:rPr lang="en-AU" sz="2000" i="1">
                                <a:latin typeface="Cambria Math" panose="02040503050406030204" pitchFamily="18" charset="0"/>
                              </a:rPr>
                              <m:t>−1 </m:t>
                            </m:r>
                          </m:sup>
                        </m:sSup>
                      </m:num>
                      <m:den>
                        <m:sSup>
                          <m:sSupPr>
                            <m:ctrlPr>
                              <a:rPr lang="en-AU" sz="2000" i="1" smtClean="0">
                                <a:latin typeface="Cambria Math" panose="02040503050406030204" pitchFamily="18" charset="0"/>
                              </a:rPr>
                            </m:ctrlPr>
                          </m:sSupPr>
                          <m:e>
                            <m:d>
                              <m:dPr>
                                <m:ctrlPr>
                                  <a:rPr lang="en-AU" sz="2000" i="1" smtClean="0">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𝜆</m:t>
                                </m:r>
                                <m:sSup>
                                  <m:sSupPr>
                                    <m:ctrlPr>
                                      <a:rPr lang="en-AU" sz="2000" i="1">
                                        <a:latin typeface="Cambria Math" panose="02040503050406030204" pitchFamily="18" charset="0"/>
                                      </a:rPr>
                                    </m:ctrlPr>
                                  </m:sSupPr>
                                  <m:e>
                                    <m:r>
                                      <a:rPr lang="en-AU" sz="2000" i="1">
                                        <a:latin typeface="Cambria Math" panose="02040503050406030204" pitchFamily="18" charset="0"/>
                                      </a:rPr>
                                      <m:t>𝑡</m:t>
                                    </m:r>
                                  </m:e>
                                  <m:sup>
                                    <m:r>
                                      <a:rPr lang="en-US" sz="2000" i="1">
                                        <a:latin typeface="Cambria Math" panose="02040503050406030204" pitchFamily="18" charset="0"/>
                                      </a:rPr>
                                      <m:t>𝛾</m:t>
                                    </m:r>
                                    <m:r>
                                      <a:rPr lang="en-AU" sz="2000" i="1">
                                        <a:latin typeface="Cambria Math" panose="02040503050406030204" pitchFamily="18" charset="0"/>
                                      </a:rPr>
                                      <m:t> </m:t>
                                    </m:r>
                                  </m:sup>
                                </m:sSup>
                              </m:e>
                            </m:d>
                          </m:e>
                          <m:sup>
                            <m:r>
                              <a:rPr lang="en-US" sz="2000" b="0" i="1" smtClean="0">
                                <a:latin typeface="Cambria Math" panose="02040503050406030204" pitchFamily="18" charset="0"/>
                              </a:rPr>
                              <m:t>2</m:t>
                            </m:r>
                          </m:sup>
                        </m:sSup>
                      </m:den>
                    </m:f>
                  </m:oMath>
                </a14:m>
                <a:endParaRPr lang="en-US" sz="2000" dirty="0"/>
              </a:p>
              <a:p>
                <a:r>
                  <a:rPr lang="en-US" dirty="0"/>
                  <a:t>I</a:t>
                </a:r>
                <a14:m>
                  <m:oMath xmlns:m="http://schemas.openxmlformats.org/officeDocument/2006/math">
                    <m:r>
                      <m:rPr>
                        <m:sty m:val="p"/>
                      </m:rPr>
                      <a:rPr lang="en-US" b="0" i="0" smtClean="0">
                        <a:latin typeface="Cambria Math" panose="02040503050406030204" pitchFamily="18" charset="0"/>
                      </a:rPr>
                      <m:t>f</m:t>
                    </m:r>
                    <m:r>
                      <a:rPr lang="en-US" b="0" i="0" smtClean="0">
                        <a:latin typeface="Cambria Math" panose="02040503050406030204" pitchFamily="18" charset="0"/>
                      </a:rPr>
                      <m:t> </m:t>
                    </m:r>
                    <m:r>
                      <a:rPr lang="en-AU" i="1">
                        <a:latin typeface="Cambria Math" panose="02040503050406030204" pitchFamily="18" charset="0"/>
                      </a:rPr>
                      <m:t>𝛾</m:t>
                    </m:r>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1</m:t>
                    </m:r>
                  </m:oMath>
                </a14:m>
                <a:r>
                  <a:rPr lang="en-US" dirty="0"/>
                  <a:t> hazard decreases over time, if </a:t>
                </a:r>
                <a14:m>
                  <m:oMath xmlns:m="http://schemas.openxmlformats.org/officeDocument/2006/math">
                    <m:r>
                      <a:rPr lang="en-AU" i="1">
                        <a:latin typeface="Cambria Math" panose="02040503050406030204" pitchFamily="18" charset="0"/>
                      </a:rPr>
                      <m:t>𝛾</m:t>
                    </m:r>
                    <m:r>
                      <a:rPr lang="en-US" b="0" i="1" smtClean="0">
                        <a:latin typeface="Cambria Math" panose="02040503050406030204" pitchFamily="18" charset="0"/>
                      </a:rPr>
                      <m:t>&gt;</m:t>
                    </m:r>
                    <m:r>
                      <a:rPr lang="en-AU" i="1">
                        <a:latin typeface="Cambria Math" panose="02040503050406030204" pitchFamily="18" charset="0"/>
                      </a:rPr>
                      <m:t>1</m:t>
                    </m:r>
                  </m:oMath>
                </a14:m>
                <a:r>
                  <a:rPr lang="en-US" dirty="0"/>
                  <a:t> hazard first increases and then decreases over time</a:t>
                </a:r>
              </a:p>
            </p:txBody>
          </p:sp>
        </mc:Choice>
        <mc:Fallback xmlns="">
          <p:sp>
            <p:nvSpPr>
              <p:cNvPr id="3" name="Content Placeholder 2">
                <a:extLst>
                  <a:ext uri="{FF2B5EF4-FFF2-40B4-BE49-F238E27FC236}">
                    <a16:creationId xmlns:a16="http://schemas.microsoft.com/office/drawing/2014/main" id="{4C5C7761-78E3-4C16-067C-826D70B2DF90}"/>
                  </a:ext>
                </a:extLst>
              </p:cNvPr>
              <p:cNvSpPr>
                <a:spLocks noGrp="1" noRot="1" noChangeAspect="1" noMove="1" noResize="1" noEditPoints="1" noAdjustHandles="1" noChangeArrowheads="1" noChangeShapeType="1" noTextEdit="1"/>
              </p:cNvSpPr>
              <p:nvPr>
                <p:ph idx="1"/>
              </p:nvPr>
            </p:nvSpPr>
            <p:spPr>
              <a:blipFill>
                <a:blip r:embed="rId3"/>
                <a:stretch>
                  <a:fillRect l="-513" t="-816" r="-114"/>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0C497111-4E03-960A-BE7D-73E2691CBB1A}"/>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3611042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7567-B7BF-B53C-2192-02A9C8C6C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99977-022B-281B-69DB-04DBCFA7784F}"/>
              </a:ext>
            </a:extLst>
          </p:cNvPr>
          <p:cNvSpPr>
            <a:spLocks noGrp="1"/>
          </p:cNvSpPr>
          <p:nvPr>
            <p:ph type="title"/>
          </p:nvPr>
        </p:nvSpPr>
        <p:spPr/>
        <p:txBody>
          <a:bodyPr>
            <a:normAutofit fontScale="90000"/>
          </a:bodyPr>
          <a:lstStyle/>
          <a:p>
            <a:r>
              <a:rPr lang="en-US" dirty="0"/>
              <a:t>Log-logistic distribution – hazard function</a:t>
            </a:r>
            <a:endParaRPr lang="en-AU" dirty="0"/>
          </a:p>
        </p:txBody>
      </p:sp>
      <p:sp>
        <p:nvSpPr>
          <p:cNvPr id="4" name="Footer Placeholder 3">
            <a:extLst>
              <a:ext uri="{FF2B5EF4-FFF2-40B4-BE49-F238E27FC236}">
                <a16:creationId xmlns:a16="http://schemas.microsoft.com/office/drawing/2014/main" id="{BA3B89BC-6F8A-43E2-69F2-541A273991B0}"/>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4B7CB4AA-B582-F631-FB19-9A707DF2BC14}"/>
              </a:ext>
            </a:extLst>
          </p:cNvPr>
          <p:cNvPicPr>
            <a:picLocks noChangeAspect="1"/>
          </p:cNvPicPr>
          <p:nvPr/>
        </p:nvPicPr>
        <p:blipFill>
          <a:blip r:embed="rId3"/>
          <a:stretch>
            <a:fillRect/>
          </a:stretch>
        </p:blipFill>
        <p:spPr>
          <a:xfrm>
            <a:off x="2060741" y="1543257"/>
            <a:ext cx="6551963" cy="4501283"/>
          </a:xfrm>
          <a:prstGeom prst="rect">
            <a:avLst/>
          </a:prstGeom>
        </p:spPr>
      </p:pic>
    </p:spTree>
    <p:extLst>
      <p:ext uri="{BB962C8B-B14F-4D97-AF65-F5344CB8AC3E}">
        <p14:creationId xmlns:p14="http://schemas.microsoft.com/office/powerpoint/2010/main" val="3794198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0B4B-B4A7-26A9-F490-0D693BE0F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2C4D3-D34B-3A73-CB9B-57117C42F3DE}"/>
              </a:ext>
            </a:extLst>
          </p:cNvPr>
          <p:cNvSpPr>
            <a:spLocks noGrp="1"/>
          </p:cNvSpPr>
          <p:nvPr>
            <p:ph type="title"/>
          </p:nvPr>
        </p:nvSpPr>
        <p:spPr/>
        <p:txBody>
          <a:bodyPr>
            <a:normAutofit fontScale="90000"/>
          </a:bodyPr>
          <a:lstStyle/>
          <a:p>
            <a:r>
              <a:rPr lang="en-US" dirty="0"/>
              <a:t>Log-logistic distribution– survival function</a:t>
            </a:r>
            <a:endParaRPr lang="en-AU" dirty="0"/>
          </a:p>
        </p:txBody>
      </p:sp>
      <p:sp>
        <p:nvSpPr>
          <p:cNvPr id="4" name="Footer Placeholder 3">
            <a:extLst>
              <a:ext uri="{FF2B5EF4-FFF2-40B4-BE49-F238E27FC236}">
                <a16:creationId xmlns:a16="http://schemas.microsoft.com/office/drawing/2014/main" id="{CE5F2A93-908D-AE96-F6A4-5FFC5CECDD69}"/>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54C725C8-F886-D41C-28AB-21F0BF145EA2}"/>
              </a:ext>
            </a:extLst>
          </p:cNvPr>
          <p:cNvPicPr>
            <a:picLocks noChangeAspect="1"/>
          </p:cNvPicPr>
          <p:nvPr/>
        </p:nvPicPr>
        <p:blipFill>
          <a:blip r:embed="rId3"/>
          <a:stretch>
            <a:fillRect/>
          </a:stretch>
        </p:blipFill>
        <p:spPr>
          <a:xfrm>
            <a:off x="2059422" y="1568197"/>
            <a:ext cx="6595052" cy="4530886"/>
          </a:xfrm>
          <a:prstGeom prst="rect">
            <a:avLst/>
          </a:prstGeom>
        </p:spPr>
      </p:pic>
    </p:spTree>
    <p:extLst>
      <p:ext uri="{BB962C8B-B14F-4D97-AF65-F5344CB8AC3E}">
        <p14:creationId xmlns:p14="http://schemas.microsoft.com/office/powerpoint/2010/main" val="20073253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DAC71-3357-6DD0-24DE-31FC5CC03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74F4C-7B87-69A6-ABAD-2A22E25857DE}"/>
              </a:ext>
            </a:extLst>
          </p:cNvPr>
          <p:cNvSpPr>
            <a:spLocks noGrp="1"/>
          </p:cNvSpPr>
          <p:nvPr>
            <p:ph type="title"/>
          </p:nvPr>
        </p:nvSpPr>
        <p:spPr>
          <a:xfrm>
            <a:off x="700635" y="914400"/>
            <a:ext cx="11140383" cy="1307592"/>
          </a:xfrm>
        </p:spPr>
        <p:txBody>
          <a:bodyPr>
            <a:normAutofit/>
          </a:bodyPr>
          <a:lstStyle/>
          <a:p>
            <a:r>
              <a:rPr lang="en-US" sz="3400" dirty="0"/>
              <a:t>Log-logistic distribution– probability density function</a:t>
            </a:r>
            <a:endParaRPr lang="en-AU" sz="3400" dirty="0"/>
          </a:p>
        </p:txBody>
      </p:sp>
      <p:sp>
        <p:nvSpPr>
          <p:cNvPr id="4" name="Footer Placeholder 3">
            <a:extLst>
              <a:ext uri="{FF2B5EF4-FFF2-40B4-BE49-F238E27FC236}">
                <a16:creationId xmlns:a16="http://schemas.microsoft.com/office/drawing/2014/main" id="{998D86AA-10DD-09B0-4750-3A7593C62AEC}"/>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EB562A9E-421F-B0CD-D825-F735EC9BC8ED}"/>
              </a:ext>
            </a:extLst>
          </p:cNvPr>
          <p:cNvPicPr>
            <a:picLocks noChangeAspect="1"/>
          </p:cNvPicPr>
          <p:nvPr/>
        </p:nvPicPr>
        <p:blipFill>
          <a:blip r:embed="rId3"/>
          <a:stretch>
            <a:fillRect/>
          </a:stretch>
        </p:blipFill>
        <p:spPr>
          <a:xfrm>
            <a:off x="3084136" y="1568196"/>
            <a:ext cx="6373379" cy="4378595"/>
          </a:xfrm>
          <a:prstGeom prst="rect">
            <a:avLst/>
          </a:prstGeom>
        </p:spPr>
      </p:pic>
    </p:spTree>
    <p:extLst>
      <p:ext uri="{BB962C8B-B14F-4D97-AF65-F5344CB8AC3E}">
        <p14:creationId xmlns:p14="http://schemas.microsoft.com/office/powerpoint/2010/main" val="10635993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AD46-3E29-76DD-0BA4-940C1B7D3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55BD7-6ECA-211C-3107-766791232232}"/>
              </a:ext>
            </a:extLst>
          </p:cNvPr>
          <p:cNvSpPr>
            <a:spLocks noGrp="1"/>
          </p:cNvSpPr>
          <p:nvPr>
            <p:ph type="title"/>
          </p:nvPr>
        </p:nvSpPr>
        <p:spPr>
          <a:xfrm>
            <a:off x="700635" y="914400"/>
            <a:ext cx="10901557" cy="1307592"/>
          </a:xfrm>
        </p:spPr>
        <p:txBody>
          <a:bodyPr>
            <a:normAutofit fontScale="90000"/>
          </a:bodyPr>
          <a:lstStyle/>
          <a:p>
            <a:r>
              <a:rPr lang="en-US" dirty="0"/>
              <a:t>Modelling approaches – log-logistic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E15D4D-4A34-80CB-5D95-0F920C817B4E}"/>
                  </a:ext>
                </a:extLst>
              </p:cNvPr>
              <p:cNvSpPr>
                <a:spLocks noGrp="1"/>
              </p:cNvSpPr>
              <p:nvPr>
                <p:ph idx="1"/>
              </p:nvPr>
            </p:nvSpPr>
            <p:spPr>
              <a:xfrm>
                <a:off x="700634" y="2221992"/>
                <a:ext cx="11273651" cy="3739896"/>
              </a:xfrm>
            </p:spPr>
            <p:txBody>
              <a:bodyPr>
                <a:normAutofit/>
              </a:bodyPr>
              <a:lstStyle/>
              <a:p>
                <a:pPr>
                  <a:spcAft>
                    <a:spcPts val="1200"/>
                  </a:spcAft>
                </a:pPr>
                <a:r>
                  <a:rPr lang="en-US" dirty="0"/>
                  <a:t>The log-logistic distribution accommodates an AFT model but not a PH model</a:t>
                </a:r>
              </a:p>
              <a:p>
                <a:pPr>
                  <a:spcAft>
                    <a:spcPts val="1200"/>
                  </a:spcAft>
                </a:pPr>
                <a:r>
                  <a:rPr lang="en-US" dirty="0"/>
                  <a:t>The covariates act as a multiplier on time, which matches the AFT assumption</a:t>
                </a:r>
              </a:p>
              <a:p>
                <a:pPr>
                  <a:spcAft>
                    <a:spcPts val="1200"/>
                  </a:spcAft>
                </a:pPr>
                <a:r>
                  <a:rPr lang="en-US" dirty="0"/>
                  <a:t>When calculating the hazard ratio for a log-logistic model, the </a:t>
                </a:r>
                <a:r>
                  <a:rPr lang="en-US" i="1" dirty="0"/>
                  <a:t>t </a:t>
                </a:r>
                <a:r>
                  <a:rPr lang="en-US" dirty="0"/>
                  <a:t>terms do not cancel out:</a:t>
                </a:r>
              </a:p>
              <a:p>
                <a:pPr>
                  <a:spcAft>
                    <a:spcPts val="1200"/>
                  </a:spcAft>
                  <a:buClr>
                    <a:schemeClr val="bg1"/>
                  </a:buClr>
                </a:pPr>
                <a:r>
                  <a:rPr lang="en-US" dirty="0"/>
                  <a:t>HR </a:t>
                </a:r>
                <a14:m>
                  <m:oMath xmlns:m="http://schemas.openxmlformats.org/officeDocument/2006/math">
                    <m:r>
                      <a:rPr lang="en-AU" i="1">
                        <a:latin typeface="Cambria Math" panose="02040503050406030204" pitchFamily="18" charset="0"/>
                      </a:rPr>
                      <m:t>=</m:t>
                    </m:r>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num>
                      <m:den>
                        <m:r>
                          <a:rPr lang="en-US" i="1">
                            <a:latin typeface="Cambria Math" panose="02040503050406030204" pitchFamily="18" charset="0"/>
                          </a:rPr>
                          <m:t>1+</m:t>
                        </m:r>
                        <m:sSub>
                          <m:sSubPr>
                            <m:ctrlPr>
                              <a:rPr lang="en-AU"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sSup>
                          <m:sSupPr>
                            <m:ctrlPr>
                              <a:rPr lang="en-AU" i="1">
                                <a:latin typeface="Cambria Math" panose="02040503050406030204" pitchFamily="18" charset="0"/>
                              </a:rPr>
                            </m:ctrlPr>
                          </m:sSupPr>
                          <m:e>
                            <m:r>
                              <a:rPr lang="en-AU" i="1">
                                <a:latin typeface="Cambria Math" panose="02040503050406030204" pitchFamily="18" charset="0"/>
                              </a:rPr>
                              <m:t>𝑡</m:t>
                            </m:r>
                          </m:e>
                          <m:sup>
                            <m:r>
                              <a:rPr lang="en-US" i="1">
                                <a:latin typeface="Cambria Math" panose="02040503050406030204" pitchFamily="18" charset="0"/>
                              </a:rPr>
                              <m:t>𝛾</m:t>
                            </m:r>
                            <m:r>
                              <a:rPr lang="en-AU" i="1">
                                <a:latin typeface="Cambria Math" panose="02040503050406030204" pitchFamily="18" charset="0"/>
                              </a:rPr>
                              <m:t> </m:t>
                            </m:r>
                          </m:sup>
                        </m:sSup>
                      </m:den>
                    </m:f>
                    <m:f>
                      <m:fPr>
                        <m:ctrlPr>
                          <a:rPr lang="en-AU" i="1">
                            <a:latin typeface="Cambria Math" panose="02040503050406030204" pitchFamily="18" charset="0"/>
                          </a:rPr>
                        </m:ctrlPr>
                      </m:fPr>
                      <m:num>
                        <m:r>
                          <a:rPr lang="en-US" i="1">
                            <a:latin typeface="Cambria Math" panose="02040503050406030204" pitchFamily="18" charset="0"/>
                          </a:rPr>
                          <m:t>1+</m:t>
                        </m:r>
                        <m:sSub>
                          <m:sSubPr>
                            <m:ctrlPr>
                              <a:rPr lang="en-AU"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0</m:t>
                            </m:r>
                          </m:sub>
                        </m:sSub>
                        <m:sSup>
                          <m:sSupPr>
                            <m:ctrlPr>
                              <a:rPr lang="en-AU" i="1">
                                <a:latin typeface="Cambria Math" panose="02040503050406030204" pitchFamily="18" charset="0"/>
                              </a:rPr>
                            </m:ctrlPr>
                          </m:sSupPr>
                          <m:e>
                            <m:r>
                              <a:rPr lang="en-AU" i="1">
                                <a:latin typeface="Cambria Math" panose="02040503050406030204" pitchFamily="18" charset="0"/>
                              </a:rPr>
                              <m:t>𝑡</m:t>
                            </m:r>
                          </m:e>
                          <m:sup>
                            <m:r>
                              <a:rPr lang="en-US" i="1">
                                <a:latin typeface="Cambria Math" panose="02040503050406030204" pitchFamily="18" charset="0"/>
                              </a:rPr>
                              <m:t>𝛾</m:t>
                            </m:r>
                            <m:r>
                              <a:rPr lang="en-AU" i="1">
                                <a:latin typeface="Cambria Math" panose="02040503050406030204" pitchFamily="18" charset="0"/>
                              </a:rPr>
                              <m:t> </m:t>
                            </m:r>
                          </m:sup>
                        </m:sSup>
                      </m:num>
                      <m:den>
                        <m:sSub>
                          <m:sSubPr>
                            <m:ctrlPr>
                              <a:rPr lang="en-AU"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0</m:t>
                            </m:r>
                          </m:sub>
                        </m:sSub>
                      </m:den>
                    </m:f>
                  </m:oMath>
                </a14:m>
                <a:endParaRPr lang="en-US" dirty="0"/>
              </a:p>
              <a:p>
                <a:pPr>
                  <a:spcAft>
                    <a:spcPts val="1200"/>
                  </a:spcAft>
                </a:pPr>
                <a:r>
                  <a:rPr lang="en-US" dirty="0"/>
                  <a:t>Consequently, the hazard ratio changes over time, violating the PH assumption</a:t>
                </a:r>
              </a:p>
              <a:p>
                <a:pPr marL="0" indent="0">
                  <a:spcAft>
                    <a:spcPts val="1200"/>
                  </a:spcAft>
                  <a:buNone/>
                </a:pPr>
                <a:endParaRPr lang="en-US" dirty="0"/>
              </a:p>
              <a:p>
                <a:pPr>
                  <a:spcBef>
                    <a:spcPts val="1200"/>
                  </a:spcBef>
                </a:pPr>
                <a:endParaRPr lang="en-US" dirty="0"/>
              </a:p>
              <a:p>
                <a:pPr marL="0" indent="0">
                  <a:spcBef>
                    <a:spcPts val="1200"/>
                  </a:spcBef>
                  <a:buNone/>
                </a:pPr>
                <a:endParaRPr lang="en-US" dirty="0"/>
              </a:p>
            </p:txBody>
          </p:sp>
        </mc:Choice>
        <mc:Fallback xmlns="">
          <p:sp>
            <p:nvSpPr>
              <p:cNvPr id="3" name="Content Placeholder 2">
                <a:extLst>
                  <a:ext uri="{FF2B5EF4-FFF2-40B4-BE49-F238E27FC236}">
                    <a16:creationId xmlns:a16="http://schemas.microsoft.com/office/drawing/2014/main" id="{A8E15D4D-4A34-80CB-5D95-0F920C817B4E}"/>
                  </a:ext>
                </a:extLst>
              </p:cNvPr>
              <p:cNvSpPr>
                <a:spLocks noGrp="1" noRot="1" noChangeAspect="1" noMove="1" noResize="1" noEditPoints="1" noAdjustHandles="1" noChangeArrowheads="1" noChangeShapeType="1" noTextEdit="1"/>
              </p:cNvSpPr>
              <p:nvPr>
                <p:ph idx="1"/>
              </p:nvPr>
            </p:nvSpPr>
            <p:spPr>
              <a:xfrm>
                <a:off x="700634" y="2221992"/>
                <a:ext cx="11273651" cy="3739896"/>
              </a:xfrm>
              <a:blipFill>
                <a:blip r:embed="rId3"/>
                <a:stretch>
                  <a:fillRect l="-48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3FA19742-CA33-E5FE-3FB9-5C6F72FAD26A}"/>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760540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D7E77-A8CB-652A-6AC3-A38C67CDA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79559-091E-41C1-17D9-B62DDF84CF08}"/>
              </a:ext>
            </a:extLst>
          </p:cNvPr>
          <p:cNvSpPr>
            <a:spLocks noGrp="1"/>
          </p:cNvSpPr>
          <p:nvPr>
            <p:ph type="title"/>
          </p:nvPr>
        </p:nvSpPr>
        <p:spPr/>
        <p:txBody>
          <a:bodyPr>
            <a:normAutofit/>
          </a:bodyPr>
          <a:lstStyle/>
          <a:p>
            <a:r>
              <a:rPr lang="en-US" dirty="0"/>
              <a:t>Log-logistic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A67260-9C27-2CD9-5D8E-5D45C0B69152}"/>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llogis</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1.265</m:t>
                    </m:r>
                    <m:r>
                      <m:rPr>
                        <m:nor/>
                      </m:rPr>
                      <a:rPr lang="en-US" dirty="0"/>
                      <m:t>)</m:t>
                    </m:r>
                    <m:r>
                      <m:rPr>
                        <m:nor/>
                      </m:rPr>
                      <a:rPr lang="en-US" b="0" i="0" dirty="0" smtClean="0"/>
                      <m:t> = </m:t>
                    </m:r>
                    <m:r>
                      <m:rPr>
                        <m:nor/>
                      </m:rPr>
                      <a:rPr lang="en-US" dirty="0"/>
                      <m:t> </m:t>
                    </m:r>
                    <m:r>
                      <m:rPr>
                        <m:nor/>
                      </m:rPr>
                      <a:rPr lang="en-US" b="0" i="0" dirty="0" smtClean="0"/>
                      <m:t>3.55</m:t>
                    </m:r>
                  </m:oMath>
                </a14:m>
                <a:endParaRPr lang="en-US" dirty="0"/>
              </a:p>
            </p:txBody>
          </p:sp>
        </mc:Choice>
        <mc:Fallback xmlns="">
          <p:sp>
            <p:nvSpPr>
              <p:cNvPr id="3" name="Content Placeholder 2">
                <a:extLst>
                  <a:ext uri="{FF2B5EF4-FFF2-40B4-BE49-F238E27FC236}">
                    <a16:creationId xmlns:a16="http://schemas.microsoft.com/office/drawing/2014/main" id="{23A67260-9C27-2CD9-5D8E-5D45C0B69152}"/>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4636E011-04CF-C3B3-28DD-7CD6AA50AB1E}"/>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035ECDF2-4AF2-6F83-0180-9362BA55FC2D}"/>
              </a:ext>
            </a:extLst>
          </p:cNvPr>
          <p:cNvPicPr>
            <a:picLocks noChangeAspect="1"/>
          </p:cNvPicPr>
          <p:nvPr/>
        </p:nvPicPr>
        <p:blipFill>
          <a:blip r:embed="rId4"/>
          <a:stretch>
            <a:fillRect/>
          </a:stretch>
        </p:blipFill>
        <p:spPr>
          <a:xfrm>
            <a:off x="1078388" y="2300129"/>
            <a:ext cx="8840312" cy="3304659"/>
          </a:xfrm>
          <a:prstGeom prst="rect">
            <a:avLst/>
          </a:prstGeom>
        </p:spPr>
      </p:pic>
      <p:sp>
        <p:nvSpPr>
          <p:cNvPr id="8" name="TextBox 7">
            <a:extLst>
              <a:ext uri="{FF2B5EF4-FFF2-40B4-BE49-F238E27FC236}">
                <a16:creationId xmlns:a16="http://schemas.microsoft.com/office/drawing/2014/main" id="{530385D8-C4A8-4258-52FE-E96C44CF89F7}"/>
              </a:ext>
            </a:extLst>
          </p:cNvPr>
          <p:cNvSpPr txBox="1"/>
          <p:nvPr/>
        </p:nvSpPr>
        <p:spPr>
          <a:xfrm>
            <a:off x="8130209" y="2300129"/>
            <a:ext cx="1759226" cy="391999"/>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17716381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6024-B1C7-A038-F3C4-C1E52B080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53DE9-CB3C-134D-4CB0-08B2064B0815}"/>
              </a:ext>
            </a:extLst>
          </p:cNvPr>
          <p:cNvSpPr>
            <a:spLocks noGrp="1"/>
          </p:cNvSpPr>
          <p:nvPr>
            <p:ph type="title"/>
          </p:nvPr>
        </p:nvSpPr>
        <p:spPr>
          <a:xfrm>
            <a:off x="700635" y="914400"/>
            <a:ext cx="10901557" cy="1307592"/>
          </a:xfrm>
        </p:spPr>
        <p:txBody>
          <a:bodyPr>
            <a:normAutofit fontScale="90000"/>
          </a:bodyPr>
          <a:lstStyle/>
          <a:p>
            <a:r>
              <a:rPr lang="en-US" dirty="0"/>
              <a:t>Modelling approaches – log-logistic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D6009C-6B2A-7091-126D-87891938D06E}"/>
                  </a:ext>
                </a:extLst>
              </p:cNvPr>
              <p:cNvSpPr>
                <a:spLocks noGrp="1"/>
              </p:cNvSpPr>
              <p:nvPr>
                <p:ph idx="1"/>
              </p:nvPr>
            </p:nvSpPr>
            <p:spPr>
              <a:xfrm>
                <a:off x="700634" y="2221992"/>
                <a:ext cx="11273651" cy="3739896"/>
              </a:xfrm>
            </p:spPr>
            <p:txBody>
              <a:bodyPr>
                <a:normAutofit fontScale="92500" lnSpcReduction="20000"/>
              </a:bodyPr>
              <a:lstStyle/>
              <a:p>
                <a:pPr>
                  <a:spcAft>
                    <a:spcPts val="1200"/>
                  </a:spcAft>
                </a:pPr>
                <a:r>
                  <a:rPr lang="en-US" dirty="0"/>
                  <a:t>However, the log-logistic AFT model is a proportional odds (PO) model</a:t>
                </a:r>
              </a:p>
              <a:p>
                <a:pPr>
                  <a:spcAft>
                    <a:spcPts val="1200"/>
                  </a:spcAft>
                </a:pPr>
                <a:r>
                  <a:rPr lang="en-US" dirty="0"/>
                  <a:t>A PO model is a model in which the survival odds ratio is assumed to remain constant over time</a:t>
                </a:r>
              </a:p>
              <a:p>
                <a:pPr>
                  <a:spcAft>
                    <a:spcPts val="1200"/>
                  </a:spcAft>
                </a:pPr>
                <a:r>
                  <a:rPr lang="en-US" dirty="0"/>
                  <a:t>Survival odds: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1−</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den>
                    </m:f>
                  </m:oMath>
                </a14:m>
                <a:r>
                  <a:rPr lang="en-US" dirty="0"/>
                  <a:t>, failure odds: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1−</m:t>
                        </m:r>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num>
                      <m:den>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r>
                  <a:rPr lang="en-US" dirty="0"/>
                  <a:t>, where </a:t>
                </a:r>
                <a14:m>
                  <m:oMath xmlns:m="http://schemas.openxmlformats.org/officeDocument/2006/math">
                    <m:r>
                      <m:rPr>
                        <m:sty m:val="p"/>
                      </m:rPr>
                      <a:rPr lang="en-AU" i="1">
                        <a:latin typeface="Cambria Math" panose="02040503050406030204" pitchFamily="18" charset="0"/>
                      </a:rPr>
                      <m:t>S</m:t>
                    </m:r>
                    <m:d>
                      <m:dPr>
                        <m:ctrlPr>
                          <a:rPr lang="en-AU" i="1">
                            <a:latin typeface="Cambria Math" panose="02040503050406030204" pitchFamily="18" charset="0"/>
                          </a:rPr>
                        </m:ctrlPr>
                      </m:dPr>
                      <m:e>
                        <m:r>
                          <m:rPr>
                            <m:sty m:val="p"/>
                          </m:rPr>
                          <a:rPr lang="en-AU" i="1">
                            <a:latin typeface="Cambria Math" panose="02040503050406030204" pitchFamily="18" charset="0"/>
                          </a:rPr>
                          <m:t>t</m:t>
                        </m:r>
                      </m:e>
                    </m:d>
                    <m:r>
                      <a:rPr lang="en-AU" i="1">
                        <a:latin typeface="Cambria Math" panose="02040503050406030204" pitchFamily="18" charset="0"/>
                      </a:rPr>
                      <m:t>=</m:t>
                    </m:r>
                    <m:f>
                      <m:fPr>
                        <m:ctrlPr>
                          <a:rPr lang="en-AU"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r>
                          <a:rPr lang="en-US" i="1">
                            <a:latin typeface="Cambria Math" panose="02040503050406030204" pitchFamily="18" charset="0"/>
                          </a:rPr>
                          <m:t>𝜆</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US" i="1">
                                <a:latin typeface="Cambria Math" panose="02040503050406030204" pitchFamily="18" charset="0"/>
                              </a:rPr>
                              <m:t>𝛾</m:t>
                            </m:r>
                            <m:r>
                              <a:rPr lang="en-AU" i="1">
                                <a:latin typeface="Cambria Math" panose="02040503050406030204" pitchFamily="18" charset="0"/>
                              </a:rPr>
                              <m:t> </m:t>
                            </m:r>
                          </m:sup>
                        </m:sSup>
                      </m:den>
                    </m:f>
                  </m:oMath>
                </a14:m>
                <a:r>
                  <a:rPr lang="en-US" dirty="0"/>
                  <a:t> and </a:t>
                </a:r>
                <a14:m>
                  <m:oMath xmlns:m="http://schemas.openxmlformats.org/officeDocument/2006/math">
                    <m:r>
                      <a:rPr lang="en-US" b="0" i="0" smtClean="0">
                        <a:latin typeface="Cambria Math" panose="02040503050406030204" pitchFamily="18" charset="0"/>
                      </a:rPr>
                      <m:t>1−</m:t>
                    </m:r>
                    <m:r>
                      <m:rPr>
                        <m:sty m:val="p"/>
                      </m:rPr>
                      <a:rPr lang="en-AU" i="1">
                        <a:latin typeface="Cambria Math" panose="02040503050406030204" pitchFamily="18" charset="0"/>
                      </a:rPr>
                      <m:t>S</m:t>
                    </m:r>
                    <m:d>
                      <m:dPr>
                        <m:ctrlPr>
                          <a:rPr lang="en-AU" i="1">
                            <a:latin typeface="Cambria Math" panose="02040503050406030204" pitchFamily="18" charset="0"/>
                          </a:rPr>
                        </m:ctrlPr>
                      </m:dPr>
                      <m:e>
                        <m:r>
                          <m:rPr>
                            <m:sty m:val="p"/>
                          </m:rPr>
                          <a:rPr lang="en-AU" i="1">
                            <a:latin typeface="Cambria Math" panose="02040503050406030204" pitchFamily="18" charset="0"/>
                          </a:rPr>
                          <m:t>t</m:t>
                        </m:r>
                      </m:e>
                    </m:d>
                    <m:r>
                      <a:rPr lang="en-AU" i="1">
                        <a:latin typeface="Cambria Math" panose="02040503050406030204" pitchFamily="18" charset="0"/>
                      </a:rPr>
                      <m:t>=</m:t>
                    </m:r>
                    <m:f>
                      <m:fPr>
                        <m:ctrlPr>
                          <a:rPr lang="en-AU" i="1">
                            <a:latin typeface="Cambria Math" panose="02040503050406030204" pitchFamily="18" charset="0"/>
                          </a:rPr>
                        </m:ctrlPr>
                      </m:fPr>
                      <m:num>
                        <m:r>
                          <a:rPr lang="en-US" i="1">
                            <a:latin typeface="Cambria Math" panose="02040503050406030204" pitchFamily="18" charset="0"/>
                          </a:rPr>
                          <m:t>𝜆</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US" i="1">
                                <a:latin typeface="Cambria Math" panose="02040503050406030204" pitchFamily="18" charset="0"/>
                              </a:rPr>
                              <m:t>𝛾</m:t>
                            </m:r>
                            <m:r>
                              <a:rPr lang="en-AU" i="1">
                                <a:latin typeface="Cambria Math" panose="02040503050406030204" pitchFamily="18" charset="0"/>
                              </a:rPr>
                              <m:t> </m:t>
                            </m:r>
                          </m:sup>
                        </m:sSup>
                      </m:num>
                      <m:den>
                        <m:r>
                          <a:rPr lang="en-US" i="1">
                            <a:latin typeface="Cambria Math" panose="02040503050406030204" pitchFamily="18" charset="0"/>
                          </a:rPr>
                          <m:t>1+</m:t>
                        </m:r>
                        <m:r>
                          <a:rPr lang="en-US" i="1">
                            <a:latin typeface="Cambria Math" panose="02040503050406030204" pitchFamily="18" charset="0"/>
                          </a:rPr>
                          <m:t>𝜆</m:t>
                        </m:r>
                        <m:sSup>
                          <m:sSupPr>
                            <m:ctrlPr>
                              <a:rPr lang="en-AU" i="1">
                                <a:latin typeface="Cambria Math" panose="02040503050406030204" pitchFamily="18" charset="0"/>
                              </a:rPr>
                            </m:ctrlPr>
                          </m:sSupPr>
                          <m:e>
                            <m:r>
                              <a:rPr lang="en-AU" i="1">
                                <a:latin typeface="Cambria Math" panose="02040503050406030204" pitchFamily="18" charset="0"/>
                              </a:rPr>
                              <m:t>𝑡</m:t>
                            </m:r>
                          </m:e>
                          <m:sup>
                            <m:r>
                              <a:rPr lang="en-US" i="1">
                                <a:latin typeface="Cambria Math" panose="02040503050406030204" pitchFamily="18" charset="0"/>
                              </a:rPr>
                              <m:t>𝛾</m:t>
                            </m:r>
                            <m:r>
                              <a:rPr lang="en-AU" i="1">
                                <a:latin typeface="Cambria Math" panose="02040503050406030204" pitchFamily="18" charset="0"/>
                              </a:rPr>
                              <m:t> </m:t>
                            </m:r>
                          </m:sup>
                        </m:sSup>
                      </m:den>
                    </m:f>
                  </m:oMath>
                </a14:m>
                <a:endParaRPr lang="en-US" dirty="0"/>
              </a:p>
              <a:p>
                <a:pPr>
                  <a:spcAft>
                    <a:spcPts val="1200"/>
                  </a:spcAft>
                </a:pPr>
                <a:r>
                  <a:rPr lang="en-US" dirty="0"/>
                  <a:t>Survival odds ratio (SOR):</a:t>
                </a:r>
              </a:p>
              <a:p>
                <a:pPr>
                  <a:spcAft>
                    <a:spcPts val="1200"/>
                  </a:spcAft>
                  <a:buClr>
                    <a:schemeClr val="bg1"/>
                  </a:buClr>
                </a:pPr>
                <a:r>
                  <a:rPr lang="en-US" dirty="0"/>
                  <a:t>SOR=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num>
                      <m:den>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𝑜</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func>
                  </m:oMath>
                </a14:m>
                <a:r>
                  <a:rPr lang="en-US" dirty="0"/>
                  <a:t>), where time cancels out</a:t>
                </a:r>
              </a:p>
              <a:p>
                <a:pPr>
                  <a:spcAft>
                    <a:spcPts val="1200"/>
                  </a:spcAft>
                </a:pPr>
                <a:r>
                  <a:rPr lang="en-US" dirty="0"/>
                  <a:t>The following relationship to the AFT model applies: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𝜎</m:t>
                        </m:r>
                      </m:den>
                    </m:f>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1</m:t>
                        </m:r>
                      </m:sub>
                    </m:sSub>
                    <m:r>
                      <a:rPr lang="en-US" b="0" i="1" smtClean="0">
                        <a:latin typeface="Cambria Math" panose="02040503050406030204" pitchFamily="18" charset="0"/>
                      </a:rPr>
                      <m:t>𝛾</m:t>
                    </m:r>
                  </m:oMath>
                </a14:m>
                <a:endParaRPr lang="en-US" dirty="0"/>
              </a:p>
              <a:p>
                <a:pPr>
                  <a:spcAft>
                    <a:spcPts val="1200"/>
                  </a:spcAft>
                </a:pPr>
                <a:endParaRPr lang="en-US" dirty="0"/>
              </a:p>
              <a:p>
                <a:pPr marL="0" indent="0">
                  <a:spcAft>
                    <a:spcPts val="1200"/>
                  </a:spcAft>
                  <a:buNone/>
                </a:pPr>
                <a:endParaRPr lang="en-US" dirty="0"/>
              </a:p>
              <a:p>
                <a:pPr>
                  <a:spcBef>
                    <a:spcPts val="1200"/>
                  </a:spcBef>
                </a:pPr>
                <a:endParaRPr lang="en-US" dirty="0"/>
              </a:p>
              <a:p>
                <a:pPr marL="0" indent="0">
                  <a:spcBef>
                    <a:spcPts val="1200"/>
                  </a:spcBef>
                  <a:buNone/>
                </a:pPr>
                <a:endParaRPr lang="en-US" dirty="0"/>
              </a:p>
            </p:txBody>
          </p:sp>
        </mc:Choice>
        <mc:Fallback xmlns="">
          <p:sp>
            <p:nvSpPr>
              <p:cNvPr id="3" name="Content Placeholder 2">
                <a:extLst>
                  <a:ext uri="{FF2B5EF4-FFF2-40B4-BE49-F238E27FC236}">
                    <a16:creationId xmlns:a16="http://schemas.microsoft.com/office/drawing/2014/main" id="{00D6009C-6B2A-7091-126D-87891938D06E}"/>
                  </a:ext>
                </a:extLst>
              </p:cNvPr>
              <p:cNvSpPr>
                <a:spLocks noGrp="1" noRot="1" noChangeAspect="1" noMove="1" noResize="1" noEditPoints="1" noAdjustHandles="1" noChangeArrowheads="1" noChangeShapeType="1" noTextEdit="1"/>
              </p:cNvSpPr>
              <p:nvPr>
                <p:ph idx="1"/>
              </p:nvPr>
            </p:nvSpPr>
            <p:spPr>
              <a:xfrm>
                <a:off x="700634" y="2221992"/>
                <a:ext cx="11273651" cy="3739896"/>
              </a:xfrm>
              <a:blipFill>
                <a:blip r:embed="rId3"/>
                <a:stretch>
                  <a:fillRect l="-433" t="-1794"/>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57D32F7F-AE87-6AF6-C911-41626A50D87C}"/>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5543974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96BB-F7AB-2D9C-A4B9-F933192B8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D3F92-AC99-8D09-71C3-A679181C1D04}"/>
              </a:ext>
            </a:extLst>
          </p:cNvPr>
          <p:cNvSpPr>
            <a:spLocks noGrp="1"/>
          </p:cNvSpPr>
          <p:nvPr>
            <p:ph type="title"/>
          </p:nvPr>
        </p:nvSpPr>
        <p:spPr/>
        <p:txBody>
          <a:bodyPr>
            <a:normAutofit/>
          </a:bodyPr>
          <a:lstStyle/>
          <a:p>
            <a:r>
              <a:rPr lang="en-US" dirty="0"/>
              <a:t>Log-logistic </a:t>
            </a:r>
            <a:r>
              <a:rPr lang="en-US" dirty="0">
                <a:solidFill>
                  <a:srgbClr val="FF0000"/>
                </a:solidFill>
              </a:rPr>
              <a:t>po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67CD24-6510-E1C1-8A8F-F85E5086099D}"/>
                  </a:ext>
                </a:extLst>
              </p:cNvPr>
              <p:cNvSpPr>
                <a:spLocks noGrp="1"/>
              </p:cNvSpPr>
              <p:nvPr>
                <p:ph idx="1"/>
              </p:nvPr>
            </p:nvSpPr>
            <p:spPr>
              <a:xfrm>
                <a:off x="750366" y="1822302"/>
                <a:ext cx="10691265" cy="4303076"/>
              </a:xfrm>
            </p:spPr>
            <p:txBody>
              <a:bodyPr>
                <a:normAutofit fontScale="850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llogis</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pPr>
                  <a:spcBef>
                    <a:spcPts val="1800"/>
                  </a:spcBef>
                </a:pPr>
                <a:r>
                  <a:rPr lang="en-US" dirty="0"/>
                  <a:t>SOR =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e>
                    </m:func>
                  </m:oMath>
                </a14:m>
                <a:r>
                  <a:rPr lang="en-US" dirty="0"/>
                  <a:t>) = </a:t>
                </a:r>
                <a14:m>
                  <m:oMath xmlns:m="http://schemas.openxmlformats.org/officeDocument/2006/math">
                    <m:r>
                      <m:rPr>
                        <m:sty m:val="p"/>
                      </m:rPr>
                      <a:rPr lang="en-US">
                        <a:latin typeface="Cambria Math" panose="02040503050406030204" pitchFamily="18" charset="0"/>
                      </a:rPr>
                      <m:t>exp</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1</m:t>
                                </m:r>
                              </m:sub>
                            </m:sSub>
                          </m:num>
                          <m:den>
                            <m:r>
                              <m:rPr>
                                <m:sty m:val="p"/>
                              </m:rPr>
                              <a:rPr lang="en-US" i="1">
                                <a:latin typeface="Cambria Math" panose="02040503050406030204" pitchFamily="18" charset="0"/>
                              </a:rPr>
                              <m:t>σ</m:t>
                            </m:r>
                          </m:den>
                        </m:f>
                      </m:e>
                    </m:d>
                    <m:r>
                      <a:rPr lang="en-US">
                        <a:latin typeface="Cambria Math" panose="02040503050406030204" pitchFamily="18" charset="0"/>
                      </a:rPr>
                      <m:t>=</m:t>
                    </m:r>
                    <m:r>
                      <m:rPr>
                        <m:sty m:val="p"/>
                      </m:rPr>
                      <a:rPr lang="en-US">
                        <a:latin typeface="Cambria Math" panose="02040503050406030204" pitchFamily="18" charset="0"/>
                      </a:rPr>
                      <m:t>exp</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1</m:t>
                            </m:r>
                          </m:sub>
                        </m:sSub>
                        <m:r>
                          <a:rPr lang="en-US" i="1">
                            <a:latin typeface="Cambria Math" panose="02040503050406030204" pitchFamily="18" charset="0"/>
                          </a:rPr>
                          <m:t>𝛾</m:t>
                        </m:r>
                      </m:e>
                    </m:d>
                    <m:r>
                      <a:rPr lang="en-US" i="1">
                        <a:latin typeface="Cambria Math" panose="02040503050406030204" pitchFamily="18" charset="0"/>
                      </a:rPr>
                      <m:t>=</m:t>
                    </m:r>
                    <m:r>
                      <m:rPr>
                        <m:sty m:val="p"/>
                      </m:rPr>
                      <a:rPr lang="en-US">
                        <a:latin typeface="Cambria Math" panose="02040503050406030204" pitchFamily="18" charset="0"/>
                      </a:rPr>
                      <m:t>exp</m:t>
                    </m:r>
                    <m:r>
                      <a:rPr lang="en-US" i="1">
                        <a:latin typeface="Cambria Math" panose="02040503050406030204" pitchFamily="18" charset="0"/>
                      </a:rPr>
                      <m:t>⁡(</m:t>
                    </m:r>
                    <m:r>
                      <m:rPr>
                        <m:nor/>
                      </m:rPr>
                      <a:rPr lang="en-US">
                        <a:latin typeface="Cambria Math" panose="02040503050406030204" pitchFamily="18" charset="0"/>
                      </a:rPr>
                      <m:t>1.265∗1.83</m:t>
                    </m:r>
                    <m:r>
                      <m:rPr>
                        <m:nor/>
                      </m:rPr>
                      <a:rPr lang="en-US" dirty="0"/>
                      <m:t>) =  10.1</m:t>
                    </m:r>
                    <m:r>
                      <a:rPr lang="en-US" b="0" i="0" dirty="0" smtClean="0">
                        <a:latin typeface="Cambria Math" panose="02040503050406030204" pitchFamily="18" charset="0"/>
                      </a:rPr>
                      <m:t>,</m:t>
                    </m:r>
                    <m:r>
                      <m:rPr>
                        <m:nor/>
                      </m:rPr>
                      <a:rPr lang="en-US" b="0" i="0" dirty="0" smtClean="0">
                        <a:latin typeface="Cambria Math" panose="02040503050406030204" pitchFamily="18" charset="0"/>
                      </a:rPr>
                      <m:t> </m:t>
                    </m:r>
                    <m:r>
                      <m:rPr>
                        <m:nor/>
                      </m:rPr>
                      <a:rPr lang="en-AU" b="0" i="0" dirty="0" smtClean="0"/>
                      <m:t>FO</m:t>
                    </m:r>
                    <m:r>
                      <m:rPr>
                        <m:nor/>
                      </m:rPr>
                      <a:rPr lang="en-US" dirty="0"/>
                      <m:t>R</m:t>
                    </m:r>
                    <m:r>
                      <a:rPr lang="en-US" b="0" i="0" dirty="0" smtClean="0">
                        <a:latin typeface="Cambria Math" panose="02040503050406030204" pitchFamily="18" charset="0"/>
                      </a:rPr>
                      <m:t>= </m:t>
                    </m:r>
                    <m:r>
                      <m:rPr>
                        <m:sty m:val="p"/>
                      </m:rPr>
                      <a:rPr lang="en-US">
                        <a:latin typeface="Cambria Math" panose="02040503050406030204" pitchFamily="18" charset="0"/>
                      </a:rPr>
                      <m:t>exp</m:t>
                    </m:r>
                    <m:r>
                      <a:rPr lang="en-US" i="1">
                        <a:latin typeface="Cambria Math" panose="02040503050406030204" pitchFamily="18" charset="0"/>
                      </a:rPr>
                      <m:t>⁡(</m:t>
                    </m:r>
                    <m:r>
                      <m:rPr>
                        <m:nor/>
                      </m:rPr>
                      <a:rPr lang="en-US">
                        <a:latin typeface="Cambria Math" panose="02040503050406030204" pitchFamily="18" charset="0"/>
                      </a:rPr>
                      <m:t>−1.265∗1.83</m:t>
                    </m:r>
                    <m:r>
                      <m:rPr>
                        <m:nor/>
                      </m:rPr>
                      <a:rPr lang="en-US" dirty="0"/>
                      <m:t>) =  0.099</m:t>
                    </m:r>
                  </m:oMath>
                </a14:m>
                <a:endParaRPr lang="en-US" dirty="0"/>
              </a:p>
            </p:txBody>
          </p:sp>
        </mc:Choice>
        <mc:Fallback xmlns="">
          <p:sp>
            <p:nvSpPr>
              <p:cNvPr id="3" name="Content Placeholder 2">
                <a:extLst>
                  <a:ext uri="{FF2B5EF4-FFF2-40B4-BE49-F238E27FC236}">
                    <a16:creationId xmlns:a16="http://schemas.microsoft.com/office/drawing/2014/main" id="{9367CD24-6510-E1C1-8A8F-F85E5086099D}"/>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399" t="-170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40B97642-A862-59E3-3542-B58893D8D02B}"/>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2E279B52-034A-B1A9-8735-CFFB79AF2778}"/>
              </a:ext>
            </a:extLst>
          </p:cNvPr>
          <p:cNvPicPr>
            <a:picLocks noChangeAspect="1"/>
          </p:cNvPicPr>
          <p:nvPr/>
        </p:nvPicPr>
        <p:blipFill>
          <a:blip r:embed="rId4"/>
          <a:stretch>
            <a:fillRect/>
          </a:stretch>
        </p:blipFill>
        <p:spPr>
          <a:xfrm>
            <a:off x="1089609" y="2195616"/>
            <a:ext cx="8839966" cy="3304318"/>
          </a:xfrm>
          <a:prstGeom prst="rect">
            <a:avLst/>
          </a:prstGeom>
        </p:spPr>
      </p:pic>
    </p:spTree>
    <p:extLst>
      <p:ext uri="{BB962C8B-B14F-4D97-AF65-F5344CB8AC3E}">
        <p14:creationId xmlns:p14="http://schemas.microsoft.com/office/powerpoint/2010/main" val="40183415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041D-9DBE-9F04-B586-249D58C01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56C4A-C22F-A85C-B18E-92838FC961C9}"/>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4B597C11-9DC6-284E-A46D-427A9C0AB19D}"/>
              </a:ext>
            </a:extLst>
          </p:cNvPr>
          <p:cNvSpPr>
            <a:spLocks noGrp="1"/>
          </p:cNvSpPr>
          <p:nvPr>
            <p:ph idx="1"/>
          </p:nvPr>
        </p:nvSpPr>
        <p:spPr>
          <a:xfrm>
            <a:off x="700635" y="1903338"/>
            <a:ext cx="11223510" cy="4040262"/>
          </a:xfrm>
        </p:spPr>
        <p:txBody>
          <a:bodyPr>
            <a:normAutofit/>
          </a:bodyPr>
          <a:lstStyle/>
          <a:p>
            <a:r>
              <a:rPr lang="en-US" dirty="0"/>
              <a:t>One method of assessing goodness of fit of a parametric model is to visually compare the fitted parametric model to the Kaplan-Meier curve, that makes no distributional assumptions</a:t>
            </a:r>
          </a:p>
          <a:p>
            <a:pPr marL="0" indent="0">
              <a:buNone/>
            </a:pPr>
            <a:endParaRPr lang="en-US" sz="2100" dirty="0"/>
          </a:p>
          <a:p>
            <a:pPr lvl="1"/>
            <a:endParaRPr lang="en-US" dirty="0"/>
          </a:p>
        </p:txBody>
      </p:sp>
      <p:sp>
        <p:nvSpPr>
          <p:cNvPr id="4" name="Footer Placeholder 3">
            <a:extLst>
              <a:ext uri="{FF2B5EF4-FFF2-40B4-BE49-F238E27FC236}">
                <a16:creationId xmlns:a16="http://schemas.microsoft.com/office/drawing/2014/main" id="{2A255254-46CC-8EAB-0FEE-1107BD106BB0}"/>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677290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B1F8E-6437-BB8B-1BB2-EDA6CC9E1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36C74-6C39-9AAF-AE3F-E738177414ED}"/>
              </a:ext>
            </a:extLst>
          </p:cNvPr>
          <p:cNvSpPr>
            <a:spLocks noGrp="1"/>
          </p:cNvSpPr>
          <p:nvPr>
            <p:ph type="title"/>
          </p:nvPr>
        </p:nvSpPr>
        <p:spPr/>
        <p:txBody>
          <a:bodyPr/>
          <a:lstStyle/>
          <a:p>
            <a:r>
              <a:rPr lang="en-US" dirty="0"/>
              <a:t>Model FIT – log-logistic model</a:t>
            </a:r>
            <a:endParaRPr lang="en-AU" dirty="0"/>
          </a:p>
        </p:txBody>
      </p:sp>
      <p:sp>
        <p:nvSpPr>
          <p:cNvPr id="4" name="Footer Placeholder 3">
            <a:extLst>
              <a:ext uri="{FF2B5EF4-FFF2-40B4-BE49-F238E27FC236}">
                <a16:creationId xmlns:a16="http://schemas.microsoft.com/office/drawing/2014/main" id="{FC3CB69F-F392-BDFD-D2C6-707EB237C993}"/>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571A601B-8278-AFBD-59C2-12281A38D0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60609539-3710-4153-507C-C9806BA6169E}"/>
              </a:ext>
            </a:extLst>
          </p:cNvPr>
          <p:cNvPicPr>
            <a:picLocks noChangeAspect="1"/>
          </p:cNvPicPr>
          <p:nvPr/>
        </p:nvPicPr>
        <p:blipFill>
          <a:blip r:embed="rId3"/>
          <a:stretch>
            <a:fillRect/>
          </a:stretch>
        </p:blipFill>
        <p:spPr>
          <a:xfrm>
            <a:off x="2600325" y="1567543"/>
            <a:ext cx="6093221" cy="4366532"/>
          </a:xfrm>
          <a:prstGeom prst="rect">
            <a:avLst/>
          </a:prstGeom>
        </p:spPr>
      </p:pic>
    </p:spTree>
    <p:extLst>
      <p:ext uri="{BB962C8B-B14F-4D97-AF65-F5344CB8AC3E}">
        <p14:creationId xmlns:p14="http://schemas.microsoft.com/office/powerpoint/2010/main" val="2730023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05AB-F244-D685-ECF7-C58878368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241E1-0CEA-14B0-1BBB-C7F1F1B5402B}"/>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62FB7B89-B417-F0EB-D846-22FA9A52E72A}"/>
              </a:ext>
            </a:extLst>
          </p:cNvPr>
          <p:cNvSpPr>
            <a:spLocks noGrp="1"/>
          </p:cNvSpPr>
          <p:nvPr>
            <p:ph idx="1"/>
          </p:nvPr>
        </p:nvSpPr>
        <p:spPr/>
        <p:txBody>
          <a:bodyPr>
            <a:normAutofit/>
          </a:bodyPr>
          <a:lstStyle/>
          <a:p>
            <a:r>
              <a:rPr lang="en-US" dirty="0"/>
              <a:t>We could also visually compare the fitted parametric hazard to kernel density estimates</a:t>
            </a:r>
          </a:p>
        </p:txBody>
      </p:sp>
      <p:sp>
        <p:nvSpPr>
          <p:cNvPr id="4" name="Footer Placeholder 3">
            <a:extLst>
              <a:ext uri="{FF2B5EF4-FFF2-40B4-BE49-F238E27FC236}">
                <a16:creationId xmlns:a16="http://schemas.microsoft.com/office/drawing/2014/main" id="{51A8A32B-386E-ABF6-894E-9A4EAAFB7970}"/>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40314743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98A70-28D9-C5DE-880C-741B134D3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E5FD5-13A7-142C-BE57-A0A0C945FD4E}"/>
              </a:ext>
            </a:extLst>
          </p:cNvPr>
          <p:cNvSpPr>
            <a:spLocks noGrp="1"/>
          </p:cNvSpPr>
          <p:nvPr>
            <p:ph type="title"/>
          </p:nvPr>
        </p:nvSpPr>
        <p:spPr/>
        <p:txBody>
          <a:bodyPr>
            <a:normAutofit/>
          </a:bodyPr>
          <a:lstStyle/>
          <a:p>
            <a:r>
              <a:rPr lang="en-US" dirty="0"/>
              <a:t>Model FIT – log-logistic model</a:t>
            </a:r>
            <a:endParaRPr lang="en-AU" dirty="0"/>
          </a:p>
        </p:txBody>
      </p:sp>
      <p:sp>
        <p:nvSpPr>
          <p:cNvPr id="4" name="Footer Placeholder 3">
            <a:extLst>
              <a:ext uri="{FF2B5EF4-FFF2-40B4-BE49-F238E27FC236}">
                <a16:creationId xmlns:a16="http://schemas.microsoft.com/office/drawing/2014/main" id="{62DC8E2F-550D-1977-636A-FDB73B1DA65E}"/>
              </a:ext>
            </a:extLst>
          </p:cNvPr>
          <p:cNvSpPr>
            <a:spLocks noGrp="1"/>
          </p:cNvSpPr>
          <p:nvPr>
            <p:ph type="ftr" sz="quarter" idx="11"/>
          </p:nvPr>
        </p:nvSpPr>
        <p:spPr/>
        <p:txBody>
          <a:bodyPr/>
          <a:lstStyle/>
          <a:p>
            <a:r>
              <a:rPr lang="en-US" dirty="0"/>
              <a:t>maarit.laaksonen@sydney.edu.au</a:t>
            </a:r>
          </a:p>
        </p:txBody>
      </p:sp>
      <p:sp>
        <p:nvSpPr>
          <p:cNvPr id="6" name="AutoShape 2">
            <a:extLst>
              <a:ext uri="{FF2B5EF4-FFF2-40B4-BE49-F238E27FC236}">
                <a16:creationId xmlns:a16="http://schemas.microsoft.com/office/drawing/2014/main" id="{9D7064DF-70BF-DEF5-06AE-248404D3864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6B8140A1-B9DF-FDB8-080E-7E2A42FAF26E}"/>
              </a:ext>
            </a:extLst>
          </p:cNvPr>
          <p:cNvPicPr>
            <a:picLocks noChangeAspect="1"/>
          </p:cNvPicPr>
          <p:nvPr/>
        </p:nvPicPr>
        <p:blipFill>
          <a:blip r:embed="rId3"/>
          <a:stretch>
            <a:fillRect/>
          </a:stretch>
        </p:blipFill>
        <p:spPr>
          <a:xfrm>
            <a:off x="1600200" y="1582450"/>
            <a:ext cx="7049530" cy="4361150"/>
          </a:xfrm>
          <a:prstGeom prst="rect">
            <a:avLst/>
          </a:prstGeom>
        </p:spPr>
      </p:pic>
    </p:spTree>
    <p:extLst>
      <p:ext uri="{BB962C8B-B14F-4D97-AF65-F5344CB8AC3E}">
        <p14:creationId xmlns:p14="http://schemas.microsoft.com/office/powerpoint/2010/main" val="17553661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67963-68F2-2C70-F8B7-7B46445CD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7D42D-5E76-3A3D-0742-9A0F6B248058}"/>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F0C0528C-D9BC-4EF7-D5A0-950F9EAA8676}"/>
              </a:ext>
            </a:extLst>
          </p:cNvPr>
          <p:cNvSpPr>
            <a:spLocks noGrp="1"/>
          </p:cNvSpPr>
          <p:nvPr>
            <p:ph idx="1"/>
          </p:nvPr>
        </p:nvSpPr>
        <p:spPr>
          <a:xfrm>
            <a:off x="700635" y="1903338"/>
            <a:ext cx="11223510" cy="4040262"/>
          </a:xfrm>
        </p:spPr>
        <p:txBody>
          <a:bodyPr>
            <a:normAutofit/>
          </a:bodyPr>
          <a:lstStyle/>
          <a:p>
            <a:pPr>
              <a:spcBef>
                <a:spcPts val="1200"/>
              </a:spcBef>
            </a:pPr>
            <a:r>
              <a:rPr lang="en-US" dirty="0"/>
              <a:t>AFT model assumes a covariate multiplies survival time by a constant factor</a:t>
            </a:r>
          </a:p>
          <a:p>
            <a:pPr marL="0" indent="0">
              <a:spcBef>
                <a:spcPts val="600"/>
              </a:spcBef>
              <a:buNone/>
            </a:pPr>
            <a:r>
              <a:rPr lang="en-US" dirty="0">
                <a:sym typeface="Wingdings" panose="05000000000000000000" pitchFamily="2" charset="2"/>
              </a:rPr>
              <a:t>We can check whether there is a constant horizontal shift between survival curves plotted against log time</a:t>
            </a:r>
            <a:endParaRPr lang="en-US" dirty="0"/>
          </a:p>
          <a:p>
            <a:pPr marL="0" indent="0">
              <a:buNone/>
            </a:pPr>
            <a:endParaRPr lang="en-US" sz="2100" dirty="0"/>
          </a:p>
          <a:p>
            <a:pPr marL="457200" lvl="1" indent="0">
              <a:buNone/>
            </a:pPr>
            <a:endParaRPr lang="en-US" dirty="0"/>
          </a:p>
        </p:txBody>
      </p:sp>
      <p:sp>
        <p:nvSpPr>
          <p:cNvPr id="4" name="Footer Placeholder 3">
            <a:extLst>
              <a:ext uri="{FF2B5EF4-FFF2-40B4-BE49-F238E27FC236}">
                <a16:creationId xmlns:a16="http://schemas.microsoft.com/office/drawing/2014/main" id="{95DB3156-3897-F89C-985D-29FBB25F25D6}"/>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5748293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C4DB8-A953-A64F-3186-13A514776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69DE0-2578-4FC7-037F-BBBBC93FC173}"/>
              </a:ext>
            </a:extLst>
          </p:cNvPr>
          <p:cNvSpPr>
            <a:spLocks noGrp="1"/>
          </p:cNvSpPr>
          <p:nvPr>
            <p:ph type="title"/>
          </p:nvPr>
        </p:nvSpPr>
        <p:spPr/>
        <p:txBody>
          <a:bodyPr>
            <a:normAutofit/>
          </a:bodyPr>
          <a:lstStyle/>
          <a:p>
            <a:r>
              <a:rPr lang="en-US" dirty="0"/>
              <a:t>Aft Model FIT – log-logistic model</a:t>
            </a:r>
            <a:endParaRPr lang="en-AU" dirty="0"/>
          </a:p>
        </p:txBody>
      </p:sp>
      <p:sp>
        <p:nvSpPr>
          <p:cNvPr id="4" name="Footer Placeholder 3">
            <a:extLst>
              <a:ext uri="{FF2B5EF4-FFF2-40B4-BE49-F238E27FC236}">
                <a16:creationId xmlns:a16="http://schemas.microsoft.com/office/drawing/2014/main" id="{F5ABEDC2-DDA2-31E6-24BD-1CA812125F38}"/>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7CFA95D6-FD6D-897C-E2B4-769097BDE9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68147AB3-16C5-E4B7-D078-2C54C7DD74D7}"/>
              </a:ext>
            </a:extLst>
          </p:cNvPr>
          <p:cNvPicPr>
            <a:picLocks noChangeAspect="1"/>
          </p:cNvPicPr>
          <p:nvPr/>
        </p:nvPicPr>
        <p:blipFill>
          <a:blip r:embed="rId3"/>
          <a:stretch>
            <a:fillRect/>
          </a:stretch>
        </p:blipFill>
        <p:spPr>
          <a:xfrm>
            <a:off x="1737681" y="1601247"/>
            <a:ext cx="7323087" cy="4519391"/>
          </a:xfrm>
          <a:prstGeom prst="rect">
            <a:avLst/>
          </a:prstGeom>
        </p:spPr>
      </p:pic>
    </p:spTree>
    <p:extLst>
      <p:ext uri="{BB962C8B-B14F-4D97-AF65-F5344CB8AC3E}">
        <p14:creationId xmlns:p14="http://schemas.microsoft.com/office/powerpoint/2010/main" val="34450516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6453E-367E-57C5-84C6-E81E80306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3E3B8-7742-45D0-0C32-8A0A26693E88}"/>
              </a:ext>
            </a:extLst>
          </p:cNvPr>
          <p:cNvSpPr>
            <a:spLocks noGrp="1"/>
          </p:cNvSpPr>
          <p:nvPr>
            <p:ph type="title"/>
          </p:nvPr>
        </p:nvSpPr>
        <p:spPr/>
        <p:txBody>
          <a:bodyPr>
            <a:normAutofit/>
          </a:bodyPr>
          <a:lstStyle/>
          <a:p>
            <a:r>
              <a:rPr lang="en-US" dirty="0"/>
              <a:t>Aft Model FIT – multiple models</a:t>
            </a:r>
            <a:endParaRPr lang="en-AU" dirty="0"/>
          </a:p>
        </p:txBody>
      </p:sp>
      <p:sp>
        <p:nvSpPr>
          <p:cNvPr id="4" name="Footer Placeholder 3">
            <a:extLst>
              <a:ext uri="{FF2B5EF4-FFF2-40B4-BE49-F238E27FC236}">
                <a16:creationId xmlns:a16="http://schemas.microsoft.com/office/drawing/2014/main" id="{CDC4FF21-CDF1-C065-CE6F-899B69137661}"/>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D5BCBC82-967F-2CF6-A18D-6F9503DB54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B89C39AD-457D-556B-F303-05A0454BE96E}"/>
              </a:ext>
            </a:extLst>
          </p:cNvPr>
          <p:cNvPicPr>
            <a:picLocks noChangeAspect="1"/>
          </p:cNvPicPr>
          <p:nvPr/>
        </p:nvPicPr>
        <p:blipFill>
          <a:blip r:embed="rId3"/>
          <a:stretch>
            <a:fillRect/>
          </a:stretch>
        </p:blipFill>
        <p:spPr>
          <a:xfrm>
            <a:off x="1699803" y="1607991"/>
            <a:ext cx="7256909" cy="4478550"/>
          </a:xfrm>
          <a:prstGeom prst="rect">
            <a:avLst/>
          </a:prstGeom>
        </p:spPr>
      </p:pic>
    </p:spTree>
    <p:extLst>
      <p:ext uri="{BB962C8B-B14F-4D97-AF65-F5344CB8AC3E}">
        <p14:creationId xmlns:p14="http://schemas.microsoft.com/office/powerpoint/2010/main" val="2444177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F4DE8-6C02-E570-0ACD-1C38F1431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0E7AE-D7CD-2CE5-5A7A-57CAABD268D5}"/>
              </a:ext>
            </a:extLst>
          </p:cNvPr>
          <p:cNvSpPr>
            <a:spLocks noGrp="1"/>
          </p:cNvSpPr>
          <p:nvPr>
            <p:ph type="title"/>
          </p:nvPr>
        </p:nvSpPr>
        <p:spPr/>
        <p:txBody>
          <a:bodyPr/>
          <a:lstStyle/>
          <a:p>
            <a:r>
              <a:rPr lang="en-US" dirty="0"/>
              <a:t>Model SELECTION – </a:t>
            </a:r>
            <a:r>
              <a:rPr lang="en-US" dirty="0" err="1"/>
              <a:t>aic</a:t>
            </a:r>
            <a:endParaRPr lang="en-AU" dirty="0"/>
          </a:p>
        </p:txBody>
      </p:sp>
      <p:sp>
        <p:nvSpPr>
          <p:cNvPr id="3" name="Content Placeholder 2">
            <a:extLst>
              <a:ext uri="{FF2B5EF4-FFF2-40B4-BE49-F238E27FC236}">
                <a16:creationId xmlns:a16="http://schemas.microsoft.com/office/drawing/2014/main" id="{DED0AF8A-F76B-69AB-C0EC-793ED87688AE}"/>
              </a:ext>
            </a:extLst>
          </p:cNvPr>
          <p:cNvSpPr>
            <a:spLocks noGrp="1"/>
          </p:cNvSpPr>
          <p:nvPr>
            <p:ph idx="1"/>
          </p:nvPr>
        </p:nvSpPr>
        <p:spPr>
          <a:xfrm>
            <a:off x="700635" y="2117661"/>
            <a:ext cx="10790730" cy="3739896"/>
          </a:xfrm>
        </p:spPr>
        <p:txBody>
          <a:bodyPr>
            <a:normAutofit/>
          </a:bodyPr>
          <a:lstStyle/>
          <a:p>
            <a:r>
              <a:rPr lang="en-US" dirty="0"/>
              <a:t>We can use AIC to compare the goodness-of-fit of Exponential, Weibull and Log-logistic models</a:t>
            </a:r>
          </a:p>
          <a:p>
            <a:pPr marL="0" indent="0">
              <a:spcBef>
                <a:spcPts val="1800"/>
              </a:spcBef>
              <a:buNone/>
            </a:pPr>
            <a:r>
              <a:rPr lang="en-US" dirty="0"/>
              <a:t>The </a:t>
            </a:r>
            <a:r>
              <a:rPr lang="en-US" dirty="0">
                <a:latin typeface="Courier New" panose="02070309020205020404" pitchFamily="49" charset="0"/>
                <a:cs typeface="Courier New" panose="02070309020205020404" pitchFamily="49" charset="0"/>
              </a:rPr>
              <a:t>AIC </a:t>
            </a:r>
            <a:r>
              <a:rPr lang="en-US" dirty="0"/>
              <a:t>function can be used to compare the three models:</a:t>
            </a:r>
          </a:p>
        </p:txBody>
      </p:sp>
      <p:sp>
        <p:nvSpPr>
          <p:cNvPr id="4" name="Footer Placeholder 3">
            <a:extLst>
              <a:ext uri="{FF2B5EF4-FFF2-40B4-BE49-F238E27FC236}">
                <a16:creationId xmlns:a16="http://schemas.microsoft.com/office/drawing/2014/main" id="{50526950-4600-3162-4595-18A69300D2F9}"/>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B64A6263-9902-EA35-EE57-CED3D98570AA}"/>
              </a:ext>
            </a:extLst>
          </p:cNvPr>
          <p:cNvPicPr>
            <a:picLocks noChangeAspect="1"/>
          </p:cNvPicPr>
          <p:nvPr/>
        </p:nvPicPr>
        <p:blipFill>
          <a:blip r:embed="rId3"/>
          <a:stretch>
            <a:fillRect/>
          </a:stretch>
        </p:blipFill>
        <p:spPr>
          <a:xfrm>
            <a:off x="843756" y="3182521"/>
            <a:ext cx="9873942" cy="2875379"/>
          </a:xfrm>
          <a:prstGeom prst="rect">
            <a:avLst/>
          </a:prstGeom>
        </p:spPr>
      </p:pic>
    </p:spTree>
    <p:extLst>
      <p:ext uri="{BB962C8B-B14F-4D97-AF65-F5344CB8AC3E}">
        <p14:creationId xmlns:p14="http://schemas.microsoft.com/office/powerpoint/2010/main" val="31240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F5F2-066C-E287-B0DD-258746746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14E1C-4F7E-FC5D-697C-B73002259671}"/>
              </a:ext>
            </a:extLst>
          </p:cNvPr>
          <p:cNvSpPr>
            <a:spLocks noGrp="1"/>
          </p:cNvSpPr>
          <p:nvPr>
            <p:ph type="title"/>
          </p:nvPr>
        </p:nvSpPr>
        <p:spPr/>
        <p:txBody>
          <a:bodyPr/>
          <a:lstStyle/>
          <a:p>
            <a:r>
              <a:rPr lang="en-US" dirty="0"/>
              <a:t>Log-normal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7D5D8D-0069-2F94-84F4-0E0C7FA8D922}"/>
                  </a:ext>
                </a:extLst>
              </p:cNvPr>
              <p:cNvSpPr>
                <a:spLocks noGrp="1"/>
              </p:cNvSpPr>
              <p:nvPr>
                <p:ph idx="1"/>
              </p:nvPr>
            </p:nvSpPr>
            <p:spPr/>
            <p:txBody>
              <a:bodyPr>
                <a:normAutofit fontScale="77500" lnSpcReduction="20000"/>
              </a:bodyPr>
              <a:lstStyle/>
              <a:p>
                <a:r>
                  <a:rPr lang="en-US" dirty="0"/>
                  <a:t>The shape of the lognormal distribution is very similar to that of log-logistic distribution</a:t>
                </a:r>
              </a:p>
              <a:p>
                <a:r>
                  <a:rPr lang="en-US" dirty="0"/>
                  <a:t>A random variable </a:t>
                </a:r>
                <a:r>
                  <a:rPr lang="en-US" i="1" dirty="0"/>
                  <a:t>T</a:t>
                </a:r>
                <a:r>
                  <a:rPr lang="en-US" dirty="0"/>
                  <a:t> follows a log-normal distribution with parameters </a:t>
                </a:r>
                <a14:m>
                  <m:oMath xmlns:m="http://schemas.openxmlformats.org/officeDocument/2006/math">
                    <m:r>
                      <a:rPr lang="en-US" b="0" i="1" smtClean="0">
                        <a:latin typeface="Cambria Math" panose="02040503050406030204" pitchFamily="18" charset="0"/>
                      </a:rPr>
                      <m:t>𝜇</m:t>
                    </m:r>
                  </m:oMath>
                </a14:m>
                <a:r>
                  <a:rPr lang="en-US" dirty="0"/>
                  <a:t> (location) and </a:t>
                </a:r>
                <a14:m>
                  <m:oMath xmlns:m="http://schemas.openxmlformats.org/officeDocument/2006/math">
                    <m:r>
                      <a:rPr lang="en-US" b="0" i="1" smtClean="0">
                        <a:latin typeface="Cambria Math" panose="02040503050406030204" pitchFamily="18" charset="0"/>
                      </a:rPr>
                      <m:t>𝜎</m:t>
                    </m:r>
                  </m:oMath>
                </a14:m>
                <a:r>
                  <a:rPr lang="en-US" dirty="0"/>
                  <a:t> (scale) if its natural logarithm </a:t>
                </a:r>
                <a:r>
                  <a:rPr lang="en-US" dirty="0" err="1"/>
                  <a:t>log</a:t>
                </a:r>
                <a:r>
                  <a:rPr lang="en-US" i="1" dirty="0" err="1"/>
                  <a:t>T</a:t>
                </a:r>
                <a:r>
                  <a:rPr lang="en-US" dirty="0"/>
                  <a:t> follows a normal distribution with mean </a:t>
                </a:r>
                <a14:m>
                  <m:oMath xmlns:m="http://schemas.openxmlformats.org/officeDocument/2006/math">
                    <m:r>
                      <a:rPr lang="en-US" i="1">
                        <a:latin typeface="Cambria Math" panose="02040503050406030204" pitchFamily="18" charset="0"/>
                      </a:rPr>
                      <m:t>𝜇</m:t>
                    </m:r>
                  </m:oMath>
                </a14:m>
                <a:r>
                  <a:rPr lang="en-US" dirty="0"/>
                  <a:t> and standard deviation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𝜎</m:t>
                    </m:r>
                  </m:oMath>
                </a14:m>
                <a:r>
                  <a:rPr lang="en-US" dirty="0"/>
                  <a:t>. The pdf of </a:t>
                </a:r>
                <a:r>
                  <a:rPr lang="en-US" i="1" dirty="0"/>
                  <a:t>T</a:t>
                </a:r>
                <a:r>
                  <a:rPr lang="en-US" dirty="0"/>
                  <a:t> is then given by</a:t>
                </a:r>
              </a:p>
              <a:p>
                <a:pPr marL="0" indent="0">
                  <a:buNone/>
                </a:pPr>
                <a:endParaRPr lang="en-US" dirty="0"/>
              </a:p>
              <a:p>
                <a:pPr lvl="1">
                  <a:buClr>
                    <a:schemeClr val="bg1"/>
                  </a:buClr>
                </a:pPr>
                <a14:m>
                  <m:oMath xmlns:m="http://schemas.openxmlformats.org/officeDocument/2006/math">
                    <m:r>
                      <a:rPr lang="en-AU" sz="1900" i="1">
                        <a:latin typeface="Cambria Math" panose="02040503050406030204" pitchFamily="18" charset="0"/>
                      </a:rPr>
                      <m:t>𝑓</m:t>
                    </m:r>
                    <m:d>
                      <m:dPr>
                        <m:ctrlPr>
                          <a:rPr lang="en-AU" sz="1900" i="1">
                            <a:latin typeface="Cambria Math" panose="02040503050406030204" pitchFamily="18" charset="0"/>
                          </a:rPr>
                        </m:ctrlPr>
                      </m:dPr>
                      <m:e>
                        <m:r>
                          <a:rPr lang="en-AU" sz="1900" i="1">
                            <a:latin typeface="Cambria Math" panose="02040503050406030204" pitchFamily="18" charset="0"/>
                          </a:rPr>
                          <m:t>𝑡</m:t>
                        </m:r>
                      </m:e>
                    </m:d>
                    <m:r>
                      <a:rPr lang="en-AU" sz="1900" i="1">
                        <a:latin typeface="Cambria Math" panose="02040503050406030204" pitchFamily="18" charset="0"/>
                      </a:rPr>
                      <m:t>=</m:t>
                    </m:r>
                    <m:r>
                      <m:rPr>
                        <m:nor/>
                      </m:rPr>
                      <a:rPr lang="en-AU" sz="1900" dirty="0"/>
                      <m:t> </m:t>
                    </m:r>
                    <m:f>
                      <m:fPr>
                        <m:ctrlPr>
                          <a:rPr lang="en-AU" sz="1900" i="1">
                            <a:latin typeface="Cambria Math" panose="02040503050406030204" pitchFamily="18" charset="0"/>
                          </a:rPr>
                        </m:ctrlPr>
                      </m:fPr>
                      <m:num>
                        <m:r>
                          <a:rPr lang="en-US" sz="1900" i="1">
                            <a:latin typeface="Cambria Math" panose="02040503050406030204" pitchFamily="18" charset="0"/>
                          </a:rPr>
                          <m:t>1</m:t>
                        </m:r>
                      </m:num>
                      <m:den>
                        <m:r>
                          <a:rPr lang="en-US" sz="1900" i="1">
                            <a:latin typeface="Cambria Math" panose="02040503050406030204" pitchFamily="18" charset="0"/>
                          </a:rPr>
                          <m:t>𝑡</m:t>
                        </m:r>
                        <m:r>
                          <a:rPr lang="en-US" sz="1900" i="1">
                            <a:latin typeface="Cambria Math" panose="02040503050406030204" pitchFamily="18" charset="0"/>
                          </a:rPr>
                          <m:t>𝜎</m:t>
                        </m:r>
                      </m:den>
                    </m:f>
                    <m:r>
                      <a:rPr lang="en-US" sz="1900" i="1" dirty="0">
                        <a:latin typeface="Cambria Math" panose="02040503050406030204" pitchFamily="18" charset="0"/>
                      </a:rPr>
                      <m:t>𝜙</m:t>
                    </m:r>
                    <m:d>
                      <m:dPr>
                        <m:begChr m:val="{"/>
                        <m:endChr m:val="}"/>
                        <m:ctrlPr>
                          <a:rPr lang="en-US" sz="1900" i="1" dirty="0">
                            <a:latin typeface="Cambria Math" panose="02040503050406030204" pitchFamily="18" charset="0"/>
                          </a:rPr>
                        </m:ctrlPr>
                      </m:dPr>
                      <m:e>
                        <m:f>
                          <m:fPr>
                            <m:ctrlPr>
                              <a:rPr lang="en-US" sz="1900" i="1" dirty="0">
                                <a:latin typeface="Cambria Math" panose="02040503050406030204" pitchFamily="18" charset="0"/>
                              </a:rPr>
                            </m:ctrlPr>
                          </m:fPr>
                          <m:num>
                            <m:r>
                              <m:rPr>
                                <m:sty m:val="p"/>
                              </m:rPr>
                              <a:rPr lang="en-US" sz="1900" i="1" dirty="0">
                                <a:latin typeface="Cambria Math" panose="02040503050406030204" pitchFamily="18" charset="0"/>
                              </a:rPr>
                              <m:t>log</m:t>
                            </m:r>
                            <m:r>
                              <a:rPr lang="en-US" sz="1900" i="1" dirty="0">
                                <a:latin typeface="Cambria Math" panose="02040503050406030204" pitchFamily="18" charset="0"/>
                              </a:rPr>
                              <m:t> </m:t>
                            </m:r>
                            <m:r>
                              <a:rPr lang="en-US" sz="1900" i="1" dirty="0">
                                <a:latin typeface="Cambria Math" panose="02040503050406030204" pitchFamily="18" charset="0"/>
                              </a:rPr>
                              <m:t>𝑡</m:t>
                            </m:r>
                            <m:r>
                              <a:rPr lang="en-US" sz="1900" i="1" dirty="0">
                                <a:latin typeface="Cambria Math" panose="02040503050406030204" pitchFamily="18" charset="0"/>
                              </a:rPr>
                              <m:t>−</m:t>
                            </m:r>
                            <m:r>
                              <a:rPr lang="en-US" sz="1900" i="1" dirty="0">
                                <a:latin typeface="Cambria Math" panose="02040503050406030204" pitchFamily="18" charset="0"/>
                              </a:rPr>
                              <m:t>𝜇</m:t>
                            </m:r>
                          </m:num>
                          <m:den>
                            <m:r>
                              <a:rPr lang="en-US" sz="1900" i="1" dirty="0">
                                <a:latin typeface="Cambria Math" panose="02040503050406030204" pitchFamily="18" charset="0"/>
                              </a:rPr>
                              <m:t>𝜎</m:t>
                            </m:r>
                          </m:den>
                        </m:f>
                      </m:e>
                    </m:d>
                    <m:r>
                      <a:rPr lang="en-US" sz="1900" b="0" i="1" dirty="0" smtClean="0">
                        <a:latin typeface="Cambria Math" panose="02040503050406030204" pitchFamily="18" charset="0"/>
                      </a:rPr>
                      <m:t>=</m:t>
                    </m:r>
                    <m:f>
                      <m:fPr>
                        <m:ctrlPr>
                          <a:rPr lang="en-AU" sz="1900" i="1">
                            <a:latin typeface="Cambria Math" panose="02040503050406030204" pitchFamily="18" charset="0"/>
                          </a:rPr>
                        </m:ctrlPr>
                      </m:fPr>
                      <m:num>
                        <m:r>
                          <a:rPr lang="en-US" sz="1900" b="0" i="1" smtClean="0">
                            <a:latin typeface="Cambria Math" panose="02040503050406030204" pitchFamily="18" charset="0"/>
                          </a:rPr>
                          <m:t>1</m:t>
                        </m:r>
                      </m:num>
                      <m:den>
                        <m:r>
                          <a:rPr lang="en-US" sz="1900" b="0" i="1" smtClean="0">
                            <a:latin typeface="Cambria Math" panose="02040503050406030204" pitchFamily="18" charset="0"/>
                          </a:rPr>
                          <m:t>𝑡</m:t>
                        </m:r>
                        <m:r>
                          <a:rPr lang="en-US" sz="1900" b="0" i="1" smtClean="0">
                            <a:latin typeface="Cambria Math" panose="02040503050406030204" pitchFamily="18" charset="0"/>
                          </a:rPr>
                          <m:t>𝜎</m:t>
                        </m:r>
                        <m:rad>
                          <m:radPr>
                            <m:degHide m:val="on"/>
                            <m:ctrlPr>
                              <a:rPr lang="en-US" sz="1900" b="0" i="1" smtClean="0">
                                <a:latin typeface="Cambria Math" panose="02040503050406030204" pitchFamily="18" charset="0"/>
                              </a:rPr>
                            </m:ctrlPr>
                          </m:radPr>
                          <m:deg/>
                          <m:e>
                            <m:r>
                              <a:rPr lang="en-US" sz="1900" b="0" i="1" smtClean="0">
                                <a:latin typeface="Cambria Math" panose="02040503050406030204" pitchFamily="18" charset="0"/>
                              </a:rPr>
                              <m:t>2</m:t>
                            </m:r>
                            <m:r>
                              <a:rPr lang="en-US" sz="1900" b="0" i="1" smtClean="0">
                                <a:latin typeface="Cambria Math" panose="02040503050406030204" pitchFamily="18" charset="0"/>
                              </a:rPr>
                              <m:t>𝜋</m:t>
                            </m:r>
                          </m:e>
                        </m:rad>
                      </m:den>
                    </m:f>
                    <m:r>
                      <m:rPr>
                        <m:sty m:val="p"/>
                      </m:rPr>
                      <a:rPr lang="en-US" sz="1900" b="0" i="0" dirty="0" smtClean="0">
                        <a:latin typeface="Cambria Math" panose="02040503050406030204" pitchFamily="18" charset="0"/>
                      </a:rPr>
                      <m:t>exp</m:t>
                    </m:r>
                    <m:d>
                      <m:dPr>
                        <m:begChr m:val="{"/>
                        <m:endChr m:val="}"/>
                        <m:ctrlPr>
                          <a:rPr lang="en-US" sz="1900" b="0" i="1" dirty="0" smtClean="0">
                            <a:latin typeface="Cambria Math" panose="02040503050406030204" pitchFamily="18" charset="0"/>
                          </a:rPr>
                        </m:ctrlPr>
                      </m:dPr>
                      <m:e>
                        <m:r>
                          <a:rPr lang="en-US" sz="1900" b="0" i="1" dirty="0" smtClean="0">
                            <a:latin typeface="Cambria Math" panose="02040503050406030204" pitchFamily="18" charset="0"/>
                          </a:rPr>
                          <m:t>−</m:t>
                        </m:r>
                        <m:f>
                          <m:fPr>
                            <m:ctrlPr>
                              <a:rPr lang="en-US" sz="1900" i="1" dirty="0">
                                <a:latin typeface="Cambria Math" panose="02040503050406030204" pitchFamily="18" charset="0"/>
                              </a:rPr>
                            </m:ctrlPr>
                          </m:fPr>
                          <m:num>
                            <m:sSup>
                              <m:sSupPr>
                                <m:ctrlPr>
                                  <a:rPr lang="en-US" sz="1900" i="1" dirty="0">
                                    <a:latin typeface="Cambria Math" panose="02040503050406030204" pitchFamily="18" charset="0"/>
                                  </a:rPr>
                                </m:ctrlPr>
                              </m:sSupPr>
                              <m:e>
                                <m:d>
                                  <m:dPr>
                                    <m:ctrlPr>
                                      <a:rPr lang="en-US" sz="1900" i="1" dirty="0">
                                        <a:latin typeface="Cambria Math" panose="02040503050406030204" pitchFamily="18" charset="0"/>
                                      </a:rPr>
                                    </m:ctrlPr>
                                  </m:dPr>
                                  <m:e>
                                    <m:r>
                                      <m:rPr>
                                        <m:sty m:val="p"/>
                                      </m:rPr>
                                      <a:rPr lang="en-US" sz="1900" i="1" dirty="0">
                                        <a:latin typeface="Cambria Math" panose="02040503050406030204" pitchFamily="18" charset="0"/>
                                      </a:rPr>
                                      <m:t>log</m:t>
                                    </m:r>
                                    <m:r>
                                      <a:rPr lang="en-US" sz="1900" b="0" i="1" dirty="0" smtClean="0">
                                        <a:latin typeface="Cambria Math" panose="02040503050406030204" pitchFamily="18" charset="0"/>
                                      </a:rPr>
                                      <m:t>𝑡</m:t>
                                    </m:r>
                                    <m:r>
                                      <a:rPr lang="en-US" sz="1900" i="1" dirty="0">
                                        <a:latin typeface="Cambria Math" panose="02040503050406030204" pitchFamily="18" charset="0"/>
                                      </a:rPr>
                                      <m:t>−</m:t>
                                    </m:r>
                                    <m:r>
                                      <a:rPr lang="en-US" sz="1900" i="1" dirty="0">
                                        <a:latin typeface="Cambria Math" panose="02040503050406030204" pitchFamily="18" charset="0"/>
                                      </a:rPr>
                                      <m:t>𝜇</m:t>
                                    </m:r>
                                  </m:e>
                                </m:d>
                              </m:e>
                              <m:sup>
                                <m:r>
                                  <a:rPr lang="en-US" sz="1900" i="1" dirty="0">
                                    <a:latin typeface="Cambria Math" panose="02040503050406030204" pitchFamily="18" charset="0"/>
                                  </a:rPr>
                                  <m:t>2</m:t>
                                </m:r>
                              </m:sup>
                            </m:sSup>
                          </m:num>
                          <m:den>
                            <m:r>
                              <a:rPr lang="en-US" sz="1900" i="1" dirty="0">
                                <a:latin typeface="Cambria Math" panose="02040503050406030204" pitchFamily="18" charset="0"/>
                              </a:rPr>
                              <m:t>2</m:t>
                            </m:r>
                            <m:sSup>
                              <m:sSupPr>
                                <m:ctrlPr>
                                  <a:rPr lang="en-US" sz="1900" i="1" dirty="0">
                                    <a:latin typeface="Cambria Math" panose="02040503050406030204" pitchFamily="18" charset="0"/>
                                  </a:rPr>
                                </m:ctrlPr>
                              </m:sSupPr>
                              <m:e>
                                <m:r>
                                  <a:rPr lang="en-US" sz="1900" i="1" dirty="0">
                                    <a:latin typeface="Cambria Math" panose="02040503050406030204" pitchFamily="18" charset="0"/>
                                  </a:rPr>
                                  <m:t>𝜎</m:t>
                                </m:r>
                              </m:e>
                              <m:sup>
                                <m:r>
                                  <a:rPr lang="en-US" sz="1900" i="1" dirty="0">
                                    <a:latin typeface="Cambria Math" panose="02040503050406030204" pitchFamily="18" charset="0"/>
                                  </a:rPr>
                                  <m:t>2</m:t>
                                </m:r>
                              </m:sup>
                            </m:sSup>
                          </m:den>
                        </m:f>
                      </m:e>
                    </m:d>
                  </m:oMath>
                </a14:m>
                <a:r>
                  <a:rPr lang="en-AU" sz="1900" dirty="0">
                    <a:latin typeface="Cambria Math" panose="02040503050406030204" pitchFamily="18" charset="0"/>
                  </a:rPr>
                  <a:t>, where </a:t>
                </a:r>
                <a14:m>
                  <m:oMath xmlns:m="http://schemas.openxmlformats.org/officeDocument/2006/math">
                    <m:r>
                      <a:rPr lang="en-US" sz="1900" b="0" i="1" smtClean="0">
                        <a:latin typeface="Cambria Math" panose="02040503050406030204" pitchFamily="18" charset="0"/>
                      </a:rPr>
                      <m:t>𝜙</m:t>
                    </m:r>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oMath>
                </a14:m>
                <a:r>
                  <a:rPr lang="en-AU" sz="1900" dirty="0">
                    <a:latin typeface="Cambria Math" panose="02040503050406030204" pitchFamily="18" charset="0"/>
                  </a:rPr>
                  <a:t> is the standard normal density</a:t>
                </a:r>
              </a:p>
              <a:p>
                <a:pPr lvl="1">
                  <a:buClr>
                    <a:schemeClr val="bg1"/>
                  </a:buClr>
                </a:pPr>
                <a14:m>
                  <m:oMath xmlns:m="http://schemas.openxmlformats.org/officeDocument/2006/math">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r>
                      <a:rPr lang="en-US" sz="2000" i="1">
                        <a:latin typeface="Cambria Math" panose="02040503050406030204" pitchFamily="18" charset="0"/>
                      </a:rPr>
                      <m:t>1−</m:t>
                    </m:r>
                    <m:r>
                      <m:rPr>
                        <m:sty m:val="p"/>
                      </m:rPr>
                      <a:rPr lang="en-US" sz="2000">
                        <a:latin typeface="Cambria Math" panose="02040503050406030204" pitchFamily="18" charset="0"/>
                      </a:rPr>
                      <m:t>Φ</m:t>
                    </m:r>
                    <m:d>
                      <m:dPr>
                        <m:begChr m:val="{"/>
                        <m:endChr m:val="}"/>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m:rPr>
                                <m:sty m:val="p"/>
                              </m:rPr>
                              <a:rPr lang="en-US" sz="2000" i="1" dirty="0">
                                <a:latin typeface="Cambria Math" panose="02040503050406030204" pitchFamily="18" charset="0"/>
                              </a:rPr>
                              <m:t>log</m:t>
                            </m:r>
                            <m:r>
                              <a:rPr lang="en-US" sz="2000" i="1" dirty="0">
                                <a:latin typeface="Cambria Math" panose="02040503050406030204" pitchFamily="18" charset="0"/>
                              </a:rPr>
                              <m:t> </m:t>
                            </m:r>
                            <m:r>
                              <a:rPr lang="en-US" sz="2000" i="1" dirty="0">
                                <a:latin typeface="Cambria Math" panose="02040503050406030204" pitchFamily="18" charset="0"/>
                              </a:rPr>
                              <m:t>𝑡</m:t>
                            </m:r>
                            <m:r>
                              <a:rPr lang="en-US" sz="2000" i="1" dirty="0">
                                <a:latin typeface="Cambria Math" panose="02040503050406030204" pitchFamily="18" charset="0"/>
                              </a:rPr>
                              <m:t>−</m:t>
                            </m:r>
                            <m:r>
                              <a:rPr lang="en-US" sz="2000" i="1" dirty="0">
                                <a:latin typeface="Cambria Math" panose="02040503050406030204" pitchFamily="18" charset="0"/>
                              </a:rPr>
                              <m:t>𝜇</m:t>
                            </m:r>
                          </m:num>
                          <m:den>
                            <m:r>
                              <a:rPr lang="en-US" sz="2000" i="1" dirty="0">
                                <a:latin typeface="Cambria Math" panose="02040503050406030204" pitchFamily="18" charset="0"/>
                              </a:rPr>
                              <m:t>𝜎</m:t>
                            </m:r>
                          </m:den>
                        </m:f>
                      </m:e>
                    </m:d>
                    <m:r>
                      <a:rPr lang="en-US" sz="2000" b="0" i="1" dirty="0" smtClean="0">
                        <a:latin typeface="Cambria Math" panose="02040503050406030204" pitchFamily="18" charset="0"/>
                      </a:rPr>
                      <m:t>=</m:t>
                    </m:r>
                    <m:nary>
                      <m:naryPr>
                        <m:ctrlPr>
                          <a:rPr lang="en-AU" sz="2000" i="1" smtClean="0">
                            <a:latin typeface="Cambria Math" panose="02040503050406030204" pitchFamily="18" charset="0"/>
                          </a:rPr>
                        </m:ctrlPr>
                      </m:naryPr>
                      <m:sub>
                        <m:r>
                          <m:rPr>
                            <m:brk m:alnAt="23"/>
                          </m:rPr>
                          <a:rPr lang="en-US" sz="2000" b="0" i="1" smtClean="0">
                            <a:latin typeface="Cambria Math" panose="02040503050406030204" pitchFamily="18" charset="0"/>
                          </a:rPr>
                          <m:t>𝑡</m:t>
                        </m:r>
                      </m:sub>
                      <m:sup>
                        <m:r>
                          <a:rPr lang="en-AU" sz="2000" i="1" smtClean="0">
                            <a:latin typeface="Cambria Math" panose="02040503050406030204" pitchFamily="18" charset="0"/>
                            <a:ea typeface="Cambria Math" panose="02040503050406030204" pitchFamily="18" charset="0"/>
                          </a:rPr>
                          <m:t>∞</m:t>
                        </m:r>
                      </m:sup>
                      <m:e>
                        <m:f>
                          <m:fPr>
                            <m:ctrlPr>
                              <a:rPr lang="en-AU" sz="2000" i="1">
                                <a:latin typeface="Cambria Math" panose="02040503050406030204" pitchFamily="18" charset="0"/>
                              </a:rPr>
                            </m:ctrlPr>
                          </m:fPr>
                          <m:num>
                            <m:r>
                              <a:rPr lang="en-US" sz="2000" i="1">
                                <a:latin typeface="Cambria Math" panose="02040503050406030204" pitchFamily="18" charset="0"/>
                              </a:rPr>
                              <m:t>1</m:t>
                            </m:r>
                          </m:num>
                          <m:den>
                            <m:r>
                              <a:rPr lang="en-US" sz="2000" b="0" i="1" smtClean="0">
                                <a:latin typeface="Cambria Math" panose="02040503050406030204" pitchFamily="18" charset="0"/>
                              </a:rPr>
                              <m:t>𝑥</m:t>
                            </m:r>
                            <m:r>
                              <a:rPr lang="en-US" sz="2000" i="1">
                                <a:latin typeface="Cambria Math" panose="02040503050406030204" pitchFamily="18" charset="0"/>
                              </a:rPr>
                              <m:t>𝜎</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r>
                          <m:rPr>
                            <m:sty m:val="p"/>
                          </m:rPr>
                          <a:rPr lang="en-US" sz="2000" dirty="0">
                            <a:latin typeface="Cambria Math" panose="02040503050406030204" pitchFamily="18" charset="0"/>
                          </a:rPr>
                          <m:t>exp</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m:t>
                            </m:r>
                            <m:f>
                              <m:fPr>
                                <m:ctrlPr>
                                  <a:rPr lang="en-US" sz="2000" i="1" dirty="0">
                                    <a:latin typeface="Cambria Math" panose="02040503050406030204" pitchFamily="18" charset="0"/>
                                  </a:rPr>
                                </m:ctrlPr>
                              </m:fPr>
                              <m:num>
                                <m:sSup>
                                  <m:sSupPr>
                                    <m:ctrlPr>
                                      <a:rPr lang="en-US" sz="2000" i="1" dirty="0">
                                        <a:latin typeface="Cambria Math" panose="02040503050406030204" pitchFamily="18" charset="0"/>
                                      </a:rPr>
                                    </m:ctrlPr>
                                  </m:sSupPr>
                                  <m:e>
                                    <m:d>
                                      <m:dPr>
                                        <m:ctrlPr>
                                          <a:rPr lang="en-US" sz="2000" i="1" dirty="0">
                                            <a:latin typeface="Cambria Math" panose="02040503050406030204" pitchFamily="18" charset="0"/>
                                          </a:rPr>
                                        </m:ctrlPr>
                                      </m:dPr>
                                      <m:e>
                                        <m:r>
                                          <m:rPr>
                                            <m:sty m:val="p"/>
                                          </m:rPr>
                                          <a:rPr lang="en-US" sz="2000" i="1" dirty="0">
                                            <a:latin typeface="Cambria Math" panose="02040503050406030204" pitchFamily="18" charset="0"/>
                                          </a:rPr>
                                          <m:t>log</m:t>
                                        </m:r>
                                        <m:r>
                                          <a:rPr lang="en-US" sz="2000" b="0" i="1" dirty="0" smtClean="0">
                                            <a:latin typeface="Cambria Math" panose="02040503050406030204" pitchFamily="18" charset="0"/>
                                          </a:rPr>
                                          <m:t>𝑥</m:t>
                                        </m:r>
                                        <m:r>
                                          <a:rPr lang="en-US" sz="2000" i="1" dirty="0">
                                            <a:latin typeface="Cambria Math" panose="02040503050406030204" pitchFamily="18" charset="0"/>
                                          </a:rPr>
                                          <m:t>−</m:t>
                                        </m:r>
                                        <m:r>
                                          <a:rPr lang="en-US" sz="2000" i="1" dirty="0">
                                            <a:latin typeface="Cambria Math" panose="02040503050406030204" pitchFamily="18" charset="0"/>
                                          </a:rPr>
                                          <m:t>𝜇</m:t>
                                        </m:r>
                                      </m:e>
                                    </m:d>
                                  </m:e>
                                  <m:sup>
                                    <m:r>
                                      <a:rPr lang="en-US" sz="2000" i="1" dirty="0">
                                        <a:latin typeface="Cambria Math" panose="02040503050406030204" pitchFamily="18" charset="0"/>
                                      </a:rPr>
                                      <m:t>2</m:t>
                                    </m:r>
                                  </m:sup>
                                </m:sSup>
                              </m:num>
                              <m:den>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𝜎</m:t>
                                    </m:r>
                                  </m:e>
                                  <m:sup>
                                    <m:r>
                                      <a:rPr lang="en-US" sz="2000" i="1" dirty="0">
                                        <a:latin typeface="Cambria Math" panose="02040503050406030204" pitchFamily="18" charset="0"/>
                                      </a:rPr>
                                      <m:t>2</m:t>
                                    </m:r>
                                  </m:sup>
                                </m:sSup>
                              </m:den>
                            </m:f>
                          </m:e>
                        </m:d>
                      </m:e>
                    </m:nary>
                    <m:r>
                      <a:rPr lang="en-US" sz="2000" b="0" i="1" smtClean="0">
                        <a:latin typeface="Cambria Math" panose="02040503050406030204" pitchFamily="18" charset="0"/>
                      </a:rPr>
                      <m:t>𝑑𝑥</m:t>
                    </m:r>
                  </m:oMath>
                </a14:m>
                <a:endParaRPr lang="en-US" sz="2000" dirty="0"/>
              </a:p>
              <a:p>
                <a:pPr lvl="1">
                  <a:buClr>
                    <a:schemeClr val="bg1"/>
                  </a:buClr>
                </a:pPr>
                <a14:m>
                  <m:oMath xmlns:m="http://schemas.openxmlformats.org/officeDocument/2006/math">
                    <m:r>
                      <m:rPr>
                        <m:sty m:val="p"/>
                      </m:rPr>
                      <a:rPr lang="en-AU" sz="2000" i="1">
                        <a:latin typeface="Cambria Math" panose="02040503050406030204" pitchFamily="18" charset="0"/>
                      </a:rPr>
                      <m:t>h</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f>
                      <m:fPr>
                        <m:ctrlPr>
                          <a:rPr lang="en-AU" sz="2000" i="1">
                            <a:latin typeface="Cambria Math" panose="02040503050406030204" pitchFamily="18" charset="0"/>
                          </a:rPr>
                        </m:ctrlPr>
                      </m:fPr>
                      <m:num>
                        <m:f>
                          <m:fPr>
                            <m:ctrlPr>
                              <a:rPr lang="en-AU"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𝑡</m:t>
                            </m:r>
                            <m:r>
                              <a:rPr lang="en-US" sz="2000" i="1">
                                <a:latin typeface="Cambria Math" panose="02040503050406030204" pitchFamily="18" charset="0"/>
                              </a:rPr>
                              <m:t>𝜎</m:t>
                            </m:r>
                          </m:den>
                        </m:f>
                        <m:r>
                          <a:rPr lang="en-US" sz="2000" i="1" dirty="0">
                            <a:latin typeface="Cambria Math" panose="02040503050406030204" pitchFamily="18" charset="0"/>
                          </a:rPr>
                          <m:t>𝜙</m:t>
                        </m:r>
                        <m:d>
                          <m:dPr>
                            <m:begChr m:val="{"/>
                            <m:endChr m:val="}"/>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m:rPr>
                                    <m:sty m:val="p"/>
                                  </m:rPr>
                                  <a:rPr lang="en-US" sz="2000" i="1" dirty="0">
                                    <a:latin typeface="Cambria Math" panose="02040503050406030204" pitchFamily="18" charset="0"/>
                                  </a:rPr>
                                  <m:t>log</m:t>
                                </m:r>
                                <m:r>
                                  <a:rPr lang="en-US" sz="2000" i="1" dirty="0">
                                    <a:latin typeface="Cambria Math" panose="02040503050406030204" pitchFamily="18" charset="0"/>
                                  </a:rPr>
                                  <m:t> </m:t>
                                </m:r>
                                <m:r>
                                  <a:rPr lang="en-US" sz="2000" i="1" dirty="0">
                                    <a:latin typeface="Cambria Math" panose="02040503050406030204" pitchFamily="18" charset="0"/>
                                  </a:rPr>
                                  <m:t>𝑡</m:t>
                                </m:r>
                                <m:r>
                                  <a:rPr lang="en-US" sz="2000" i="1" dirty="0">
                                    <a:latin typeface="Cambria Math" panose="02040503050406030204" pitchFamily="18" charset="0"/>
                                  </a:rPr>
                                  <m:t>−</m:t>
                                </m:r>
                                <m:r>
                                  <a:rPr lang="en-US" sz="2000" i="1" dirty="0">
                                    <a:latin typeface="Cambria Math" panose="02040503050406030204" pitchFamily="18" charset="0"/>
                                  </a:rPr>
                                  <m:t>𝜇</m:t>
                                </m:r>
                              </m:num>
                              <m:den>
                                <m:r>
                                  <a:rPr lang="en-US" sz="2000" i="1" dirty="0">
                                    <a:latin typeface="Cambria Math" panose="02040503050406030204" pitchFamily="18" charset="0"/>
                                  </a:rPr>
                                  <m:t>𝜎</m:t>
                                </m:r>
                              </m:den>
                            </m:f>
                          </m:e>
                        </m:d>
                      </m:num>
                      <m:den>
                        <m:r>
                          <a:rPr lang="en-US" sz="2000" i="1">
                            <a:latin typeface="Cambria Math" panose="02040503050406030204" pitchFamily="18" charset="0"/>
                          </a:rPr>
                          <m:t>1−</m:t>
                        </m:r>
                        <m:r>
                          <m:rPr>
                            <m:sty m:val="p"/>
                          </m:rPr>
                          <a:rPr lang="en-US" sz="2000">
                            <a:latin typeface="Cambria Math" panose="02040503050406030204" pitchFamily="18" charset="0"/>
                          </a:rPr>
                          <m:t>Φ</m:t>
                        </m:r>
                        <m:d>
                          <m:dPr>
                            <m:begChr m:val="{"/>
                            <m:endChr m:val="}"/>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m:rPr>
                                    <m:sty m:val="p"/>
                                  </m:rPr>
                                  <a:rPr lang="en-US" sz="2000" i="1" dirty="0">
                                    <a:latin typeface="Cambria Math" panose="02040503050406030204" pitchFamily="18" charset="0"/>
                                  </a:rPr>
                                  <m:t>log</m:t>
                                </m:r>
                                <m:r>
                                  <a:rPr lang="en-US" sz="2000" i="1" dirty="0">
                                    <a:latin typeface="Cambria Math" panose="02040503050406030204" pitchFamily="18" charset="0"/>
                                  </a:rPr>
                                  <m:t> </m:t>
                                </m:r>
                                <m:r>
                                  <a:rPr lang="en-US" sz="2000" i="1" dirty="0">
                                    <a:latin typeface="Cambria Math" panose="02040503050406030204" pitchFamily="18" charset="0"/>
                                  </a:rPr>
                                  <m:t>𝑡</m:t>
                                </m:r>
                                <m:r>
                                  <a:rPr lang="en-US" sz="2000" i="1" dirty="0">
                                    <a:latin typeface="Cambria Math" panose="02040503050406030204" pitchFamily="18" charset="0"/>
                                  </a:rPr>
                                  <m:t>−</m:t>
                                </m:r>
                                <m:r>
                                  <a:rPr lang="en-US" sz="2000" i="1" dirty="0">
                                    <a:latin typeface="Cambria Math" panose="02040503050406030204" pitchFamily="18" charset="0"/>
                                  </a:rPr>
                                  <m:t>𝜇</m:t>
                                </m:r>
                              </m:num>
                              <m:den>
                                <m:r>
                                  <a:rPr lang="en-US" sz="2000" i="1" dirty="0">
                                    <a:latin typeface="Cambria Math" panose="02040503050406030204" pitchFamily="18" charset="0"/>
                                  </a:rPr>
                                  <m:t>𝜎</m:t>
                                </m:r>
                              </m:den>
                            </m:f>
                          </m:e>
                        </m:d>
                      </m:den>
                    </m:f>
                    <m:r>
                      <a:rPr lang="en-US" sz="2000" b="0" i="1" dirty="0" smtClean="0">
                        <a:latin typeface="Cambria Math" panose="02040503050406030204" pitchFamily="18" charset="0"/>
                      </a:rPr>
                      <m:t>=</m:t>
                    </m:r>
                    <m:f>
                      <m:fPr>
                        <m:ctrlPr>
                          <a:rPr lang="en-AU" sz="2000" i="1">
                            <a:latin typeface="Cambria Math" panose="02040503050406030204" pitchFamily="18" charset="0"/>
                          </a:rPr>
                        </m:ctrlPr>
                      </m:fPr>
                      <m:num>
                        <m:f>
                          <m:fPr>
                            <m:ctrlPr>
                              <a:rPr lang="en-AU"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𝑡</m:t>
                            </m:r>
                            <m:r>
                              <a:rPr lang="en-US" sz="2000" i="1">
                                <a:latin typeface="Cambria Math" panose="02040503050406030204" pitchFamily="18" charset="0"/>
                              </a:rPr>
                              <m:t>𝜎</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r>
                          <m:rPr>
                            <m:sty m:val="p"/>
                          </m:rPr>
                          <a:rPr lang="en-US" sz="2000" dirty="0">
                            <a:latin typeface="Cambria Math" panose="02040503050406030204" pitchFamily="18" charset="0"/>
                          </a:rPr>
                          <m:t>exp</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m:t>
                            </m:r>
                            <m:f>
                              <m:fPr>
                                <m:ctrlPr>
                                  <a:rPr lang="en-US" sz="2000" i="1" dirty="0">
                                    <a:latin typeface="Cambria Math" panose="02040503050406030204" pitchFamily="18" charset="0"/>
                                  </a:rPr>
                                </m:ctrlPr>
                              </m:fPr>
                              <m:num>
                                <m:sSup>
                                  <m:sSupPr>
                                    <m:ctrlPr>
                                      <a:rPr lang="en-US" sz="2000" i="1" dirty="0">
                                        <a:latin typeface="Cambria Math" panose="02040503050406030204" pitchFamily="18" charset="0"/>
                                      </a:rPr>
                                    </m:ctrlPr>
                                  </m:sSupPr>
                                  <m:e>
                                    <m:d>
                                      <m:dPr>
                                        <m:ctrlPr>
                                          <a:rPr lang="en-US" sz="2000" i="1" dirty="0">
                                            <a:latin typeface="Cambria Math" panose="02040503050406030204" pitchFamily="18" charset="0"/>
                                          </a:rPr>
                                        </m:ctrlPr>
                                      </m:dPr>
                                      <m:e>
                                        <m:r>
                                          <m:rPr>
                                            <m:sty m:val="p"/>
                                          </m:rPr>
                                          <a:rPr lang="en-US" sz="2000" i="1" dirty="0">
                                            <a:latin typeface="Cambria Math" panose="02040503050406030204" pitchFamily="18" charset="0"/>
                                          </a:rPr>
                                          <m:t>log</m:t>
                                        </m:r>
                                        <m:r>
                                          <a:rPr lang="en-US" sz="2000" i="1" dirty="0">
                                            <a:latin typeface="Cambria Math" panose="02040503050406030204" pitchFamily="18" charset="0"/>
                                          </a:rPr>
                                          <m:t>𝑡</m:t>
                                        </m:r>
                                        <m:r>
                                          <a:rPr lang="en-US" sz="2000" i="1" dirty="0">
                                            <a:latin typeface="Cambria Math" panose="02040503050406030204" pitchFamily="18" charset="0"/>
                                          </a:rPr>
                                          <m:t>−</m:t>
                                        </m:r>
                                        <m:r>
                                          <a:rPr lang="en-US" sz="2000" i="1" dirty="0">
                                            <a:latin typeface="Cambria Math" panose="02040503050406030204" pitchFamily="18" charset="0"/>
                                          </a:rPr>
                                          <m:t>𝜇</m:t>
                                        </m:r>
                                      </m:e>
                                    </m:d>
                                  </m:e>
                                  <m:sup>
                                    <m:r>
                                      <a:rPr lang="en-US" sz="2000" i="1" dirty="0">
                                        <a:latin typeface="Cambria Math" panose="02040503050406030204" pitchFamily="18" charset="0"/>
                                      </a:rPr>
                                      <m:t>2</m:t>
                                    </m:r>
                                  </m:sup>
                                </m:sSup>
                              </m:num>
                              <m:den>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𝜎</m:t>
                                    </m:r>
                                  </m:e>
                                  <m:sup>
                                    <m:r>
                                      <a:rPr lang="en-US" sz="2000" i="1" dirty="0">
                                        <a:latin typeface="Cambria Math" panose="02040503050406030204" pitchFamily="18" charset="0"/>
                                      </a:rPr>
                                      <m:t>2</m:t>
                                    </m:r>
                                  </m:sup>
                                </m:sSup>
                              </m:den>
                            </m:f>
                          </m:e>
                        </m:d>
                      </m:num>
                      <m:den>
                        <m:nary>
                          <m:naryPr>
                            <m:ctrlPr>
                              <a:rPr lang="en-AU" sz="2000" i="1">
                                <a:latin typeface="Cambria Math" panose="02040503050406030204" pitchFamily="18" charset="0"/>
                              </a:rPr>
                            </m:ctrlPr>
                          </m:naryPr>
                          <m:sub>
                            <m:r>
                              <m:rPr>
                                <m:brk m:alnAt="23"/>
                              </m:rPr>
                              <a:rPr lang="en-US" sz="2000" i="1">
                                <a:latin typeface="Cambria Math" panose="02040503050406030204" pitchFamily="18" charset="0"/>
                              </a:rPr>
                              <m:t>𝑡</m:t>
                            </m:r>
                          </m:sub>
                          <m:sup>
                            <m:r>
                              <a:rPr lang="en-AU" sz="2000" i="1">
                                <a:latin typeface="Cambria Math" panose="02040503050406030204" pitchFamily="18" charset="0"/>
                                <a:ea typeface="Cambria Math" panose="02040503050406030204" pitchFamily="18" charset="0"/>
                              </a:rPr>
                              <m:t>∞</m:t>
                            </m:r>
                          </m:sup>
                          <m:e>
                            <m:f>
                              <m:fPr>
                                <m:ctrlPr>
                                  <a:rPr lang="en-AU"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𝑥</m:t>
                                </m:r>
                                <m:r>
                                  <a:rPr lang="en-US" sz="2000" i="1">
                                    <a:latin typeface="Cambria Math" panose="02040503050406030204" pitchFamily="18" charset="0"/>
                                  </a:rPr>
                                  <m:t>𝜎</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r>
                              <m:rPr>
                                <m:sty m:val="p"/>
                              </m:rPr>
                              <a:rPr lang="en-US" sz="2000" dirty="0">
                                <a:latin typeface="Cambria Math" panose="02040503050406030204" pitchFamily="18" charset="0"/>
                              </a:rPr>
                              <m:t>exp</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m:t>
                                </m:r>
                                <m:f>
                                  <m:fPr>
                                    <m:ctrlPr>
                                      <a:rPr lang="en-US" sz="2000" i="1" dirty="0">
                                        <a:latin typeface="Cambria Math" panose="02040503050406030204" pitchFamily="18" charset="0"/>
                                      </a:rPr>
                                    </m:ctrlPr>
                                  </m:fPr>
                                  <m:num>
                                    <m:sSup>
                                      <m:sSupPr>
                                        <m:ctrlPr>
                                          <a:rPr lang="en-US" sz="2000" i="1" dirty="0">
                                            <a:latin typeface="Cambria Math" panose="02040503050406030204" pitchFamily="18" charset="0"/>
                                          </a:rPr>
                                        </m:ctrlPr>
                                      </m:sSupPr>
                                      <m:e>
                                        <m:d>
                                          <m:dPr>
                                            <m:ctrlPr>
                                              <a:rPr lang="en-US" sz="2000" i="1" dirty="0">
                                                <a:latin typeface="Cambria Math" panose="02040503050406030204" pitchFamily="18" charset="0"/>
                                              </a:rPr>
                                            </m:ctrlPr>
                                          </m:dPr>
                                          <m:e>
                                            <m:r>
                                              <m:rPr>
                                                <m:sty m:val="p"/>
                                              </m:rPr>
                                              <a:rPr lang="en-US" sz="2000" i="1" dirty="0">
                                                <a:latin typeface="Cambria Math" panose="02040503050406030204" pitchFamily="18" charset="0"/>
                                              </a:rPr>
                                              <m:t>log</m:t>
                                            </m:r>
                                            <m:r>
                                              <a:rPr lang="en-US" sz="2000" i="1" dirty="0">
                                                <a:latin typeface="Cambria Math" panose="02040503050406030204" pitchFamily="18" charset="0"/>
                                              </a:rPr>
                                              <m:t>𝑥</m:t>
                                            </m:r>
                                            <m:r>
                                              <a:rPr lang="en-US" sz="2000" i="1" dirty="0">
                                                <a:latin typeface="Cambria Math" panose="02040503050406030204" pitchFamily="18" charset="0"/>
                                              </a:rPr>
                                              <m:t>−</m:t>
                                            </m:r>
                                            <m:r>
                                              <a:rPr lang="en-US" sz="2000" i="1" dirty="0">
                                                <a:latin typeface="Cambria Math" panose="02040503050406030204" pitchFamily="18" charset="0"/>
                                              </a:rPr>
                                              <m:t>𝜇</m:t>
                                            </m:r>
                                          </m:e>
                                        </m:d>
                                      </m:e>
                                      <m:sup>
                                        <m:r>
                                          <a:rPr lang="en-US" sz="2000" i="1" dirty="0">
                                            <a:latin typeface="Cambria Math" panose="02040503050406030204" pitchFamily="18" charset="0"/>
                                          </a:rPr>
                                          <m:t>2</m:t>
                                        </m:r>
                                      </m:sup>
                                    </m:sSup>
                                  </m:num>
                                  <m:den>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𝜎</m:t>
                                        </m:r>
                                      </m:e>
                                      <m:sup>
                                        <m:r>
                                          <a:rPr lang="en-US" sz="2000" i="1" dirty="0">
                                            <a:latin typeface="Cambria Math" panose="02040503050406030204" pitchFamily="18" charset="0"/>
                                          </a:rPr>
                                          <m:t>2</m:t>
                                        </m:r>
                                      </m:sup>
                                    </m:sSup>
                                  </m:den>
                                </m:f>
                              </m:e>
                            </m:d>
                          </m:e>
                        </m:nary>
                        <m:r>
                          <a:rPr lang="en-US" sz="2000" i="1">
                            <a:latin typeface="Cambria Math" panose="02040503050406030204" pitchFamily="18" charset="0"/>
                          </a:rPr>
                          <m:t>𝑑𝑥</m:t>
                        </m:r>
                      </m:den>
                    </m:f>
                  </m:oMath>
                </a14:m>
                <a:endParaRPr lang="en-US" sz="2000" dirty="0"/>
              </a:p>
              <a:p>
                <a:pPr marL="457200" lvl="1" indent="0">
                  <a:buClr>
                    <a:schemeClr val="bg1"/>
                  </a:buClr>
                  <a:buNone/>
                </a:pPr>
                <a:endParaRPr lang="en-US" sz="2000" dirty="0"/>
              </a:p>
              <a:p>
                <a:r>
                  <a:rPr lang="en-US" dirty="0"/>
                  <a:t>Hazard and survival functions can only be expressed in terms of integrals</a:t>
                </a:r>
              </a:p>
            </p:txBody>
          </p:sp>
        </mc:Choice>
        <mc:Fallback xmlns="">
          <p:sp>
            <p:nvSpPr>
              <p:cNvPr id="3" name="Content Placeholder 2">
                <a:extLst>
                  <a:ext uri="{FF2B5EF4-FFF2-40B4-BE49-F238E27FC236}">
                    <a16:creationId xmlns:a16="http://schemas.microsoft.com/office/drawing/2014/main" id="{237D5D8D-0069-2F94-84F4-0E0C7FA8D922}"/>
                  </a:ext>
                </a:extLst>
              </p:cNvPr>
              <p:cNvSpPr>
                <a:spLocks noGrp="1" noRot="1" noChangeAspect="1" noMove="1" noResize="1" noEditPoints="1" noAdjustHandles="1" noChangeArrowheads="1" noChangeShapeType="1" noTextEdit="1"/>
              </p:cNvSpPr>
              <p:nvPr>
                <p:ph idx="1"/>
              </p:nvPr>
            </p:nvSpPr>
            <p:spPr>
              <a:blipFill>
                <a:blip r:embed="rId3"/>
                <a:stretch>
                  <a:fillRect l="-228" t="-1142"/>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7C343FBB-A405-321B-1E72-602F99F71010}"/>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06957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61270-D7B0-0C34-00D2-8EDD4B380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E1030-85D4-950D-4491-482AC6712222}"/>
              </a:ext>
            </a:extLst>
          </p:cNvPr>
          <p:cNvSpPr>
            <a:spLocks noGrp="1"/>
          </p:cNvSpPr>
          <p:nvPr>
            <p:ph type="title"/>
          </p:nvPr>
        </p:nvSpPr>
        <p:spPr/>
        <p:txBody>
          <a:bodyPr>
            <a:normAutofit fontScale="90000"/>
          </a:bodyPr>
          <a:lstStyle/>
          <a:p>
            <a:r>
              <a:rPr lang="en-US" dirty="0"/>
              <a:t>Log-normal distribution – hazard function</a:t>
            </a:r>
            <a:endParaRPr lang="en-AU" dirty="0"/>
          </a:p>
        </p:txBody>
      </p:sp>
      <p:sp>
        <p:nvSpPr>
          <p:cNvPr id="4" name="Footer Placeholder 3">
            <a:extLst>
              <a:ext uri="{FF2B5EF4-FFF2-40B4-BE49-F238E27FC236}">
                <a16:creationId xmlns:a16="http://schemas.microsoft.com/office/drawing/2014/main" id="{61E9628B-783E-A9B7-C738-F06D00624B2D}"/>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E0C7F168-D3DD-7A2D-7765-411AC6256189}"/>
              </a:ext>
            </a:extLst>
          </p:cNvPr>
          <p:cNvPicPr>
            <a:picLocks noChangeAspect="1"/>
          </p:cNvPicPr>
          <p:nvPr/>
        </p:nvPicPr>
        <p:blipFill>
          <a:blip r:embed="rId3"/>
          <a:stretch>
            <a:fillRect/>
          </a:stretch>
        </p:blipFill>
        <p:spPr>
          <a:xfrm>
            <a:off x="2600325" y="1729647"/>
            <a:ext cx="5867014" cy="4204427"/>
          </a:xfrm>
          <a:prstGeom prst="rect">
            <a:avLst/>
          </a:prstGeom>
        </p:spPr>
      </p:pic>
    </p:spTree>
    <p:extLst>
      <p:ext uri="{BB962C8B-B14F-4D97-AF65-F5344CB8AC3E}">
        <p14:creationId xmlns:p14="http://schemas.microsoft.com/office/powerpoint/2010/main" val="34481630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F598D-DE0D-07B7-2E92-C07A95994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EBEA6-92C3-56B8-28C1-360ABB5CDA74}"/>
              </a:ext>
            </a:extLst>
          </p:cNvPr>
          <p:cNvSpPr>
            <a:spLocks noGrp="1"/>
          </p:cNvSpPr>
          <p:nvPr>
            <p:ph type="title"/>
          </p:nvPr>
        </p:nvSpPr>
        <p:spPr/>
        <p:txBody>
          <a:bodyPr>
            <a:normAutofit fontScale="90000"/>
          </a:bodyPr>
          <a:lstStyle/>
          <a:p>
            <a:r>
              <a:rPr lang="en-US" dirty="0"/>
              <a:t>Log-normal distribution – survival function</a:t>
            </a:r>
            <a:endParaRPr lang="en-AU" dirty="0"/>
          </a:p>
        </p:txBody>
      </p:sp>
      <p:sp>
        <p:nvSpPr>
          <p:cNvPr id="4" name="Footer Placeholder 3">
            <a:extLst>
              <a:ext uri="{FF2B5EF4-FFF2-40B4-BE49-F238E27FC236}">
                <a16:creationId xmlns:a16="http://schemas.microsoft.com/office/drawing/2014/main" id="{AABD6A75-9DAE-25B5-2AEA-18D5B4BEC15C}"/>
              </a:ext>
            </a:extLst>
          </p:cNvPr>
          <p:cNvSpPr>
            <a:spLocks noGrp="1"/>
          </p:cNvSpPr>
          <p:nvPr>
            <p:ph type="ftr" sz="quarter" idx="11"/>
          </p:nvPr>
        </p:nvSpPr>
        <p:spPr/>
        <p:txBody>
          <a:bodyPr/>
          <a:lstStyle/>
          <a:p>
            <a:r>
              <a:rPr lang="en-US" dirty="0"/>
              <a:t>maarit.laaksonen@sydney.edu.au</a:t>
            </a:r>
          </a:p>
        </p:txBody>
      </p:sp>
      <p:pic>
        <p:nvPicPr>
          <p:cNvPr id="3" name="Picture 2">
            <a:extLst>
              <a:ext uri="{FF2B5EF4-FFF2-40B4-BE49-F238E27FC236}">
                <a16:creationId xmlns:a16="http://schemas.microsoft.com/office/drawing/2014/main" id="{7B8ED4D8-0B13-E11A-CABF-25538170D216}"/>
              </a:ext>
            </a:extLst>
          </p:cNvPr>
          <p:cNvPicPr>
            <a:picLocks noChangeAspect="1"/>
          </p:cNvPicPr>
          <p:nvPr/>
        </p:nvPicPr>
        <p:blipFill>
          <a:blip r:embed="rId3"/>
          <a:stretch>
            <a:fillRect/>
          </a:stretch>
        </p:blipFill>
        <p:spPr>
          <a:xfrm>
            <a:off x="2600325" y="1707613"/>
            <a:ext cx="5897761" cy="4226461"/>
          </a:xfrm>
          <a:prstGeom prst="rect">
            <a:avLst/>
          </a:prstGeom>
        </p:spPr>
      </p:pic>
    </p:spTree>
    <p:extLst>
      <p:ext uri="{BB962C8B-B14F-4D97-AF65-F5344CB8AC3E}">
        <p14:creationId xmlns:p14="http://schemas.microsoft.com/office/powerpoint/2010/main" val="37040567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40C15-A688-D745-39B2-E0B71C98C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F18BD-5340-3AED-30FE-7C4A37D21B4E}"/>
              </a:ext>
            </a:extLst>
          </p:cNvPr>
          <p:cNvSpPr>
            <a:spLocks noGrp="1"/>
          </p:cNvSpPr>
          <p:nvPr>
            <p:ph type="title"/>
          </p:nvPr>
        </p:nvSpPr>
        <p:spPr>
          <a:xfrm>
            <a:off x="700635" y="914400"/>
            <a:ext cx="11140383" cy="1307592"/>
          </a:xfrm>
        </p:spPr>
        <p:txBody>
          <a:bodyPr>
            <a:normAutofit/>
          </a:bodyPr>
          <a:lstStyle/>
          <a:p>
            <a:r>
              <a:rPr lang="en-US" sz="3400" dirty="0"/>
              <a:t>Log-logistic distribution – probability density function</a:t>
            </a:r>
            <a:endParaRPr lang="en-AU" sz="3400" dirty="0"/>
          </a:p>
        </p:txBody>
      </p:sp>
      <p:sp>
        <p:nvSpPr>
          <p:cNvPr id="4" name="Footer Placeholder 3">
            <a:extLst>
              <a:ext uri="{FF2B5EF4-FFF2-40B4-BE49-F238E27FC236}">
                <a16:creationId xmlns:a16="http://schemas.microsoft.com/office/drawing/2014/main" id="{D8EBB00F-A1A9-2477-2363-2C98090EA167}"/>
              </a:ext>
            </a:extLst>
          </p:cNvPr>
          <p:cNvSpPr>
            <a:spLocks noGrp="1"/>
          </p:cNvSpPr>
          <p:nvPr>
            <p:ph type="ftr" sz="quarter" idx="11"/>
          </p:nvPr>
        </p:nvSpPr>
        <p:spPr/>
        <p:txBody>
          <a:bodyPr/>
          <a:lstStyle/>
          <a:p>
            <a:r>
              <a:rPr lang="en-US" dirty="0"/>
              <a:t>maarit.laaksonen@sydney.edu.au</a:t>
            </a:r>
          </a:p>
        </p:txBody>
      </p:sp>
      <p:sp>
        <p:nvSpPr>
          <p:cNvPr id="3" name="AutoShape 2">
            <a:extLst>
              <a:ext uri="{FF2B5EF4-FFF2-40B4-BE49-F238E27FC236}">
                <a16:creationId xmlns:a16="http://schemas.microsoft.com/office/drawing/2014/main" id="{2475ED2F-18A2-4D58-D27F-ACEF8BAD6C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a:extLst>
              <a:ext uri="{FF2B5EF4-FFF2-40B4-BE49-F238E27FC236}">
                <a16:creationId xmlns:a16="http://schemas.microsoft.com/office/drawing/2014/main" id="{42EAAD09-F239-2295-31D0-AC276DA057C9}"/>
              </a:ext>
            </a:extLst>
          </p:cNvPr>
          <p:cNvPicPr>
            <a:picLocks noChangeAspect="1"/>
          </p:cNvPicPr>
          <p:nvPr/>
        </p:nvPicPr>
        <p:blipFill>
          <a:blip r:embed="rId3"/>
          <a:stretch>
            <a:fillRect/>
          </a:stretch>
        </p:blipFill>
        <p:spPr>
          <a:xfrm>
            <a:off x="3191906" y="1568196"/>
            <a:ext cx="6112988" cy="4380697"/>
          </a:xfrm>
          <a:prstGeom prst="rect">
            <a:avLst/>
          </a:prstGeom>
        </p:spPr>
      </p:pic>
    </p:spTree>
    <p:extLst>
      <p:ext uri="{BB962C8B-B14F-4D97-AF65-F5344CB8AC3E}">
        <p14:creationId xmlns:p14="http://schemas.microsoft.com/office/powerpoint/2010/main" val="2304299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73835-D237-BB79-A38F-383AE9EED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E121A-1732-928B-5F75-B9E7A652DF28}"/>
              </a:ext>
            </a:extLst>
          </p:cNvPr>
          <p:cNvSpPr>
            <a:spLocks noGrp="1"/>
          </p:cNvSpPr>
          <p:nvPr>
            <p:ph type="title"/>
          </p:nvPr>
        </p:nvSpPr>
        <p:spPr/>
        <p:txBody>
          <a:bodyPr>
            <a:normAutofit fontScale="90000"/>
          </a:bodyPr>
          <a:lstStyle/>
          <a:p>
            <a:r>
              <a:rPr lang="en-US" dirty="0"/>
              <a:t>Log-normal distribution – hazard function</a:t>
            </a:r>
            <a:endParaRPr lang="en-AU" dirty="0"/>
          </a:p>
        </p:txBody>
      </p:sp>
      <p:sp>
        <p:nvSpPr>
          <p:cNvPr id="4" name="Footer Placeholder 3">
            <a:extLst>
              <a:ext uri="{FF2B5EF4-FFF2-40B4-BE49-F238E27FC236}">
                <a16:creationId xmlns:a16="http://schemas.microsoft.com/office/drawing/2014/main" id="{E42A4BE8-1FAE-ED9B-109F-F3DAFC559912}"/>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A2F05CB9-0A13-DC1C-C702-9B7725819196}"/>
              </a:ext>
            </a:extLst>
          </p:cNvPr>
          <p:cNvPicPr>
            <a:picLocks noChangeAspect="1"/>
          </p:cNvPicPr>
          <p:nvPr/>
        </p:nvPicPr>
        <p:blipFill>
          <a:blip r:embed="rId3"/>
          <a:stretch>
            <a:fillRect/>
          </a:stretch>
        </p:blipFill>
        <p:spPr>
          <a:xfrm>
            <a:off x="2600325" y="1619793"/>
            <a:ext cx="6020308" cy="4314281"/>
          </a:xfrm>
          <a:prstGeom prst="rect">
            <a:avLst/>
          </a:prstGeom>
        </p:spPr>
      </p:pic>
    </p:spTree>
    <p:extLst>
      <p:ext uri="{BB962C8B-B14F-4D97-AF65-F5344CB8AC3E}">
        <p14:creationId xmlns:p14="http://schemas.microsoft.com/office/powerpoint/2010/main" val="38454201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6C70F-FEC1-3C1B-417D-81118789F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A8D49-BFAD-10BF-5477-E1F3F81A0E64}"/>
              </a:ext>
            </a:extLst>
          </p:cNvPr>
          <p:cNvSpPr>
            <a:spLocks noGrp="1"/>
          </p:cNvSpPr>
          <p:nvPr>
            <p:ph type="title"/>
          </p:nvPr>
        </p:nvSpPr>
        <p:spPr>
          <a:xfrm>
            <a:off x="700635" y="914400"/>
            <a:ext cx="10901557" cy="1307592"/>
          </a:xfrm>
        </p:spPr>
        <p:txBody>
          <a:bodyPr>
            <a:normAutofit fontScale="90000"/>
          </a:bodyPr>
          <a:lstStyle/>
          <a:p>
            <a:r>
              <a:rPr lang="en-US" dirty="0"/>
              <a:t>Modelling approaches – log-normal model</a:t>
            </a:r>
            <a:endParaRPr lang="en-AU" dirty="0"/>
          </a:p>
        </p:txBody>
      </p:sp>
      <p:sp>
        <p:nvSpPr>
          <p:cNvPr id="3" name="Content Placeholder 2">
            <a:extLst>
              <a:ext uri="{FF2B5EF4-FFF2-40B4-BE49-F238E27FC236}">
                <a16:creationId xmlns:a16="http://schemas.microsoft.com/office/drawing/2014/main" id="{9D7B03B2-E3BC-5717-25D9-7F3091A776B0}"/>
              </a:ext>
            </a:extLst>
          </p:cNvPr>
          <p:cNvSpPr>
            <a:spLocks noGrp="1"/>
          </p:cNvSpPr>
          <p:nvPr>
            <p:ph idx="1"/>
          </p:nvPr>
        </p:nvSpPr>
        <p:spPr>
          <a:xfrm>
            <a:off x="700634" y="2221992"/>
            <a:ext cx="11273651" cy="3739896"/>
          </a:xfrm>
        </p:spPr>
        <p:txBody>
          <a:bodyPr>
            <a:normAutofit/>
          </a:bodyPr>
          <a:lstStyle/>
          <a:p>
            <a:pPr>
              <a:spcAft>
                <a:spcPts val="1200"/>
              </a:spcAft>
            </a:pPr>
            <a:r>
              <a:rPr lang="en-US" dirty="0"/>
              <a:t>The log-normal distribution accommodates </a:t>
            </a:r>
            <a:r>
              <a:rPr lang="en-US" b="1" dirty="0"/>
              <a:t>an AFT model </a:t>
            </a:r>
            <a:r>
              <a:rPr lang="en-US" dirty="0"/>
              <a:t>but not a PH model or a PO model</a:t>
            </a:r>
          </a:p>
          <a:p>
            <a:pPr>
              <a:spcAft>
                <a:spcPts val="1200"/>
              </a:spcAft>
            </a:pPr>
            <a:r>
              <a:rPr lang="en-US" dirty="0"/>
              <a:t>The covariates act as a multiplier on time, which matches the AFT assumption</a:t>
            </a:r>
          </a:p>
          <a:p>
            <a:pPr>
              <a:spcAft>
                <a:spcPts val="1200"/>
              </a:spcAft>
            </a:pPr>
            <a:r>
              <a:rPr lang="en-US" dirty="0"/>
              <a:t>When calculating the hazard ratio for a log-normal model, the </a:t>
            </a:r>
            <a:r>
              <a:rPr lang="en-US" i="1" dirty="0"/>
              <a:t>t </a:t>
            </a:r>
            <a:r>
              <a:rPr lang="en-US" dirty="0"/>
              <a:t>terms in the complex numerator and denominator do not cancel out – consequently, the HR changes over time, violating PH assumption</a:t>
            </a:r>
          </a:p>
          <a:p>
            <a:pPr>
              <a:spcAft>
                <a:spcPts val="1200"/>
              </a:spcAft>
            </a:pPr>
            <a:r>
              <a:rPr lang="en-US" dirty="0"/>
              <a:t>When calculating the survival odds ratio, the t terms also do not cancel out – consequently, the SOR also changes over time, violating the PO assumption</a:t>
            </a:r>
          </a:p>
          <a:p>
            <a:pPr>
              <a:spcAft>
                <a:spcPts val="1200"/>
              </a:spcAft>
            </a:pPr>
            <a:endParaRPr lang="en-US" dirty="0"/>
          </a:p>
          <a:p>
            <a:pPr marL="0" indent="0">
              <a:spcAft>
                <a:spcPts val="1200"/>
              </a:spcAft>
              <a:buNone/>
            </a:pPr>
            <a:endParaRPr lang="en-US" dirty="0"/>
          </a:p>
          <a:p>
            <a:pPr>
              <a:spcAft>
                <a:spcPts val="1200"/>
              </a:spcAft>
            </a:pPr>
            <a:endParaRPr lang="en-US" dirty="0"/>
          </a:p>
          <a:p>
            <a:pPr marL="0" indent="0">
              <a:spcAft>
                <a:spcPts val="1200"/>
              </a:spcAft>
              <a:buNone/>
            </a:pPr>
            <a:endParaRPr lang="en-US" dirty="0"/>
          </a:p>
          <a:p>
            <a:pPr>
              <a:spcBef>
                <a:spcPts val="1200"/>
              </a:spcBef>
            </a:pPr>
            <a:endParaRPr lang="en-US" dirty="0"/>
          </a:p>
          <a:p>
            <a:pPr marL="0" indent="0">
              <a:spcBef>
                <a:spcPts val="1200"/>
              </a:spcBef>
              <a:buNone/>
            </a:pPr>
            <a:endParaRPr lang="en-US" dirty="0"/>
          </a:p>
        </p:txBody>
      </p:sp>
      <p:sp>
        <p:nvSpPr>
          <p:cNvPr id="4" name="Footer Placeholder 3">
            <a:extLst>
              <a:ext uri="{FF2B5EF4-FFF2-40B4-BE49-F238E27FC236}">
                <a16:creationId xmlns:a16="http://schemas.microsoft.com/office/drawing/2014/main" id="{C335881E-6E77-9FB0-40CE-1F6D5A3556F4}"/>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33845580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03D5-CB4A-31CC-A426-0FC9006A9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29EE6-336D-6C12-3A41-70A7DEC98485}"/>
              </a:ext>
            </a:extLst>
          </p:cNvPr>
          <p:cNvSpPr>
            <a:spLocks noGrp="1"/>
          </p:cNvSpPr>
          <p:nvPr>
            <p:ph type="title"/>
          </p:nvPr>
        </p:nvSpPr>
        <p:spPr/>
        <p:txBody>
          <a:bodyPr>
            <a:normAutofit/>
          </a:bodyPr>
          <a:lstStyle/>
          <a:p>
            <a:r>
              <a:rPr lang="en-US" dirty="0"/>
              <a:t>Log-normal AFT model –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17B0F-E160-A45F-D7AE-2B7456D96FA9}"/>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lnorm</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1.347</m:t>
                    </m:r>
                    <m:r>
                      <m:rPr>
                        <m:nor/>
                      </m:rPr>
                      <a:rPr lang="en-US" dirty="0"/>
                      <m:t>)</m:t>
                    </m:r>
                    <m:r>
                      <m:rPr>
                        <m:nor/>
                      </m:rPr>
                      <a:rPr lang="en-US" b="0" i="0" dirty="0" smtClean="0"/>
                      <m:t> = </m:t>
                    </m:r>
                    <m:r>
                      <m:rPr>
                        <m:nor/>
                      </m:rPr>
                      <a:rPr lang="en-US" dirty="0"/>
                      <m:t> </m:t>
                    </m:r>
                    <m:r>
                      <m:rPr>
                        <m:nor/>
                      </m:rPr>
                      <a:rPr lang="en-US" b="0" i="0" dirty="0" smtClean="0"/>
                      <m:t>3.85</m:t>
                    </m:r>
                  </m:oMath>
                </a14:m>
                <a:endParaRPr lang="en-US" dirty="0"/>
              </a:p>
            </p:txBody>
          </p:sp>
        </mc:Choice>
        <mc:Fallback xmlns="">
          <p:sp>
            <p:nvSpPr>
              <p:cNvPr id="3" name="Content Placeholder 2">
                <a:extLst>
                  <a:ext uri="{FF2B5EF4-FFF2-40B4-BE49-F238E27FC236}">
                    <a16:creationId xmlns:a16="http://schemas.microsoft.com/office/drawing/2014/main" id="{3C317B0F-E160-A45F-D7AE-2B7456D96FA9}"/>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73386A41-9F89-08AB-503C-3E90B63F9E2A}"/>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DB70B047-483A-F8C6-31FA-F47235FA443E}"/>
              </a:ext>
            </a:extLst>
          </p:cNvPr>
          <p:cNvPicPr>
            <a:picLocks noChangeAspect="1"/>
          </p:cNvPicPr>
          <p:nvPr/>
        </p:nvPicPr>
        <p:blipFill>
          <a:blip r:embed="rId4"/>
          <a:stretch>
            <a:fillRect/>
          </a:stretch>
        </p:blipFill>
        <p:spPr>
          <a:xfrm>
            <a:off x="1075922" y="2244900"/>
            <a:ext cx="8245878" cy="3415372"/>
          </a:xfrm>
          <a:prstGeom prst="rect">
            <a:avLst/>
          </a:prstGeom>
        </p:spPr>
      </p:pic>
      <p:sp>
        <p:nvSpPr>
          <p:cNvPr id="8" name="TextBox 7">
            <a:extLst>
              <a:ext uri="{FF2B5EF4-FFF2-40B4-BE49-F238E27FC236}">
                <a16:creationId xmlns:a16="http://schemas.microsoft.com/office/drawing/2014/main" id="{9E8E3CF2-8CFE-8296-E150-21825856AFBF}"/>
              </a:ext>
            </a:extLst>
          </p:cNvPr>
          <p:cNvSpPr txBox="1"/>
          <p:nvPr/>
        </p:nvSpPr>
        <p:spPr>
          <a:xfrm>
            <a:off x="7632700" y="2402792"/>
            <a:ext cx="1778000" cy="369332"/>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16767870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A8537-93F6-2373-89F8-A58AE174C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A6337-3EFA-1210-6AE1-990710BA7489}"/>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91158125-1EB7-4BE1-3ECC-8B67F30DCE0B}"/>
              </a:ext>
            </a:extLst>
          </p:cNvPr>
          <p:cNvSpPr>
            <a:spLocks noGrp="1"/>
          </p:cNvSpPr>
          <p:nvPr>
            <p:ph idx="1"/>
          </p:nvPr>
        </p:nvSpPr>
        <p:spPr>
          <a:xfrm>
            <a:off x="700635" y="1903338"/>
            <a:ext cx="11223510" cy="4040262"/>
          </a:xfrm>
        </p:spPr>
        <p:txBody>
          <a:bodyPr>
            <a:normAutofit/>
          </a:bodyPr>
          <a:lstStyle/>
          <a:p>
            <a:r>
              <a:rPr lang="en-US" dirty="0"/>
              <a:t>One method of assessing goodness of fit of a parametric model is to visually compare the fitted parametric model to the Kaplan-Meier curve</a:t>
            </a:r>
          </a:p>
          <a:p>
            <a:pPr marL="0" indent="0">
              <a:buNone/>
            </a:pPr>
            <a:endParaRPr lang="en-US" sz="2600" dirty="0"/>
          </a:p>
        </p:txBody>
      </p:sp>
      <p:sp>
        <p:nvSpPr>
          <p:cNvPr id="4" name="Footer Placeholder 3">
            <a:extLst>
              <a:ext uri="{FF2B5EF4-FFF2-40B4-BE49-F238E27FC236}">
                <a16:creationId xmlns:a16="http://schemas.microsoft.com/office/drawing/2014/main" id="{35FEA9BC-CEA2-9F1E-9583-AAA9AD8901B9}"/>
              </a:ext>
            </a:extLst>
          </p:cNvPr>
          <p:cNvSpPr>
            <a:spLocks noGrp="1"/>
          </p:cNvSpPr>
          <p:nvPr>
            <p:ph type="ftr" sz="quarter" idx="11"/>
          </p:nvPr>
        </p:nvSpPr>
        <p:spPr/>
        <p:txBody>
          <a:bodyPr/>
          <a:lstStyle/>
          <a:p>
            <a:r>
              <a:rPr lang="en-US" dirty="0"/>
              <a:t>maarit.laaksonen@sydney.edu.au</a:t>
            </a:r>
          </a:p>
        </p:txBody>
      </p:sp>
      <p:sp>
        <p:nvSpPr>
          <p:cNvPr id="5" name="TextBox 4">
            <a:extLst>
              <a:ext uri="{FF2B5EF4-FFF2-40B4-BE49-F238E27FC236}">
                <a16:creationId xmlns:a16="http://schemas.microsoft.com/office/drawing/2014/main" id="{B8E4CEF6-0D5E-2782-3E47-D1F92A423344}"/>
              </a:ext>
            </a:extLst>
          </p:cNvPr>
          <p:cNvSpPr txBox="1"/>
          <p:nvPr/>
        </p:nvSpPr>
        <p:spPr>
          <a:xfrm>
            <a:off x="5638800" y="2971800"/>
            <a:ext cx="65" cy="276999"/>
          </a:xfrm>
          <a:prstGeom prst="rect">
            <a:avLst/>
          </a:prstGeom>
          <a:noFill/>
        </p:spPr>
        <p:txBody>
          <a:bodyPr wrap="none" lIns="0" tIns="0" rIns="0" bIns="0" rtlCol="0">
            <a:spAutoFit/>
          </a:bodyPr>
          <a:lstStyle/>
          <a:p>
            <a:endParaRPr lang="en-AU" dirty="0"/>
          </a:p>
        </p:txBody>
      </p:sp>
    </p:spTree>
    <p:extLst>
      <p:ext uri="{BB962C8B-B14F-4D97-AF65-F5344CB8AC3E}">
        <p14:creationId xmlns:p14="http://schemas.microsoft.com/office/powerpoint/2010/main" val="32268092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DC5-9EDE-FF53-C090-C3632553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14E33-5154-9D5D-ECA5-916A6ED8DABF}"/>
              </a:ext>
            </a:extLst>
          </p:cNvPr>
          <p:cNvSpPr>
            <a:spLocks noGrp="1"/>
          </p:cNvSpPr>
          <p:nvPr>
            <p:ph type="title"/>
          </p:nvPr>
        </p:nvSpPr>
        <p:spPr/>
        <p:txBody>
          <a:bodyPr/>
          <a:lstStyle/>
          <a:p>
            <a:r>
              <a:rPr lang="en-US" dirty="0"/>
              <a:t>Model FIT – log-normal model</a:t>
            </a:r>
            <a:endParaRPr lang="en-AU" dirty="0"/>
          </a:p>
        </p:txBody>
      </p:sp>
      <p:sp>
        <p:nvSpPr>
          <p:cNvPr id="4" name="Footer Placeholder 3">
            <a:extLst>
              <a:ext uri="{FF2B5EF4-FFF2-40B4-BE49-F238E27FC236}">
                <a16:creationId xmlns:a16="http://schemas.microsoft.com/office/drawing/2014/main" id="{DD30D347-C7C8-3A70-E1BD-A2476765EDB5}"/>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2202B3DC-F322-2A2F-DB2D-A5DA6021741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19EC7824-8235-8D3E-A66C-0FC023E34024}"/>
              </a:ext>
            </a:extLst>
          </p:cNvPr>
          <p:cNvPicPr>
            <a:picLocks noChangeAspect="1"/>
          </p:cNvPicPr>
          <p:nvPr/>
        </p:nvPicPr>
        <p:blipFill>
          <a:blip r:embed="rId3"/>
          <a:stretch>
            <a:fillRect/>
          </a:stretch>
        </p:blipFill>
        <p:spPr>
          <a:xfrm>
            <a:off x="2600325" y="1784733"/>
            <a:ext cx="5790146" cy="4149342"/>
          </a:xfrm>
          <a:prstGeom prst="rect">
            <a:avLst/>
          </a:prstGeom>
        </p:spPr>
      </p:pic>
    </p:spTree>
    <p:extLst>
      <p:ext uri="{BB962C8B-B14F-4D97-AF65-F5344CB8AC3E}">
        <p14:creationId xmlns:p14="http://schemas.microsoft.com/office/powerpoint/2010/main" val="38708296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87F1-8801-82FE-88C4-FC1A6A1FD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18C5C-4DD2-1304-DD14-F578393B8DA3}"/>
              </a:ext>
            </a:extLst>
          </p:cNvPr>
          <p:cNvSpPr>
            <a:spLocks noGrp="1"/>
          </p:cNvSpPr>
          <p:nvPr>
            <p:ph type="title"/>
          </p:nvPr>
        </p:nvSpPr>
        <p:spPr>
          <a:xfrm>
            <a:off x="700635" y="914400"/>
            <a:ext cx="11135765" cy="1307592"/>
          </a:xfrm>
        </p:spPr>
        <p:txBody>
          <a:bodyPr>
            <a:normAutofit fontScale="90000"/>
          </a:bodyPr>
          <a:lstStyle/>
          <a:p>
            <a:r>
              <a:rPr lang="en-US" dirty="0"/>
              <a:t>Model FIT – log-normal and log-logistic models</a:t>
            </a:r>
            <a:endParaRPr lang="en-AU" dirty="0"/>
          </a:p>
        </p:txBody>
      </p:sp>
      <p:sp>
        <p:nvSpPr>
          <p:cNvPr id="4" name="Footer Placeholder 3">
            <a:extLst>
              <a:ext uri="{FF2B5EF4-FFF2-40B4-BE49-F238E27FC236}">
                <a16:creationId xmlns:a16="http://schemas.microsoft.com/office/drawing/2014/main" id="{194454EE-F454-9E9E-D5E4-CACA6C92C558}"/>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D128194F-5050-0B9E-99CA-1125DEF892E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A2ADF8C1-2EBC-186A-26A7-A8B1A081410C}"/>
              </a:ext>
            </a:extLst>
          </p:cNvPr>
          <p:cNvPicPr>
            <a:picLocks noChangeAspect="1"/>
          </p:cNvPicPr>
          <p:nvPr/>
        </p:nvPicPr>
        <p:blipFill>
          <a:blip r:embed="rId3"/>
          <a:stretch>
            <a:fillRect/>
          </a:stretch>
        </p:blipFill>
        <p:spPr>
          <a:xfrm>
            <a:off x="2600325" y="1689463"/>
            <a:ext cx="5923090" cy="4244612"/>
          </a:xfrm>
          <a:prstGeom prst="rect">
            <a:avLst/>
          </a:prstGeom>
        </p:spPr>
      </p:pic>
    </p:spTree>
    <p:extLst>
      <p:ext uri="{BB962C8B-B14F-4D97-AF65-F5344CB8AC3E}">
        <p14:creationId xmlns:p14="http://schemas.microsoft.com/office/powerpoint/2010/main" val="10421513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0AC1-B322-9590-A3C5-5A1983961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B8D0C-39A2-CB4D-A6D5-5B31B8894B51}"/>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B18C5D6A-8691-815D-A099-B8A6194DA87C}"/>
              </a:ext>
            </a:extLst>
          </p:cNvPr>
          <p:cNvSpPr>
            <a:spLocks noGrp="1"/>
          </p:cNvSpPr>
          <p:nvPr>
            <p:ph idx="1"/>
          </p:nvPr>
        </p:nvSpPr>
        <p:spPr/>
        <p:txBody>
          <a:bodyPr>
            <a:normAutofit/>
          </a:bodyPr>
          <a:lstStyle/>
          <a:p>
            <a:r>
              <a:rPr lang="en-US" dirty="0"/>
              <a:t>We could also visually compare the fitted parametric hazard to kernel density estimates</a:t>
            </a:r>
          </a:p>
        </p:txBody>
      </p:sp>
      <p:sp>
        <p:nvSpPr>
          <p:cNvPr id="4" name="Footer Placeholder 3">
            <a:extLst>
              <a:ext uri="{FF2B5EF4-FFF2-40B4-BE49-F238E27FC236}">
                <a16:creationId xmlns:a16="http://schemas.microsoft.com/office/drawing/2014/main" id="{F7A5868B-36A7-14DB-761D-13A02E572293}"/>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179690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9EDE4-C7DD-8B93-A4E7-1C4D537F3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2928F-0A09-23C4-C7F3-7094F58B9A92}"/>
              </a:ext>
            </a:extLst>
          </p:cNvPr>
          <p:cNvSpPr>
            <a:spLocks noGrp="1"/>
          </p:cNvSpPr>
          <p:nvPr>
            <p:ph type="title"/>
          </p:nvPr>
        </p:nvSpPr>
        <p:spPr/>
        <p:txBody>
          <a:bodyPr>
            <a:normAutofit/>
          </a:bodyPr>
          <a:lstStyle/>
          <a:p>
            <a:r>
              <a:rPr lang="en-US" dirty="0"/>
              <a:t>Model FIT – log-normal model</a:t>
            </a:r>
            <a:endParaRPr lang="en-AU" dirty="0"/>
          </a:p>
        </p:txBody>
      </p:sp>
      <p:sp>
        <p:nvSpPr>
          <p:cNvPr id="4" name="Footer Placeholder 3">
            <a:extLst>
              <a:ext uri="{FF2B5EF4-FFF2-40B4-BE49-F238E27FC236}">
                <a16:creationId xmlns:a16="http://schemas.microsoft.com/office/drawing/2014/main" id="{9FC2CBA7-69DA-A091-A3AF-E2C1310C6541}"/>
              </a:ext>
            </a:extLst>
          </p:cNvPr>
          <p:cNvSpPr>
            <a:spLocks noGrp="1"/>
          </p:cNvSpPr>
          <p:nvPr>
            <p:ph type="ftr" sz="quarter" idx="11"/>
          </p:nvPr>
        </p:nvSpPr>
        <p:spPr/>
        <p:txBody>
          <a:bodyPr/>
          <a:lstStyle/>
          <a:p>
            <a:r>
              <a:rPr lang="en-US" dirty="0"/>
              <a:t>maarit.laaksonen@sydney.edu.au</a:t>
            </a:r>
          </a:p>
        </p:txBody>
      </p:sp>
      <p:sp>
        <p:nvSpPr>
          <p:cNvPr id="6" name="AutoShape 2">
            <a:extLst>
              <a:ext uri="{FF2B5EF4-FFF2-40B4-BE49-F238E27FC236}">
                <a16:creationId xmlns:a16="http://schemas.microsoft.com/office/drawing/2014/main" id="{4CD22BA6-4345-F959-5036-9BAA91668B5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BD87441C-11C2-6F36-B64C-250483690EF0}"/>
              </a:ext>
            </a:extLst>
          </p:cNvPr>
          <p:cNvPicPr>
            <a:picLocks noChangeAspect="1"/>
          </p:cNvPicPr>
          <p:nvPr/>
        </p:nvPicPr>
        <p:blipFill>
          <a:blip r:embed="rId3"/>
          <a:stretch>
            <a:fillRect/>
          </a:stretch>
        </p:blipFill>
        <p:spPr>
          <a:xfrm>
            <a:off x="1711411" y="1827072"/>
            <a:ext cx="6654114" cy="4116528"/>
          </a:xfrm>
          <a:prstGeom prst="rect">
            <a:avLst/>
          </a:prstGeom>
        </p:spPr>
      </p:pic>
    </p:spTree>
    <p:extLst>
      <p:ext uri="{BB962C8B-B14F-4D97-AF65-F5344CB8AC3E}">
        <p14:creationId xmlns:p14="http://schemas.microsoft.com/office/powerpoint/2010/main" val="35710445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7079B-8CE3-2C12-3E80-B4B7CA849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E4E8-7345-531F-BCF4-71B189F57671}"/>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18F15148-A010-2661-876F-9AB5692D8021}"/>
              </a:ext>
            </a:extLst>
          </p:cNvPr>
          <p:cNvSpPr>
            <a:spLocks noGrp="1"/>
          </p:cNvSpPr>
          <p:nvPr>
            <p:ph idx="1"/>
          </p:nvPr>
        </p:nvSpPr>
        <p:spPr>
          <a:xfrm>
            <a:off x="700635" y="1903338"/>
            <a:ext cx="11223510" cy="4040262"/>
          </a:xfrm>
        </p:spPr>
        <p:txBody>
          <a:bodyPr>
            <a:normAutofit/>
          </a:bodyPr>
          <a:lstStyle/>
          <a:p>
            <a:pPr marL="0" indent="0">
              <a:buNone/>
            </a:pPr>
            <a:endParaRPr lang="en-US" sz="1900" dirty="0"/>
          </a:p>
          <a:p>
            <a:pPr>
              <a:spcBef>
                <a:spcPts val="1200"/>
              </a:spcBef>
            </a:pPr>
            <a:r>
              <a:rPr lang="en-US" dirty="0"/>
              <a:t>AFT model assumes a covariate stretches (or shrinks) survival time by a constant factor</a:t>
            </a:r>
          </a:p>
          <a:p>
            <a:pPr marL="0" indent="0">
              <a:spcBef>
                <a:spcPts val="600"/>
              </a:spcBef>
              <a:buNone/>
            </a:pPr>
            <a:r>
              <a:rPr lang="en-US" dirty="0">
                <a:sym typeface="Wingdings" panose="05000000000000000000" pitchFamily="2" charset="2"/>
              </a:rPr>
              <a:t>We can check whether there is a constant horizontal shift between survival curves plotted against log time</a:t>
            </a:r>
            <a:endParaRPr lang="en-US" dirty="0"/>
          </a:p>
        </p:txBody>
      </p:sp>
      <p:sp>
        <p:nvSpPr>
          <p:cNvPr id="4" name="Footer Placeholder 3">
            <a:extLst>
              <a:ext uri="{FF2B5EF4-FFF2-40B4-BE49-F238E27FC236}">
                <a16:creationId xmlns:a16="http://schemas.microsoft.com/office/drawing/2014/main" id="{00DDB254-FAFC-94C2-BD43-FACB385205DF}"/>
              </a:ext>
            </a:extLst>
          </p:cNvPr>
          <p:cNvSpPr>
            <a:spLocks noGrp="1"/>
          </p:cNvSpPr>
          <p:nvPr>
            <p:ph type="ftr" sz="quarter" idx="11"/>
          </p:nvPr>
        </p:nvSpPr>
        <p:spPr/>
        <p:txBody>
          <a:bodyPr/>
          <a:lstStyle/>
          <a:p>
            <a:r>
              <a:rPr lang="en-US" dirty="0"/>
              <a:t>maarit.laaksonen@sydney.edu.au</a:t>
            </a:r>
          </a:p>
        </p:txBody>
      </p:sp>
      <p:sp>
        <p:nvSpPr>
          <p:cNvPr id="5" name="TextBox 4">
            <a:extLst>
              <a:ext uri="{FF2B5EF4-FFF2-40B4-BE49-F238E27FC236}">
                <a16:creationId xmlns:a16="http://schemas.microsoft.com/office/drawing/2014/main" id="{6FEE3E02-9503-7806-6077-23D155B2C1AB}"/>
              </a:ext>
            </a:extLst>
          </p:cNvPr>
          <p:cNvSpPr txBox="1"/>
          <p:nvPr/>
        </p:nvSpPr>
        <p:spPr>
          <a:xfrm>
            <a:off x="5638800" y="2971800"/>
            <a:ext cx="65" cy="276999"/>
          </a:xfrm>
          <a:prstGeom prst="rect">
            <a:avLst/>
          </a:prstGeom>
          <a:noFill/>
        </p:spPr>
        <p:txBody>
          <a:bodyPr wrap="none" lIns="0" tIns="0" rIns="0" bIns="0" rtlCol="0">
            <a:spAutoFit/>
          </a:bodyPr>
          <a:lstStyle/>
          <a:p>
            <a:endParaRPr lang="en-AU" dirty="0"/>
          </a:p>
        </p:txBody>
      </p:sp>
    </p:spTree>
    <p:extLst>
      <p:ext uri="{BB962C8B-B14F-4D97-AF65-F5344CB8AC3E}">
        <p14:creationId xmlns:p14="http://schemas.microsoft.com/office/powerpoint/2010/main" val="23687871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AF11D-3782-E4F3-0855-6DCA559D4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A4E6F-E57B-0AC3-8B94-7782C0118CDD}"/>
              </a:ext>
            </a:extLst>
          </p:cNvPr>
          <p:cNvSpPr>
            <a:spLocks noGrp="1"/>
          </p:cNvSpPr>
          <p:nvPr>
            <p:ph type="title"/>
          </p:nvPr>
        </p:nvSpPr>
        <p:spPr/>
        <p:txBody>
          <a:bodyPr>
            <a:normAutofit/>
          </a:bodyPr>
          <a:lstStyle/>
          <a:p>
            <a:r>
              <a:rPr lang="en-US" dirty="0"/>
              <a:t>Aft Model FIT – log-normal model</a:t>
            </a:r>
            <a:endParaRPr lang="en-AU" dirty="0"/>
          </a:p>
        </p:txBody>
      </p:sp>
      <p:sp>
        <p:nvSpPr>
          <p:cNvPr id="4" name="Footer Placeholder 3">
            <a:extLst>
              <a:ext uri="{FF2B5EF4-FFF2-40B4-BE49-F238E27FC236}">
                <a16:creationId xmlns:a16="http://schemas.microsoft.com/office/drawing/2014/main" id="{DFA2AC31-44C5-8025-1F91-277FFCF9BFE2}"/>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4B011C5B-E26D-4708-FFAD-CF5D086DBD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AA0CF8E6-9CD3-6EA1-936F-D4CD9C342EBF}"/>
              </a:ext>
            </a:extLst>
          </p:cNvPr>
          <p:cNvPicPr>
            <a:picLocks noChangeAspect="1"/>
          </p:cNvPicPr>
          <p:nvPr/>
        </p:nvPicPr>
        <p:blipFill>
          <a:blip r:embed="rId3"/>
          <a:stretch>
            <a:fillRect/>
          </a:stretch>
        </p:blipFill>
        <p:spPr>
          <a:xfrm>
            <a:off x="1600200" y="1716115"/>
            <a:ext cx="6997700" cy="4329085"/>
          </a:xfrm>
          <a:prstGeom prst="rect">
            <a:avLst/>
          </a:prstGeom>
        </p:spPr>
      </p:pic>
    </p:spTree>
    <p:extLst>
      <p:ext uri="{BB962C8B-B14F-4D97-AF65-F5344CB8AC3E}">
        <p14:creationId xmlns:p14="http://schemas.microsoft.com/office/powerpoint/2010/main" val="15666703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5CB0-E77D-879D-A225-B26CA8C9B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67C3B-4A08-0FFC-6473-A1A53F76C831}"/>
              </a:ext>
            </a:extLst>
          </p:cNvPr>
          <p:cNvSpPr>
            <a:spLocks noGrp="1"/>
          </p:cNvSpPr>
          <p:nvPr>
            <p:ph type="title"/>
          </p:nvPr>
        </p:nvSpPr>
        <p:spPr/>
        <p:txBody>
          <a:bodyPr>
            <a:normAutofit/>
          </a:bodyPr>
          <a:lstStyle/>
          <a:p>
            <a:r>
              <a:rPr lang="en-US" dirty="0"/>
              <a:t>Aft Model FIT – multiple models</a:t>
            </a:r>
            <a:endParaRPr lang="en-AU" dirty="0"/>
          </a:p>
        </p:txBody>
      </p:sp>
      <p:sp>
        <p:nvSpPr>
          <p:cNvPr id="4" name="Footer Placeholder 3">
            <a:extLst>
              <a:ext uri="{FF2B5EF4-FFF2-40B4-BE49-F238E27FC236}">
                <a16:creationId xmlns:a16="http://schemas.microsoft.com/office/drawing/2014/main" id="{05670893-64D2-57F6-E1E7-FB2D6C72850E}"/>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19E95AF3-F49C-56FC-D9B2-06DB60751E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a:extLst>
              <a:ext uri="{FF2B5EF4-FFF2-40B4-BE49-F238E27FC236}">
                <a16:creationId xmlns:a16="http://schemas.microsoft.com/office/drawing/2014/main" id="{8CEC7E4A-3A7C-6607-10B1-7FB8DB09A5E2}"/>
              </a:ext>
            </a:extLst>
          </p:cNvPr>
          <p:cNvPicPr>
            <a:picLocks noChangeAspect="1"/>
          </p:cNvPicPr>
          <p:nvPr/>
        </p:nvPicPr>
        <p:blipFill>
          <a:blip r:embed="rId3"/>
          <a:stretch>
            <a:fillRect/>
          </a:stretch>
        </p:blipFill>
        <p:spPr>
          <a:xfrm>
            <a:off x="1600200" y="1646050"/>
            <a:ext cx="7213600" cy="4462650"/>
          </a:xfrm>
          <a:prstGeom prst="rect">
            <a:avLst/>
          </a:prstGeom>
        </p:spPr>
      </p:pic>
    </p:spTree>
    <p:extLst>
      <p:ext uri="{BB962C8B-B14F-4D97-AF65-F5344CB8AC3E}">
        <p14:creationId xmlns:p14="http://schemas.microsoft.com/office/powerpoint/2010/main" val="35418141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D75A7-20CC-9716-8E36-204F4744C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29252-5AB3-D4D1-9392-80232701B737}"/>
              </a:ext>
            </a:extLst>
          </p:cNvPr>
          <p:cNvSpPr>
            <a:spLocks noGrp="1"/>
          </p:cNvSpPr>
          <p:nvPr>
            <p:ph type="title"/>
          </p:nvPr>
        </p:nvSpPr>
        <p:spPr/>
        <p:txBody>
          <a:bodyPr/>
          <a:lstStyle/>
          <a:p>
            <a:r>
              <a:rPr lang="en-US" dirty="0"/>
              <a:t>Model SELECTION – </a:t>
            </a:r>
            <a:r>
              <a:rPr lang="en-US" dirty="0" err="1"/>
              <a:t>aic</a:t>
            </a:r>
            <a:endParaRPr lang="en-AU" dirty="0"/>
          </a:p>
        </p:txBody>
      </p:sp>
      <p:sp>
        <p:nvSpPr>
          <p:cNvPr id="3" name="Content Placeholder 2">
            <a:extLst>
              <a:ext uri="{FF2B5EF4-FFF2-40B4-BE49-F238E27FC236}">
                <a16:creationId xmlns:a16="http://schemas.microsoft.com/office/drawing/2014/main" id="{AF52A839-2FD1-BFA0-A9CF-88A5E8F08FBC}"/>
              </a:ext>
            </a:extLst>
          </p:cNvPr>
          <p:cNvSpPr>
            <a:spLocks noGrp="1"/>
          </p:cNvSpPr>
          <p:nvPr>
            <p:ph idx="1"/>
          </p:nvPr>
        </p:nvSpPr>
        <p:spPr/>
        <p:txBody>
          <a:bodyPr>
            <a:normAutofit/>
          </a:bodyPr>
          <a:lstStyle/>
          <a:p>
            <a:r>
              <a:rPr lang="en-US" dirty="0"/>
              <a:t>We can use AIC to compare the fit of Exponential, Weibull, Log-logistic and Log-normal</a:t>
            </a:r>
          </a:p>
          <a:p>
            <a:pPr marL="0" indent="0">
              <a:spcBef>
                <a:spcPts val="1800"/>
              </a:spcBef>
              <a:buNone/>
            </a:pPr>
            <a:r>
              <a:rPr lang="en-US" dirty="0"/>
              <a:t>The </a:t>
            </a:r>
            <a:r>
              <a:rPr lang="en-US" dirty="0">
                <a:latin typeface="Courier New" panose="02070309020205020404" pitchFamily="49" charset="0"/>
                <a:cs typeface="Courier New" panose="02070309020205020404" pitchFamily="49" charset="0"/>
              </a:rPr>
              <a:t>AIC </a:t>
            </a:r>
            <a:r>
              <a:rPr lang="en-US" dirty="0"/>
              <a:t>function can be used to compare the four models:</a:t>
            </a:r>
          </a:p>
        </p:txBody>
      </p:sp>
      <p:sp>
        <p:nvSpPr>
          <p:cNvPr id="4" name="Footer Placeholder 3">
            <a:extLst>
              <a:ext uri="{FF2B5EF4-FFF2-40B4-BE49-F238E27FC236}">
                <a16:creationId xmlns:a16="http://schemas.microsoft.com/office/drawing/2014/main" id="{86B26E39-ACBC-0478-6312-680E7CD1EE9D}"/>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E577CED6-E004-357E-C104-FAE6EB852AE4}"/>
              </a:ext>
            </a:extLst>
          </p:cNvPr>
          <p:cNvPicPr>
            <a:picLocks noChangeAspect="1"/>
          </p:cNvPicPr>
          <p:nvPr/>
        </p:nvPicPr>
        <p:blipFill>
          <a:blip r:embed="rId3"/>
          <a:stretch>
            <a:fillRect/>
          </a:stretch>
        </p:blipFill>
        <p:spPr>
          <a:xfrm>
            <a:off x="806786" y="3248860"/>
            <a:ext cx="8680114" cy="2793418"/>
          </a:xfrm>
          <a:prstGeom prst="rect">
            <a:avLst/>
          </a:prstGeom>
        </p:spPr>
      </p:pic>
    </p:spTree>
    <p:extLst>
      <p:ext uri="{BB962C8B-B14F-4D97-AF65-F5344CB8AC3E}">
        <p14:creationId xmlns:p14="http://schemas.microsoft.com/office/powerpoint/2010/main" val="25318644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C8C5-1BB4-CBBF-DC3E-EBB111AF8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896E2-5FB3-B377-41B5-A933FE906810}"/>
              </a:ext>
            </a:extLst>
          </p:cNvPr>
          <p:cNvSpPr>
            <a:spLocks noGrp="1"/>
          </p:cNvSpPr>
          <p:nvPr>
            <p:ph type="title"/>
          </p:nvPr>
        </p:nvSpPr>
        <p:spPr/>
        <p:txBody>
          <a:bodyPr/>
          <a:lstStyle/>
          <a:p>
            <a:r>
              <a:rPr lang="en-US" dirty="0"/>
              <a:t>gamma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22365F-D57D-DEE8-88F8-E297B101BDD1}"/>
                  </a:ext>
                </a:extLst>
              </p:cNvPr>
              <p:cNvSpPr>
                <a:spLocks noGrp="1"/>
              </p:cNvSpPr>
              <p:nvPr>
                <p:ph idx="1"/>
              </p:nvPr>
            </p:nvSpPr>
            <p:spPr/>
            <p:txBody>
              <a:bodyPr>
                <a:normAutofit fontScale="92500" lnSpcReduction="20000"/>
              </a:bodyPr>
              <a:lstStyle/>
              <a:p>
                <a:r>
                  <a:rPr lang="en-US" dirty="0"/>
                  <a:t>The shape of the Gamma distribution is similar to that of log-logistic/lognormal distribution, but they behave differently in their tails</a:t>
                </a:r>
              </a:p>
              <a:p>
                <a:r>
                  <a:rPr lang="en-US" dirty="0"/>
                  <a:t>If a random variable T follows a gamma distribution with parameters </a:t>
                </a:r>
                <a14:m>
                  <m:oMath xmlns:m="http://schemas.openxmlformats.org/officeDocument/2006/math">
                    <m:r>
                      <a:rPr lang="en-US" i="1">
                        <a:latin typeface="Cambria Math" panose="02040503050406030204" pitchFamily="18" charset="0"/>
                      </a:rPr>
                      <m:t>𝜆</m:t>
                    </m:r>
                    <m:r>
                      <a:rPr lang="en-US" b="0" i="0" smtClean="0">
                        <a:latin typeface="Cambria Math" panose="02040503050406030204" pitchFamily="18" charset="0"/>
                      </a:rPr>
                      <m:t> </m:t>
                    </m:r>
                    <m:r>
                      <m:rPr>
                        <m:sty m:val="p"/>
                      </m:rPr>
                      <a:rPr lang="en-US">
                        <a:latin typeface="Cambria Math" panose="02040503050406030204" pitchFamily="18" charset="0"/>
                      </a:rPr>
                      <m:t>and</m:t>
                    </m:r>
                    <m:r>
                      <a:rPr lang="en-US" i="1">
                        <a:latin typeface="Cambria Math" panose="02040503050406030204" pitchFamily="18" charset="0"/>
                      </a:rPr>
                      <m:t> </m:t>
                    </m:r>
                    <m:r>
                      <a:rPr lang="en-US" b="0" i="1" smtClean="0">
                        <a:latin typeface="Cambria Math" panose="02040503050406030204" pitchFamily="18" charset="0"/>
                      </a:rPr>
                      <m:t>𝑘</m:t>
                    </m:r>
                  </m:oMath>
                </a14:m>
                <a:r>
                  <a:rPr lang="en-US" dirty="0"/>
                  <a:t>, then</a:t>
                </a:r>
              </a:p>
              <a:p>
                <a:pPr marL="0" indent="0">
                  <a:buNone/>
                </a:pPr>
                <a:endParaRPr lang="en-US" dirty="0"/>
              </a:p>
              <a:p>
                <a:pPr lvl="1">
                  <a:buClr>
                    <a:schemeClr val="bg1"/>
                  </a:buClr>
                </a:pPr>
                <a14:m>
                  <m:oMath xmlns:m="http://schemas.openxmlformats.org/officeDocument/2006/math">
                    <m:r>
                      <a:rPr lang="en-AU" sz="1900" i="1">
                        <a:latin typeface="Cambria Math" panose="02040503050406030204" pitchFamily="18" charset="0"/>
                      </a:rPr>
                      <m:t>𝑓</m:t>
                    </m:r>
                    <m:d>
                      <m:dPr>
                        <m:ctrlPr>
                          <a:rPr lang="en-AU" sz="1900" i="1">
                            <a:latin typeface="Cambria Math" panose="02040503050406030204" pitchFamily="18" charset="0"/>
                          </a:rPr>
                        </m:ctrlPr>
                      </m:dPr>
                      <m:e>
                        <m:r>
                          <a:rPr lang="en-AU" sz="1900" i="1">
                            <a:latin typeface="Cambria Math" panose="02040503050406030204" pitchFamily="18" charset="0"/>
                          </a:rPr>
                          <m:t>𝑡</m:t>
                        </m:r>
                      </m:e>
                    </m:d>
                    <m:r>
                      <a:rPr lang="en-AU" sz="1900" i="1">
                        <a:latin typeface="Cambria Math" panose="02040503050406030204" pitchFamily="18" charset="0"/>
                      </a:rPr>
                      <m:t>=</m:t>
                    </m:r>
                  </m:oMath>
                </a14:m>
                <a:r>
                  <a:rPr lang="en-AU" dirty="0"/>
                  <a:t> </a:t>
                </a:r>
                <a14:m>
                  <m:oMath xmlns:m="http://schemas.openxmlformats.org/officeDocument/2006/math">
                    <m:f>
                      <m:fPr>
                        <m:ctrlPr>
                          <a:rPr lang="en-AU" i="1">
                            <a:latin typeface="Cambria Math" panose="02040503050406030204" pitchFamily="18" charset="0"/>
                          </a:rPr>
                        </m:ctrlPr>
                      </m:fPr>
                      <m:num>
                        <m:sSup>
                          <m:sSupPr>
                            <m:ctrlPr>
                              <a:rPr lang="en-AU" i="1">
                                <a:latin typeface="Cambria Math" panose="02040503050406030204" pitchFamily="18" charset="0"/>
                              </a:rPr>
                            </m:ctrlPr>
                          </m:sSupPr>
                          <m:e>
                            <m:r>
                              <a:rPr lang="en-US" i="1">
                                <a:latin typeface="Cambria Math" panose="02040503050406030204" pitchFamily="18" charset="0"/>
                              </a:rPr>
                              <m:t>𝜆</m:t>
                            </m:r>
                          </m:e>
                          <m:sup>
                            <m:r>
                              <a:rPr lang="en-US" b="0" i="1" smtClean="0">
                                <a:latin typeface="Cambria Math" panose="02040503050406030204" pitchFamily="18" charset="0"/>
                              </a:rPr>
                              <m:t>𝑘</m:t>
                            </m:r>
                          </m:sup>
                        </m:sSup>
                        <m:sSup>
                          <m:sSupPr>
                            <m:ctrlPr>
                              <a:rPr lang="en-AU" i="1">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𝑘</m:t>
                            </m:r>
                            <m:r>
                              <a:rPr lang="en-US" i="1">
                                <a:latin typeface="Cambria Math" panose="02040503050406030204" pitchFamily="18" charset="0"/>
                              </a:rPr>
                              <m:t>−1</m:t>
                            </m:r>
                          </m:sup>
                        </m:sSup>
                        <m:sSup>
                          <m:sSupPr>
                            <m:ctrlPr>
                              <a:rPr lang="en-AU"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𝑡</m:t>
                            </m:r>
                          </m:sup>
                        </m:sSup>
                      </m:num>
                      <m:den>
                        <m:r>
                          <m:rPr>
                            <m:sty m:val="p"/>
                          </m:rPr>
                          <a:rPr lang="en-US" dirty="0">
                            <a:latin typeface="Cambria Math" panose="02040503050406030204" pitchFamily="18" charset="0"/>
                          </a:rPr>
                          <m:t>Γ</m:t>
                        </m:r>
                        <m:r>
                          <a:rPr lang="en-US" i="1" dirty="0">
                            <a:latin typeface="Cambria Math" panose="02040503050406030204" pitchFamily="18" charset="0"/>
                          </a:rPr>
                          <m:t>(</m:t>
                        </m:r>
                        <m:r>
                          <a:rPr lang="en-US" b="0" i="1" dirty="0" smtClean="0">
                            <a:latin typeface="Cambria Math" panose="02040503050406030204" pitchFamily="18" charset="0"/>
                          </a:rPr>
                          <m:t>𝑘</m:t>
                        </m:r>
                        <m:r>
                          <a:rPr lang="en-US" i="1" dirty="0">
                            <a:latin typeface="Cambria Math" panose="02040503050406030204" pitchFamily="18" charset="0"/>
                          </a:rPr>
                          <m:t>) </m:t>
                        </m:r>
                      </m:den>
                    </m:f>
                  </m:oMath>
                </a14:m>
                <a:r>
                  <a:rPr lang="en-AU" sz="1900" dirty="0">
                    <a:latin typeface="Cambria Math" panose="02040503050406030204" pitchFamily="18" charset="0"/>
                  </a:rPr>
                  <a:t>, where the Gamma function </a:t>
                </a:r>
                <a14:m>
                  <m:oMath xmlns:m="http://schemas.openxmlformats.org/officeDocument/2006/math">
                    <m:r>
                      <m:rPr>
                        <m:sty m:val="p"/>
                      </m:rPr>
                      <a:rPr lang="en-US" sz="2000" dirty="0">
                        <a:latin typeface="Cambria Math" panose="02040503050406030204" pitchFamily="18" charset="0"/>
                      </a:rPr>
                      <m:t>Γ</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𝑘</m:t>
                        </m:r>
                      </m:e>
                    </m:d>
                    <m:r>
                      <a:rPr lang="en-US" sz="2000" b="0" i="1" dirty="0" smtClean="0">
                        <a:latin typeface="Cambria Math" panose="02040503050406030204" pitchFamily="18" charset="0"/>
                      </a:rPr>
                      <m:t>=</m:t>
                    </m:r>
                  </m:oMath>
                </a14:m>
                <a:r>
                  <a:rPr lang="en-AU" sz="1900" dirty="0">
                    <a:latin typeface="Cambria Math" panose="02040503050406030204" pitchFamily="18" charset="0"/>
                  </a:rPr>
                  <a:t> </a:t>
                </a:r>
                <a14:m>
                  <m:oMath xmlns:m="http://schemas.openxmlformats.org/officeDocument/2006/math">
                    <m:nary>
                      <m:naryPr>
                        <m:ctrlPr>
                          <a:rPr lang="en-AU" sz="1900" i="1" dirty="0" smtClean="0">
                            <a:latin typeface="Cambria Math" panose="02040503050406030204" pitchFamily="18" charset="0"/>
                          </a:rPr>
                        </m:ctrlPr>
                      </m:naryPr>
                      <m:sub>
                        <m:r>
                          <m:rPr>
                            <m:brk m:alnAt="23"/>
                          </m:rPr>
                          <a:rPr lang="en-US" sz="1900" b="0" i="1" dirty="0" smtClean="0">
                            <a:latin typeface="Cambria Math" panose="02040503050406030204" pitchFamily="18" charset="0"/>
                          </a:rPr>
                          <m:t>0</m:t>
                        </m:r>
                      </m:sub>
                      <m:sup>
                        <m:r>
                          <a:rPr lang="en-AU" sz="1900" i="1" dirty="0" smtClean="0">
                            <a:latin typeface="Cambria Math" panose="02040503050406030204" pitchFamily="18" charset="0"/>
                            <a:ea typeface="Cambria Math" panose="02040503050406030204" pitchFamily="18" charset="0"/>
                          </a:rPr>
                          <m:t>∞</m:t>
                        </m:r>
                      </m:sup>
                      <m:e>
                        <m:sSup>
                          <m:sSupPr>
                            <m:ctrlPr>
                              <a:rPr lang="en-AU" sz="2000" i="1">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𝑘</m:t>
                            </m:r>
                            <m:r>
                              <a:rPr lang="en-US" sz="2000" i="1">
                                <a:latin typeface="Cambria Math" panose="02040503050406030204" pitchFamily="18" charset="0"/>
                              </a:rPr>
                              <m:t>−1</m:t>
                            </m:r>
                          </m:sup>
                        </m:sSup>
                        <m:sSup>
                          <m:sSupPr>
                            <m:ctrlPr>
                              <a:rPr lang="en-AU"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𝑥</m:t>
                            </m:r>
                          </m:sup>
                        </m:sSup>
                        <m:r>
                          <a:rPr lang="en-US" sz="2000" b="0" i="1" smtClean="0">
                            <a:latin typeface="Cambria Math" panose="02040503050406030204" pitchFamily="18" charset="0"/>
                          </a:rPr>
                          <m:t>𝑑𝑥</m:t>
                        </m:r>
                      </m:e>
                    </m:nary>
                  </m:oMath>
                </a14:m>
                <a:endParaRPr lang="en-AU" sz="1900" dirty="0">
                  <a:latin typeface="Cambria Math" panose="02040503050406030204" pitchFamily="18" charset="0"/>
                </a:endParaRPr>
              </a:p>
              <a:p>
                <a:pPr lvl="1">
                  <a:buClr>
                    <a:schemeClr val="bg1"/>
                  </a:buClr>
                </a:pPr>
                <a14:m>
                  <m:oMath xmlns:m="http://schemas.openxmlformats.org/officeDocument/2006/math">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1900" i="1">
                        <a:latin typeface="Cambria Math" panose="02040503050406030204" pitchFamily="18" charset="0"/>
                      </a:rPr>
                      <m:t>=</m:t>
                    </m:r>
                    <m:r>
                      <m:rPr>
                        <m:nor/>
                      </m:rPr>
                      <a:rPr lang="en-AU" sz="2000" dirty="0"/>
                      <m:t> </m:t>
                    </m:r>
                    <m:f>
                      <m:fPr>
                        <m:ctrlPr>
                          <a:rPr lang="en-AU" sz="2000" i="1">
                            <a:latin typeface="Cambria Math" panose="02040503050406030204" pitchFamily="18" charset="0"/>
                          </a:rPr>
                        </m:ctrlPr>
                      </m:fPr>
                      <m:num>
                        <m:r>
                          <m:rPr>
                            <m:sty m:val="p"/>
                          </m:rPr>
                          <a:rPr lang="en-US" sz="2000" b="0" i="0" smtClean="0">
                            <a:latin typeface="Cambria Math" panose="02040503050406030204" pitchFamily="18" charset="0"/>
                          </a:rPr>
                          <m:t>Γ</m:t>
                        </m:r>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 </m:t>
                        </m:r>
                        <m:r>
                          <a:rPr lang="en-US" sz="2000" b="0" i="1" smtClean="0">
                            <a:latin typeface="Cambria Math" panose="02040503050406030204" pitchFamily="18" charset="0"/>
                          </a:rPr>
                          <m:t>𝜆</m:t>
                        </m:r>
                        <m:r>
                          <a:rPr lang="en-US" sz="2000" b="0" i="1" smtClean="0">
                            <a:latin typeface="Cambria Math" panose="02040503050406030204" pitchFamily="18" charset="0"/>
                          </a:rPr>
                          <m:t>𝑡</m:t>
                        </m:r>
                        <m:r>
                          <a:rPr lang="en-US" sz="2000" b="0" i="1" smtClean="0">
                            <a:latin typeface="Cambria Math" panose="02040503050406030204" pitchFamily="18" charset="0"/>
                          </a:rPr>
                          <m:t>)</m:t>
                        </m:r>
                      </m:num>
                      <m:den>
                        <m:r>
                          <m:rPr>
                            <m:sty m:val="p"/>
                          </m:rPr>
                          <a:rPr lang="en-US" sz="2000" dirty="0">
                            <a:latin typeface="Cambria Math" panose="02040503050406030204" pitchFamily="18" charset="0"/>
                          </a:rPr>
                          <m:t>Γ</m:t>
                        </m:r>
                        <m:r>
                          <a:rPr lang="en-US" sz="2000" i="1" dirty="0">
                            <a:latin typeface="Cambria Math" panose="02040503050406030204" pitchFamily="18" charset="0"/>
                          </a:rPr>
                          <m:t>(</m:t>
                        </m:r>
                        <m:r>
                          <a:rPr lang="en-US" sz="2000" b="0" i="1" dirty="0" smtClean="0">
                            <a:latin typeface="Cambria Math" panose="02040503050406030204" pitchFamily="18" charset="0"/>
                          </a:rPr>
                          <m:t>𝑘</m:t>
                        </m:r>
                        <m:r>
                          <a:rPr lang="en-US" sz="2000" i="1" dirty="0">
                            <a:latin typeface="Cambria Math" panose="02040503050406030204" pitchFamily="18" charset="0"/>
                          </a:rPr>
                          <m:t>) </m:t>
                        </m:r>
                      </m:den>
                    </m:f>
                  </m:oMath>
                </a14:m>
                <a:r>
                  <a:rPr lang="en-US" sz="2000" dirty="0"/>
                  <a:t>, where </a:t>
                </a:r>
                <a14:m>
                  <m:oMath xmlns:m="http://schemas.openxmlformats.org/officeDocument/2006/math">
                    <m:r>
                      <m:rPr>
                        <m:sty m:val="p"/>
                      </m:rPr>
                      <a:rPr lang="en-US" sz="2000" dirty="0">
                        <a:latin typeface="Cambria Math" panose="02040503050406030204" pitchFamily="18" charset="0"/>
                      </a:rPr>
                      <m:t>Γ</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𝑘</m:t>
                        </m:r>
                        <m:r>
                          <a:rPr lang="en-US" sz="2000" i="1">
                            <a:latin typeface="Cambria Math" panose="02040503050406030204" pitchFamily="18" charset="0"/>
                          </a:rPr>
                          <m:t>, </m:t>
                        </m:r>
                        <m:r>
                          <a:rPr lang="en-US" sz="2000" i="1">
                            <a:latin typeface="Cambria Math" panose="02040503050406030204" pitchFamily="18" charset="0"/>
                          </a:rPr>
                          <m:t>𝜆</m:t>
                        </m:r>
                        <m:r>
                          <a:rPr lang="en-US" sz="2000" i="1">
                            <a:latin typeface="Cambria Math" panose="02040503050406030204" pitchFamily="18" charset="0"/>
                          </a:rPr>
                          <m:t>𝑡</m:t>
                        </m:r>
                      </m:e>
                    </m:d>
                    <m:r>
                      <a:rPr lang="en-US" sz="2000" i="1" dirty="0">
                        <a:latin typeface="Cambria Math" panose="02040503050406030204" pitchFamily="18" charset="0"/>
                      </a:rPr>
                      <m:t>=</m:t>
                    </m:r>
                  </m:oMath>
                </a14:m>
                <a:r>
                  <a:rPr lang="en-AU" sz="1900" dirty="0">
                    <a:latin typeface="Cambria Math" panose="02040503050406030204" pitchFamily="18" charset="0"/>
                  </a:rPr>
                  <a:t> </a:t>
                </a:r>
                <a14:m>
                  <m:oMath xmlns:m="http://schemas.openxmlformats.org/officeDocument/2006/math">
                    <m:nary>
                      <m:naryPr>
                        <m:ctrlPr>
                          <a:rPr lang="en-AU" sz="1900" i="1" dirty="0">
                            <a:latin typeface="Cambria Math" panose="02040503050406030204" pitchFamily="18" charset="0"/>
                          </a:rPr>
                        </m:ctrlPr>
                      </m:naryPr>
                      <m:sub>
                        <m:r>
                          <a:rPr lang="en-US" sz="1900" b="0" i="1" dirty="0" smtClean="0">
                            <a:latin typeface="Cambria Math" panose="02040503050406030204" pitchFamily="18" charset="0"/>
                          </a:rPr>
                          <m:t>𝜆</m:t>
                        </m:r>
                        <m:r>
                          <a:rPr lang="en-US" sz="1900" b="0" i="1" dirty="0" smtClean="0">
                            <a:latin typeface="Cambria Math" panose="02040503050406030204" pitchFamily="18" charset="0"/>
                          </a:rPr>
                          <m:t>𝑡</m:t>
                        </m:r>
                      </m:sub>
                      <m:sup>
                        <m:r>
                          <a:rPr lang="en-AU" sz="1900" i="1" dirty="0">
                            <a:latin typeface="Cambria Math" panose="02040503050406030204" pitchFamily="18" charset="0"/>
                            <a:ea typeface="Cambria Math" panose="02040503050406030204" pitchFamily="18" charset="0"/>
                          </a:rPr>
                          <m:t>∞</m:t>
                        </m:r>
                      </m:sup>
                      <m:e>
                        <m:sSup>
                          <m:sSupPr>
                            <m:ctrlPr>
                              <a:rPr lang="en-AU" sz="2000" i="1">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𝑘</m:t>
                            </m:r>
                            <m:r>
                              <a:rPr lang="en-US" sz="2000" i="1">
                                <a:latin typeface="Cambria Math" panose="02040503050406030204" pitchFamily="18" charset="0"/>
                              </a:rPr>
                              <m:t>−1</m:t>
                            </m:r>
                          </m:sup>
                        </m:sSup>
                        <m:sSup>
                          <m:sSupPr>
                            <m:ctrlPr>
                              <a:rPr lang="en-AU"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𝑥</m:t>
                            </m:r>
                          </m:sup>
                        </m:sSup>
                        <m:r>
                          <a:rPr lang="en-US" sz="2000" i="1">
                            <a:latin typeface="Cambria Math" panose="02040503050406030204" pitchFamily="18" charset="0"/>
                          </a:rPr>
                          <m:t>𝑑</m:t>
                        </m:r>
                        <m:r>
                          <a:rPr lang="en-US" sz="2000" b="0" i="1" smtClean="0">
                            <a:latin typeface="Cambria Math" panose="02040503050406030204" pitchFamily="18" charset="0"/>
                          </a:rPr>
                          <m:t>𝑥</m:t>
                        </m:r>
                      </m:e>
                    </m:nary>
                  </m:oMath>
                </a14:m>
                <a:r>
                  <a:rPr lang="en-US" sz="2000" dirty="0"/>
                  <a:t> is the upper incomplete Gamma function</a:t>
                </a:r>
              </a:p>
              <a:p>
                <a:pPr lvl="1">
                  <a:buClr>
                    <a:schemeClr val="bg1"/>
                  </a:buClr>
                </a:pPr>
                <a14:m>
                  <m:oMath xmlns:m="http://schemas.openxmlformats.org/officeDocument/2006/math">
                    <m:r>
                      <m:rPr>
                        <m:sty m:val="p"/>
                      </m:rPr>
                      <a:rPr lang="en-AU" sz="2000" i="1">
                        <a:latin typeface="Cambria Math" panose="02040503050406030204" pitchFamily="18" charset="0"/>
                      </a:rPr>
                      <m:t>h</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f>
                      <m:fPr>
                        <m:ctrlPr>
                          <a:rPr lang="en-AU" sz="2000" i="1">
                            <a:latin typeface="Cambria Math" panose="02040503050406030204" pitchFamily="18" charset="0"/>
                          </a:rPr>
                        </m:ctrlPr>
                      </m:fPr>
                      <m:num>
                        <m:sSup>
                          <m:sSupPr>
                            <m:ctrlPr>
                              <a:rPr lang="en-AU" sz="200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𝑘</m:t>
                            </m:r>
                          </m:sup>
                        </m:sSup>
                        <m:sSup>
                          <m:sSupPr>
                            <m:ctrlPr>
                              <a:rPr lang="en-AU" sz="2000" i="1" smtClean="0">
                                <a:latin typeface="Cambria Math" panose="02040503050406030204" pitchFamily="18" charset="0"/>
                              </a:rPr>
                            </m:ctrlPr>
                          </m:sSupPr>
                          <m:e>
                            <m:r>
                              <a:rPr lang="en-US" sz="2000" b="0" i="1" smtClean="0">
                                <a:latin typeface="Cambria Math" panose="02040503050406030204" pitchFamily="18" charset="0"/>
                              </a:rPr>
                              <m:t>𝑡</m:t>
                            </m:r>
                          </m:e>
                          <m:sup>
                            <m:r>
                              <a:rPr lang="en-US" sz="2000" b="0" i="1" smtClean="0">
                                <a:latin typeface="Cambria Math" panose="02040503050406030204" pitchFamily="18" charset="0"/>
                              </a:rPr>
                              <m:t>𝑘</m:t>
                            </m:r>
                            <m:r>
                              <a:rPr lang="en-US" sz="2000" b="0" i="1" smtClean="0">
                                <a:latin typeface="Cambria Math" panose="02040503050406030204" pitchFamily="18" charset="0"/>
                              </a:rPr>
                              <m:t>−1</m:t>
                            </m:r>
                          </m:sup>
                        </m:sSup>
                        <m:sSup>
                          <m:sSupPr>
                            <m:ctrlPr>
                              <a:rPr lang="en-AU"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𝜆</m:t>
                            </m:r>
                            <m:r>
                              <a:rPr lang="en-US" sz="2000" b="0" i="1" smtClean="0">
                                <a:latin typeface="Cambria Math" panose="02040503050406030204" pitchFamily="18" charset="0"/>
                              </a:rPr>
                              <m:t>𝑡</m:t>
                            </m:r>
                          </m:sup>
                        </m:sSup>
                      </m:num>
                      <m:den>
                        <m:r>
                          <m:rPr>
                            <m:sty m:val="p"/>
                          </m:rPr>
                          <a:rPr lang="en-US" sz="2000">
                            <a:latin typeface="Cambria Math" panose="02040503050406030204" pitchFamily="18" charset="0"/>
                          </a:rPr>
                          <m:t>Γ</m:t>
                        </m:r>
                        <m:r>
                          <a:rPr lang="en-US" sz="2000" i="1">
                            <a:latin typeface="Cambria Math" panose="02040503050406030204" pitchFamily="18" charset="0"/>
                          </a:rPr>
                          <m:t>(</m:t>
                        </m:r>
                        <m:r>
                          <a:rPr lang="en-US" sz="2000" b="0" i="1" smtClean="0">
                            <a:latin typeface="Cambria Math" panose="02040503050406030204" pitchFamily="18" charset="0"/>
                          </a:rPr>
                          <m:t>𝑘</m:t>
                        </m:r>
                        <m:r>
                          <a:rPr lang="en-US" sz="2000" i="1">
                            <a:latin typeface="Cambria Math" panose="02040503050406030204" pitchFamily="18" charset="0"/>
                          </a:rPr>
                          <m:t>, </m:t>
                        </m:r>
                        <m:r>
                          <a:rPr lang="en-US" sz="2000" i="1">
                            <a:latin typeface="Cambria Math" panose="02040503050406030204" pitchFamily="18" charset="0"/>
                          </a:rPr>
                          <m:t>𝜆</m:t>
                        </m:r>
                        <m:r>
                          <a:rPr lang="en-US" sz="2000" i="1">
                            <a:latin typeface="Cambria Math" panose="02040503050406030204" pitchFamily="18" charset="0"/>
                          </a:rPr>
                          <m:t>𝑡</m:t>
                        </m:r>
                        <m:r>
                          <a:rPr lang="en-US" sz="2000" i="1">
                            <a:latin typeface="Cambria Math" panose="02040503050406030204" pitchFamily="18" charset="0"/>
                          </a:rPr>
                          <m:t>)</m:t>
                        </m:r>
                      </m:den>
                    </m:f>
                  </m:oMath>
                </a14:m>
                <a:endParaRPr lang="en-US" sz="2000" dirty="0"/>
              </a:p>
              <a:p>
                <a:pPr marL="457200" lvl="1" indent="0">
                  <a:buClr>
                    <a:schemeClr val="bg1"/>
                  </a:buClr>
                  <a:buNone/>
                </a:pPr>
                <a:endParaRPr lang="en-US" sz="2000" dirty="0"/>
              </a:p>
              <a:p>
                <a:r>
                  <a:rPr lang="en-US" dirty="0"/>
                  <a:t>Hazard and survival functions can only be expressed in terms of integrals</a:t>
                </a:r>
              </a:p>
            </p:txBody>
          </p:sp>
        </mc:Choice>
        <mc:Fallback xmlns="">
          <p:sp>
            <p:nvSpPr>
              <p:cNvPr id="3" name="Content Placeholder 2">
                <a:extLst>
                  <a:ext uri="{FF2B5EF4-FFF2-40B4-BE49-F238E27FC236}">
                    <a16:creationId xmlns:a16="http://schemas.microsoft.com/office/drawing/2014/main" id="{7422365F-D57D-DEE8-88F8-E297B101BDD1}"/>
                  </a:ext>
                </a:extLst>
              </p:cNvPr>
              <p:cNvSpPr>
                <a:spLocks noGrp="1" noRot="1" noChangeAspect="1" noMove="1" noResize="1" noEditPoints="1" noAdjustHandles="1" noChangeArrowheads="1" noChangeShapeType="1" noTextEdit="1"/>
              </p:cNvSpPr>
              <p:nvPr>
                <p:ph idx="1"/>
              </p:nvPr>
            </p:nvSpPr>
            <p:spPr>
              <a:blipFill>
                <a:blip r:embed="rId3"/>
                <a:stretch>
                  <a:fillRect l="-456" t="-1794" b="-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E3580A12-0972-5B25-B32D-69E45F5AD81E}"/>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1833914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BCC2-6F05-A107-7729-D36C494BD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7C80C-CF0A-5DFD-7B95-8B7089199AAB}"/>
              </a:ext>
            </a:extLst>
          </p:cNvPr>
          <p:cNvSpPr>
            <a:spLocks noGrp="1"/>
          </p:cNvSpPr>
          <p:nvPr>
            <p:ph type="title"/>
          </p:nvPr>
        </p:nvSpPr>
        <p:spPr/>
        <p:txBody>
          <a:bodyPr/>
          <a:lstStyle/>
          <a:p>
            <a:r>
              <a:rPr lang="en-US" dirty="0" err="1"/>
              <a:t>Generalised</a:t>
            </a:r>
            <a:r>
              <a:rPr lang="en-US" dirty="0"/>
              <a:t> gamma distribution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E4CF37-23E7-75A5-BAE7-5BD4D7C772CA}"/>
                  </a:ext>
                </a:extLst>
              </p:cNvPr>
              <p:cNvSpPr>
                <a:spLocks noGrp="1"/>
              </p:cNvSpPr>
              <p:nvPr>
                <p:ph idx="1"/>
              </p:nvPr>
            </p:nvSpPr>
            <p:spPr/>
            <p:txBody>
              <a:bodyPr>
                <a:normAutofit fontScale="92500" lnSpcReduction="10000"/>
              </a:bodyPr>
              <a:lstStyle/>
              <a:p>
                <a:r>
                  <a:rPr lang="en-US" dirty="0"/>
                  <a:t>The </a:t>
                </a:r>
                <a:r>
                  <a:rPr lang="en-US" dirty="0" err="1"/>
                  <a:t>generalised</a:t>
                </a:r>
                <a:r>
                  <a:rPr lang="en-US" dirty="0"/>
                  <a:t> gamma distribution is a three-parameter family that </a:t>
                </a:r>
                <a:r>
                  <a:rPr lang="en-US" dirty="0" err="1"/>
                  <a:t>generalises</a:t>
                </a:r>
                <a:r>
                  <a:rPr lang="en-US" dirty="0"/>
                  <a:t> several distributions</a:t>
                </a:r>
              </a:p>
              <a:p>
                <a:r>
                  <a:rPr lang="en-US" dirty="0"/>
                  <a:t>If a random variable T follows a </a:t>
                </a:r>
                <a:r>
                  <a:rPr lang="en-US" dirty="0" err="1"/>
                  <a:t>generalised</a:t>
                </a:r>
                <a:r>
                  <a:rPr lang="en-US" dirty="0"/>
                  <a:t> gamma distribution with parameters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 </m:t>
                    </m:r>
                    <m:r>
                      <m:rPr>
                        <m:sty m:val="p"/>
                      </m:rPr>
                      <a:rPr lang="en-US" b="0" i="0" smtClean="0">
                        <a:latin typeface="Cambria Math" panose="02040503050406030204" pitchFamily="18" charset="0"/>
                      </a:rPr>
                      <m:t>and</m:t>
                    </m:r>
                    <m:r>
                      <a:rPr lang="en-US" b="0" i="1" smtClean="0">
                        <a:latin typeface="Cambria Math" panose="02040503050406030204" pitchFamily="18" charset="0"/>
                      </a:rPr>
                      <m:t> </m:t>
                    </m:r>
                    <m:r>
                      <a:rPr lang="en-US" b="0" i="1" smtClean="0">
                        <a:latin typeface="Cambria Math" panose="02040503050406030204" pitchFamily="18" charset="0"/>
                      </a:rPr>
                      <m:t>𝑝</m:t>
                    </m:r>
                  </m:oMath>
                </a14:m>
                <a:r>
                  <a:rPr lang="en-US" dirty="0"/>
                  <a:t>, then</a:t>
                </a:r>
              </a:p>
              <a:p>
                <a:pPr marL="0" indent="0">
                  <a:buNone/>
                </a:pPr>
                <a:endParaRPr lang="en-US" dirty="0"/>
              </a:p>
              <a:p>
                <a:pPr lvl="1">
                  <a:buClr>
                    <a:schemeClr val="bg1"/>
                  </a:buClr>
                </a:pPr>
                <a14:m>
                  <m:oMath xmlns:m="http://schemas.openxmlformats.org/officeDocument/2006/math">
                    <m:r>
                      <a:rPr lang="en-AU" sz="1900" i="1">
                        <a:latin typeface="Cambria Math" panose="02040503050406030204" pitchFamily="18" charset="0"/>
                      </a:rPr>
                      <m:t>𝑓</m:t>
                    </m:r>
                    <m:d>
                      <m:dPr>
                        <m:ctrlPr>
                          <a:rPr lang="en-AU" sz="1900" i="1">
                            <a:latin typeface="Cambria Math" panose="02040503050406030204" pitchFamily="18" charset="0"/>
                          </a:rPr>
                        </m:ctrlPr>
                      </m:dPr>
                      <m:e>
                        <m:r>
                          <a:rPr lang="en-AU" sz="1900" i="1">
                            <a:latin typeface="Cambria Math" panose="02040503050406030204" pitchFamily="18" charset="0"/>
                          </a:rPr>
                          <m:t>𝑡</m:t>
                        </m:r>
                      </m:e>
                    </m:d>
                    <m:r>
                      <a:rPr lang="en-AU" sz="1900" i="1">
                        <a:latin typeface="Cambria Math" panose="02040503050406030204" pitchFamily="18" charset="0"/>
                      </a:rPr>
                      <m:t>=</m:t>
                    </m:r>
                  </m:oMath>
                </a14:m>
                <a:r>
                  <a:rPr lang="en-AU" dirty="0"/>
                  <a:t> </a:t>
                </a:r>
                <a14:m>
                  <m:oMath xmlns:m="http://schemas.openxmlformats.org/officeDocument/2006/math">
                    <m:f>
                      <m:fPr>
                        <m:ctrlPr>
                          <a:rPr lang="en-AU" i="1">
                            <a:latin typeface="Cambria Math" panose="02040503050406030204" pitchFamily="18" charset="0"/>
                          </a:rPr>
                        </m:ctrlPr>
                      </m:fPr>
                      <m:num>
                        <m:r>
                          <a:rPr lang="en-US" b="0" i="1" smtClean="0">
                            <a:latin typeface="Cambria Math" panose="02040503050406030204" pitchFamily="18" charset="0"/>
                          </a:rPr>
                          <m:t>𝑝</m:t>
                        </m:r>
                        <m:sSup>
                          <m:sSupPr>
                            <m:ctrlPr>
                              <a:rPr lang="en-AU" i="1">
                                <a:latin typeface="Cambria Math" panose="02040503050406030204" pitchFamily="18" charset="0"/>
                              </a:rPr>
                            </m:ctrlPr>
                          </m:sSupPr>
                          <m:e>
                            <m:sSup>
                              <m:sSupPr>
                                <m:ctrlPr>
                                  <a:rPr lang="en-AU" i="1">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𝑘</m:t>
                                </m:r>
                              </m:sup>
                            </m:sSup>
                            <m:r>
                              <a:rPr lang="en-US" i="1">
                                <a:latin typeface="Cambria Math" panose="02040503050406030204" pitchFamily="18" charset="0"/>
                              </a:rPr>
                              <m:t>𝑡</m:t>
                            </m:r>
                          </m:e>
                          <m:sup>
                            <m:r>
                              <a:rPr lang="en-US" i="1">
                                <a:latin typeface="Cambria Math" panose="02040503050406030204" pitchFamily="18" charset="0"/>
                              </a:rPr>
                              <m:t>𝑝𝑘</m:t>
                            </m:r>
                            <m:r>
                              <a:rPr lang="en-US" i="1">
                                <a:latin typeface="Cambria Math" panose="02040503050406030204" pitchFamily="18" charset="0"/>
                              </a:rPr>
                              <m:t>−1</m:t>
                            </m:r>
                          </m:sup>
                        </m:sSup>
                        <m:sSup>
                          <m:sSupPr>
                            <m:ctrlPr>
                              <a:rPr lang="en-AU"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𝑡</m:t>
                                </m:r>
                                <m:r>
                                  <a:rPr lang="en-US" b="0" i="1" smtClean="0">
                                    <a:latin typeface="Cambria Math" panose="02040503050406030204" pitchFamily="18" charset="0"/>
                                  </a:rPr>
                                  <m:t>)</m:t>
                                </m:r>
                              </m:e>
                              <m:sup>
                                <m:r>
                                  <a:rPr lang="en-US" b="0" i="1" smtClean="0">
                                    <a:latin typeface="Cambria Math" panose="02040503050406030204" pitchFamily="18" charset="0"/>
                                  </a:rPr>
                                  <m:t>𝑝</m:t>
                                </m:r>
                              </m:sup>
                            </m:sSup>
                          </m:sup>
                        </m:sSup>
                      </m:num>
                      <m:den>
                        <m:r>
                          <m:rPr>
                            <m:sty m:val="p"/>
                          </m:rPr>
                          <a:rPr lang="en-US" dirty="0">
                            <a:latin typeface="Cambria Math" panose="02040503050406030204" pitchFamily="18" charset="0"/>
                          </a:rPr>
                          <m:t>Γ</m:t>
                        </m:r>
                        <m:r>
                          <a:rPr lang="en-US" i="1" dirty="0">
                            <a:latin typeface="Cambria Math" panose="02040503050406030204" pitchFamily="18" charset="0"/>
                          </a:rPr>
                          <m:t>(</m:t>
                        </m:r>
                        <m:r>
                          <a:rPr lang="en-US" b="0" i="1" dirty="0" smtClean="0">
                            <a:latin typeface="Cambria Math" panose="02040503050406030204" pitchFamily="18" charset="0"/>
                          </a:rPr>
                          <m:t>𝑘</m:t>
                        </m:r>
                        <m:r>
                          <a:rPr lang="en-US" i="1" dirty="0">
                            <a:latin typeface="Cambria Math" panose="02040503050406030204" pitchFamily="18" charset="0"/>
                          </a:rPr>
                          <m:t>)</m:t>
                        </m:r>
                        <m:r>
                          <a:rPr lang="en-US" i="1" dirty="0" smtClean="0">
                            <a:latin typeface="Cambria Math" panose="02040503050406030204" pitchFamily="18" charset="0"/>
                          </a:rPr>
                          <m:t> </m:t>
                        </m:r>
                      </m:den>
                    </m:f>
                  </m:oMath>
                </a14:m>
                <a:r>
                  <a:rPr lang="en-AU" sz="1900" dirty="0">
                    <a:latin typeface="Cambria Math" panose="02040503050406030204" pitchFamily="18" charset="0"/>
                  </a:rPr>
                  <a:t>, where the Gamma function </a:t>
                </a:r>
                <a14:m>
                  <m:oMath xmlns:m="http://schemas.openxmlformats.org/officeDocument/2006/math">
                    <m:r>
                      <m:rPr>
                        <m:sty m:val="p"/>
                      </m:rPr>
                      <a:rPr lang="en-US" sz="2000" dirty="0">
                        <a:latin typeface="Cambria Math" panose="02040503050406030204" pitchFamily="18" charset="0"/>
                      </a:rPr>
                      <m:t>Γ</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𝑘</m:t>
                        </m:r>
                      </m:e>
                    </m:d>
                    <m:r>
                      <a:rPr lang="en-US" sz="2000" b="0" i="1" dirty="0" smtClean="0">
                        <a:latin typeface="Cambria Math" panose="02040503050406030204" pitchFamily="18" charset="0"/>
                      </a:rPr>
                      <m:t>=</m:t>
                    </m:r>
                  </m:oMath>
                </a14:m>
                <a:r>
                  <a:rPr lang="en-AU" sz="1900" dirty="0">
                    <a:latin typeface="Cambria Math" panose="02040503050406030204" pitchFamily="18" charset="0"/>
                  </a:rPr>
                  <a:t> </a:t>
                </a:r>
                <a14:m>
                  <m:oMath xmlns:m="http://schemas.openxmlformats.org/officeDocument/2006/math">
                    <m:nary>
                      <m:naryPr>
                        <m:ctrlPr>
                          <a:rPr lang="en-AU" sz="1900" i="1" dirty="0" smtClean="0">
                            <a:latin typeface="Cambria Math" panose="02040503050406030204" pitchFamily="18" charset="0"/>
                          </a:rPr>
                        </m:ctrlPr>
                      </m:naryPr>
                      <m:sub>
                        <m:r>
                          <m:rPr>
                            <m:brk m:alnAt="23"/>
                          </m:rPr>
                          <a:rPr lang="en-US" sz="1900" b="0" i="1" dirty="0" smtClean="0">
                            <a:latin typeface="Cambria Math" panose="02040503050406030204" pitchFamily="18" charset="0"/>
                          </a:rPr>
                          <m:t>0</m:t>
                        </m:r>
                      </m:sub>
                      <m:sup>
                        <m:r>
                          <a:rPr lang="en-AU" sz="1900" i="1" dirty="0" smtClean="0">
                            <a:latin typeface="Cambria Math" panose="02040503050406030204" pitchFamily="18" charset="0"/>
                            <a:ea typeface="Cambria Math" panose="02040503050406030204" pitchFamily="18" charset="0"/>
                          </a:rPr>
                          <m:t>∞</m:t>
                        </m:r>
                      </m:sup>
                      <m:e>
                        <m:sSup>
                          <m:sSupPr>
                            <m:ctrlPr>
                              <a:rPr lang="en-AU" sz="2000" i="1">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𝑘</m:t>
                            </m:r>
                            <m:r>
                              <a:rPr lang="en-US" sz="2000" i="1">
                                <a:latin typeface="Cambria Math" panose="02040503050406030204" pitchFamily="18" charset="0"/>
                              </a:rPr>
                              <m:t>−1</m:t>
                            </m:r>
                          </m:sup>
                        </m:sSup>
                        <m:sSup>
                          <m:sSupPr>
                            <m:ctrlPr>
                              <a:rPr lang="en-AU"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𝑥</m:t>
                            </m:r>
                          </m:sup>
                        </m:sSup>
                        <m:r>
                          <a:rPr lang="en-US" sz="2000" b="0" i="1" smtClean="0">
                            <a:latin typeface="Cambria Math" panose="02040503050406030204" pitchFamily="18" charset="0"/>
                          </a:rPr>
                          <m:t>𝑑𝑥</m:t>
                        </m:r>
                      </m:e>
                    </m:nary>
                  </m:oMath>
                </a14:m>
                <a:endParaRPr lang="en-AU" sz="1900" dirty="0">
                  <a:latin typeface="Cambria Math" panose="02040503050406030204" pitchFamily="18" charset="0"/>
                </a:endParaRPr>
              </a:p>
              <a:p>
                <a:pPr lvl="1">
                  <a:buClr>
                    <a:schemeClr val="bg1"/>
                  </a:buClr>
                </a:pPr>
                <a14:m>
                  <m:oMath xmlns:m="http://schemas.openxmlformats.org/officeDocument/2006/math">
                    <m:r>
                      <m:rPr>
                        <m:sty m:val="p"/>
                      </m:rPr>
                      <a:rPr lang="en-AU" sz="2000" i="1">
                        <a:latin typeface="Cambria Math" panose="02040503050406030204" pitchFamily="18" charset="0"/>
                      </a:rPr>
                      <m:t>S</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1900" i="1">
                        <a:latin typeface="Cambria Math" panose="02040503050406030204" pitchFamily="18" charset="0"/>
                      </a:rPr>
                      <m:t>=</m:t>
                    </m:r>
                    <m:r>
                      <m:rPr>
                        <m:nor/>
                      </m:rPr>
                      <a:rPr lang="en-AU" sz="2000" dirty="0"/>
                      <m:t> </m:t>
                    </m:r>
                    <m:f>
                      <m:fPr>
                        <m:ctrlPr>
                          <a:rPr lang="en-AU" sz="2000" i="1">
                            <a:latin typeface="Cambria Math" panose="02040503050406030204" pitchFamily="18" charset="0"/>
                          </a:rPr>
                        </m:ctrlPr>
                      </m:fPr>
                      <m:num>
                        <m:r>
                          <m:rPr>
                            <m:sty m:val="p"/>
                          </m:rPr>
                          <a:rPr lang="en-US" sz="2000" b="0" i="0" smtClean="0">
                            <a:latin typeface="Cambria Math" panose="02040503050406030204" pitchFamily="18" charset="0"/>
                          </a:rPr>
                          <m:t>Γ</m:t>
                        </m:r>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𝜆</m:t>
                            </m:r>
                            <m:r>
                              <a:rPr lang="en-US" sz="2000" i="1">
                                <a:latin typeface="Cambria Math" panose="02040503050406030204" pitchFamily="18" charset="0"/>
                              </a:rPr>
                              <m:t>𝑡</m:t>
                            </m:r>
                            <m:r>
                              <a:rPr lang="en-US" sz="2000" i="1">
                                <a:latin typeface="Cambria Math" panose="02040503050406030204" pitchFamily="18" charset="0"/>
                              </a:rPr>
                              <m:t>)</m:t>
                            </m:r>
                          </m:e>
                          <m:sup>
                            <m:r>
                              <a:rPr lang="en-US" sz="2000" b="0" i="1" smtClean="0">
                                <a:latin typeface="Cambria Math" panose="02040503050406030204" pitchFamily="18" charset="0"/>
                              </a:rPr>
                              <m:t>𝑝</m:t>
                            </m:r>
                          </m:sup>
                        </m:sSup>
                        <m:r>
                          <a:rPr lang="en-US" sz="2000" b="0" i="1" smtClean="0">
                            <a:latin typeface="Cambria Math" panose="02040503050406030204" pitchFamily="18" charset="0"/>
                          </a:rPr>
                          <m:t>)</m:t>
                        </m:r>
                      </m:num>
                      <m:den>
                        <m:r>
                          <m:rPr>
                            <m:sty m:val="p"/>
                          </m:rPr>
                          <a:rPr lang="en-US" sz="2000" dirty="0">
                            <a:latin typeface="Cambria Math" panose="02040503050406030204" pitchFamily="18" charset="0"/>
                          </a:rPr>
                          <m:t>Γ</m:t>
                        </m:r>
                        <m:r>
                          <a:rPr lang="en-US" sz="2000" i="1" dirty="0">
                            <a:latin typeface="Cambria Math" panose="02040503050406030204" pitchFamily="18" charset="0"/>
                          </a:rPr>
                          <m:t>(</m:t>
                        </m:r>
                        <m:r>
                          <a:rPr lang="en-US" sz="2000" b="0" i="1" dirty="0" smtClean="0">
                            <a:latin typeface="Cambria Math" panose="02040503050406030204" pitchFamily="18" charset="0"/>
                          </a:rPr>
                          <m:t>𝑘</m:t>
                        </m:r>
                        <m:r>
                          <a:rPr lang="en-US" sz="2000" i="1" dirty="0">
                            <a:latin typeface="Cambria Math" panose="02040503050406030204" pitchFamily="18" charset="0"/>
                          </a:rPr>
                          <m:t>) </m:t>
                        </m:r>
                      </m:den>
                    </m:f>
                  </m:oMath>
                </a14:m>
                <a:r>
                  <a:rPr lang="en-US" sz="2000" dirty="0"/>
                  <a:t>, where </a:t>
                </a:r>
                <a14:m>
                  <m:oMath xmlns:m="http://schemas.openxmlformats.org/officeDocument/2006/math">
                    <m:r>
                      <m:rPr>
                        <m:sty m:val="p"/>
                      </m:rPr>
                      <a:rPr lang="en-US" sz="2000" dirty="0">
                        <a:latin typeface="Cambria Math" panose="02040503050406030204" pitchFamily="18" charset="0"/>
                      </a:rPr>
                      <m:t>Γ</m:t>
                    </m:r>
                    <m:d>
                      <m:dPr>
                        <m:ctrlPr>
                          <a:rPr lang="en-US" sz="2000" i="1" dirty="0">
                            <a:latin typeface="Cambria Math" panose="02040503050406030204" pitchFamily="18" charset="0"/>
                          </a:rPr>
                        </m:ctrlPr>
                      </m:dPr>
                      <m:e>
                        <m:r>
                          <a:rPr lang="en-US" sz="2000" i="1" dirty="0">
                            <a:latin typeface="Cambria Math" panose="02040503050406030204" pitchFamily="18" charset="0"/>
                          </a:rPr>
                          <m:t>𝛼</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𝜆</m:t>
                            </m:r>
                            <m:r>
                              <a:rPr lang="en-US" sz="2000" i="1">
                                <a:latin typeface="Cambria Math" panose="02040503050406030204" pitchFamily="18" charset="0"/>
                              </a:rPr>
                              <m:t>𝑡</m:t>
                            </m:r>
                            <m:r>
                              <a:rPr lang="en-US" sz="2000" i="1">
                                <a:latin typeface="Cambria Math" panose="02040503050406030204" pitchFamily="18" charset="0"/>
                              </a:rPr>
                              <m:t>)</m:t>
                            </m:r>
                          </m:e>
                          <m:sup>
                            <m:r>
                              <a:rPr lang="en-US" sz="2000" i="1">
                                <a:latin typeface="Cambria Math" panose="02040503050406030204" pitchFamily="18" charset="0"/>
                              </a:rPr>
                              <m:t>𝑝</m:t>
                            </m:r>
                          </m:sup>
                        </m:sSup>
                      </m:e>
                    </m:d>
                    <m:r>
                      <a:rPr lang="en-US" sz="2000" i="1" dirty="0">
                        <a:latin typeface="Cambria Math" panose="02040503050406030204" pitchFamily="18" charset="0"/>
                      </a:rPr>
                      <m:t>=</m:t>
                    </m:r>
                  </m:oMath>
                </a14:m>
                <a:r>
                  <a:rPr lang="en-AU" sz="1900" dirty="0">
                    <a:latin typeface="Cambria Math" panose="02040503050406030204" pitchFamily="18" charset="0"/>
                  </a:rPr>
                  <a:t> </a:t>
                </a:r>
                <a14:m>
                  <m:oMath xmlns:m="http://schemas.openxmlformats.org/officeDocument/2006/math">
                    <m:nary>
                      <m:naryPr>
                        <m:ctrlPr>
                          <a:rPr lang="en-AU" sz="1900" i="1" dirty="0">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𝑡</m:t>
                            </m:r>
                            <m:r>
                              <a:rPr lang="en-US" i="1">
                                <a:latin typeface="Cambria Math" panose="02040503050406030204" pitchFamily="18" charset="0"/>
                              </a:rPr>
                              <m:t>)</m:t>
                            </m:r>
                          </m:e>
                          <m:sup>
                            <m:r>
                              <a:rPr lang="en-US" i="1">
                                <a:latin typeface="Cambria Math" panose="02040503050406030204" pitchFamily="18" charset="0"/>
                              </a:rPr>
                              <m:t>𝑝</m:t>
                            </m:r>
                          </m:sup>
                        </m:sSup>
                      </m:sub>
                      <m:sup>
                        <m:r>
                          <a:rPr lang="en-AU" sz="1900" i="1" dirty="0">
                            <a:latin typeface="Cambria Math" panose="02040503050406030204" pitchFamily="18" charset="0"/>
                            <a:ea typeface="Cambria Math" panose="02040503050406030204" pitchFamily="18" charset="0"/>
                          </a:rPr>
                          <m:t>∞</m:t>
                        </m:r>
                      </m:sup>
                      <m:e>
                        <m:sSup>
                          <m:sSupPr>
                            <m:ctrlPr>
                              <a:rPr lang="en-AU" sz="2000" i="1">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𝑘</m:t>
                            </m:r>
                            <m:r>
                              <a:rPr lang="en-US" sz="2000" i="1">
                                <a:latin typeface="Cambria Math" panose="02040503050406030204" pitchFamily="18" charset="0"/>
                              </a:rPr>
                              <m:t>−1</m:t>
                            </m:r>
                          </m:sup>
                        </m:sSup>
                        <m:sSup>
                          <m:sSupPr>
                            <m:ctrlPr>
                              <a:rPr lang="en-AU"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𝑥</m:t>
                            </m:r>
                          </m:sup>
                        </m:sSup>
                        <m:r>
                          <a:rPr lang="en-US" sz="2000" i="1">
                            <a:latin typeface="Cambria Math" panose="02040503050406030204" pitchFamily="18" charset="0"/>
                          </a:rPr>
                          <m:t>𝑑</m:t>
                        </m:r>
                        <m:r>
                          <a:rPr lang="en-US" sz="2000" b="0" i="1" smtClean="0">
                            <a:latin typeface="Cambria Math" panose="02040503050406030204" pitchFamily="18" charset="0"/>
                          </a:rPr>
                          <m:t>𝑥</m:t>
                        </m:r>
                      </m:e>
                    </m:nary>
                  </m:oMath>
                </a14:m>
                <a:endParaRPr lang="en-US" sz="2000" dirty="0"/>
              </a:p>
              <a:p>
                <a:pPr lvl="1">
                  <a:buClr>
                    <a:schemeClr val="bg1"/>
                  </a:buClr>
                </a:pPr>
                <a14:m>
                  <m:oMath xmlns:m="http://schemas.openxmlformats.org/officeDocument/2006/math">
                    <m:r>
                      <m:rPr>
                        <m:sty m:val="p"/>
                      </m:rPr>
                      <a:rPr lang="en-AU" sz="2000" i="1">
                        <a:latin typeface="Cambria Math" panose="02040503050406030204" pitchFamily="18" charset="0"/>
                      </a:rPr>
                      <m:t>h</m:t>
                    </m:r>
                    <m:d>
                      <m:dPr>
                        <m:ctrlPr>
                          <a:rPr lang="en-AU" sz="2000" i="1">
                            <a:latin typeface="Cambria Math" panose="02040503050406030204" pitchFamily="18" charset="0"/>
                          </a:rPr>
                        </m:ctrlPr>
                      </m:dPr>
                      <m:e>
                        <m:r>
                          <m:rPr>
                            <m:sty m:val="p"/>
                          </m:rPr>
                          <a:rPr lang="en-AU" sz="2000" i="1">
                            <a:latin typeface="Cambria Math" panose="02040503050406030204" pitchFamily="18" charset="0"/>
                          </a:rPr>
                          <m:t>t</m:t>
                        </m:r>
                      </m:e>
                    </m:d>
                    <m:r>
                      <a:rPr lang="en-AU" sz="2000" i="1">
                        <a:latin typeface="Cambria Math" panose="02040503050406030204" pitchFamily="18" charset="0"/>
                      </a:rPr>
                      <m:t>=</m:t>
                    </m:r>
                    <m:f>
                      <m:fPr>
                        <m:ctrlPr>
                          <a:rPr lang="en-AU" sz="2000" i="1">
                            <a:latin typeface="Cambria Math" panose="02040503050406030204" pitchFamily="18" charset="0"/>
                          </a:rPr>
                        </m:ctrlPr>
                      </m:fPr>
                      <m:num>
                        <m:r>
                          <a:rPr lang="en-US" sz="2000" i="1">
                            <a:latin typeface="Cambria Math" panose="02040503050406030204" pitchFamily="18" charset="0"/>
                          </a:rPr>
                          <m:t>𝑝</m:t>
                        </m:r>
                        <m:sSup>
                          <m:sSupPr>
                            <m:ctrlPr>
                              <a:rPr lang="en-AU" sz="2000" i="1">
                                <a:latin typeface="Cambria Math" panose="02040503050406030204" pitchFamily="18" charset="0"/>
                              </a:rPr>
                            </m:ctrlPr>
                          </m:sSupPr>
                          <m:e>
                            <m:sSup>
                              <m:sSupPr>
                                <m:ctrlPr>
                                  <a:rPr lang="en-AU" sz="2000" i="1">
                                    <a:latin typeface="Cambria Math" panose="02040503050406030204" pitchFamily="18" charset="0"/>
                                  </a:rPr>
                                </m:ctrlPr>
                              </m:sSupPr>
                              <m:e>
                                <m:r>
                                  <a:rPr lang="en-US" sz="2000" i="1">
                                    <a:latin typeface="Cambria Math" panose="02040503050406030204" pitchFamily="18" charset="0"/>
                                  </a:rPr>
                                  <m:t>𝜆</m:t>
                                </m:r>
                              </m:e>
                              <m:sup>
                                <m:r>
                                  <a:rPr lang="en-US" sz="2000" i="1">
                                    <a:latin typeface="Cambria Math" panose="02040503050406030204" pitchFamily="18" charset="0"/>
                                  </a:rPr>
                                  <m:t>𝑘</m:t>
                                </m:r>
                              </m:sup>
                            </m:sSup>
                            <m:r>
                              <a:rPr lang="en-US" sz="2000" i="1">
                                <a:latin typeface="Cambria Math" panose="02040503050406030204" pitchFamily="18" charset="0"/>
                              </a:rPr>
                              <m:t>𝑡</m:t>
                            </m:r>
                          </m:e>
                          <m:sup>
                            <m:r>
                              <a:rPr lang="en-US" sz="2000" i="1">
                                <a:latin typeface="Cambria Math" panose="02040503050406030204" pitchFamily="18" charset="0"/>
                              </a:rPr>
                              <m:t>𝑝𝑘</m:t>
                            </m:r>
                            <m:r>
                              <a:rPr lang="en-US" sz="2000" i="1">
                                <a:latin typeface="Cambria Math" panose="02040503050406030204" pitchFamily="18" charset="0"/>
                              </a:rPr>
                              <m:t>−1</m:t>
                            </m:r>
                          </m:sup>
                        </m:sSup>
                        <m:sSup>
                          <m:sSupPr>
                            <m:ctrlPr>
                              <a:rPr lang="en-AU"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𝜆</m:t>
                                </m:r>
                                <m:r>
                                  <a:rPr lang="en-US" sz="2000" i="1">
                                    <a:latin typeface="Cambria Math" panose="02040503050406030204" pitchFamily="18" charset="0"/>
                                  </a:rPr>
                                  <m:t>𝑡</m:t>
                                </m:r>
                                <m:r>
                                  <a:rPr lang="en-US" sz="2000" i="1">
                                    <a:latin typeface="Cambria Math" panose="02040503050406030204" pitchFamily="18" charset="0"/>
                                  </a:rPr>
                                  <m:t>)</m:t>
                                </m:r>
                              </m:e>
                              <m:sup>
                                <m:r>
                                  <a:rPr lang="en-US" sz="2000" i="1">
                                    <a:latin typeface="Cambria Math" panose="02040503050406030204" pitchFamily="18" charset="0"/>
                                  </a:rPr>
                                  <m:t>𝑝</m:t>
                                </m:r>
                              </m:sup>
                            </m:sSup>
                          </m:sup>
                        </m:sSup>
                      </m:num>
                      <m:den>
                        <m:r>
                          <m:rPr>
                            <m:sty m:val="p"/>
                          </m:rPr>
                          <a:rPr lang="en-US" sz="2000">
                            <a:latin typeface="Cambria Math" panose="02040503050406030204" pitchFamily="18" charset="0"/>
                          </a:rPr>
                          <m:t>Γ</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𝜆</m:t>
                            </m:r>
                            <m:r>
                              <a:rPr lang="en-US" sz="2000" i="1">
                                <a:latin typeface="Cambria Math" panose="02040503050406030204" pitchFamily="18" charset="0"/>
                              </a:rPr>
                              <m:t>𝑡</m:t>
                            </m:r>
                            <m:r>
                              <a:rPr lang="en-US" sz="2000" i="1">
                                <a:latin typeface="Cambria Math" panose="02040503050406030204" pitchFamily="18" charset="0"/>
                              </a:rPr>
                              <m:t>)</m:t>
                            </m:r>
                          </m:e>
                          <m:sup>
                            <m:r>
                              <a:rPr lang="en-US" sz="2000" i="1">
                                <a:latin typeface="Cambria Math" panose="02040503050406030204" pitchFamily="18" charset="0"/>
                              </a:rPr>
                              <m:t>𝑝</m:t>
                            </m:r>
                          </m:sup>
                        </m:sSup>
                        <m:r>
                          <a:rPr lang="en-US" sz="2000" i="1">
                            <a:latin typeface="Cambria Math" panose="02040503050406030204" pitchFamily="18" charset="0"/>
                          </a:rPr>
                          <m:t>)</m:t>
                        </m:r>
                      </m:den>
                    </m:f>
                  </m:oMath>
                </a14:m>
                <a:endParaRPr lang="en-US" sz="2000" dirty="0"/>
              </a:p>
              <a:p>
                <a:pPr marL="457200" lvl="1" indent="0">
                  <a:buClr>
                    <a:schemeClr val="bg1"/>
                  </a:buClr>
                  <a:buNone/>
                </a:pPr>
                <a:endParaRPr lang="en-US" sz="2000" dirty="0"/>
              </a:p>
              <a:p>
                <a:r>
                  <a:rPr lang="en-US" dirty="0"/>
                  <a:t>Includes exponential, Weibull, log-normal, and standard gamma distributions as special cases</a:t>
                </a:r>
              </a:p>
            </p:txBody>
          </p:sp>
        </mc:Choice>
        <mc:Fallback xmlns="">
          <p:sp>
            <p:nvSpPr>
              <p:cNvPr id="3" name="Content Placeholder 2">
                <a:extLst>
                  <a:ext uri="{FF2B5EF4-FFF2-40B4-BE49-F238E27FC236}">
                    <a16:creationId xmlns:a16="http://schemas.microsoft.com/office/drawing/2014/main" id="{1AE4CF37-23E7-75A5-BAE7-5BD4D7C772CA}"/>
                  </a:ext>
                </a:extLst>
              </p:cNvPr>
              <p:cNvSpPr>
                <a:spLocks noGrp="1" noRot="1" noChangeAspect="1" noMove="1" noResize="1" noEditPoints="1" noAdjustHandles="1" noChangeArrowheads="1" noChangeShapeType="1" noTextEdit="1"/>
              </p:cNvSpPr>
              <p:nvPr>
                <p:ph idx="1"/>
              </p:nvPr>
            </p:nvSpPr>
            <p:spPr>
              <a:blipFill>
                <a:blip r:embed="rId3"/>
                <a:stretch>
                  <a:fillRect l="-456" t="-979" b="-1631"/>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AA7082BB-AD55-AA8F-B922-C350EF32C78A}"/>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7147038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C139-BBDC-9543-33BF-2BFCBE918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5074F-7E49-E2EE-877B-1588F90E4F56}"/>
              </a:ext>
            </a:extLst>
          </p:cNvPr>
          <p:cNvSpPr>
            <a:spLocks noGrp="1"/>
          </p:cNvSpPr>
          <p:nvPr>
            <p:ph type="title"/>
          </p:nvPr>
        </p:nvSpPr>
        <p:spPr>
          <a:xfrm>
            <a:off x="700635" y="914400"/>
            <a:ext cx="10901557" cy="1307592"/>
          </a:xfrm>
        </p:spPr>
        <p:txBody>
          <a:bodyPr>
            <a:normAutofit fontScale="90000"/>
          </a:bodyPr>
          <a:lstStyle/>
          <a:p>
            <a:r>
              <a:rPr lang="en-US" dirty="0"/>
              <a:t>Modelling approaches – gamma and </a:t>
            </a:r>
            <a:r>
              <a:rPr lang="en-US" dirty="0" err="1"/>
              <a:t>generalised</a:t>
            </a:r>
            <a:r>
              <a:rPr lang="en-US" dirty="0"/>
              <a:t> gamma model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F80AC4-E16B-5D02-35C7-B5F53DFCF6CF}"/>
                  </a:ext>
                </a:extLst>
              </p:cNvPr>
              <p:cNvSpPr>
                <a:spLocks noGrp="1"/>
              </p:cNvSpPr>
              <p:nvPr>
                <p:ph idx="1"/>
              </p:nvPr>
            </p:nvSpPr>
            <p:spPr>
              <a:xfrm>
                <a:off x="700634" y="2221992"/>
                <a:ext cx="11273651" cy="3739896"/>
              </a:xfrm>
            </p:spPr>
            <p:txBody>
              <a:bodyPr>
                <a:normAutofit/>
              </a:bodyPr>
              <a:lstStyle/>
              <a:p>
                <a:pPr>
                  <a:spcAft>
                    <a:spcPts val="1200"/>
                  </a:spcAft>
                </a:pPr>
                <a:r>
                  <a:rPr lang="en-US" dirty="0"/>
                  <a:t>The gamma and </a:t>
                </a:r>
                <a:r>
                  <a:rPr lang="en-US" dirty="0" err="1"/>
                  <a:t>generalised</a:t>
                </a:r>
                <a:r>
                  <a:rPr lang="en-US" dirty="0"/>
                  <a:t> gamma distributions are AFT models by nature</a:t>
                </a:r>
              </a:p>
              <a:p>
                <a:pPr>
                  <a:spcAft>
                    <a:spcPts val="1200"/>
                  </a:spcAft>
                </a:pPr>
                <a:r>
                  <a:rPr lang="en-US" dirty="0"/>
                  <a:t>Under specific conditions, they can however accommodate PH models</a:t>
                </a:r>
              </a:p>
              <a:p>
                <a:pPr lvl="1">
                  <a:spcAft>
                    <a:spcPts val="1200"/>
                  </a:spcAft>
                </a:pPr>
                <a:r>
                  <a:rPr lang="en-US" dirty="0"/>
                  <a:t>If k</a:t>
                </a:r>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oMath>
                </a14:m>
                <a:r>
                  <a:rPr lang="en-US" dirty="0"/>
                  <a:t>, gamma model simplifies to exponential model, which is a PH model</a:t>
                </a:r>
              </a:p>
              <a:p>
                <a:pPr lvl="1">
                  <a:spcAft>
                    <a:spcPts val="1200"/>
                  </a:spcAft>
                </a:pPr>
                <a:r>
                  <a:rPr lang="en-US" dirty="0"/>
                  <a:t>If k = 1 and p = 1, generalized gamma model simplifies to exponential model</a:t>
                </a:r>
              </a:p>
              <a:p>
                <a:pPr lvl="1">
                  <a:spcAft>
                    <a:spcPts val="1200"/>
                  </a:spcAft>
                </a:pPr>
                <a:r>
                  <a:rPr lang="en-US" dirty="0"/>
                  <a:t>If k</a:t>
                </a:r>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oMath>
                </a14:m>
                <a:r>
                  <a:rPr lang="en-US" dirty="0"/>
                  <a:t>, </a:t>
                </a:r>
                <a:r>
                  <a:rPr lang="en-US" dirty="0" err="1"/>
                  <a:t>generalised</a:t>
                </a:r>
                <a:r>
                  <a:rPr lang="en-US" dirty="0"/>
                  <a:t> gamma model simplifies to Weibull model, which is a PH model</a:t>
                </a:r>
              </a:p>
              <a:p>
                <a:pPr>
                  <a:spcAft>
                    <a:spcPts val="1200"/>
                  </a:spcAft>
                </a:pPr>
                <a:r>
                  <a:rPr lang="en-US" dirty="0"/>
                  <a:t>Often used as a non-proportional hazards model, that allows hazard ratios to change over time</a:t>
                </a:r>
              </a:p>
              <a:p>
                <a:pPr lvl="1">
                  <a:spcAft>
                    <a:spcPts val="1200"/>
                  </a:spcAft>
                </a:pPr>
                <a:endParaRPr lang="en-US" dirty="0"/>
              </a:p>
              <a:p>
                <a:pPr lvl="1">
                  <a:spcAft>
                    <a:spcPts val="1200"/>
                  </a:spcAft>
                </a:pPr>
                <a:endParaRPr lang="en-US" dirty="0"/>
              </a:p>
              <a:p>
                <a:pPr lvl="1">
                  <a:spcAft>
                    <a:spcPts val="1200"/>
                  </a:spcAft>
                </a:pPr>
                <a:endParaRPr lang="en-US" dirty="0"/>
              </a:p>
              <a:p>
                <a:pPr marL="0" indent="0">
                  <a:spcAft>
                    <a:spcPts val="1200"/>
                  </a:spcAft>
                  <a:buNone/>
                </a:pPr>
                <a:endParaRPr lang="en-US" dirty="0"/>
              </a:p>
              <a:p>
                <a:pPr>
                  <a:spcAft>
                    <a:spcPts val="1200"/>
                  </a:spcAft>
                </a:pPr>
                <a:endParaRPr lang="en-US" dirty="0"/>
              </a:p>
              <a:p>
                <a:pPr marL="0" indent="0">
                  <a:spcAft>
                    <a:spcPts val="1200"/>
                  </a:spcAft>
                  <a:buNone/>
                </a:pPr>
                <a:endParaRPr lang="en-US" dirty="0"/>
              </a:p>
              <a:p>
                <a:pPr>
                  <a:spcBef>
                    <a:spcPts val="1200"/>
                  </a:spcBef>
                </a:pPr>
                <a:endParaRPr lang="en-US" dirty="0"/>
              </a:p>
              <a:p>
                <a:pPr marL="0" indent="0">
                  <a:spcBef>
                    <a:spcPts val="1200"/>
                  </a:spcBef>
                  <a:buNone/>
                </a:pPr>
                <a:endParaRPr lang="en-US" dirty="0"/>
              </a:p>
            </p:txBody>
          </p:sp>
        </mc:Choice>
        <mc:Fallback xmlns="">
          <p:sp>
            <p:nvSpPr>
              <p:cNvPr id="3" name="Content Placeholder 2">
                <a:extLst>
                  <a:ext uri="{FF2B5EF4-FFF2-40B4-BE49-F238E27FC236}">
                    <a16:creationId xmlns:a16="http://schemas.microsoft.com/office/drawing/2014/main" id="{10F80AC4-E16B-5D02-35C7-B5F53DFCF6CF}"/>
                  </a:ext>
                </a:extLst>
              </p:cNvPr>
              <p:cNvSpPr>
                <a:spLocks noGrp="1" noRot="1" noChangeAspect="1" noMove="1" noResize="1" noEditPoints="1" noAdjustHandles="1" noChangeArrowheads="1" noChangeShapeType="1" noTextEdit="1"/>
              </p:cNvSpPr>
              <p:nvPr>
                <p:ph idx="1"/>
              </p:nvPr>
            </p:nvSpPr>
            <p:spPr>
              <a:xfrm>
                <a:off x="700634" y="2221992"/>
                <a:ext cx="11273651" cy="3739896"/>
              </a:xfrm>
              <a:blipFill>
                <a:blip r:embed="rId3"/>
                <a:stretch>
                  <a:fillRect l="-48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207C06CB-60EF-396A-34A8-CB5826C0004B}"/>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6025423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88753-4FD6-CA5A-006F-27B6F09E9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48578-4EAE-C91B-94B5-6C1B9EB0E72D}"/>
              </a:ext>
            </a:extLst>
          </p:cNvPr>
          <p:cNvSpPr>
            <a:spLocks noGrp="1"/>
          </p:cNvSpPr>
          <p:nvPr>
            <p:ph type="title"/>
          </p:nvPr>
        </p:nvSpPr>
        <p:spPr/>
        <p:txBody>
          <a:bodyPr>
            <a:normAutofit fontScale="90000"/>
          </a:bodyPr>
          <a:lstStyle/>
          <a:p>
            <a:r>
              <a:rPr lang="en-US" dirty="0" err="1"/>
              <a:t>Generallised</a:t>
            </a:r>
            <a:r>
              <a:rPr lang="en-US" dirty="0"/>
              <a:t> </a:t>
            </a:r>
            <a:r>
              <a:rPr lang="en-US" dirty="0" err="1"/>
              <a:t>gamm</a:t>
            </a:r>
            <a:r>
              <a:rPr lang="en-US" dirty="0"/>
              <a:t> distribution – hazard function</a:t>
            </a:r>
            <a:endParaRPr lang="en-AU" dirty="0"/>
          </a:p>
        </p:txBody>
      </p:sp>
      <p:sp>
        <p:nvSpPr>
          <p:cNvPr id="4" name="Footer Placeholder 3">
            <a:extLst>
              <a:ext uri="{FF2B5EF4-FFF2-40B4-BE49-F238E27FC236}">
                <a16:creationId xmlns:a16="http://schemas.microsoft.com/office/drawing/2014/main" id="{39FA8145-0AF5-059B-3EF9-AABC67F9338F}"/>
              </a:ext>
            </a:extLst>
          </p:cNvPr>
          <p:cNvSpPr>
            <a:spLocks noGrp="1"/>
          </p:cNvSpPr>
          <p:nvPr>
            <p:ph type="ftr" sz="quarter" idx="11"/>
          </p:nvPr>
        </p:nvSpPr>
        <p:spPr/>
        <p:txBody>
          <a:bodyPr/>
          <a:lstStyle/>
          <a:p>
            <a:r>
              <a:rPr lang="en-US" dirty="0"/>
              <a:t>maarit.laaksonen@sydney.edu.au</a:t>
            </a:r>
          </a:p>
        </p:txBody>
      </p:sp>
      <p:pic>
        <p:nvPicPr>
          <p:cNvPr id="3" name="Picture 2">
            <a:extLst>
              <a:ext uri="{FF2B5EF4-FFF2-40B4-BE49-F238E27FC236}">
                <a16:creationId xmlns:a16="http://schemas.microsoft.com/office/drawing/2014/main" id="{D30FA782-B64B-4DDB-4E46-C99F5687FAF8}"/>
              </a:ext>
            </a:extLst>
          </p:cNvPr>
          <p:cNvPicPr>
            <a:picLocks noChangeAspect="1"/>
          </p:cNvPicPr>
          <p:nvPr/>
        </p:nvPicPr>
        <p:blipFill>
          <a:blip r:embed="rId3"/>
          <a:stretch>
            <a:fillRect/>
          </a:stretch>
        </p:blipFill>
        <p:spPr>
          <a:xfrm>
            <a:off x="676275" y="933450"/>
            <a:ext cx="10839450" cy="4991100"/>
          </a:xfrm>
          <a:prstGeom prst="rect">
            <a:avLst/>
          </a:prstGeom>
        </p:spPr>
      </p:pic>
    </p:spTree>
    <p:extLst>
      <p:ext uri="{BB962C8B-B14F-4D97-AF65-F5344CB8AC3E}">
        <p14:creationId xmlns:p14="http://schemas.microsoft.com/office/powerpoint/2010/main" val="33534087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F9C87-F52F-93BC-77D3-579CE743C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B8E67-70C9-DB01-89CA-50977D7D6D70}"/>
              </a:ext>
            </a:extLst>
          </p:cNvPr>
          <p:cNvSpPr>
            <a:spLocks noGrp="1"/>
          </p:cNvSpPr>
          <p:nvPr>
            <p:ph type="title"/>
          </p:nvPr>
        </p:nvSpPr>
        <p:spPr/>
        <p:txBody>
          <a:bodyPr>
            <a:normAutofit fontScale="90000"/>
          </a:bodyPr>
          <a:lstStyle/>
          <a:p>
            <a:r>
              <a:rPr lang="en-US" dirty="0" err="1"/>
              <a:t>Generalised</a:t>
            </a:r>
            <a:r>
              <a:rPr lang="en-US" dirty="0"/>
              <a:t> gamma distribution – survival function</a:t>
            </a:r>
            <a:endParaRPr lang="en-AU" dirty="0"/>
          </a:p>
        </p:txBody>
      </p:sp>
      <p:sp>
        <p:nvSpPr>
          <p:cNvPr id="4" name="Footer Placeholder 3">
            <a:extLst>
              <a:ext uri="{FF2B5EF4-FFF2-40B4-BE49-F238E27FC236}">
                <a16:creationId xmlns:a16="http://schemas.microsoft.com/office/drawing/2014/main" id="{5E49D8BF-F441-82F4-45AE-B0E7A7B5BEF5}"/>
              </a:ext>
            </a:extLst>
          </p:cNvPr>
          <p:cNvSpPr>
            <a:spLocks noGrp="1"/>
          </p:cNvSpPr>
          <p:nvPr>
            <p:ph type="ftr" sz="quarter" idx="11"/>
          </p:nvPr>
        </p:nvSpPr>
        <p:spPr/>
        <p:txBody>
          <a:bodyPr/>
          <a:lstStyle/>
          <a:p>
            <a:r>
              <a:rPr lang="en-US" dirty="0"/>
              <a:t>maarit.laaksonen@sydney.edu.au</a:t>
            </a:r>
          </a:p>
        </p:txBody>
      </p:sp>
      <p:pic>
        <p:nvPicPr>
          <p:cNvPr id="5" name="Picture 4">
            <a:extLst>
              <a:ext uri="{FF2B5EF4-FFF2-40B4-BE49-F238E27FC236}">
                <a16:creationId xmlns:a16="http://schemas.microsoft.com/office/drawing/2014/main" id="{D25C4F34-CB57-D750-A0B7-82B293F665B7}"/>
              </a:ext>
            </a:extLst>
          </p:cNvPr>
          <p:cNvPicPr>
            <a:picLocks noChangeAspect="1"/>
          </p:cNvPicPr>
          <p:nvPr/>
        </p:nvPicPr>
        <p:blipFill>
          <a:blip r:embed="rId3"/>
          <a:stretch>
            <a:fillRect/>
          </a:stretch>
        </p:blipFill>
        <p:spPr>
          <a:xfrm>
            <a:off x="676275" y="933450"/>
            <a:ext cx="10839450" cy="4991100"/>
          </a:xfrm>
          <a:prstGeom prst="rect">
            <a:avLst/>
          </a:prstGeom>
        </p:spPr>
      </p:pic>
    </p:spTree>
    <p:extLst>
      <p:ext uri="{BB962C8B-B14F-4D97-AF65-F5344CB8AC3E}">
        <p14:creationId xmlns:p14="http://schemas.microsoft.com/office/powerpoint/2010/main" val="12942792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C5FD-BE1A-7DD1-2D4F-B5E40FD02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DB198-6099-94B2-ADB6-3F0BCB650DB2}"/>
              </a:ext>
            </a:extLst>
          </p:cNvPr>
          <p:cNvSpPr>
            <a:spLocks noGrp="1"/>
          </p:cNvSpPr>
          <p:nvPr>
            <p:ph type="title"/>
          </p:nvPr>
        </p:nvSpPr>
        <p:spPr>
          <a:xfrm>
            <a:off x="700635" y="914400"/>
            <a:ext cx="11140383" cy="1307592"/>
          </a:xfrm>
        </p:spPr>
        <p:txBody>
          <a:bodyPr>
            <a:normAutofit/>
          </a:bodyPr>
          <a:lstStyle/>
          <a:p>
            <a:r>
              <a:rPr lang="en-US" sz="3400" dirty="0" err="1"/>
              <a:t>Generalised</a:t>
            </a:r>
            <a:r>
              <a:rPr lang="en-US" sz="3400" dirty="0"/>
              <a:t> gamma distribution – probability density function</a:t>
            </a:r>
            <a:endParaRPr lang="en-AU" sz="3400" dirty="0"/>
          </a:p>
        </p:txBody>
      </p:sp>
      <p:sp>
        <p:nvSpPr>
          <p:cNvPr id="4" name="Footer Placeholder 3">
            <a:extLst>
              <a:ext uri="{FF2B5EF4-FFF2-40B4-BE49-F238E27FC236}">
                <a16:creationId xmlns:a16="http://schemas.microsoft.com/office/drawing/2014/main" id="{66D404A1-2F95-B1A4-7C05-8A6562A7F584}"/>
              </a:ext>
            </a:extLst>
          </p:cNvPr>
          <p:cNvSpPr>
            <a:spLocks noGrp="1"/>
          </p:cNvSpPr>
          <p:nvPr>
            <p:ph type="ftr" sz="quarter" idx="11"/>
          </p:nvPr>
        </p:nvSpPr>
        <p:spPr/>
        <p:txBody>
          <a:bodyPr/>
          <a:lstStyle/>
          <a:p>
            <a:r>
              <a:rPr lang="en-US" dirty="0"/>
              <a:t>maarit.laaksonen@sydney.edu.au</a:t>
            </a:r>
          </a:p>
        </p:txBody>
      </p:sp>
      <p:sp>
        <p:nvSpPr>
          <p:cNvPr id="3" name="AutoShape 2">
            <a:extLst>
              <a:ext uri="{FF2B5EF4-FFF2-40B4-BE49-F238E27FC236}">
                <a16:creationId xmlns:a16="http://schemas.microsoft.com/office/drawing/2014/main" id="{DC39C18A-61B5-671B-AEAA-985F3F52FD5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D6DC7DFB-6CBB-4DB8-22DB-707CF6E8E42A}"/>
              </a:ext>
            </a:extLst>
          </p:cNvPr>
          <p:cNvPicPr>
            <a:picLocks noChangeAspect="1"/>
          </p:cNvPicPr>
          <p:nvPr/>
        </p:nvPicPr>
        <p:blipFill>
          <a:blip r:embed="rId3"/>
          <a:stretch>
            <a:fillRect/>
          </a:stretch>
        </p:blipFill>
        <p:spPr>
          <a:xfrm>
            <a:off x="676275" y="933450"/>
            <a:ext cx="10839450" cy="4991100"/>
          </a:xfrm>
          <a:prstGeom prst="rect">
            <a:avLst/>
          </a:prstGeom>
        </p:spPr>
      </p:pic>
    </p:spTree>
    <p:extLst>
      <p:ext uri="{BB962C8B-B14F-4D97-AF65-F5344CB8AC3E}">
        <p14:creationId xmlns:p14="http://schemas.microsoft.com/office/powerpoint/2010/main" val="16377820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E971-72F9-6315-1277-A62B4344B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3D12D-5BA1-4D13-CBDA-D9A4C43CB716}"/>
              </a:ext>
            </a:extLst>
          </p:cNvPr>
          <p:cNvSpPr>
            <a:spLocks noGrp="1"/>
          </p:cNvSpPr>
          <p:nvPr>
            <p:ph type="title"/>
          </p:nvPr>
        </p:nvSpPr>
        <p:spPr/>
        <p:txBody>
          <a:bodyPr>
            <a:normAutofit/>
          </a:bodyPr>
          <a:lstStyle/>
          <a:p>
            <a:r>
              <a:rPr lang="en-US" dirty="0" err="1"/>
              <a:t>gammA</a:t>
            </a:r>
            <a:r>
              <a:rPr lang="en-US" dirty="0"/>
              <a:t>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FB7EB8-39D8-CBDF-746E-99BD55765D39}"/>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“gamma”):</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−(−1.2831</m:t>
                    </m:r>
                    <m:r>
                      <m:rPr>
                        <m:nor/>
                      </m:rPr>
                      <a:rPr lang="en-US" dirty="0"/>
                      <m:t>)</m:t>
                    </m:r>
                    <m:r>
                      <m:rPr>
                        <m:nor/>
                      </m:rPr>
                      <a:rPr lang="en-US" b="0" i="0" dirty="0" smtClean="0"/>
                      <m:t> = </m:t>
                    </m:r>
                    <m:r>
                      <m:rPr>
                        <m:nor/>
                      </m:rPr>
                      <a:rPr lang="en-US" dirty="0"/>
                      <m:t> </m:t>
                    </m:r>
                    <m:r>
                      <m:rPr>
                        <m:nor/>
                      </m:rPr>
                      <a:rPr lang="en-US" b="0" i="0" dirty="0" smtClean="0"/>
                      <m:t>3.60</m:t>
                    </m:r>
                  </m:oMath>
                </a14:m>
                <a:endParaRPr lang="en-US" dirty="0"/>
              </a:p>
            </p:txBody>
          </p:sp>
        </mc:Choice>
        <mc:Fallback xmlns="">
          <p:sp>
            <p:nvSpPr>
              <p:cNvPr id="3" name="Content Placeholder 2">
                <a:extLst>
                  <a:ext uri="{FF2B5EF4-FFF2-40B4-BE49-F238E27FC236}">
                    <a16:creationId xmlns:a16="http://schemas.microsoft.com/office/drawing/2014/main" id="{BDFB7EB8-39D8-CBDF-746E-99BD55765D39}"/>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AABEB12D-D197-8C9C-3B7B-3E0CF58B2615}"/>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C7546664-CCFC-3359-9435-6830EEB2823A}"/>
              </a:ext>
            </a:extLst>
          </p:cNvPr>
          <p:cNvPicPr>
            <a:picLocks noChangeAspect="1"/>
          </p:cNvPicPr>
          <p:nvPr/>
        </p:nvPicPr>
        <p:blipFill>
          <a:blip r:embed="rId4"/>
          <a:stretch>
            <a:fillRect/>
          </a:stretch>
        </p:blipFill>
        <p:spPr>
          <a:xfrm>
            <a:off x="1075906" y="2244900"/>
            <a:ext cx="8499894" cy="3386466"/>
          </a:xfrm>
          <a:prstGeom prst="rect">
            <a:avLst/>
          </a:prstGeom>
        </p:spPr>
      </p:pic>
      <p:sp>
        <p:nvSpPr>
          <p:cNvPr id="8" name="TextBox 7">
            <a:extLst>
              <a:ext uri="{FF2B5EF4-FFF2-40B4-BE49-F238E27FC236}">
                <a16:creationId xmlns:a16="http://schemas.microsoft.com/office/drawing/2014/main" id="{82DB2E53-DC77-85AC-37A2-3E2D8831F6D2}"/>
              </a:ext>
            </a:extLst>
          </p:cNvPr>
          <p:cNvSpPr txBox="1"/>
          <p:nvPr/>
        </p:nvSpPr>
        <p:spPr>
          <a:xfrm>
            <a:off x="7594600" y="2413000"/>
            <a:ext cx="1612900" cy="369332"/>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32219348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E11BA-4EA1-BAA5-08E3-88FD877CE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CD347-9951-4AB8-A045-8A5A47BF6674}"/>
              </a:ext>
            </a:extLst>
          </p:cNvPr>
          <p:cNvSpPr>
            <a:spLocks noGrp="1"/>
          </p:cNvSpPr>
          <p:nvPr>
            <p:ph type="title"/>
          </p:nvPr>
        </p:nvSpPr>
        <p:spPr/>
        <p:txBody>
          <a:bodyPr>
            <a:normAutofit/>
          </a:bodyPr>
          <a:lstStyle/>
          <a:p>
            <a:r>
              <a:rPr lang="en-US" dirty="0" err="1"/>
              <a:t>Generalised</a:t>
            </a:r>
            <a:r>
              <a:rPr lang="en-US" dirty="0"/>
              <a:t> </a:t>
            </a:r>
            <a:r>
              <a:rPr lang="en-US" dirty="0" err="1"/>
              <a:t>gammA</a:t>
            </a:r>
            <a:r>
              <a:rPr lang="en-US" dirty="0"/>
              <a:t>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B812CA-B255-4E68-CEE5-8316749A2DA1}"/>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gengamma</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1.306</m:t>
                    </m:r>
                    <m:r>
                      <m:rPr>
                        <m:nor/>
                      </m:rPr>
                      <a:rPr lang="en-US" dirty="0"/>
                      <m:t>)</m:t>
                    </m:r>
                    <m:r>
                      <m:rPr>
                        <m:nor/>
                      </m:rPr>
                      <a:rPr lang="en-US" b="0" i="0" dirty="0" smtClean="0"/>
                      <m:t> = </m:t>
                    </m:r>
                    <m:r>
                      <m:rPr>
                        <m:nor/>
                      </m:rPr>
                      <a:rPr lang="en-US" dirty="0"/>
                      <m:t> </m:t>
                    </m:r>
                    <m:r>
                      <m:rPr>
                        <m:nor/>
                      </m:rPr>
                      <a:rPr lang="en-US" b="0" i="0" dirty="0" smtClean="0"/>
                      <m:t>3.69</m:t>
                    </m:r>
                  </m:oMath>
                </a14:m>
                <a:endParaRPr lang="en-US" dirty="0"/>
              </a:p>
            </p:txBody>
          </p:sp>
        </mc:Choice>
        <mc:Fallback xmlns="">
          <p:sp>
            <p:nvSpPr>
              <p:cNvPr id="3" name="Content Placeholder 2">
                <a:extLst>
                  <a:ext uri="{FF2B5EF4-FFF2-40B4-BE49-F238E27FC236}">
                    <a16:creationId xmlns:a16="http://schemas.microsoft.com/office/drawing/2014/main" id="{22B812CA-B255-4E68-CEE5-8316749A2DA1}"/>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C4924D7F-3B3F-C2CC-0795-1619E35E2807}"/>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936C4A8D-0EAD-96A1-BECF-0E25966C9A7C}"/>
              </a:ext>
            </a:extLst>
          </p:cNvPr>
          <p:cNvPicPr>
            <a:picLocks noChangeAspect="1"/>
          </p:cNvPicPr>
          <p:nvPr/>
        </p:nvPicPr>
        <p:blipFill>
          <a:blip r:embed="rId4"/>
          <a:stretch>
            <a:fillRect/>
          </a:stretch>
        </p:blipFill>
        <p:spPr>
          <a:xfrm>
            <a:off x="1022206" y="2244826"/>
            <a:ext cx="8185294" cy="3458028"/>
          </a:xfrm>
          <a:prstGeom prst="rect">
            <a:avLst/>
          </a:prstGeom>
        </p:spPr>
      </p:pic>
      <p:sp>
        <p:nvSpPr>
          <p:cNvPr id="8" name="TextBox 7">
            <a:extLst>
              <a:ext uri="{FF2B5EF4-FFF2-40B4-BE49-F238E27FC236}">
                <a16:creationId xmlns:a16="http://schemas.microsoft.com/office/drawing/2014/main" id="{E9E0C034-2099-B35D-FD91-6BC1E5AF0E46}"/>
              </a:ext>
            </a:extLst>
          </p:cNvPr>
          <p:cNvSpPr txBox="1"/>
          <p:nvPr/>
        </p:nvSpPr>
        <p:spPr>
          <a:xfrm>
            <a:off x="7346121" y="2393122"/>
            <a:ext cx="1738243" cy="369332"/>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37400943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A41D-2BBB-8B82-6017-D76B2C079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A30FE-2684-5418-AE52-3E17F9DB05A4}"/>
              </a:ext>
            </a:extLst>
          </p:cNvPr>
          <p:cNvSpPr>
            <a:spLocks noGrp="1"/>
          </p:cNvSpPr>
          <p:nvPr>
            <p:ph type="title"/>
          </p:nvPr>
        </p:nvSpPr>
        <p:spPr/>
        <p:txBody>
          <a:bodyPr/>
          <a:lstStyle/>
          <a:p>
            <a:r>
              <a:rPr lang="en-US" dirty="0"/>
              <a:t>Model </a:t>
            </a:r>
            <a:r>
              <a:rPr lang="en-US" dirty="0" err="1"/>
              <a:t>VALIDATIOn</a:t>
            </a:r>
            <a:endParaRPr lang="en-AU" dirty="0"/>
          </a:p>
        </p:txBody>
      </p:sp>
      <p:sp>
        <p:nvSpPr>
          <p:cNvPr id="3" name="Content Placeholder 2">
            <a:extLst>
              <a:ext uri="{FF2B5EF4-FFF2-40B4-BE49-F238E27FC236}">
                <a16:creationId xmlns:a16="http://schemas.microsoft.com/office/drawing/2014/main" id="{1B14F0B0-685B-C8B5-8F46-9553DE6711E9}"/>
              </a:ext>
            </a:extLst>
          </p:cNvPr>
          <p:cNvSpPr>
            <a:spLocks noGrp="1"/>
          </p:cNvSpPr>
          <p:nvPr>
            <p:ph idx="1"/>
          </p:nvPr>
        </p:nvSpPr>
        <p:spPr>
          <a:xfrm>
            <a:off x="700635" y="1903338"/>
            <a:ext cx="11223510" cy="4040262"/>
          </a:xfrm>
        </p:spPr>
        <p:txBody>
          <a:bodyPr>
            <a:normAutofit/>
          </a:bodyPr>
          <a:lstStyle/>
          <a:p>
            <a:r>
              <a:rPr lang="en-US" dirty="0"/>
              <a:t>One method of assessing goodness of fit of a parametric model is to visually compare the fitted parametric model to the Kaplan-Meier curve</a:t>
            </a:r>
          </a:p>
          <a:p>
            <a:pPr marL="0" indent="0">
              <a:buNone/>
            </a:pPr>
            <a:endParaRPr lang="en-US" sz="2600" dirty="0"/>
          </a:p>
        </p:txBody>
      </p:sp>
      <p:sp>
        <p:nvSpPr>
          <p:cNvPr id="4" name="Footer Placeholder 3">
            <a:extLst>
              <a:ext uri="{FF2B5EF4-FFF2-40B4-BE49-F238E27FC236}">
                <a16:creationId xmlns:a16="http://schemas.microsoft.com/office/drawing/2014/main" id="{4A1BA577-2E1A-59D4-6834-EA07523E7A87}"/>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8052066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1C0F-9033-9925-B737-E2005F5C2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0AFB9-B6DB-62EB-D2EC-5F70B616C579}"/>
              </a:ext>
            </a:extLst>
          </p:cNvPr>
          <p:cNvSpPr>
            <a:spLocks noGrp="1"/>
          </p:cNvSpPr>
          <p:nvPr>
            <p:ph type="title"/>
          </p:nvPr>
        </p:nvSpPr>
        <p:spPr/>
        <p:txBody>
          <a:bodyPr>
            <a:normAutofit fontScale="90000"/>
          </a:bodyPr>
          <a:lstStyle/>
          <a:p>
            <a:r>
              <a:rPr lang="en-US" dirty="0"/>
              <a:t>Model FIT – gamma and </a:t>
            </a:r>
            <a:r>
              <a:rPr lang="en-US" dirty="0" err="1"/>
              <a:t>generalised</a:t>
            </a:r>
            <a:r>
              <a:rPr lang="en-US" dirty="0"/>
              <a:t> gamma</a:t>
            </a:r>
            <a:endParaRPr lang="en-AU" dirty="0"/>
          </a:p>
        </p:txBody>
      </p:sp>
      <p:sp>
        <p:nvSpPr>
          <p:cNvPr id="4" name="Footer Placeholder 3">
            <a:extLst>
              <a:ext uri="{FF2B5EF4-FFF2-40B4-BE49-F238E27FC236}">
                <a16:creationId xmlns:a16="http://schemas.microsoft.com/office/drawing/2014/main" id="{49DBCD3C-3612-DD04-9569-EF2B2212F16E}"/>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23DD6426-3F3E-852B-9AA3-EB73009C8E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2">
            <a:extLst>
              <a:ext uri="{FF2B5EF4-FFF2-40B4-BE49-F238E27FC236}">
                <a16:creationId xmlns:a16="http://schemas.microsoft.com/office/drawing/2014/main" id="{6022C57A-25F6-5FDB-6C0E-4068EE5642A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307A6D5D-5627-2457-E971-0320906480AD}"/>
              </a:ext>
            </a:extLst>
          </p:cNvPr>
          <p:cNvPicPr>
            <a:picLocks noChangeAspect="1"/>
          </p:cNvPicPr>
          <p:nvPr/>
        </p:nvPicPr>
        <p:blipFill>
          <a:blip r:embed="rId3"/>
          <a:stretch>
            <a:fillRect/>
          </a:stretch>
        </p:blipFill>
        <p:spPr>
          <a:xfrm>
            <a:off x="1944303" y="1576387"/>
            <a:ext cx="7147309" cy="4420196"/>
          </a:xfrm>
          <a:prstGeom prst="rect">
            <a:avLst/>
          </a:prstGeom>
        </p:spPr>
      </p:pic>
    </p:spTree>
    <p:extLst>
      <p:ext uri="{BB962C8B-B14F-4D97-AF65-F5344CB8AC3E}">
        <p14:creationId xmlns:p14="http://schemas.microsoft.com/office/powerpoint/2010/main" val="23041117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F7EF2-0BCB-5AE1-DDC7-7EAD8624E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51320-8B8B-318F-483D-21F0E30EAEEE}"/>
              </a:ext>
            </a:extLst>
          </p:cNvPr>
          <p:cNvSpPr>
            <a:spLocks noGrp="1"/>
          </p:cNvSpPr>
          <p:nvPr>
            <p:ph type="title"/>
          </p:nvPr>
        </p:nvSpPr>
        <p:spPr/>
        <p:txBody>
          <a:bodyPr>
            <a:normAutofit fontScale="90000"/>
          </a:bodyPr>
          <a:lstStyle/>
          <a:p>
            <a:r>
              <a:rPr lang="en-US" dirty="0"/>
              <a:t>Model FIT – Weibull, gamma, </a:t>
            </a:r>
            <a:r>
              <a:rPr lang="en-US" dirty="0" err="1"/>
              <a:t>generalised</a:t>
            </a:r>
            <a:r>
              <a:rPr lang="en-US" dirty="0"/>
              <a:t> gamma</a:t>
            </a:r>
            <a:endParaRPr lang="en-AU" dirty="0"/>
          </a:p>
        </p:txBody>
      </p:sp>
      <p:sp>
        <p:nvSpPr>
          <p:cNvPr id="4" name="Footer Placeholder 3">
            <a:extLst>
              <a:ext uri="{FF2B5EF4-FFF2-40B4-BE49-F238E27FC236}">
                <a16:creationId xmlns:a16="http://schemas.microsoft.com/office/drawing/2014/main" id="{D48B4463-60D9-5B28-EC95-04385BE0C2DF}"/>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1C4B1843-1677-23D5-A0E2-780CB614A7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2">
            <a:extLst>
              <a:ext uri="{FF2B5EF4-FFF2-40B4-BE49-F238E27FC236}">
                <a16:creationId xmlns:a16="http://schemas.microsoft.com/office/drawing/2014/main" id="{E590ADCD-8D6D-BC60-13DF-409F2B5D609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a:extLst>
              <a:ext uri="{FF2B5EF4-FFF2-40B4-BE49-F238E27FC236}">
                <a16:creationId xmlns:a16="http://schemas.microsoft.com/office/drawing/2014/main" id="{0003AF0F-6D6D-D40C-45B6-49FBCC233101}"/>
              </a:ext>
            </a:extLst>
          </p:cNvPr>
          <p:cNvPicPr>
            <a:picLocks noChangeAspect="1"/>
          </p:cNvPicPr>
          <p:nvPr/>
        </p:nvPicPr>
        <p:blipFill>
          <a:blip r:embed="rId3"/>
          <a:stretch>
            <a:fillRect/>
          </a:stretch>
        </p:blipFill>
        <p:spPr>
          <a:xfrm>
            <a:off x="2637588" y="1774095"/>
            <a:ext cx="6916823" cy="4277654"/>
          </a:xfrm>
          <a:prstGeom prst="rect">
            <a:avLst/>
          </a:prstGeom>
        </p:spPr>
      </p:pic>
    </p:spTree>
    <p:extLst>
      <p:ext uri="{BB962C8B-B14F-4D97-AF65-F5344CB8AC3E}">
        <p14:creationId xmlns:p14="http://schemas.microsoft.com/office/powerpoint/2010/main" val="501530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11EAE-C02D-8403-E6DF-C827EC5E1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66660-5A21-C729-A005-DE4488AE5253}"/>
              </a:ext>
            </a:extLst>
          </p:cNvPr>
          <p:cNvSpPr>
            <a:spLocks noGrp="1"/>
          </p:cNvSpPr>
          <p:nvPr>
            <p:ph type="title"/>
          </p:nvPr>
        </p:nvSpPr>
        <p:spPr/>
        <p:txBody>
          <a:bodyPr/>
          <a:lstStyle/>
          <a:p>
            <a:r>
              <a:rPr lang="en-US" dirty="0"/>
              <a:t>Model VALIDATION</a:t>
            </a:r>
            <a:endParaRPr lang="en-AU" dirty="0"/>
          </a:p>
        </p:txBody>
      </p:sp>
      <p:sp>
        <p:nvSpPr>
          <p:cNvPr id="3" name="Content Placeholder 2">
            <a:extLst>
              <a:ext uri="{FF2B5EF4-FFF2-40B4-BE49-F238E27FC236}">
                <a16:creationId xmlns:a16="http://schemas.microsoft.com/office/drawing/2014/main" id="{355DCACD-26C4-D2CB-1459-557BDADBCEE9}"/>
              </a:ext>
            </a:extLst>
          </p:cNvPr>
          <p:cNvSpPr>
            <a:spLocks noGrp="1"/>
          </p:cNvSpPr>
          <p:nvPr>
            <p:ph idx="1"/>
          </p:nvPr>
        </p:nvSpPr>
        <p:spPr/>
        <p:txBody>
          <a:bodyPr>
            <a:normAutofit/>
          </a:bodyPr>
          <a:lstStyle/>
          <a:p>
            <a:r>
              <a:rPr lang="en-US" dirty="0"/>
              <a:t>We could also visually compare the fitted parametric hazard to kernel density estimates</a:t>
            </a:r>
          </a:p>
        </p:txBody>
      </p:sp>
      <p:sp>
        <p:nvSpPr>
          <p:cNvPr id="4" name="Footer Placeholder 3">
            <a:extLst>
              <a:ext uri="{FF2B5EF4-FFF2-40B4-BE49-F238E27FC236}">
                <a16:creationId xmlns:a16="http://schemas.microsoft.com/office/drawing/2014/main" id="{B883974A-0C5D-CC02-6042-D5D7F05BCC57}"/>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9930130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359E-2746-8A2F-9276-F7B323BE3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404EE-EBB5-FAAC-5A41-7EFB2BCADB63}"/>
              </a:ext>
            </a:extLst>
          </p:cNvPr>
          <p:cNvSpPr>
            <a:spLocks noGrp="1"/>
          </p:cNvSpPr>
          <p:nvPr>
            <p:ph type="title"/>
          </p:nvPr>
        </p:nvSpPr>
        <p:spPr/>
        <p:txBody>
          <a:bodyPr>
            <a:normAutofit fontScale="90000"/>
          </a:bodyPr>
          <a:lstStyle/>
          <a:p>
            <a:r>
              <a:rPr lang="en-US" dirty="0"/>
              <a:t>Model FIT – gamma and generalized gamma </a:t>
            </a:r>
            <a:endParaRPr lang="en-AU" dirty="0"/>
          </a:p>
        </p:txBody>
      </p:sp>
      <p:sp>
        <p:nvSpPr>
          <p:cNvPr id="4" name="Footer Placeholder 3">
            <a:extLst>
              <a:ext uri="{FF2B5EF4-FFF2-40B4-BE49-F238E27FC236}">
                <a16:creationId xmlns:a16="http://schemas.microsoft.com/office/drawing/2014/main" id="{96220181-FA91-F174-04E9-9512EBF72719}"/>
              </a:ext>
            </a:extLst>
          </p:cNvPr>
          <p:cNvSpPr>
            <a:spLocks noGrp="1"/>
          </p:cNvSpPr>
          <p:nvPr>
            <p:ph type="ftr" sz="quarter" idx="11"/>
          </p:nvPr>
        </p:nvSpPr>
        <p:spPr/>
        <p:txBody>
          <a:bodyPr/>
          <a:lstStyle/>
          <a:p>
            <a:r>
              <a:rPr lang="en-US" dirty="0"/>
              <a:t>maarit.laaksonen@sydney.edu.au</a:t>
            </a:r>
          </a:p>
        </p:txBody>
      </p:sp>
      <p:sp>
        <p:nvSpPr>
          <p:cNvPr id="6" name="AutoShape 2">
            <a:extLst>
              <a:ext uri="{FF2B5EF4-FFF2-40B4-BE49-F238E27FC236}">
                <a16:creationId xmlns:a16="http://schemas.microsoft.com/office/drawing/2014/main" id="{73C0D1FC-F9F3-706F-E656-4FF52E87E19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8" name="Picture 7">
            <a:extLst>
              <a:ext uri="{FF2B5EF4-FFF2-40B4-BE49-F238E27FC236}">
                <a16:creationId xmlns:a16="http://schemas.microsoft.com/office/drawing/2014/main" id="{57A52255-96AA-DF8E-C3B8-63F0650A30D9}"/>
              </a:ext>
            </a:extLst>
          </p:cNvPr>
          <p:cNvPicPr>
            <a:picLocks noChangeAspect="1"/>
          </p:cNvPicPr>
          <p:nvPr/>
        </p:nvPicPr>
        <p:blipFill>
          <a:blip r:embed="rId3"/>
          <a:stretch>
            <a:fillRect/>
          </a:stretch>
        </p:blipFill>
        <p:spPr>
          <a:xfrm>
            <a:off x="747220" y="1800853"/>
            <a:ext cx="5113830" cy="3865893"/>
          </a:xfrm>
          <a:prstGeom prst="rect">
            <a:avLst/>
          </a:prstGeom>
        </p:spPr>
      </p:pic>
      <p:pic>
        <p:nvPicPr>
          <p:cNvPr id="9" name="Picture 8">
            <a:extLst>
              <a:ext uri="{FF2B5EF4-FFF2-40B4-BE49-F238E27FC236}">
                <a16:creationId xmlns:a16="http://schemas.microsoft.com/office/drawing/2014/main" id="{22FD90D1-5605-E0CB-A5F5-FF9120B20D3E}"/>
              </a:ext>
            </a:extLst>
          </p:cNvPr>
          <p:cNvPicPr>
            <a:picLocks noChangeAspect="1"/>
          </p:cNvPicPr>
          <p:nvPr/>
        </p:nvPicPr>
        <p:blipFill>
          <a:blip r:embed="rId4"/>
          <a:stretch>
            <a:fillRect/>
          </a:stretch>
        </p:blipFill>
        <p:spPr>
          <a:xfrm>
            <a:off x="5907635" y="1689746"/>
            <a:ext cx="5583729" cy="4031531"/>
          </a:xfrm>
          <a:prstGeom prst="rect">
            <a:avLst/>
          </a:prstGeom>
        </p:spPr>
      </p:pic>
    </p:spTree>
    <p:extLst>
      <p:ext uri="{BB962C8B-B14F-4D97-AF65-F5344CB8AC3E}">
        <p14:creationId xmlns:p14="http://schemas.microsoft.com/office/powerpoint/2010/main" val="13626221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2E89A-C75B-F282-0A18-9DF695886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76DE0-BBD5-F991-4A7C-A560C63AB118}"/>
              </a:ext>
            </a:extLst>
          </p:cNvPr>
          <p:cNvSpPr>
            <a:spLocks noGrp="1"/>
          </p:cNvSpPr>
          <p:nvPr>
            <p:ph type="title"/>
          </p:nvPr>
        </p:nvSpPr>
        <p:spPr/>
        <p:txBody>
          <a:bodyPr/>
          <a:lstStyle/>
          <a:p>
            <a:r>
              <a:rPr lang="en-US" dirty="0"/>
              <a:t>Model </a:t>
            </a:r>
            <a:r>
              <a:rPr lang="en-US" dirty="0" err="1"/>
              <a:t>VALIDATIOn</a:t>
            </a:r>
            <a:endParaRPr lang="en-AU" dirty="0"/>
          </a:p>
        </p:txBody>
      </p:sp>
      <p:sp>
        <p:nvSpPr>
          <p:cNvPr id="3" name="Content Placeholder 2">
            <a:extLst>
              <a:ext uri="{FF2B5EF4-FFF2-40B4-BE49-F238E27FC236}">
                <a16:creationId xmlns:a16="http://schemas.microsoft.com/office/drawing/2014/main" id="{90A4A23C-D12D-8229-EAB3-ABE24D238C6C}"/>
              </a:ext>
            </a:extLst>
          </p:cNvPr>
          <p:cNvSpPr>
            <a:spLocks noGrp="1"/>
          </p:cNvSpPr>
          <p:nvPr>
            <p:ph idx="1"/>
          </p:nvPr>
        </p:nvSpPr>
        <p:spPr>
          <a:xfrm>
            <a:off x="700635" y="1903338"/>
            <a:ext cx="11223510" cy="4040262"/>
          </a:xfrm>
        </p:spPr>
        <p:txBody>
          <a:bodyPr>
            <a:normAutofit/>
          </a:bodyPr>
          <a:lstStyle/>
          <a:p>
            <a:pPr marL="0" indent="0">
              <a:buNone/>
            </a:pPr>
            <a:endParaRPr lang="en-US" sz="1900" dirty="0"/>
          </a:p>
          <a:p>
            <a:pPr>
              <a:spcBef>
                <a:spcPts val="1200"/>
              </a:spcBef>
            </a:pPr>
            <a:r>
              <a:rPr lang="en-US" dirty="0"/>
              <a:t>AFT model assumes a covariate stretches (or shrinks) survival time by a constant factor</a:t>
            </a:r>
          </a:p>
          <a:p>
            <a:pPr marL="0" indent="0">
              <a:spcBef>
                <a:spcPts val="600"/>
              </a:spcBef>
              <a:buNone/>
            </a:pPr>
            <a:r>
              <a:rPr lang="en-US" dirty="0">
                <a:sym typeface="Wingdings" panose="05000000000000000000" pitchFamily="2" charset="2"/>
              </a:rPr>
              <a:t>We can check whether there is a constant horizontal shift between survival curves plotted against log time</a:t>
            </a:r>
            <a:endParaRPr lang="en-US" dirty="0"/>
          </a:p>
        </p:txBody>
      </p:sp>
      <p:sp>
        <p:nvSpPr>
          <p:cNvPr id="4" name="Footer Placeholder 3">
            <a:extLst>
              <a:ext uri="{FF2B5EF4-FFF2-40B4-BE49-F238E27FC236}">
                <a16:creationId xmlns:a16="http://schemas.microsoft.com/office/drawing/2014/main" id="{8C89E69F-A9F6-73D1-52C7-2ED9E62F0D23}"/>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17994305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2902B-804C-DED3-F84F-3DEB34295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A77D7-DB62-79B1-D97D-7ADAD93227B1}"/>
              </a:ext>
            </a:extLst>
          </p:cNvPr>
          <p:cNvSpPr>
            <a:spLocks noGrp="1"/>
          </p:cNvSpPr>
          <p:nvPr>
            <p:ph type="title"/>
          </p:nvPr>
        </p:nvSpPr>
        <p:spPr/>
        <p:txBody>
          <a:bodyPr>
            <a:normAutofit/>
          </a:bodyPr>
          <a:lstStyle/>
          <a:p>
            <a:r>
              <a:rPr lang="en-US" dirty="0"/>
              <a:t>Aft Model FIT – gamma model</a:t>
            </a:r>
            <a:endParaRPr lang="en-AU" dirty="0"/>
          </a:p>
        </p:txBody>
      </p:sp>
      <p:sp>
        <p:nvSpPr>
          <p:cNvPr id="4" name="Footer Placeholder 3">
            <a:extLst>
              <a:ext uri="{FF2B5EF4-FFF2-40B4-BE49-F238E27FC236}">
                <a16:creationId xmlns:a16="http://schemas.microsoft.com/office/drawing/2014/main" id="{25C4E051-165C-6245-6924-97C5218E6991}"/>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5676FE07-8CC2-A970-DF71-A61781BA87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285C876F-7EB9-E514-65E0-155B03ACD7B8}"/>
              </a:ext>
            </a:extLst>
          </p:cNvPr>
          <p:cNvPicPr>
            <a:picLocks noChangeAspect="1"/>
          </p:cNvPicPr>
          <p:nvPr/>
        </p:nvPicPr>
        <p:blipFill>
          <a:blip r:embed="rId3"/>
          <a:stretch>
            <a:fillRect/>
          </a:stretch>
        </p:blipFill>
        <p:spPr>
          <a:xfrm>
            <a:off x="1507525" y="1576387"/>
            <a:ext cx="7253416" cy="4485817"/>
          </a:xfrm>
          <a:prstGeom prst="rect">
            <a:avLst/>
          </a:prstGeom>
        </p:spPr>
      </p:pic>
    </p:spTree>
    <p:extLst>
      <p:ext uri="{BB962C8B-B14F-4D97-AF65-F5344CB8AC3E}">
        <p14:creationId xmlns:p14="http://schemas.microsoft.com/office/powerpoint/2010/main" val="20923243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DDE69-5A90-B59D-F570-2FC2AD633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A120-0C61-9CA5-CA3A-8636082F4804}"/>
              </a:ext>
            </a:extLst>
          </p:cNvPr>
          <p:cNvSpPr>
            <a:spLocks noGrp="1"/>
          </p:cNvSpPr>
          <p:nvPr>
            <p:ph type="title"/>
          </p:nvPr>
        </p:nvSpPr>
        <p:spPr/>
        <p:txBody>
          <a:bodyPr>
            <a:normAutofit fontScale="90000"/>
          </a:bodyPr>
          <a:lstStyle/>
          <a:p>
            <a:r>
              <a:rPr lang="en-US" dirty="0"/>
              <a:t>Aft Model FIT – Gamma and </a:t>
            </a:r>
            <a:r>
              <a:rPr lang="en-US" dirty="0" err="1"/>
              <a:t>generalised</a:t>
            </a:r>
            <a:r>
              <a:rPr lang="en-US" dirty="0"/>
              <a:t> gamma</a:t>
            </a:r>
            <a:endParaRPr lang="en-AU" dirty="0"/>
          </a:p>
        </p:txBody>
      </p:sp>
      <p:sp>
        <p:nvSpPr>
          <p:cNvPr id="4" name="Footer Placeholder 3">
            <a:extLst>
              <a:ext uri="{FF2B5EF4-FFF2-40B4-BE49-F238E27FC236}">
                <a16:creationId xmlns:a16="http://schemas.microsoft.com/office/drawing/2014/main" id="{E967BF50-BDA9-E360-7B89-3308A81F00F9}"/>
              </a:ext>
            </a:extLst>
          </p:cNvPr>
          <p:cNvSpPr>
            <a:spLocks noGrp="1"/>
          </p:cNvSpPr>
          <p:nvPr>
            <p:ph type="ftr" sz="quarter" idx="11"/>
          </p:nvPr>
        </p:nvSpPr>
        <p:spPr/>
        <p:txBody>
          <a:bodyPr/>
          <a:lstStyle/>
          <a:p>
            <a:r>
              <a:rPr lang="en-US" dirty="0"/>
              <a:t>maarit.laaksonen@sydney.edu.au</a:t>
            </a:r>
          </a:p>
        </p:txBody>
      </p:sp>
      <p:sp>
        <p:nvSpPr>
          <p:cNvPr id="7" name="AutoShape 2">
            <a:extLst>
              <a:ext uri="{FF2B5EF4-FFF2-40B4-BE49-F238E27FC236}">
                <a16:creationId xmlns:a16="http://schemas.microsoft.com/office/drawing/2014/main" id="{2B8D6966-6289-3670-AAC3-4FEF09A213C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 name="Picture 2">
            <a:extLst>
              <a:ext uri="{FF2B5EF4-FFF2-40B4-BE49-F238E27FC236}">
                <a16:creationId xmlns:a16="http://schemas.microsoft.com/office/drawing/2014/main" id="{A258DB4E-33E6-2DDE-3744-EF704BBD8236}"/>
              </a:ext>
            </a:extLst>
          </p:cNvPr>
          <p:cNvPicPr>
            <a:picLocks noChangeAspect="1"/>
          </p:cNvPicPr>
          <p:nvPr/>
        </p:nvPicPr>
        <p:blipFill>
          <a:blip r:embed="rId3"/>
          <a:stretch>
            <a:fillRect/>
          </a:stretch>
        </p:blipFill>
        <p:spPr>
          <a:xfrm>
            <a:off x="1742303" y="1643021"/>
            <a:ext cx="7275169" cy="4499270"/>
          </a:xfrm>
          <a:prstGeom prst="rect">
            <a:avLst/>
          </a:prstGeom>
        </p:spPr>
      </p:pic>
    </p:spTree>
    <p:extLst>
      <p:ext uri="{BB962C8B-B14F-4D97-AF65-F5344CB8AC3E}">
        <p14:creationId xmlns:p14="http://schemas.microsoft.com/office/powerpoint/2010/main" val="35907730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293F-599C-8481-7BBB-35DD19776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A9C67-7F41-D309-3F1B-9EC64FD04E9C}"/>
              </a:ext>
            </a:extLst>
          </p:cNvPr>
          <p:cNvSpPr>
            <a:spLocks noGrp="1"/>
          </p:cNvSpPr>
          <p:nvPr>
            <p:ph type="title"/>
          </p:nvPr>
        </p:nvSpPr>
        <p:spPr>
          <a:xfrm>
            <a:off x="700635" y="914400"/>
            <a:ext cx="10901557" cy="1307592"/>
          </a:xfrm>
        </p:spPr>
        <p:txBody>
          <a:bodyPr>
            <a:normAutofit/>
          </a:bodyPr>
          <a:lstStyle/>
          <a:p>
            <a:r>
              <a:rPr lang="en-US" dirty="0"/>
              <a:t>Model selection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F749F4-210C-4C75-80EC-6BDD296EC5E7}"/>
                  </a:ext>
                </a:extLst>
              </p:cNvPr>
              <p:cNvSpPr>
                <a:spLocks noGrp="1"/>
              </p:cNvSpPr>
              <p:nvPr>
                <p:ph idx="1"/>
              </p:nvPr>
            </p:nvSpPr>
            <p:spPr>
              <a:xfrm>
                <a:off x="700634" y="2221992"/>
                <a:ext cx="11273651" cy="3739896"/>
              </a:xfrm>
            </p:spPr>
            <p:txBody>
              <a:bodyPr>
                <a:normAutofit fontScale="92500" lnSpcReduction="10000"/>
              </a:bodyPr>
              <a:lstStyle/>
              <a:p>
                <a:pPr>
                  <a:spcAft>
                    <a:spcPts val="1200"/>
                  </a:spcAft>
                </a:pPr>
                <a:r>
                  <a:rPr lang="en-US" dirty="0"/>
                  <a:t>In research you often don’t know which distribution fits your data best. Because </a:t>
                </a:r>
                <a:r>
                  <a:rPr lang="en-US" dirty="0" err="1"/>
                  <a:t>generalised</a:t>
                </a:r>
                <a:r>
                  <a:rPr lang="en-US" dirty="0"/>
                  <a:t> gamma distribution contains all these other distributions as special cases, you can:</a:t>
                </a:r>
              </a:p>
              <a:p>
                <a:pPr marL="457200" indent="-457200">
                  <a:spcAft>
                    <a:spcPts val="1200"/>
                  </a:spcAft>
                  <a:buFont typeface="+mj-lt"/>
                  <a:buAutoNum type="arabicPeriod"/>
                </a:pPr>
                <a:r>
                  <a:rPr lang="en-US" dirty="0"/>
                  <a:t>Fit a </a:t>
                </a:r>
                <a:r>
                  <a:rPr lang="en-US" dirty="0" err="1"/>
                  <a:t>generalised</a:t>
                </a:r>
                <a:r>
                  <a:rPr lang="en-US" dirty="0"/>
                  <a:t> gamma model</a:t>
                </a:r>
              </a:p>
              <a:p>
                <a:pPr marL="457200" indent="-457200">
                  <a:spcAft>
                    <a:spcPts val="1200"/>
                  </a:spcAft>
                  <a:buFont typeface="+mj-lt"/>
                  <a:buAutoNum type="arabicPeriod"/>
                </a:pPr>
                <a:r>
                  <a:rPr lang="en-US" dirty="0"/>
                  <a:t>Check the confidence intervals for k and p</a:t>
                </a:r>
              </a:p>
              <a:p>
                <a:pPr marL="457200" indent="-457200">
                  <a:spcAft>
                    <a:spcPts val="1200"/>
                  </a:spcAft>
                  <a:buFont typeface="+mj-lt"/>
                  <a:buAutoNum type="arabicPeriod"/>
                </a:pPr>
                <a:r>
                  <a:rPr lang="en-US" dirty="0"/>
                  <a:t>If p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0" smtClean="0">
                        <a:latin typeface="Cambria Math" panose="02040503050406030204" pitchFamily="18" charset="0"/>
                        <a:ea typeface="Cambria Math" panose="02040503050406030204" pitchFamily="18" charset="0"/>
                      </a:rPr>
                      <m:t>:</m:t>
                    </m:r>
                  </m:oMath>
                </a14:m>
                <a:r>
                  <a:rPr lang="en-US" dirty="0"/>
                  <a:t> You can simplify your model to a gamma model</a:t>
                </a:r>
              </a:p>
              <a:p>
                <a:pPr marL="457200" indent="-457200">
                  <a:spcAft>
                    <a:spcPts val="1200"/>
                  </a:spcAft>
                  <a:buFont typeface="+mj-lt"/>
                  <a:buAutoNum type="arabicPeriod"/>
                </a:pPr>
                <a:r>
                  <a:rPr lang="en-US" dirty="0"/>
                  <a:t>If k</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≈1</m:t>
                    </m:r>
                    <m:r>
                      <a:rPr lang="en-US">
                        <a:latin typeface="Cambria Math" panose="02040503050406030204" pitchFamily="18" charset="0"/>
                        <a:ea typeface="Cambria Math" panose="02040503050406030204" pitchFamily="18" charset="0"/>
                      </a:rPr>
                      <m:t>:</m:t>
                    </m:r>
                  </m:oMath>
                </a14:m>
                <a:r>
                  <a:rPr lang="en-US" dirty="0"/>
                  <a:t> You can simplify your model to a Weibull model</a:t>
                </a:r>
              </a:p>
              <a:p>
                <a:pPr marL="457200" indent="-457200">
                  <a:spcAft>
                    <a:spcPts val="1200"/>
                  </a:spcAft>
                  <a:buFont typeface="+mj-lt"/>
                  <a:buAutoNum type="arabicPeriod"/>
                </a:pPr>
                <a:r>
                  <a:rPr lang="en-US" dirty="0"/>
                  <a:t>If k</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≈1</m:t>
                    </m:r>
                  </m:oMath>
                </a14:m>
                <a:r>
                  <a:rPr lang="en-US" dirty="0"/>
                  <a:t>, p </a:t>
                </a:r>
                <a14:m>
                  <m:oMath xmlns:m="http://schemas.openxmlformats.org/officeDocument/2006/math">
                    <m:r>
                      <a:rPr lang="en-US" i="1">
                        <a:latin typeface="Cambria Math" panose="02040503050406030204" pitchFamily="18" charset="0"/>
                        <a:ea typeface="Cambria Math" panose="02040503050406030204" pitchFamily="18" charset="0"/>
                      </a:rPr>
                      <m:t>≈1</m:t>
                    </m:r>
                    <m:r>
                      <a:rPr lang="en-US">
                        <a:latin typeface="Cambria Math" panose="02040503050406030204" pitchFamily="18" charset="0"/>
                        <a:ea typeface="Cambria Math" panose="02040503050406030204" pitchFamily="18" charset="0"/>
                      </a:rPr>
                      <m:t>:</m:t>
                    </m:r>
                  </m:oMath>
                </a14:m>
                <a:r>
                  <a:rPr lang="en-US" dirty="0"/>
                  <a:t> You can simplify your model to an exponential model</a:t>
                </a:r>
              </a:p>
              <a:p>
                <a:pPr marL="457200" indent="-457200">
                  <a:spcAft>
                    <a:spcPts val="1200"/>
                  </a:spcAft>
                  <a:buFont typeface="+mj-lt"/>
                  <a:buAutoNum type="arabicPeriod"/>
                </a:pPr>
                <a:endParaRPr lang="en-US" dirty="0"/>
              </a:p>
              <a:p>
                <a:pPr marL="0" indent="0">
                  <a:spcAft>
                    <a:spcPts val="1200"/>
                  </a:spcAft>
                  <a:buNone/>
                </a:pPr>
                <a:endParaRPr lang="en-US" dirty="0"/>
              </a:p>
              <a:p>
                <a:pPr>
                  <a:spcAft>
                    <a:spcPts val="1200"/>
                  </a:spcAft>
                </a:pPr>
                <a:endParaRPr lang="en-US" dirty="0"/>
              </a:p>
              <a:p>
                <a:pPr marL="0" indent="0">
                  <a:spcAft>
                    <a:spcPts val="1200"/>
                  </a:spcAft>
                  <a:buNone/>
                </a:pPr>
                <a:endParaRPr lang="en-US" dirty="0"/>
              </a:p>
              <a:p>
                <a:pPr>
                  <a:spcBef>
                    <a:spcPts val="1200"/>
                  </a:spcBef>
                </a:pPr>
                <a:endParaRPr lang="en-US" dirty="0"/>
              </a:p>
              <a:p>
                <a:pPr marL="0" indent="0">
                  <a:spcBef>
                    <a:spcPts val="1200"/>
                  </a:spcBef>
                  <a:buNone/>
                </a:pPr>
                <a:endParaRPr lang="en-US" dirty="0"/>
              </a:p>
            </p:txBody>
          </p:sp>
        </mc:Choice>
        <mc:Fallback xmlns="">
          <p:sp>
            <p:nvSpPr>
              <p:cNvPr id="3" name="Content Placeholder 2">
                <a:extLst>
                  <a:ext uri="{FF2B5EF4-FFF2-40B4-BE49-F238E27FC236}">
                    <a16:creationId xmlns:a16="http://schemas.microsoft.com/office/drawing/2014/main" id="{5BF749F4-210C-4C75-80EC-6BDD296EC5E7}"/>
                  </a:ext>
                </a:extLst>
              </p:cNvPr>
              <p:cNvSpPr>
                <a:spLocks noGrp="1" noRot="1" noChangeAspect="1" noMove="1" noResize="1" noEditPoints="1" noAdjustHandles="1" noChangeArrowheads="1" noChangeShapeType="1" noTextEdit="1"/>
              </p:cNvSpPr>
              <p:nvPr>
                <p:ph idx="1"/>
              </p:nvPr>
            </p:nvSpPr>
            <p:spPr>
              <a:xfrm>
                <a:off x="700634" y="2221992"/>
                <a:ext cx="11273651" cy="3739896"/>
              </a:xfrm>
              <a:blipFill>
                <a:blip r:embed="rId3"/>
                <a:stretch>
                  <a:fillRect l="-487" t="-979"/>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47EDA46B-71A6-0CF4-44AC-69EAC3E97BB4}"/>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6264195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C5A6-838F-EC21-C9DC-01A4BB1DB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859B7-0382-247E-E6EC-CB0611A8F632}"/>
              </a:ext>
            </a:extLst>
          </p:cNvPr>
          <p:cNvSpPr>
            <a:spLocks noGrp="1"/>
          </p:cNvSpPr>
          <p:nvPr>
            <p:ph type="title"/>
          </p:nvPr>
        </p:nvSpPr>
        <p:spPr/>
        <p:txBody>
          <a:bodyPr>
            <a:normAutofit fontScale="90000"/>
          </a:bodyPr>
          <a:lstStyle/>
          <a:p>
            <a:r>
              <a:rPr lang="en-US" dirty="0"/>
              <a:t>Model SELECTION – generalized gamma vs </a:t>
            </a:r>
            <a:r>
              <a:rPr lang="en-US" dirty="0" err="1"/>
              <a:t>weibull</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2BE67A-8425-E5F8-7691-ADC9F3E71094}"/>
                  </a:ext>
                </a:extLst>
              </p:cNvPr>
              <p:cNvSpPr>
                <a:spLocks noGrp="1"/>
              </p:cNvSpPr>
              <p:nvPr>
                <p:ph idx="1"/>
              </p:nvPr>
            </p:nvSpPr>
            <p:spPr/>
            <p:txBody>
              <a:bodyPr>
                <a:normAutofit/>
              </a:bodyPr>
              <a:lstStyle/>
              <a:p>
                <a:r>
                  <a:rPr lang="en-US" dirty="0"/>
                  <a:t>To test whether a </a:t>
                </a:r>
                <a:r>
                  <a:rPr lang="en-US" dirty="0" err="1"/>
                  <a:t>generalised</a:t>
                </a:r>
                <a:r>
                  <a:rPr lang="en-US" dirty="0"/>
                  <a:t> gamma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dirty="0"/>
                  <a:t> distribution gives a significantly better fit than a Weibull (</a:t>
                </a:r>
                <a14:m>
                  <m:oMath xmlns:m="http://schemas.openxmlformats.org/officeDocument/2006/math">
                    <m:r>
                      <a:rPr lang="en-US" i="1">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distribution, we test the following null hypothesis:</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b="0" dirty="0"/>
                  <a:t> (Weibull model)</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𝑘</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1</m:t>
                    </m:r>
                    <m:r>
                      <a:rPr lang="en-US" b="0" i="1" smtClean="0">
                        <a:latin typeface="Cambria Math" panose="02040503050406030204" pitchFamily="18" charset="0"/>
                      </a:rPr>
                      <m:t> </m:t>
                    </m:r>
                  </m:oMath>
                </a14:m>
                <a:r>
                  <a:rPr lang="en-US" dirty="0"/>
                  <a:t>(</a:t>
                </a:r>
                <a:r>
                  <a:rPr lang="en-US" dirty="0" err="1"/>
                  <a:t>Generalised</a:t>
                </a:r>
                <a:r>
                  <a:rPr lang="en-US" dirty="0"/>
                  <a:t> gamma model)</a:t>
                </a:r>
              </a:p>
              <a:p>
                <a:pPr marL="0" indent="0">
                  <a:buNone/>
                </a:pPr>
                <a:r>
                  <a:rPr lang="en-US" dirty="0"/>
                  <a:t>The likelihood ratio test statistic, under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is</a:t>
                </a:r>
              </a:p>
              <a:p>
                <a:pPr marL="0" indent="0">
                  <a:buNone/>
                </a:pP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𝜆</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r>
                      <a:rPr lang="en-US" i="1" smtClean="0">
                        <a:latin typeface="Cambria Math" panose="02040503050406030204" pitchFamily="18" charset="0"/>
                      </a:rPr>
                      <m:t>,</m:t>
                    </m:r>
                    <m:r>
                      <a:rPr lang="en-US" b="0" i="1" smtClean="0">
                        <a:latin typeface="Cambria Math" panose="02040503050406030204" pitchFamily="18" charset="0"/>
                      </a:rPr>
                      <m:t>1)</m:t>
                    </m:r>
                    <m:r>
                      <m:rPr>
                        <m:lit/>
                      </m:rPr>
                      <a:rPr lang="en-US" b="0" i="1" smtClean="0">
                        <a:latin typeface="Cambria Math" panose="02040503050406030204" pitchFamily="18" charset="0"/>
                      </a:rPr>
                      <m:t>=</m:t>
                    </m:r>
                    <m:r>
                      <a:rPr lang="en-US" b="0" i="0" smtClean="0">
                        <a:latin typeface="Cambria Math" panose="02040503050406030204" pitchFamily="18" charset="0"/>
                      </a:rPr>
                      <m:t>2(</m:t>
                    </m:r>
                    <m:r>
                      <m:rPr>
                        <m:sty m:val="p"/>
                      </m:rPr>
                      <a:rPr lang="en-US" b="0" i="0" smtClean="0">
                        <a:latin typeface="Cambria Math" panose="02040503050406030204" pitchFamily="18" charset="0"/>
                      </a:rPr>
                      <m:t>logL</m:t>
                    </m:r>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𝜆</m:t>
                            </m:r>
                          </m:e>
                        </m:acc>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𝑘</m:t>
                            </m:r>
                          </m:e>
                        </m:acc>
                      </m:e>
                    </m:d>
                  </m:oMath>
                </a14:m>
                <a:r>
                  <a:rPr lang="en-US" dirty="0"/>
                  <a:t> </a:t>
                </a:r>
                <a14:m>
                  <m:oMath xmlns:m="http://schemas.openxmlformats.org/officeDocument/2006/math">
                    <m:r>
                      <a:rPr lang="en-US" i="1" dirty="0">
                        <a:latin typeface="Cambria Math" panose="02040503050406030204" pitchFamily="18" charset="0"/>
                      </a:rPr>
                      <m:t>−</m:t>
                    </m:r>
                  </m:oMath>
                </a14:m>
                <a:r>
                  <a:rPr lang="en-US" dirty="0"/>
                  <a:t> </a:t>
                </a:r>
                <a14:m>
                  <m:oMath xmlns:m="http://schemas.openxmlformats.org/officeDocument/2006/math">
                    <m:r>
                      <m:rPr>
                        <m:sty m:val="p"/>
                      </m:rPr>
                      <a:rPr lang="en-US">
                        <a:latin typeface="Cambria Math" panose="02040503050406030204" pitchFamily="18" charset="0"/>
                      </a:rPr>
                      <m:t>logL</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𝜆</m:t>
                                </m:r>
                              </m:e>
                            </m:acc>
                          </m:e>
                          <m:sub>
                            <m:r>
                              <a:rPr lang="en-US" b="0" i="1" smtClean="0">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e>
                          <m:sub>
                            <m:r>
                              <a:rPr lang="en-US" i="1">
                                <a:latin typeface="Cambria Math" panose="02040503050406030204" pitchFamily="18" charset="0"/>
                              </a:rPr>
                              <m:t>0</m:t>
                            </m:r>
                          </m:sub>
                        </m:sSub>
                        <m:r>
                          <a:rPr lang="en-US" i="1">
                            <a:latin typeface="Cambria Math" panose="02040503050406030204" pitchFamily="18" charset="0"/>
                          </a:rPr>
                          <m:t>,</m:t>
                        </m:r>
                        <m:r>
                          <a:rPr lang="en-US" b="0" i="1" smtClean="0">
                            <a:latin typeface="Cambria Math" panose="02040503050406030204" pitchFamily="18" charset="0"/>
                          </a:rPr>
                          <m:t>1</m:t>
                        </m:r>
                        <m:r>
                          <a:rPr lang="en-US" i="1" smtClean="0">
                            <a:latin typeface="Cambria Math" panose="02040503050406030204" pitchFamily="18" charset="0"/>
                          </a:rPr>
                          <m:t> </m:t>
                        </m:r>
                      </m:e>
                    </m:d>
                  </m:oMath>
                </a14:m>
                <a:r>
                  <a:rPr lang="en-US" dirty="0"/>
                  <a:t>)</a:t>
                </a:r>
                <a14:m>
                  <m:oMath xmlns:m="http://schemas.openxmlformats.org/officeDocument/2006/math">
                    <m:r>
                      <a:rPr lang="en-US"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m:rPr>
                            <m:sty m:val="p"/>
                          </m:rPr>
                          <a:rPr lang="en-US" b="0" i="0" dirty="0" smtClean="0">
                            <a:latin typeface="Cambria Math" panose="02040503050406030204" pitchFamily="18" charset="0"/>
                            <a:ea typeface="Cambria Math" panose="02040503050406030204" pitchFamily="18" charset="0"/>
                          </a:rPr>
                          <m:t>Χ</m:t>
                        </m:r>
                      </m:e>
                      <m:sub>
                        <m:r>
                          <a:rPr lang="en-US" b="0" i="1" dirty="0" smtClean="0">
                            <a:latin typeface="Cambria Math" panose="02040503050406030204" pitchFamily="18" charset="0"/>
                            <a:ea typeface="Cambria Math" panose="02040503050406030204" pitchFamily="18" charset="0"/>
                          </a:rPr>
                          <m:t>1</m:t>
                        </m:r>
                      </m:sub>
                      <m:sup>
                        <m:r>
                          <a:rPr lang="en-US" b="0" i="1" dirty="0" smtClean="0">
                            <a:latin typeface="Cambria Math" panose="02040503050406030204" pitchFamily="18" charset="0"/>
                            <a:ea typeface="Cambria Math" panose="02040503050406030204" pitchFamily="18" charset="0"/>
                          </a:rPr>
                          <m:t>2</m:t>
                        </m:r>
                      </m:sup>
                    </m:sSubSup>
                    <m:r>
                      <a:rPr lang="en-US" b="0" i="1" dirty="0"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pPr marL="0" indent="0">
                  <a:buNone/>
                </a:pPr>
                <a:r>
                  <a:rPr lang="en-US" dirty="0"/>
                  <a:t>where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𝜆</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𝛾</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𝑘</m:t>
                        </m:r>
                      </m:e>
                    </m:acc>
                    <m:r>
                      <a:rPr lang="en-US" b="0" i="1" smtClean="0">
                        <a:latin typeface="Cambria Math" panose="02040503050406030204" pitchFamily="18" charset="0"/>
                      </a:rPr>
                      <m:t> </m:t>
                    </m:r>
                  </m:oMath>
                </a14:m>
                <a:r>
                  <a:rPr lang="en-US" dirty="0"/>
                  <a:t>are MLEs for a </a:t>
                </a:r>
                <a:r>
                  <a:rPr lang="en-US" dirty="0" err="1"/>
                  <a:t>generalised</a:t>
                </a:r>
                <a:r>
                  <a:rPr lang="en-US" dirty="0"/>
                  <a:t> gamma model with unconstrained </a:t>
                </a:r>
                <a14:m>
                  <m:oMath xmlns:m="http://schemas.openxmlformats.org/officeDocument/2006/math">
                    <m:r>
                      <a:rPr lang="en-US" b="0" i="1" smtClean="0">
                        <a:latin typeface="Cambria Math" panose="02040503050406030204" pitchFamily="18" charset="0"/>
                      </a:rPr>
                      <m:t>𝑘</m:t>
                    </m:r>
                  </m:oMath>
                </a14:m>
                <a:r>
                  <a:rPr lang="en-US" dirty="0"/>
                  <a:t>, and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𝜆</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0</m:t>
                        </m:r>
                      </m:sub>
                    </m:sSub>
                    <m:r>
                      <a:rPr lang="en-US" b="0" i="0" smtClean="0">
                        <a:latin typeface="Cambria Math" panose="02040503050406030204" pitchFamily="18" charset="0"/>
                      </a:rPr>
                      <m:t> </m:t>
                    </m:r>
                    <m:r>
                      <m:rPr>
                        <m:sty m:val="p"/>
                      </m:rPr>
                      <a:rPr lang="en-US" b="0" i="0" smtClean="0">
                        <a:latin typeface="Cambria Math" panose="02040503050406030204" pitchFamily="18" charset="0"/>
                      </a:rPr>
                      <m:t>are</m:t>
                    </m:r>
                  </m:oMath>
                </a14:m>
                <a:r>
                  <a:rPr lang="en-US" dirty="0"/>
                  <a:t> the MLEs for a </a:t>
                </a:r>
                <a:r>
                  <a:rPr lang="en-US" dirty="0" err="1"/>
                  <a:t>generalised</a:t>
                </a:r>
                <a:r>
                  <a:rPr lang="en-US" dirty="0"/>
                  <a:t> gamma model with</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𝑘</m:t>
                    </m:r>
                    <m:r>
                      <a:rPr lang="en-US" b="0" i="1" smtClean="0">
                        <a:latin typeface="Cambria Math" panose="02040503050406030204" pitchFamily="18" charset="0"/>
                      </a:rPr>
                      <m:t>=1 </m:t>
                    </m:r>
                  </m:oMath>
                </a14:m>
                <a:r>
                  <a:rPr lang="en-US" dirty="0"/>
                  <a:t>(i.e., MLE for the Weibull model)</a:t>
                </a:r>
              </a:p>
            </p:txBody>
          </p:sp>
        </mc:Choice>
        <mc:Fallback xmlns="">
          <p:sp>
            <p:nvSpPr>
              <p:cNvPr id="3" name="Content Placeholder 2">
                <a:extLst>
                  <a:ext uri="{FF2B5EF4-FFF2-40B4-BE49-F238E27FC236}">
                    <a16:creationId xmlns:a16="http://schemas.microsoft.com/office/drawing/2014/main" id="{332BE67A-8425-E5F8-7691-ADC9F3E71094}"/>
                  </a:ext>
                </a:extLst>
              </p:cNvPr>
              <p:cNvSpPr>
                <a:spLocks noGrp="1" noRot="1" noChangeAspect="1" noMove="1" noResize="1" noEditPoints="1" noAdjustHandles="1" noChangeArrowheads="1" noChangeShapeType="1" noTextEdit="1"/>
              </p:cNvSpPr>
              <p:nvPr>
                <p:ph idx="1"/>
              </p:nvPr>
            </p:nvSpPr>
            <p:spPr>
              <a:blipFill>
                <a:blip r:embed="rId3"/>
                <a:stretch>
                  <a:fillRect l="-62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C75ADFB5-62F6-6DE1-0404-18E6D0ADDB37}"/>
              </a:ext>
            </a:extLst>
          </p:cNvPr>
          <p:cNvSpPr>
            <a:spLocks noGrp="1"/>
          </p:cNvSpPr>
          <p:nvPr>
            <p:ph type="ftr" sz="quarter" idx="11"/>
          </p:nvPr>
        </p:nvSpPr>
        <p:spPr/>
        <p:txBody>
          <a:bodyPr/>
          <a:lstStyle/>
          <a:p>
            <a:r>
              <a:rPr lang="en-US" dirty="0"/>
              <a:t>maarit.laaksonen@sydney.edu.au</a:t>
            </a:r>
          </a:p>
        </p:txBody>
      </p:sp>
    </p:spTree>
    <p:extLst>
      <p:ext uri="{BB962C8B-B14F-4D97-AF65-F5344CB8AC3E}">
        <p14:creationId xmlns:p14="http://schemas.microsoft.com/office/powerpoint/2010/main" val="22924507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A687C-E76E-6AA8-C351-2FD52A6DE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B1564-78E2-A701-C6B0-9E45EB46C7E6}"/>
              </a:ext>
            </a:extLst>
          </p:cNvPr>
          <p:cNvSpPr>
            <a:spLocks noGrp="1"/>
          </p:cNvSpPr>
          <p:nvPr>
            <p:ph type="title"/>
          </p:nvPr>
        </p:nvSpPr>
        <p:spPr/>
        <p:txBody>
          <a:bodyPr>
            <a:normAutofit/>
          </a:bodyPr>
          <a:lstStyle/>
          <a:p>
            <a:r>
              <a:rPr lang="en-US" dirty="0" err="1"/>
              <a:t>weibull</a:t>
            </a:r>
            <a:r>
              <a:rPr lang="en-US" dirty="0"/>
              <a:t>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5BEA3E-759E-4C4D-C89D-A38E45CECDB8}"/>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also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weibull</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1.267</m:t>
                    </m:r>
                    <m:r>
                      <m:rPr>
                        <m:nor/>
                      </m:rPr>
                      <a:rPr lang="en-US" dirty="0"/>
                      <m:t>)</m:t>
                    </m:r>
                    <m:r>
                      <m:rPr>
                        <m:nor/>
                      </m:rPr>
                      <a:rPr lang="en-US" b="0" i="0" dirty="0" smtClean="0"/>
                      <m:t> = </m:t>
                    </m:r>
                    <m:r>
                      <m:rPr>
                        <m:nor/>
                      </m:rPr>
                      <a:rPr lang="en-US" dirty="0"/>
                      <m:t> </m:t>
                    </m:r>
                    <m:r>
                      <m:rPr>
                        <m:nor/>
                      </m:rPr>
                      <a:rPr lang="en-US" b="0" i="0" dirty="0" smtClean="0"/>
                      <m:t>3.55</m:t>
                    </m:r>
                  </m:oMath>
                </a14:m>
                <a:endParaRPr lang="en-US" dirty="0"/>
              </a:p>
            </p:txBody>
          </p:sp>
        </mc:Choice>
        <mc:Fallback xmlns="">
          <p:sp>
            <p:nvSpPr>
              <p:cNvPr id="3" name="Content Placeholder 2">
                <a:extLst>
                  <a:ext uri="{FF2B5EF4-FFF2-40B4-BE49-F238E27FC236}">
                    <a16:creationId xmlns:a16="http://schemas.microsoft.com/office/drawing/2014/main" id="{36C1C8E9-131C-2C2F-2E0D-2023A28AC5CA}"/>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D11AC474-5373-D0F7-F821-D0ACE9063F05}"/>
              </a:ext>
            </a:extLst>
          </p:cNvPr>
          <p:cNvSpPr>
            <a:spLocks noGrp="1"/>
          </p:cNvSpPr>
          <p:nvPr>
            <p:ph type="ftr" sz="quarter" idx="11"/>
          </p:nvPr>
        </p:nvSpPr>
        <p:spPr/>
        <p:txBody>
          <a:bodyPr/>
          <a:lstStyle/>
          <a:p>
            <a:r>
              <a:rPr lang="en-US" dirty="0"/>
              <a:t>maarit.laaksonen@sydney.edu.au</a:t>
            </a:r>
          </a:p>
        </p:txBody>
      </p:sp>
      <p:pic>
        <p:nvPicPr>
          <p:cNvPr id="8" name="Picture 7">
            <a:extLst>
              <a:ext uri="{FF2B5EF4-FFF2-40B4-BE49-F238E27FC236}">
                <a16:creationId xmlns:a16="http://schemas.microsoft.com/office/drawing/2014/main" id="{99775457-4E00-9A74-C61D-E7900B2EAFB4}"/>
              </a:ext>
            </a:extLst>
          </p:cNvPr>
          <p:cNvPicPr>
            <a:picLocks noChangeAspect="1"/>
          </p:cNvPicPr>
          <p:nvPr/>
        </p:nvPicPr>
        <p:blipFill>
          <a:blip r:embed="rId4"/>
          <a:stretch>
            <a:fillRect/>
          </a:stretch>
        </p:blipFill>
        <p:spPr>
          <a:xfrm>
            <a:off x="1044153" y="2235374"/>
            <a:ext cx="8430047" cy="3350744"/>
          </a:xfrm>
          <a:prstGeom prst="rect">
            <a:avLst/>
          </a:prstGeom>
        </p:spPr>
      </p:pic>
      <p:sp>
        <p:nvSpPr>
          <p:cNvPr id="6" name="TextBox 5">
            <a:extLst>
              <a:ext uri="{FF2B5EF4-FFF2-40B4-BE49-F238E27FC236}">
                <a16:creationId xmlns:a16="http://schemas.microsoft.com/office/drawing/2014/main" id="{8B5FB008-5914-02AC-1E4A-43AB02ED2B7B}"/>
              </a:ext>
            </a:extLst>
          </p:cNvPr>
          <p:cNvSpPr txBox="1"/>
          <p:nvPr/>
        </p:nvSpPr>
        <p:spPr>
          <a:xfrm>
            <a:off x="1044153" y="5092704"/>
            <a:ext cx="2556879" cy="259883"/>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32324851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64A67-3070-D566-BA5B-24A91BC12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082A9-1564-F5D1-944D-43C022FADC2C}"/>
              </a:ext>
            </a:extLst>
          </p:cNvPr>
          <p:cNvSpPr>
            <a:spLocks noGrp="1"/>
          </p:cNvSpPr>
          <p:nvPr>
            <p:ph type="title"/>
          </p:nvPr>
        </p:nvSpPr>
        <p:spPr/>
        <p:txBody>
          <a:bodyPr>
            <a:normAutofit/>
          </a:bodyPr>
          <a:lstStyle/>
          <a:p>
            <a:r>
              <a:rPr lang="en-US" dirty="0" err="1"/>
              <a:t>Generalised</a:t>
            </a:r>
            <a:r>
              <a:rPr lang="en-US" dirty="0"/>
              <a:t> </a:t>
            </a:r>
            <a:r>
              <a:rPr lang="en-US" dirty="0" err="1"/>
              <a:t>gammA</a:t>
            </a:r>
            <a:r>
              <a:rPr lang="en-US" dirty="0"/>
              <a:t> </a:t>
            </a:r>
            <a:r>
              <a:rPr lang="en-US" dirty="0">
                <a:solidFill>
                  <a:srgbClr val="FF0000"/>
                </a:solidFill>
              </a:rPr>
              <a:t>AFT model </a:t>
            </a:r>
            <a:r>
              <a:rPr lang="en-US" dirty="0"/>
              <a:t>– r example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B52137-DC24-BAC8-B538-1DE1643CBEF1}"/>
                  </a:ext>
                </a:extLst>
              </p:cNvPr>
              <p:cNvSpPr>
                <a:spLocks noGrp="1"/>
              </p:cNvSpPr>
              <p:nvPr>
                <p:ph idx="1"/>
              </p:nvPr>
            </p:nvSpPr>
            <p:spPr>
              <a:xfrm>
                <a:off x="750366" y="1822302"/>
                <a:ext cx="10691265" cy="4303076"/>
              </a:xfrm>
            </p:spPr>
            <p:txBody>
              <a:bodyPr>
                <a:normAutofit fontScale="92500" lnSpcReduction="20000"/>
              </a:bodyPr>
              <a:lstStyle/>
              <a:p>
                <a:pPr>
                  <a:spcAft>
                    <a:spcPts val="1200"/>
                  </a:spcAft>
                </a:pPr>
                <a:r>
                  <a:rPr lang="en-US" sz="2200" dirty="0"/>
                  <a:t>Can be estimated using </a:t>
                </a:r>
                <a:r>
                  <a:rPr lang="en-US" sz="2200" dirty="0" err="1">
                    <a:latin typeface="Courier New" panose="02070309020205020404" pitchFamily="49" charset="0"/>
                    <a:cs typeface="Courier New" panose="02070309020205020404" pitchFamily="49" charset="0"/>
                  </a:rPr>
                  <a:t>flexsurvreg</a:t>
                </a:r>
                <a:r>
                  <a:rPr lang="en-US" sz="2200" dirty="0"/>
                  <a:t> from the </a:t>
                </a:r>
                <a:r>
                  <a:rPr lang="en-US" sz="2200" dirty="0" err="1">
                    <a:latin typeface="Courier New" panose="02070309020205020404" pitchFamily="49" charset="0"/>
                    <a:cs typeface="Courier New" panose="02070309020205020404" pitchFamily="49" charset="0"/>
                  </a:rPr>
                  <a:t>flexsurv</a:t>
                </a:r>
                <a:r>
                  <a:rPr lang="en-US" sz="2200" dirty="0"/>
                  <a:t> package (</a:t>
                </a:r>
                <a:r>
                  <a:rPr lang="en-US" sz="2200" dirty="0" err="1"/>
                  <a:t>dist</a:t>
                </a:r>
                <a:r>
                  <a:rPr lang="en-US" sz="2200" dirty="0"/>
                  <a:t> = “</a:t>
                </a:r>
                <a:r>
                  <a:rPr lang="en-US" sz="2200" dirty="0" err="1"/>
                  <a:t>gengamma</a:t>
                </a:r>
                <a:r>
                  <a:rPr lang="en-US" sz="2200" dirty="0"/>
                  <a:t>”):</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endParaRPr lang="en-US" dirty="0"/>
              </a:p>
              <a:p>
                <a:endParaRPr lang="en-US" dirty="0"/>
              </a:p>
              <a:p>
                <a:endParaRPr lang="en-US" dirty="0"/>
              </a:p>
              <a:p>
                <a:r>
                  <a:rPr lang="en-US" dirty="0"/>
                  <a:t>TR =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n-US" b="0" i="0" smtClean="0">
                        <a:latin typeface="Cambria Math" panose="02040503050406030204" pitchFamily="18" charset="0"/>
                      </a:rPr>
                      <m:t>1.306</m:t>
                    </m:r>
                    <m:r>
                      <m:rPr>
                        <m:nor/>
                      </m:rPr>
                      <a:rPr lang="en-US" dirty="0"/>
                      <m:t>)</m:t>
                    </m:r>
                    <m:r>
                      <m:rPr>
                        <m:nor/>
                      </m:rPr>
                      <a:rPr lang="en-US" b="0" i="0" dirty="0" smtClean="0"/>
                      <m:t> = </m:t>
                    </m:r>
                    <m:r>
                      <m:rPr>
                        <m:nor/>
                      </m:rPr>
                      <a:rPr lang="en-US" dirty="0"/>
                      <m:t> </m:t>
                    </m:r>
                    <m:r>
                      <m:rPr>
                        <m:nor/>
                      </m:rPr>
                      <a:rPr lang="en-US" b="0" i="0" dirty="0" smtClean="0"/>
                      <m:t>3.69</m:t>
                    </m:r>
                  </m:oMath>
                </a14:m>
                <a:endParaRPr lang="en-US" dirty="0"/>
              </a:p>
            </p:txBody>
          </p:sp>
        </mc:Choice>
        <mc:Fallback xmlns="">
          <p:sp>
            <p:nvSpPr>
              <p:cNvPr id="3" name="Content Placeholder 2">
                <a:extLst>
                  <a:ext uri="{FF2B5EF4-FFF2-40B4-BE49-F238E27FC236}">
                    <a16:creationId xmlns:a16="http://schemas.microsoft.com/office/drawing/2014/main" id="{22B812CA-B255-4E68-CEE5-8316749A2DA1}"/>
                  </a:ext>
                </a:extLst>
              </p:cNvPr>
              <p:cNvSpPr>
                <a:spLocks noGrp="1" noRot="1" noChangeAspect="1" noMove="1" noResize="1" noEditPoints="1" noAdjustHandles="1" noChangeArrowheads="1" noChangeShapeType="1" noTextEdit="1"/>
              </p:cNvSpPr>
              <p:nvPr>
                <p:ph idx="1"/>
              </p:nvPr>
            </p:nvSpPr>
            <p:spPr>
              <a:xfrm>
                <a:off x="750366" y="1822302"/>
                <a:ext cx="10691265" cy="4303076"/>
              </a:xfrm>
              <a:blipFill>
                <a:blip r:embed="rId3"/>
                <a:stretch>
                  <a:fillRect l="-513" t="-1700" b="-5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F5E156D9-AB3F-2BC7-275F-1FBAFE36EDBB}"/>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7EFA84F5-B737-AB82-6412-D9651ABB5155}"/>
              </a:ext>
            </a:extLst>
          </p:cNvPr>
          <p:cNvPicPr>
            <a:picLocks noChangeAspect="1"/>
          </p:cNvPicPr>
          <p:nvPr/>
        </p:nvPicPr>
        <p:blipFill>
          <a:blip r:embed="rId4"/>
          <a:stretch>
            <a:fillRect/>
          </a:stretch>
        </p:blipFill>
        <p:spPr>
          <a:xfrm>
            <a:off x="1022206" y="2244826"/>
            <a:ext cx="8185294" cy="3458028"/>
          </a:xfrm>
          <a:prstGeom prst="rect">
            <a:avLst/>
          </a:prstGeom>
        </p:spPr>
      </p:pic>
      <p:sp>
        <p:nvSpPr>
          <p:cNvPr id="5" name="TextBox 4">
            <a:extLst>
              <a:ext uri="{FF2B5EF4-FFF2-40B4-BE49-F238E27FC236}">
                <a16:creationId xmlns:a16="http://schemas.microsoft.com/office/drawing/2014/main" id="{5A87AA0C-24FC-0158-302B-E1319F1C72FE}"/>
              </a:ext>
            </a:extLst>
          </p:cNvPr>
          <p:cNvSpPr txBox="1"/>
          <p:nvPr/>
        </p:nvSpPr>
        <p:spPr>
          <a:xfrm>
            <a:off x="1022206" y="5265019"/>
            <a:ext cx="2701259" cy="231006"/>
          </a:xfrm>
          <a:prstGeom prst="rect">
            <a:avLst/>
          </a:prstGeom>
          <a:noFill/>
          <a:ln>
            <a:solidFill>
              <a:srgbClr val="FF0000"/>
            </a:solidFill>
          </a:ln>
        </p:spPr>
        <p:txBody>
          <a:bodyPr wrap="square" rtlCol="0">
            <a:spAutoFit/>
          </a:bodyPr>
          <a:lstStyle/>
          <a:p>
            <a:endParaRPr lang="en-AU" dirty="0"/>
          </a:p>
        </p:txBody>
      </p:sp>
    </p:spTree>
    <p:extLst>
      <p:ext uri="{BB962C8B-B14F-4D97-AF65-F5344CB8AC3E}">
        <p14:creationId xmlns:p14="http://schemas.microsoft.com/office/powerpoint/2010/main" val="14164935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2A95C-9370-657F-51F3-983A97667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C7230-139E-DBD6-5B15-1835B2233B13}"/>
              </a:ext>
            </a:extLst>
          </p:cNvPr>
          <p:cNvSpPr>
            <a:spLocks noGrp="1"/>
          </p:cNvSpPr>
          <p:nvPr>
            <p:ph type="title"/>
          </p:nvPr>
        </p:nvSpPr>
        <p:spPr>
          <a:xfrm>
            <a:off x="704088" y="854482"/>
            <a:ext cx="10691265" cy="1307592"/>
          </a:xfrm>
        </p:spPr>
        <p:txBody>
          <a:bodyPr>
            <a:normAutofit fontScale="90000"/>
          </a:bodyPr>
          <a:lstStyle/>
          <a:p>
            <a:r>
              <a:rPr lang="en-US" dirty="0"/>
              <a:t>Model SELECTION – </a:t>
            </a:r>
            <a:r>
              <a:rPr lang="en-US" dirty="0" err="1"/>
              <a:t>generalised</a:t>
            </a:r>
            <a:r>
              <a:rPr lang="en-US" dirty="0"/>
              <a:t> gamma vs. Weibull (and gamma)</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7A949C-E7F5-7959-DF19-93534248CDF3}"/>
                  </a:ext>
                </a:extLst>
              </p:cNvPr>
              <p:cNvSpPr>
                <a:spLocks noGrp="1"/>
              </p:cNvSpPr>
              <p:nvPr>
                <p:ph idx="1"/>
              </p:nvPr>
            </p:nvSpPr>
            <p:spPr>
              <a:xfrm>
                <a:off x="750367" y="1673352"/>
                <a:ext cx="10691265" cy="3739896"/>
              </a:xfrm>
            </p:spPr>
            <p:txBody>
              <a:bodyPr>
                <a:normAutofit/>
              </a:bodyPr>
              <a:lstStyle/>
              <a:p>
                <a:pPr marL="0" indent="0">
                  <a:spcBef>
                    <a:spcPts val="600"/>
                  </a:spcBef>
                  <a:buNone/>
                </a:pPr>
                <a:endParaRPr lang="en-US" dirty="0"/>
              </a:p>
              <a:p>
                <a:pPr marL="0" indent="0">
                  <a:spcBef>
                    <a:spcPts val="0"/>
                  </a:spcBef>
                  <a:buNone/>
                </a:pPr>
                <a:r>
                  <a:rPr lang="en-US" dirty="0"/>
                  <a:t>We get:</a:t>
                </a:r>
              </a:p>
              <a:p>
                <a:pPr marL="0" indent="0">
                  <a:spcBef>
                    <a:spcPts val="0"/>
                  </a:spcBef>
                  <a:buNone/>
                </a:pPr>
                <a14:m>
                  <m:oMath xmlns:m="http://schemas.openxmlformats.org/officeDocument/2006/math">
                    <m:r>
                      <a:rPr lang="en-US" b="0" i="1" smtClean="0">
                        <a:latin typeface="Cambria Math" panose="02040503050406030204" pitchFamily="18" charset="0"/>
                      </a:rPr>
                      <m:t>𝑊</m:t>
                    </m:r>
                    <m:r>
                      <m:rPr>
                        <m:lit/>
                      </m:rPr>
                      <a:rPr lang="en-US" b="0" i="1" smtClean="0">
                        <a:latin typeface="Cambria Math" panose="02040503050406030204" pitchFamily="18" charset="0"/>
                      </a:rPr>
                      <m:t>=</m:t>
                    </m:r>
                    <m:r>
                      <a:rPr lang="en-US" b="0" i="0" smtClean="0">
                        <a:latin typeface="Cambria Math" panose="02040503050406030204" pitchFamily="18" charset="0"/>
                      </a:rPr>
                      <m:t>2(−106.3895 −</m:t>
                    </m:r>
                  </m:oMath>
                </a14:m>
                <a:r>
                  <a:rPr lang="en-US" dirty="0"/>
                  <a:t> </a:t>
                </a:r>
                <a14:m>
                  <m:oMath xmlns:m="http://schemas.openxmlformats.org/officeDocument/2006/math">
                    <m:r>
                      <a:rPr lang="en-US" b="0" i="1" dirty="0" smtClean="0">
                        <a:latin typeface="Cambria Math" panose="02040503050406030204" pitchFamily="18" charset="0"/>
                      </a:rPr>
                      <m:t>(−</m:t>
                    </m:r>
                    <m:r>
                      <a:rPr lang="en-US">
                        <a:latin typeface="Cambria Math" panose="02040503050406030204" pitchFamily="18" charset="0"/>
                      </a:rPr>
                      <m:t>106.5795</m:t>
                    </m:r>
                    <m:r>
                      <a:rPr lang="en-US" b="0" i="1" dirty="0" smtClean="0">
                        <a:latin typeface="Cambria Math" panose="02040503050406030204" pitchFamily="18" charset="0"/>
                      </a:rPr>
                      <m:t>)</m:t>
                    </m:r>
                  </m:oMath>
                </a14:m>
                <a:r>
                  <a:rPr lang="en-US" dirty="0"/>
                  <a:t>)</a:t>
                </a:r>
                <a14:m>
                  <m:oMath xmlns:m="http://schemas.openxmlformats.org/officeDocument/2006/math">
                    <m:r>
                      <a:rPr lang="en-US" b="0"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0.38=</m:t>
                        </m:r>
                        <m:r>
                          <a:rPr lang="el-GR" b="0" i="1" dirty="0" smtClean="0">
                            <a:latin typeface="Cambria Math" panose="02040503050406030204" pitchFamily="18" charset="0"/>
                            <a:ea typeface="Cambria Math" panose="02040503050406030204" pitchFamily="18" charset="0"/>
                          </a:rPr>
                          <m:t>𝜋</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𝑟</m:t>
                            </m:r>
                          </m:e>
                          <m:sup>
                            <m:r>
                              <a:rPr lang="en-US" b="0" i="1" dirty="0" smtClean="0">
                                <a:latin typeface="Cambria Math" panose="02040503050406030204" pitchFamily="18" charset="0"/>
                                <a:ea typeface="Cambria Math" panose="02040503050406030204" pitchFamily="18" charset="0"/>
                              </a:rPr>
                              <m:t>2</m:t>
                            </m:r>
                          </m:sup>
                        </m:sSup>
                        <m:r>
                          <a:rPr lang="en-US" b="0" i="1" dirty="0" smtClean="0">
                            <a:latin typeface="Cambria Math" panose="02040503050406030204" pitchFamily="18" charset="0"/>
                            <a:ea typeface="Cambria Math" panose="02040503050406030204" pitchFamily="18" charset="0"/>
                          </a:rPr>
                          <m:t>&lt;</m:t>
                        </m:r>
                        <m:r>
                          <a:rPr lang="en-US" b="0" i="0" dirty="0" smtClean="0">
                            <a:latin typeface="Cambria Math" panose="02040503050406030204" pitchFamily="18" charset="0"/>
                            <a:ea typeface="Cambria Math" panose="02040503050406030204" pitchFamily="18" charset="0"/>
                          </a:rPr>
                          <m:t>3.84= </m:t>
                        </m:r>
                        <m:r>
                          <m:rPr>
                            <m:sty m:val="p"/>
                          </m:rPr>
                          <a:rPr lang="en-US" b="0" i="0" dirty="0" smtClean="0">
                            <a:latin typeface="Cambria Math" panose="02040503050406030204" pitchFamily="18" charset="0"/>
                            <a:ea typeface="Cambria Math" panose="02040503050406030204" pitchFamily="18" charset="0"/>
                          </a:rPr>
                          <m:t>Χ</m:t>
                        </m:r>
                      </m:e>
                      <m:sub>
                        <m:r>
                          <a:rPr lang="en-US" b="0" i="1" dirty="0" smtClean="0">
                            <a:latin typeface="Cambria Math" panose="02040503050406030204" pitchFamily="18" charset="0"/>
                            <a:ea typeface="Cambria Math" panose="02040503050406030204" pitchFamily="18" charset="0"/>
                          </a:rPr>
                          <m:t>1,0.95</m:t>
                        </m:r>
                      </m:sub>
                      <m:sup>
                        <m:r>
                          <a:rPr lang="en-US" b="0" i="1" dirty="0" smtClean="0">
                            <a:latin typeface="Cambria Math" panose="02040503050406030204" pitchFamily="18" charset="0"/>
                            <a:ea typeface="Cambria Math" panose="02040503050406030204" pitchFamily="18" charset="0"/>
                          </a:rPr>
                          <m:t>2</m:t>
                        </m:r>
                      </m:sup>
                    </m:sSubSup>
                  </m:oMath>
                </a14:m>
                <a:r>
                  <a:rPr lang="en-US" b="0" dirty="0">
                    <a:ea typeface="Cambria Math" panose="02040503050406030204" pitchFamily="18" charset="0"/>
                  </a:rPr>
                  <a:t> , p-value = 0.54</a:t>
                </a:r>
              </a:p>
              <a:p>
                <a:pPr marL="0" indent="0">
                  <a:spcBef>
                    <a:spcPts val="600"/>
                  </a:spcBef>
                  <a:buNone/>
                </a:pPr>
                <a:r>
                  <a:rPr lang="en-US" dirty="0"/>
                  <a:t>so we fail to reject the null hypothesis at 5% significance level, and conclude that Weibull distribution is better than </a:t>
                </a:r>
                <a:r>
                  <a:rPr lang="en-US" dirty="0" err="1"/>
                  <a:t>generalised</a:t>
                </a:r>
                <a:r>
                  <a:rPr lang="en-US" dirty="0"/>
                  <a:t> gamma distribution</a:t>
                </a:r>
              </a:p>
              <a:p>
                <a:pPr marL="0" indent="0">
                  <a:spcBef>
                    <a:spcPts val="600"/>
                  </a:spcBef>
                  <a:buNone/>
                </a:pPr>
                <a:r>
                  <a:rPr lang="en-US" dirty="0"/>
                  <a:t>You can also use </a:t>
                </a:r>
                <a:r>
                  <a:rPr lang="en-US" dirty="0" err="1">
                    <a:latin typeface="Courier New" panose="02070309020205020404" pitchFamily="49" charset="0"/>
                    <a:cs typeface="Courier New" panose="02070309020205020404" pitchFamily="49" charset="0"/>
                  </a:rPr>
                  <a:t>lrtest</a:t>
                </a:r>
                <a:r>
                  <a:rPr lang="en-US" dirty="0">
                    <a:latin typeface="Courier New" panose="02070309020205020404" pitchFamily="49" charset="0"/>
                    <a:cs typeface="Courier New" panose="02070309020205020404" pitchFamily="49" charset="0"/>
                  </a:rPr>
                  <a:t> </a:t>
                </a:r>
                <a:r>
                  <a:rPr lang="en-US" dirty="0"/>
                  <a:t>function from </a:t>
                </a:r>
                <a:r>
                  <a:rPr lang="en-US" dirty="0" err="1">
                    <a:latin typeface="Courier New" panose="02070309020205020404" pitchFamily="49" charset="0"/>
                    <a:cs typeface="Courier New" panose="02070309020205020404" pitchFamily="49" charset="0"/>
                  </a:rPr>
                  <a:t>lmtest</a:t>
                </a:r>
                <a:r>
                  <a:rPr lang="en-US" dirty="0"/>
                  <a:t> package:</a:t>
                </a:r>
              </a:p>
              <a:p>
                <a:pPr marL="0" indent="0">
                  <a:buNone/>
                </a:pPr>
                <a:endParaRPr lang="en-US" dirty="0">
                  <a:latin typeface="Courier New" panose="02070309020205020404" pitchFamily="49" charset="0"/>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E07A949C-E7F5-7959-DF19-93534248CDF3}"/>
                  </a:ext>
                </a:extLst>
              </p:cNvPr>
              <p:cNvSpPr>
                <a:spLocks noGrp="1" noRot="1" noChangeAspect="1" noMove="1" noResize="1" noEditPoints="1" noAdjustHandles="1" noChangeArrowheads="1" noChangeShapeType="1" noTextEdit="1"/>
              </p:cNvSpPr>
              <p:nvPr>
                <p:ph idx="1"/>
              </p:nvPr>
            </p:nvSpPr>
            <p:spPr>
              <a:xfrm>
                <a:off x="750367" y="1673352"/>
                <a:ext cx="10691265" cy="3739896"/>
              </a:xfrm>
              <a:blipFill>
                <a:blip r:embed="rId3"/>
                <a:stretch>
                  <a:fillRect l="-57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D40FDA32-A36E-2047-BC98-203CA228E82E}"/>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CF528965-52FB-8A07-F62D-5CEAD2C4C482}"/>
              </a:ext>
            </a:extLst>
          </p:cNvPr>
          <p:cNvPicPr>
            <a:picLocks noChangeAspect="1"/>
          </p:cNvPicPr>
          <p:nvPr/>
        </p:nvPicPr>
        <p:blipFill>
          <a:blip r:embed="rId4"/>
          <a:stretch>
            <a:fillRect/>
          </a:stretch>
        </p:blipFill>
        <p:spPr>
          <a:xfrm>
            <a:off x="920855" y="3969778"/>
            <a:ext cx="4539727" cy="2057064"/>
          </a:xfrm>
          <a:prstGeom prst="rect">
            <a:avLst/>
          </a:prstGeom>
        </p:spPr>
      </p:pic>
      <p:pic>
        <p:nvPicPr>
          <p:cNvPr id="10" name="Picture 9">
            <a:extLst>
              <a:ext uri="{FF2B5EF4-FFF2-40B4-BE49-F238E27FC236}">
                <a16:creationId xmlns:a16="http://schemas.microsoft.com/office/drawing/2014/main" id="{381CF467-2574-6D9C-7D49-39AACCC596FB}"/>
              </a:ext>
            </a:extLst>
          </p:cNvPr>
          <p:cNvPicPr>
            <a:picLocks noChangeAspect="1"/>
          </p:cNvPicPr>
          <p:nvPr/>
        </p:nvPicPr>
        <p:blipFill>
          <a:blip r:embed="rId5"/>
          <a:stretch>
            <a:fillRect/>
          </a:stretch>
        </p:blipFill>
        <p:spPr>
          <a:xfrm>
            <a:off x="5757687" y="4005304"/>
            <a:ext cx="4379416" cy="1998213"/>
          </a:xfrm>
          <a:prstGeom prst="rect">
            <a:avLst/>
          </a:prstGeom>
        </p:spPr>
      </p:pic>
    </p:spTree>
    <p:extLst>
      <p:ext uri="{BB962C8B-B14F-4D97-AF65-F5344CB8AC3E}">
        <p14:creationId xmlns:p14="http://schemas.microsoft.com/office/powerpoint/2010/main" val="30312847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2DB6B-57D1-9BF4-B81B-B7B90788E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6B7ED-891E-D01B-87A7-219D68FE3830}"/>
              </a:ext>
            </a:extLst>
          </p:cNvPr>
          <p:cNvSpPr>
            <a:spLocks noGrp="1"/>
          </p:cNvSpPr>
          <p:nvPr>
            <p:ph type="title"/>
          </p:nvPr>
        </p:nvSpPr>
        <p:spPr/>
        <p:txBody>
          <a:bodyPr/>
          <a:lstStyle/>
          <a:p>
            <a:r>
              <a:rPr lang="en-US" dirty="0"/>
              <a:t>Model SELECTION – </a:t>
            </a:r>
            <a:r>
              <a:rPr lang="en-US" dirty="0" err="1"/>
              <a:t>aic</a:t>
            </a:r>
            <a:endParaRPr lang="en-AU" dirty="0"/>
          </a:p>
        </p:txBody>
      </p:sp>
      <p:sp>
        <p:nvSpPr>
          <p:cNvPr id="3" name="Content Placeholder 2">
            <a:extLst>
              <a:ext uri="{FF2B5EF4-FFF2-40B4-BE49-F238E27FC236}">
                <a16:creationId xmlns:a16="http://schemas.microsoft.com/office/drawing/2014/main" id="{0D49086F-2D1C-A4DD-749E-FA01168E3947}"/>
              </a:ext>
            </a:extLst>
          </p:cNvPr>
          <p:cNvSpPr>
            <a:spLocks noGrp="1"/>
          </p:cNvSpPr>
          <p:nvPr>
            <p:ph idx="1"/>
          </p:nvPr>
        </p:nvSpPr>
        <p:spPr>
          <a:xfrm>
            <a:off x="750367" y="2023689"/>
            <a:ext cx="10691265" cy="3739896"/>
          </a:xfrm>
        </p:spPr>
        <p:txBody>
          <a:bodyPr>
            <a:normAutofit/>
          </a:bodyPr>
          <a:lstStyle/>
          <a:p>
            <a:r>
              <a:rPr lang="en-US" dirty="0"/>
              <a:t>We can use AIC to compare the fit of all models at once</a:t>
            </a:r>
          </a:p>
        </p:txBody>
      </p:sp>
      <p:sp>
        <p:nvSpPr>
          <p:cNvPr id="4" name="Footer Placeholder 3">
            <a:extLst>
              <a:ext uri="{FF2B5EF4-FFF2-40B4-BE49-F238E27FC236}">
                <a16:creationId xmlns:a16="http://schemas.microsoft.com/office/drawing/2014/main" id="{9C38B5A8-8DD3-9759-0902-675739C7BCFC}"/>
              </a:ext>
            </a:extLst>
          </p:cNvPr>
          <p:cNvSpPr>
            <a:spLocks noGrp="1"/>
          </p:cNvSpPr>
          <p:nvPr>
            <p:ph type="ftr" sz="quarter" idx="11"/>
          </p:nvPr>
        </p:nvSpPr>
        <p:spPr/>
        <p:txBody>
          <a:bodyPr/>
          <a:lstStyle/>
          <a:p>
            <a:r>
              <a:rPr lang="en-US" dirty="0"/>
              <a:t>maarit.laaksonen@sydney.edu.au</a:t>
            </a:r>
          </a:p>
        </p:txBody>
      </p:sp>
      <p:pic>
        <p:nvPicPr>
          <p:cNvPr id="7" name="Picture 6">
            <a:extLst>
              <a:ext uri="{FF2B5EF4-FFF2-40B4-BE49-F238E27FC236}">
                <a16:creationId xmlns:a16="http://schemas.microsoft.com/office/drawing/2014/main" id="{1A6A35A7-BA33-7C67-3446-7281EB3C7F83}"/>
              </a:ext>
            </a:extLst>
          </p:cNvPr>
          <p:cNvPicPr>
            <a:picLocks noChangeAspect="1"/>
          </p:cNvPicPr>
          <p:nvPr/>
        </p:nvPicPr>
        <p:blipFill>
          <a:blip r:embed="rId3"/>
          <a:stretch>
            <a:fillRect/>
          </a:stretch>
        </p:blipFill>
        <p:spPr>
          <a:xfrm>
            <a:off x="1036296" y="2516030"/>
            <a:ext cx="7419171" cy="3427570"/>
          </a:xfrm>
          <a:prstGeom prst="rect">
            <a:avLst/>
          </a:prstGeom>
        </p:spPr>
      </p:pic>
    </p:spTree>
    <p:extLst>
      <p:ext uri="{BB962C8B-B14F-4D97-AF65-F5344CB8AC3E}">
        <p14:creationId xmlns:p14="http://schemas.microsoft.com/office/powerpoint/2010/main" val="26615050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D304-5359-588B-F786-52C0AAD0B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3E1B3-4539-8966-70C1-F0554745F23D}"/>
              </a:ext>
            </a:extLst>
          </p:cNvPr>
          <p:cNvSpPr>
            <a:spLocks noGrp="1"/>
          </p:cNvSpPr>
          <p:nvPr>
            <p:ph type="title"/>
          </p:nvPr>
        </p:nvSpPr>
        <p:spPr/>
        <p:txBody>
          <a:bodyPr/>
          <a:lstStyle/>
          <a:p>
            <a:r>
              <a:rPr lang="en-US" dirty="0"/>
              <a:t>Model SELECTION – Bic</a:t>
            </a:r>
            <a:endParaRPr lang="en-AU" dirty="0"/>
          </a:p>
        </p:txBody>
      </p:sp>
      <p:sp>
        <p:nvSpPr>
          <p:cNvPr id="3" name="Content Placeholder 2">
            <a:extLst>
              <a:ext uri="{FF2B5EF4-FFF2-40B4-BE49-F238E27FC236}">
                <a16:creationId xmlns:a16="http://schemas.microsoft.com/office/drawing/2014/main" id="{738B2FEE-33B9-E53C-EDD9-16BA9D6D50D6}"/>
              </a:ext>
            </a:extLst>
          </p:cNvPr>
          <p:cNvSpPr>
            <a:spLocks noGrp="1"/>
          </p:cNvSpPr>
          <p:nvPr>
            <p:ph idx="1"/>
          </p:nvPr>
        </p:nvSpPr>
        <p:spPr>
          <a:xfrm>
            <a:off x="750367" y="2023689"/>
            <a:ext cx="10691265" cy="3739896"/>
          </a:xfrm>
        </p:spPr>
        <p:txBody>
          <a:bodyPr>
            <a:normAutofit/>
          </a:bodyPr>
          <a:lstStyle/>
          <a:p>
            <a:r>
              <a:rPr lang="en-US" dirty="0"/>
              <a:t>We can also use BIC to compare the fit of the models:</a:t>
            </a:r>
          </a:p>
        </p:txBody>
      </p:sp>
      <p:sp>
        <p:nvSpPr>
          <p:cNvPr id="4" name="Footer Placeholder 3">
            <a:extLst>
              <a:ext uri="{FF2B5EF4-FFF2-40B4-BE49-F238E27FC236}">
                <a16:creationId xmlns:a16="http://schemas.microsoft.com/office/drawing/2014/main" id="{16CEAB51-B776-4C16-7EDB-F7F51DCEA9CE}"/>
              </a:ext>
            </a:extLst>
          </p:cNvPr>
          <p:cNvSpPr>
            <a:spLocks noGrp="1"/>
          </p:cNvSpPr>
          <p:nvPr>
            <p:ph type="ftr" sz="quarter" idx="11"/>
          </p:nvPr>
        </p:nvSpPr>
        <p:spPr/>
        <p:txBody>
          <a:bodyPr/>
          <a:lstStyle/>
          <a:p>
            <a:r>
              <a:rPr lang="en-US" dirty="0"/>
              <a:t>maarit.laaksonen@sydney.edu.au</a:t>
            </a:r>
          </a:p>
        </p:txBody>
      </p:sp>
      <p:pic>
        <p:nvPicPr>
          <p:cNvPr id="6" name="Picture 5">
            <a:extLst>
              <a:ext uri="{FF2B5EF4-FFF2-40B4-BE49-F238E27FC236}">
                <a16:creationId xmlns:a16="http://schemas.microsoft.com/office/drawing/2014/main" id="{1D13EDAB-14D2-875B-89B5-EB03799CBD49}"/>
              </a:ext>
            </a:extLst>
          </p:cNvPr>
          <p:cNvPicPr>
            <a:picLocks noChangeAspect="1"/>
          </p:cNvPicPr>
          <p:nvPr/>
        </p:nvPicPr>
        <p:blipFill>
          <a:blip r:embed="rId3"/>
          <a:stretch>
            <a:fillRect/>
          </a:stretch>
        </p:blipFill>
        <p:spPr>
          <a:xfrm>
            <a:off x="1052266" y="2474214"/>
            <a:ext cx="8638538" cy="3469386"/>
          </a:xfrm>
          <a:prstGeom prst="rect">
            <a:avLst/>
          </a:prstGeom>
        </p:spPr>
      </p:pic>
    </p:spTree>
    <p:extLst>
      <p:ext uri="{BB962C8B-B14F-4D97-AF65-F5344CB8AC3E}">
        <p14:creationId xmlns:p14="http://schemas.microsoft.com/office/powerpoint/2010/main" val="30311538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23E92-0AA1-4FBD-5F86-04A924CF2176}"/>
              </a:ext>
            </a:extLst>
          </p:cNvPr>
          <p:cNvSpPr>
            <a:spLocks noGrp="1"/>
          </p:cNvSpPr>
          <p:nvPr>
            <p:ph type="title"/>
          </p:nvPr>
        </p:nvSpPr>
        <p:spPr/>
        <p:txBody>
          <a:bodyPr/>
          <a:lstStyle/>
          <a:p>
            <a:r>
              <a:rPr lang="en-US" dirty="0"/>
              <a:t>Beyond standard parametric models</a:t>
            </a:r>
            <a:endParaRPr lang="en-AU" dirty="0"/>
          </a:p>
        </p:txBody>
      </p:sp>
      <p:sp>
        <p:nvSpPr>
          <p:cNvPr id="3" name="Content Placeholder 2">
            <a:extLst>
              <a:ext uri="{FF2B5EF4-FFF2-40B4-BE49-F238E27FC236}">
                <a16:creationId xmlns:a16="http://schemas.microsoft.com/office/drawing/2014/main" id="{845889E8-12EC-E2E8-995B-79FED5305D29}"/>
              </a:ext>
            </a:extLst>
          </p:cNvPr>
          <p:cNvSpPr>
            <a:spLocks noGrp="1"/>
          </p:cNvSpPr>
          <p:nvPr>
            <p:ph idx="1"/>
          </p:nvPr>
        </p:nvSpPr>
        <p:spPr/>
        <p:txBody>
          <a:bodyPr/>
          <a:lstStyle/>
          <a:p>
            <a:r>
              <a:rPr lang="en-US" dirty="0"/>
              <a:t>Standard parametric models are limited in that they impose a certain shape on hazard and survival functions</a:t>
            </a:r>
          </a:p>
          <a:p>
            <a:r>
              <a:rPr lang="en-US" dirty="0"/>
              <a:t>The standard parametric models covered in this presentation appeared sufficient for the simple data example</a:t>
            </a:r>
          </a:p>
          <a:p>
            <a:r>
              <a:rPr lang="en-US" dirty="0"/>
              <a:t>In many other real-world data examples, none of the standard parametric models may fit well to your data</a:t>
            </a:r>
            <a:endParaRPr lang="en-AU" dirty="0"/>
          </a:p>
          <a:p>
            <a:r>
              <a:rPr lang="en-AU" dirty="0"/>
              <a:t>That is when we turn to </a:t>
            </a:r>
            <a:r>
              <a:rPr lang="en-AU" b="1" dirty="0"/>
              <a:t>flexible parametric models</a:t>
            </a:r>
            <a:endParaRPr lang="en-US" b="1" dirty="0"/>
          </a:p>
        </p:txBody>
      </p:sp>
      <p:sp>
        <p:nvSpPr>
          <p:cNvPr id="4" name="Footer Placeholder 3">
            <a:extLst>
              <a:ext uri="{FF2B5EF4-FFF2-40B4-BE49-F238E27FC236}">
                <a16:creationId xmlns:a16="http://schemas.microsoft.com/office/drawing/2014/main" id="{4D16813A-A851-6A09-480A-F3A4618C89B6}"/>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11389943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8" name="Picture 7" descr="3D black question marks with one yellow question mark">
            <a:extLst>
              <a:ext uri="{FF2B5EF4-FFF2-40B4-BE49-F238E27FC236}">
                <a16:creationId xmlns:a16="http://schemas.microsoft.com/office/drawing/2014/main" id="{721E1AA8-6D93-F4CF-F806-160AC25DF323}"/>
              </a:ext>
            </a:extLst>
          </p:cNvPr>
          <p:cNvPicPr>
            <a:picLocks noChangeAspect="1"/>
          </p:cNvPicPr>
          <p:nvPr/>
        </p:nvPicPr>
        <p:blipFill>
          <a:blip r:embed="rId3"/>
          <a:srcRect l="28454" r="6658" b="1"/>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5" name="Title 4">
            <a:extLst>
              <a:ext uri="{FF2B5EF4-FFF2-40B4-BE49-F238E27FC236}">
                <a16:creationId xmlns:a16="http://schemas.microsoft.com/office/drawing/2014/main" id="{F2CF8A4D-553A-34C3-24FF-346005883243}"/>
              </a:ext>
            </a:extLst>
          </p:cNvPr>
          <p:cNvSpPr>
            <a:spLocks noGrp="1"/>
          </p:cNvSpPr>
          <p:nvPr>
            <p:ph type="title"/>
          </p:nvPr>
        </p:nvSpPr>
        <p:spPr>
          <a:xfrm>
            <a:off x="320040" y="5702710"/>
            <a:ext cx="7983068" cy="974347"/>
          </a:xfrm>
          <a:ln>
            <a:noFill/>
          </a:ln>
        </p:spPr>
        <p:txBody>
          <a:bodyPr vert="horz" lIns="91440" tIns="45720" rIns="91440" bIns="45720" rtlCol="0" anchor="ctr">
            <a:normAutofit/>
          </a:bodyPr>
          <a:lstStyle/>
          <a:p>
            <a:r>
              <a:rPr lang="en-US" sz="3600"/>
              <a:t>Any questions?</a:t>
            </a:r>
          </a:p>
        </p:txBody>
      </p:sp>
      <p:sp>
        <p:nvSpPr>
          <p:cNvPr id="6" name="Text Placeholder 5">
            <a:extLst>
              <a:ext uri="{FF2B5EF4-FFF2-40B4-BE49-F238E27FC236}">
                <a16:creationId xmlns:a16="http://schemas.microsoft.com/office/drawing/2014/main" id="{3619A029-F470-BDEF-2D18-8519A69CC137}"/>
              </a:ext>
            </a:extLst>
          </p:cNvPr>
          <p:cNvSpPr>
            <a:spLocks noGrp="1"/>
          </p:cNvSpPr>
          <p:nvPr>
            <p:ph type="body" idx="1"/>
          </p:nvPr>
        </p:nvSpPr>
        <p:spPr>
          <a:xfrm>
            <a:off x="8303108" y="5702710"/>
            <a:ext cx="3633535" cy="974347"/>
          </a:xfrm>
        </p:spPr>
        <p:txBody>
          <a:bodyPr vert="horz" lIns="91440" tIns="45720" rIns="91440" bIns="45720" rtlCol="0" anchor="ctr">
            <a:normAutofit/>
          </a:bodyPr>
          <a:lstStyle/>
          <a:p>
            <a:pPr algn="r"/>
            <a:endParaRPr lang="en-US" sz="1800">
              <a:solidFill>
                <a:schemeClr val="tx1"/>
              </a:solidFill>
            </a:endParaRPr>
          </a:p>
        </p:txBody>
      </p:sp>
      <p:sp>
        <p:nvSpPr>
          <p:cNvPr id="4" name="Footer Placeholder 3">
            <a:extLst>
              <a:ext uri="{FF2B5EF4-FFF2-40B4-BE49-F238E27FC236}">
                <a16:creationId xmlns:a16="http://schemas.microsoft.com/office/drawing/2014/main" id="{541C7FCB-BC41-CAA4-DE7F-C26249A014EC}"/>
              </a:ext>
            </a:extLst>
          </p:cNvPr>
          <p:cNvSpPr>
            <a:spLocks noGrp="1"/>
          </p:cNvSpPr>
          <p:nvPr>
            <p:ph type="ftr" sz="quarter" idx="11"/>
          </p:nvPr>
        </p:nvSpPr>
        <p:spPr>
          <a:xfrm>
            <a:off x="439272" y="182880"/>
            <a:ext cx="3079365" cy="365125"/>
          </a:xfrm>
        </p:spPr>
        <p:txBody>
          <a:bodyPr vert="horz" lIns="91440" tIns="45720" rIns="91440" bIns="45720" rtlCol="0" anchor="ctr">
            <a:normAutofit/>
          </a:bodyPr>
          <a:lstStyle/>
          <a:p>
            <a:pPr>
              <a:spcAft>
                <a:spcPts val="600"/>
              </a:spcAft>
            </a:pPr>
            <a:r>
              <a:rPr lang="en-US" kern="1200">
                <a:solidFill>
                  <a:srgbClr val="FFFFFF"/>
                </a:solidFill>
                <a:latin typeface="+mj-lt"/>
                <a:ea typeface="+mn-ea"/>
                <a:cs typeface="+mn-cs"/>
              </a:rPr>
              <a:t>Farzaneh.Boroumand@Sydney.edu.au</a:t>
            </a:r>
          </a:p>
        </p:txBody>
      </p:sp>
    </p:spTree>
    <p:extLst>
      <p:ext uri="{BB962C8B-B14F-4D97-AF65-F5344CB8AC3E}">
        <p14:creationId xmlns:p14="http://schemas.microsoft.com/office/powerpoint/2010/main" val="213937396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694B62C85BB0468228B1561B8B6144" ma:contentTypeVersion="10" ma:contentTypeDescription="Create a new document." ma:contentTypeScope="" ma:versionID="b87d74f3fc9d8ac7d261f90a3a435aaf">
  <xsd:schema xmlns:xsd="http://www.w3.org/2001/XMLSchema" xmlns:xs="http://www.w3.org/2001/XMLSchema" xmlns:p="http://schemas.microsoft.com/office/2006/metadata/properties" xmlns:ns2="e148f953-5c83-413e-8261-29f3d6ceccd1" xmlns:ns3="27e1a7db-20cf-4fcd-a242-f50c3d60dab7" targetNamespace="http://schemas.microsoft.com/office/2006/metadata/properties" ma:root="true" ma:fieldsID="1fbe19035635b9683302da697f378511" ns2:_="" ns3:_="">
    <xsd:import namespace="e148f953-5c83-413e-8261-29f3d6ceccd1"/>
    <xsd:import namespace="27e1a7db-20cf-4fcd-a242-f50c3d60dab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48f953-5c83-413e-8261-29f3d6cecc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492977-2dea-498c-99b4-1555f3d0d96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e1a7db-20cf-4fcd-a242-f50c3d60dab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7479d35-172f-463d-9eeb-bb5f7befd090}" ma:internalName="TaxCatchAll" ma:showField="CatchAllData" ma:web="27e1a7db-20cf-4fcd-a242-f50c3d60da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7e1a7db-20cf-4fcd-a242-f50c3d60dab7" xsi:nil="true"/>
    <lcf76f155ced4ddcb4097134ff3c332f xmlns="e148f953-5c83-413e-8261-29f3d6ceccd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834ECE4-0113-424E-9568-C65F867EF2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48f953-5c83-413e-8261-29f3d6ceccd1"/>
    <ds:schemaRef ds:uri="27e1a7db-20cf-4fcd-a242-f50c3d60da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03B2B4-6094-439F-8571-18BD93F5B466}">
  <ds:schemaRefs>
    <ds:schemaRef ds:uri="http://schemas.microsoft.com/sharepoint/v3/contenttype/forms"/>
  </ds:schemaRefs>
</ds:datastoreItem>
</file>

<file path=customXml/itemProps3.xml><?xml version="1.0" encoding="utf-8"?>
<ds:datastoreItem xmlns:ds="http://schemas.openxmlformats.org/officeDocument/2006/customXml" ds:itemID="{69C9A8AD-557A-4702-BC6A-F140127A014B}">
  <ds:schemaRefs>
    <ds:schemaRef ds:uri="http://purl.org/dc/elements/1.1/"/>
    <ds:schemaRef ds:uri="e148f953-5c83-413e-8261-29f3d6ceccd1"/>
    <ds:schemaRef ds:uri="http://schemas.microsoft.com/office/infopath/2007/PartnerControls"/>
    <ds:schemaRef ds:uri="http://schemas.microsoft.com/office/2006/metadata/properties"/>
    <ds:schemaRef ds:uri="http://purl.org/dc/dcmitype/"/>
    <ds:schemaRef ds:uri="http://schemas.openxmlformats.org/package/2006/metadata/core-properties"/>
    <ds:schemaRef ds:uri="http://schemas.microsoft.com/office/2006/documentManagement/types"/>
    <ds:schemaRef ds:uri="27e1a7db-20cf-4fcd-a242-f50c3d60dab7"/>
    <ds:schemaRef ds:uri="http://www.w3.org/XML/1998/namespace"/>
    <ds:schemaRef ds:uri="http://purl.org/dc/terms/"/>
  </ds:schemaRefs>
</ds:datastoreItem>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otalTime>25996</TotalTime>
  <Words>10892</Words>
  <Application>Microsoft Office PowerPoint</Application>
  <PresentationFormat>Widescreen</PresentationFormat>
  <Paragraphs>1052</Paragraphs>
  <Slides>105</Slides>
  <Notes>103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105</vt:i4>
      </vt:variant>
    </vt:vector>
  </HeadingPairs>
  <TitlesOfParts>
    <vt:vector size="113" baseType="lpstr">
      <vt:lpstr>Aptos</vt:lpstr>
      <vt:lpstr>Arial</vt:lpstr>
      <vt:lpstr>Calisto MT</vt:lpstr>
      <vt:lpstr>Cambria Math</vt:lpstr>
      <vt:lpstr>Courier New</vt:lpstr>
      <vt:lpstr>Univers Condensed</vt:lpstr>
      <vt:lpstr>Wingdings</vt:lpstr>
      <vt:lpstr>ChronicleVTI</vt:lpstr>
      <vt:lpstr>PowerPoint Presentation</vt:lpstr>
      <vt:lpstr>What is a parametric survival model?</vt:lpstr>
      <vt:lpstr>Why parametric survival models?</vt:lpstr>
      <vt:lpstr>Why parametric survival models?</vt:lpstr>
      <vt:lpstr>What Can We Model in Survival Analysis?</vt:lpstr>
      <vt:lpstr>What Can We Model in Survival Analysis?</vt:lpstr>
      <vt:lpstr>PowerPoint Presentation</vt:lpstr>
      <vt:lpstr>What is the link to survival?</vt:lpstr>
      <vt:lpstr>Common distributions</vt:lpstr>
      <vt:lpstr>Exponential distribution</vt:lpstr>
      <vt:lpstr>weibull distribution</vt:lpstr>
      <vt:lpstr>Weibull distribution – hazard function</vt:lpstr>
      <vt:lpstr>weibull distribution – survival function</vt:lpstr>
      <vt:lpstr>weibull distribution – probability density function</vt:lpstr>
      <vt:lpstr>Fitting a parametric survival model</vt:lpstr>
      <vt:lpstr>PowerPoint Presentation</vt:lpstr>
      <vt:lpstr>Modelling approaches</vt:lpstr>
      <vt:lpstr>Modelling approaches</vt:lpstr>
      <vt:lpstr>Modelling approaches – exponential model</vt:lpstr>
      <vt:lpstr>exponential ph model – r example</vt:lpstr>
      <vt:lpstr>exponential AFT model – r example</vt:lpstr>
      <vt:lpstr>Exponential model – R example</vt:lpstr>
      <vt:lpstr>Modelling approaches – weibull model</vt:lpstr>
      <vt:lpstr>weibull ph model – r example</vt:lpstr>
      <vt:lpstr>weibull AFT model – r example</vt:lpstr>
      <vt:lpstr>Model VALIDATION</vt:lpstr>
      <vt:lpstr>Model FIT – exponential model</vt:lpstr>
      <vt:lpstr>Model FIT – exponential and Weibull model</vt:lpstr>
      <vt:lpstr>Model validation</vt:lpstr>
      <vt:lpstr>Model FIT – exponential model</vt:lpstr>
      <vt:lpstr>Model validation</vt:lpstr>
      <vt:lpstr>Model FIT – weibull model</vt:lpstr>
      <vt:lpstr>Model FIT – weibull model</vt:lpstr>
      <vt:lpstr>Model VALIDATION</vt:lpstr>
      <vt:lpstr>Model FIT – exponential and Weibull model</vt:lpstr>
      <vt:lpstr>Model validation</vt:lpstr>
      <vt:lpstr>Aft Model FIT – exponential and Weibull model</vt:lpstr>
      <vt:lpstr>Model SELECTION – exponential vs weibull</vt:lpstr>
      <vt:lpstr>exponential ph model – r example</vt:lpstr>
      <vt:lpstr>exponential AFT model – r example</vt:lpstr>
      <vt:lpstr>weibull ph model – r example</vt:lpstr>
      <vt:lpstr>weibull AFT model – r example</vt:lpstr>
      <vt:lpstr>Model SELECTION – exponential vs weibull</vt:lpstr>
      <vt:lpstr>Model SELECTION – exponential vs weibull</vt:lpstr>
      <vt:lpstr>exponential ph model – r example</vt:lpstr>
      <vt:lpstr>exponential AFT model – r example</vt:lpstr>
      <vt:lpstr>weibull ph model – r example</vt:lpstr>
      <vt:lpstr>weibull AFT model – r example</vt:lpstr>
      <vt:lpstr>Log-logistic distribution</vt:lpstr>
      <vt:lpstr>Log-logistic distribution – hazard function</vt:lpstr>
      <vt:lpstr>Log-logistic distribution– survival function</vt:lpstr>
      <vt:lpstr>Log-logistic distribution– probability density function</vt:lpstr>
      <vt:lpstr>Modelling approaches – log-logistic model</vt:lpstr>
      <vt:lpstr>Log-logistic AFT model – r example</vt:lpstr>
      <vt:lpstr>Modelling approaches – log-logistic model</vt:lpstr>
      <vt:lpstr>Log-logistic po model – r example</vt:lpstr>
      <vt:lpstr>Model validation</vt:lpstr>
      <vt:lpstr>Model FIT – log-logistic model</vt:lpstr>
      <vt:lpstr>Model VALIDATION</vt:lpstr>
      <vt:lpstr>Model FIT – log-logistic model</vt:lpstr>
      <vt:lpstr>Model validation</vt:lpstr>
      <vt:lpstr>Aft Model FIT – log-logistic model</vt:lpstr>
      <vt:lpstr>Aft Model FIT – multiple models</vt:lpstr>
      <vt:lpstr>Model SELECTION – aic</vt:lpstr>
      <vt:lpstr>Log-normal distribution</vt:lpstr>
      <vt:lpstr>Log-normal distribution – hazard function</vt:lpstr>
      <vt:lpstr>Log-normal distribution – survival function</vt:lpstr>
      <vt:lpstr>Log-logistic distribution – probability density function</vt:lpstr>
      <vt:lpstr>Log-normal distribution – hazard function</vt:lpstr>
      <vt:lpstr>Modelling approaches – log-normal model</vt:lpstr>
      <vt:lpstr>Log-normal AFT model – r example</vt:lpstr>
      <vt:lpstr>Model validation</vt:lpstr>
      <vt:lpstr>Model FIT – log-normal model</vt:lpstr>
      <vt:lpstr>Model FIT – log-normal and log-logistic models</vt:lpstr>
      <vt:lpstr>Model VALIDATION</vt:lpstr>
      <vt:lpstr>Model FIT – log-normal model</vt:lpstr>
      <vt:lpstr>Model validation</vt:lpstr>
      <vt:lpstr>Aft Model FIT – log-normal model</vt:lpstr>
      <vt:lpstr>Aft Model FIT – multiple models</vt:lpstr>
      <vt:lpstr>Model SELECTION – aic</vt:lpstr>
      <vt:lpstr>gamma distribution</vt:lpstr>
      <vt:lpstr>Generalised gamma distribution</vt:lpstr>
      <vt:lpstr>Modelling approaches – gamma and generalised gamma model</vt:lpstr>
      <vt:lpstr>Generallised gamm distribution – hazard function</vt:lpstr>
      <vt:lpstr>Generalised gamma distribution – survival function</vt:lpstr>
      <vt:lpstr>Generalised gamma distribution – probability density function</vt:lpstr>
      <vt:lpstr>gammA AFT model – r example</vt:lpstr>
      <vt:lpstr>Generalised gammA AFT model – r example</vt:lpstr>
      <vt:lpstr>Model VALIDATIOn</vt:lpstr>
      <vt:lpstr>Model FIT – gamma and generalised gamma</vt:lpstr>
      <vt:lpstr>Model FIT – Weibull, gamma, generalised gamma</vt:lpstr>
      <vt:lpstr>Model VALIDATION</vt:lpstr>
      <vt:lpstr>Model FIT – gamma and generalized gamma </vt:lpstr>
      <vt:lpstr>Model VALIDATIOn</vt:lpstr>
      <vt:lpstr>Aft Model FIT – gamma model</vt:lpstr>
      <vt:lpstr>Aft Model FIT – Gamma and generalised gamma</vt:lpstr>
      <vt:lpstr>Model selection</vt:lpstr>
      <vt:lpstr>Model SELECTION – generalized gamma vs weibull</vt:lpstr>
      <vt:lpstr>weibull AFT model – r example</vt:lpstr>
      <vt:lpstr>Generalised gammA AFT model – r example</vt:lpstr>
      <vt:lpstr>Model SELECTION – generalised gamma vs. Weibull (and gamma)</vt:lpstr>
      <vt:lpstr>Model SELECTION – aic</vt:lpstr>
      <vt:lpstr>Model SELECTION – Bic</vt:lpstr>
      <vt:lpstr>Beyond standard parametric models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Farzaneh Boroumand</dc:creator>
  <cp:lastModifiedBy>Maarit Laaksonen</cp:lastModifiedBy>
  <cp:revision>298</cp:revision>
  <cp:lastPrinted>2026-02-19T05:36:52Z</cp:lastPrinted>
  <dcterms:created xsi:type="dcterms:W3CDTF">2025-03-26T05:12:06Z</dcterms:created>
  <dcterms:modified xsi:type="dcterms:W3CDTF">2026-02-26T05:37:17Z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0x010100C9694B62C85BB0468228B1561B8B6144</vt:lpwstr>
  </property>
</Properties>
</file>