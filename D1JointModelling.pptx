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7"/>
  </p:notesMasterIdLst>
  <p:sldIdLst>
    <p:sldId id="256" r:id="rId5"/>
    <p:sldId id="386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1BF8DC-587B-4AC1-8E0E-0AFE6CED06D2}" v="447" dt="2025-10-30T06:01:43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880" autoAdjust="0"/>
  </p:normalViewPr>
  <p:slideViewPr>
    <p:cSldViewPr snapToGrid="0">
      <p:cViewPr varScale="1">
        <p:scale>
          <a:sx n="98" d="100"/>
          <a:sy n="98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6681B-641D-4096-AA24-ECB3130B0DDB}" type="datetimeFigureOut">
              <a:rPr lang="en-AU" smtClean="0"/>
              <a:t>26/02/2026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1BF14-442A-4806-9528-3CAE044062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52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613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eGFR declines over time</a:t>
            </a:r>
            <a:br>
              <a:rPr lang="en-AU" dirty="0"/>
            </a:br>
            <a:r>
              <a:rPr lang="en-AU" dirty="0"/>
              <a:t>living donors have better eGFR</a:t>
            </a:r>
            <a:br>
              <a:rPr lang="en-AU" dirty="0"/>
            </a:br>
            <a:r>
              <a:rPr lang="en-AU" dirty="0"/>
              <a:t>older donor age → lower eGFR</a:t>
            </a:r>
            <a:br>
              <a:rPr lang="en-AU" dirty="0"/>
            </a:br>
            <a:r>
              <a:rPr lang="en-AU" dirty="0"/>
              <a:t>male recipients → lower eGFR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411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1BF14-442A-4806-9528-3CAE044062F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3647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07255-DA02-4530-9828-3BA6ED96C1C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75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61B4-C1BA-4ADF-8938-996090D0E67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Farzaneh.Boroumand@Sydney.edu.au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2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890F9-FBC5-4F12-8C1A-CD683D10173A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7677-CF8B-43CB-8FF1-87208B11E777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5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14F02-9106-4F69-8BAE-CFDA6DD342EB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0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91F09-08C8-411F-8F49-BC96DB8D2F04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6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E28E-C0FE-48C5-AD71-6AC36A33E79A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8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3BFC-3CDF-426F-8D4D-1621D25F610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AF84-2327-4C45-A2AF-6088E826580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1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846BF-BBDD-41F4-90BD-365E67260397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2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DE3D6-2707-4668-8E8F-345A14A0BA7D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5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6DA19E5A-9F18-4DF6-B1AD-BE9DBAA0BA3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9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E3450-CB0D-DFA7-6B63-B8B49F37D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9"/>
            <a:ext cx="5825448" cy="100565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Survivor Stats Society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E1C21-982A-FC98-8499-54401FCBC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1862" y="1595659"/>
            <a:ext cx="5322013" cy="1624689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Fourth session: </a:t>
            </a:r>
            <a:r>
              <a:rPr lang="en-AU" dirty="0"/>
              <a:t>Joint modelling: Cox model and </a:t>
            </a:r>
            <a:r>
              <a:rPr lang="en-AU"/>
              <a:t>linear mixed model</a:t>
            </a:r>
            <a:endParaRPr lang="en-AU" dirty="0"/>
          </a:p>
          <a:p>
            <a:endParaRPr lang="en-AU" dirty="0"/>
          </a:p>
          <a:p>
            <a:r>
              <a:rPr lang="en-AU" sz="1800" dirty="0"/>
              <a:t>Farzaneh Boroumand</a:t>
            </a:r>
          </a:p>
        </p:txBody>
      </p:sp>
      <p:pic>
        <p:nvPicPr>
          <p:cNvPr id="4" name="Picture 3" descr="Gradient pastel colors on a top view">
            <a:extLst>
              <a:ext uri="{FF2B5EF4-FFF2-40B4-BE49-F238E27FC236}">
                <a16:creationId xmlns:a16="http://schemas.microsoft.com/office/drawing/2014/main" id="{DE43E167-39D2-B9D0-F0F9-10C431DB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52" r="15781" b="-1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2B189-5082-4F0F-939F-9A3A398C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7935F9-A54C-C151-DEA4-F8C57612C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544" y="4239187"/>
            <a:ext cx="1310687" cy="128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ink circle with text and stairs&#10;&#10;AI-generated content may be incorrect.">
            <a:extLst>
              <a:ext uri="{FF2B5EF4-FFF2-40B4-BE49-F238E27FC236}">
                <a16:creationId xmlns:a16="http://schemas.microsoft.com/office/drawing/2014/main" id="{B5B944FA-D8BF-C283-7982-FFDA98C85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29" y="4147190"/>
            <a:ext cx="1624693" cy="162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74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2BDD-A88C-F1CC-954A-8B71771EE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Motivation for A joint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0A122-8D3D-F994-4B19-9C62B9830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Extended Cox models treat the time-varying covariate as if it were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“external”!</a:t>
            </a:r>
          </a:p>
          <a:p>
            <a:pPr marL="0" indent="0">
              <a:buNone/>
            </a:pPr>
            <a:r>
              <a:rPr lang="en-US" dirty="0"/>
              <a:t>But eGFR is often an </a:t>
            </a:r>
            <a:r>
              <a:rPr lang="en-US" b="1" dirty="0"/>
              <a:t>internal covariate</a:t>
            </a:r>
            <a:r>
              <a:rPr lang="en-US" dirty="0"/>
              <a:t>, meaning:</a:t>
            </a:r>
          </a:p>
          <a:p>
            <a:pPr lvl="1"/>
            <a:r>
              <a:rPr lang="en-US" dirty="0"/>
              <a:t>It is influenced by the underlying health of the graft</a:t>
            </a:r>
          </a:p>
          <a:p>
            <a:pPr lvl="1"/>
            <a:r>
              <a:rPr lang="en-US" dirty="0"/>
              <a:t>It may change </a:t>
            </a:r>
            <a:r>
              <a:rPr lang="en-US" i="1" dirty="0"/>
              <a:t>because the graft is failing</a:t>
            </a:r>
            <a:endParaRPr lang="en-US" dirty="0"/>
          </a:p>
          <a:p>
            <a:pPr lvl="1"/>
            <a:r>
              <a:rPr lang="en-US" dirty="0"/>
              <a:t>It may be measured more often when the patient is failing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This creates feedback loops that extended Cox models cannot handle!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CD4FA-DAF6-50E4-6DB8-ED4E1BA8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42C0333B-9016-67FA-467A-B5538602F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2788" y="4439874"/>
            <a:ext cx="1180011" cy="118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4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49F5-4C3F-5705-BF17-8DFE3425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Motivation for A joint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EA76-701D-3913-CB42-33D4DF973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Graft function ↓ </a:t>
            </a:r>
            <a:r>
              <a:rPr lang="en-US" dirty="0"/>
              <a:t>→                more tests   →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lower eGFR measurements       </a:t>
            </a:r>
          </a:p>
          <a:p>
            <a:pPr marL="0" indent="0" algn="ctr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/>
              <a:t>→ appears riskier →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exaggerates effect.</a:t>
            </a:r>
            <a:endParaRPr lang="en-A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4ECC3-FEA7-053D-FD38-179EB9BE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pic>
        <p:nvPicPr>
          <p:cNvPr id="6" name="Graphic 5" descr="Scientist female outline">
            <a:extLst>
              <a:ext uri="{FF2B5EF4-FFF2-40B4-BE49-F238E27FC236}">
                <a16:creationId xmlns:a16="http://schemas.microsoft.com/office/drawing/2014/main" id="{4DE6E96A-E92A-394F-3965-A3E296A2B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7397" y="1925429"/>
            <a:ext cx="914400" cy="914400"/>
          </a:xfrm>
          <a:prstGeom prst="rect">
            <a:avLst/>
          </a:prstGeom>
        </p:spPr>
      </p:pic>
      <p:pic>
        <p:nvPicPr>
          <p:cNvPr id="7" name="Graphic 6" descr="Beaker with solid fill">
            <a:extLst>
              <a:ext uri="{FF2B5EF4-FFF2-40B4-BE49-F238E27FC236}">
                <a16:creationId xmlns:a16="http://schemas.microsoft.com/office/drawing/2014/main" id="{1B475BD3-4158-5619-6729-11BC96BC9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8980" y="2028625"/>
            <a:ext cx="590443" cy="59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9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3739-0697-124F-65CE-E741D04FE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136525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Joint models: link the longitudinal and the survival process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3F7F4-EC5E-D1EB-D2A9-9D3AB416A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0F9CE1-6B1D-0E6E-6F4F-386545AB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203" y="1022961"/>
            <a:ext cx="3561093" cy="2435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5AE7AD-0242-F142-35E9-2175CCABD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04" y="1444117"/>
            <a:ext cx="3146376" cy="21515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9047F3-B778-FCD7-A2C1-402D6104D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04" y="3619071"/>
            <a:ext cx="3503196" cy="22450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CED9FD-69D5-BEF7-FE16-FCD8E88C0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538" y="3429000"/>
            <a:ext cx="3561094" cy="24351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105E15-4E86-72E1-9B59-3DAA8A1E7109}"/>
              </a:ext>
            </a:extLst>
          </p:cNvPr>
          <p:cNvSpPr txBox="1"/>
          <p:nvPr/>
        </p:nvSpPr>
        <p:spPr>
          <a:xfrm>
            <a:off x="4861200" y="2867298"/>
            <a:ext cx="2227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🔗 </a:t>
            </a:r>
            <a:r>
              <a:rPr lang="en-US" b="1" dirty="0"/>
              <a:t>Shared random effects</a:t>
            </a:r>
            <a:r>
              <a:rPr lang="en-US" dirty="0"/>
              <a:t> linking the two processes.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3437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132C-BA49-6998-3353-C8248087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Joint Models Solve?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1F1F6-AD37-F211-0FF4-672FF78E6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allow eGFR to be an internal time-varying covariate</a:t>
            </a:r>
          </a:p>
          <a:p>
            <a:r>
              <a:rPr lang="en-US" dirty="0"/>
              <a:t>They account for correlations between eGFR and risk of graft failure</a:t>
            </a:r>
          </a:p>
          <a:p>
            <a:r>
              <a:rPr lang="en-US" dirty="0"/>
              <a:t>They handle varying measurement times</a:t>
            </a:r>
          </a:p>
          <a:p>
            <a:r>
              <a:rPr lang="en-US" dirty="0"/>
              <a:t>They reduce bias caused by feedback loops</a:t>
            </a:r>
          </a:p>
          <a:p>
            <a:r>
              <a:rPr lang="en-US" dirty="0"/>
              <a:t>They improve prediction of graft loss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7EC23-C831-F59F-974A-80BFF8AE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pic>
        <p:nvPicPr>
          <p:cNvPr id="7" name="Graphic 6" descr="Shield Tick with solid fill">
            <a:extLst>
              <a:ext uri="{FF2B5EF4-FFF2-40B4-BE49-F238E27FC236}">
                <a16:creationId xmlns:a16="http://schemas.microsoft.com/office/drawing/2014/main" id="{392817E8-6513-59F4-75B2-49026B448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4405" y="1774371"/>
            <a:ext cx="1654629" cy="165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2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2BBE-B84A-F6A3-E98C-2525ECB9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Fit a joint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FBBB74-D0F7-7ABF-1DA8-99FAA5289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100" y="1974305"/>
            <a:ext cx="4230010" cy="37401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93C69-B54E-C4D3-1073-2A3CCC6AC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0E70E4-224D-5256-5E70-06F8E09B0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016" y="0"/>
            <a:ext cx="5869984" cy="68580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38694FC-121F-CDD6-B000-A6A1E7FEB27C}"/>
              </a:ext>
            </a:extLst>
          </p:cNvPr>
          <p:cNvSpPr/>
          <p:nvPr/>
        </p:nvSpPr>
        <p:spPr>
          <a:xfrm>
            <a:off x="5342709" y="3507377"/>
            <a:ext cx="685800" cy="790303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974040-585C-5509-A3FD-376CCEF69454}"/>
              </a:ext>
            </a:extLst>
          </p:cNvPr>
          <p:cNvSpPr/>
          <p:nvPr/>
        </p:nvSpPr>
        <p:spPr>
          <a:xfrm>
            <a:off x="6322016" y="3063240"/>
            <a:ext cx="4696504" cy="118218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4D6A4-C3A6-F542-B3AC-117E58C815CF}"/>
              </a:ext>
            </a:extLst>
          </p:cNvPr>
          <p:cNvSpPr/>
          <p:nvPr/>
        </p:nvSpPr>
        <p:spPr>
          <a:xfrm>
            <a:off x="6341107" y="4297680"/>
            <a:ext cx="5239115" cy="141677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972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808E-6AF2-FB99-DA20-708EDDF8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29683-10BF-CAF1-7B7E-F1A21BE5A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26327"/>
            <a:ext cx="10691265" cy="4335562"/>
          </a:xfrm>
        </p:spPr>
        <p:txBody>
          <a:bodyPr/>
          <a:lstStyle/>
          <a:p>
            <a:r>
              <a:rPr lang="en-AU" dirty="0"/>
              <a:t>Longitudinal Model — eGFR Trajectories</a:t>
            </a:r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68865-9C84-5EBB-422C-43F99E72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411F28-00BC-C86E-FA81-0630B7207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65055"/>
              </p:ext>
            </p:extLst>
          </p:nvPr>
        </p:nvGraphicFramePr>
        <p:xfrm>
          <a:off x="894806" y="2221866"/>
          <a:ext cx="9640389" cy="37495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679112">
                  <a:extLst>
                    <a:ext uri="{9D8B030D-6E8A-4147-A177-3AD203B41FA5}">
                      <a16:colId xmlns:a16="http://schemas.microsoft.com/office/drawing/2014/main" val="2357017511"/>
                    </a:ext>
                  </a:extLst>
                </a:gridCol>
                <a:gridCol w="887645">
                  <a:extLst>
                    <a:ext uri="{9D8B030D-6E8A-4147-A177-3AD203B41FA5}">
                      <a16:colId xmlns:a16="http://schemas.microsoft.com/office/drawing/2014/main" val="32804761"/>
                    </a:ext>
                  </a:extLst>
                </a:gridCol>
                <a:gridCol w="7073632">
                  <a:extLst>
                    <a:ext uri="{9D8B030D-6E8A-4147-A177-3AD203B41FA5}">
                      <a16:colId xmlns:a16="http://schemas.microsoft.com/office/drawing/2014/main" val="2663417306"/>
                    </a:ext>
                  </a:extLst>
                </a:gridCol>
              </a:tblGrid>
              <a:tr h="27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Parameter</a:t>
                      </a:r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Estimate</a:t>
                      </a:r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Interpretation</a:t>
                      </a:r>
                    </a:p>
                  </a:txBody>
                  <a:tcPr marL="68003" marR="68003" marT="34001" marB="34001" anchor="ctr"/>
                </a:tc>
                <a:extLst>
                  <a:ext uri="{0D108BD9-81ED-4DB2-BD59-A6C34878D82A}">
                    <a16:rowId xmlns:a16="http://schemas.microsoft.com/office/drawing/2014/main" val="1033380909"/>
                  </a:ext>
                </a:extLst>
              </a:tr>
              <a:tr h="680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Intercept </a:t>
                      </a:r>
                      <a:endParaRPr lang="en-AU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56.6</a:t>
                      </a:r>
                      <a:endParaRPr lang="en-US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Mean eGFR at transplant time for reference group (deceased donor, female, donor age 50).</a:t>
                      </a:r>
                    </a:p>
                  </a:txBody>
                  <a:tcPr marL="68003" marR="68003" marT="34001" marB="34001" anchor="ctr"/>
                </a:tc>
                <a:extLst>
                  <a:ext uri="{0D108BD9-81ED-4DB2-BD59-A6C34878D82A}">
                    <a16:rowId xmlns:a16="http://schemas.microsoft.com/office/drawing/2014/main" val="3680429368"/>
                  </a:ext>
                </a:extLst>
              </a:tr>
              <a:tr h="47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time </a:t>
                      </a:r>
                      <a:endParaRPr lang="en-AU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–2.42</a:t>
                      </a:r>
                      <a:endParaRPr lang="en-US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eGFR </a:t>
                      </a:r>
                      <a:r>
                        <a:rPr lang="en-US" sz="1400" b="1" dirty="0"/>
                        <a:t>declines by ~2.4 mL/min per year</a:t>
                      </a:r>
                      <a:r>
                        <a:rPr lang="en-US" sz="1400" dirty="0"/>
                        <a:t> on average (p &lt; 0.001).</a:t>
                      </a:r>
                    </a:p>
                  </a:txBody>
                  <a:tcPr marL="68003" marR="68003" marT="34001" marB="34001" anchor="ctr"/>
                </a:tc>
                <a:extLst>
                  <a:ext uri="{0D108BD9-81ED-4DB2-BD59-A6C34878D82A}">
                    <a16:rowId xmlns:a16="http://schemas.microsoft.com/office/drawing/2014/main" val="1594288531"/>
                  </a:ext>
                </a:extLst>
              </a:tr>
              <a:tr h="680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 err="1"/>
                        <a:t>donor_type</a:t>
                      </a:r>
                      <a:r>
                        <a:rPr lang="en-AU" sz="1400" b="1" dirty="0"/>
                        <a:t> </a:t>
                      </a:r>
                      <a:endParaRPr lang="en-AU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+4.0</a:t>
                      </a:r>
                      <a:endParaRPr lang="en-US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Living donor kidneys start with ~4 mL/min higher eGFR</a:t>
                      </a:r>
                      <a:r>
                        <a:rPr lang="en-US" sz="1400" dirty="0"/>
                        <a:t> and maintain better function over time.</a:t>
                      </a:r>
                    </a:p>
                  </a:txBody>
                  <a:tcPr marL="68003" marR="68003" marT="34001" marB="34001" anchor="ctr"/>
                </a:tc>
                <a:extLst>
                  <a:ext uri="{0D108BD9-81ED-4DB2-BD59-A6C34878D82A}">
                    <a16:rowId xmlns:a16="http://schemas.microsoft.com/office/drawing/2014/main" val="4280669086"/>
                  </a:ext>
                </a:extLst>
              </a:tr>
              <a:tr h="47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 err="1"/>
                        <a:t>recip_male</a:t>
                      </a:r>
                      <a:r>
                        <a:rPr lang="en-AU" sz="1400" b="1" dirty="0"/>
                        <a:t> </a:t>
                      </a:r>
                      <a:endParaRPr lang="en-AU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–3.84</a:t>
                      </a:r>
                      <a:endParaRPr lang="en-US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Male recipients have </a:t>
                      </a:r>
                      <a:r>
                        <a:rPr lang="en-US" sz="1400" b="1" dirty="0"/>
                        <a:t>lower eGFR</a:t>
                      </a:r>
                      <a:r>
                        <a:rPr lang="en-US" sz="1400" dirty="0"/>
                        <a:t> by ~3.8 units.</a:t>
                      </a:r>
                    </a:p>
                  </a:txBody>
                  <a:tcPr marL="68003" marR="68003" marT="34001" marB="34001" anchor="ctr"/>
                </a:tc>
                <a:extLst>
                  <a:ext uri="{0D108BD9-81ED-4DB2-BD59-A6C34878D82A}">
                    <a16:rowId xmlns:a16="http://schemas.microsoft.com/office/drawing/2014/main" val="1013789443"/>
                  </a:ext>
                </a:extLst>
              </a:tr>
              <a:tr h="680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 err="1"/>
                        <a:t>donor_age_c</a:t>
                      </a:r>
                      <a:r>
                        <a:rPr lang="en-AU" sz="1400" b="1" dirty="0"/>
                        <a:t> </a:t>
                      </a:r>
                      <a:endParaRPr lang="en-AU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–2.36</a:t>
                      </a:r>
                      <a:endParaRPr lang="en-US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For each 10 years older donor (relative to age 50), eGFR is </a:t>
                      </a:r>
                      <a:r>
                        <a:rPr lang="en-US" sz="1400" b="1" dirty="0"/>
                        <a:t>~2.4 units lower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68003" marR="68003" marT="34001" marB="34001" anchor="ctr"/>
                </a:tc>
                <a:extLst>
                  <a:ext uri="{0D108BD9-81ED-4DB2-BD59-A6C34878D82A}">
                    <a16:rowId xmlns:a16="http://schemas.microsoft.com/office/drawing/2014/main" val="869295720"/>
                  </a:ext>
                </a:extLst>
              </a:tr>
              <a:tr h="47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sigma </a:t>
                      </a:r>
                      <a:endParaRPr lang="en-AU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4.74</a:t>
                      </a:r>
                      <a:endParaRPr lang="en-US" sz="1400" dirty="0"/>
                    </a:p>
                  </a:txBody>
                  <a:tcPr marL="68003" marR="68003" marT="34001" marB="340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Residual SD (variability in eGFR not explained by model).</a:t>
                      </a:r>
                    </a:p>
                  </a:txBody>
                  <a:tcPr marL="68003" marR="68003" marT="34001" marB="34001" anchor="ctr"/>
                </a:tc>
                <a:extLst>
                  <a:ext uri="{0D108BD9-81ED-4DB2-BD59-A6C34878D82A}">
                    <a16:rowId xmlns:a16="http://schemas.microsoft.com/office/drawing/2014/main" val="353307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64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3975-A397-DF95-C69E-086E8410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38E86-9AA9-A337-C7EE-288AD910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91640"/>
            <a:ext cx="10691265" cy="4270248"/>
          </a:xfrm>
        </p:spPr>
        <p:txBody>
          <a:bodyPr/>
          <a:lstStyle/>
          <a:p>
            <a:r>
              <a:rPr lang="en-US" dirty="0"/>
              <a:t>Survival Model — Risk of Graft Failure</a:t>
            </a:r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45BA1-D821-0AA0-0DE3-0F7714A9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49BFC8-B706-668F-1ED3-77A57665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812436"/>
              </p:ext>
            </p:extLst>
          </p:nvPr>
        </p:nvGraphicFramePr>
        <p:xfrm>
          <a:off x="799555" y="2413998"/>
          <a:ext cx="9833612" cy="292608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410559">
                  <a:extLst>
                    <a:ext uri="{9D8B030D-6E8A-4147-A177-3AD203B41FA5}">
                      <a16:colId xmlns:a16="http://schemas.microsoft.com/office/drawing/2014/main" val="1010212613"/>
                    </a:ext>
                  </a:extLst>
                </a:gridCol>
                <a:gridCol w="1279527">
                  <a:extLst>
                    <a:ext uri="{9D8B030D-6E8A-4147-A177-3AD203B41FA5}">
                      <a16:colId xmlns:a16="http://schemas.microsoft.com/office/drawing/2014/main" val="982293500"/>
                    </a:ext>
                  </a:extLst>
                </a:gridCol>
                <a:gridCol w="7143526">
                  <a:extLst>
                    <a:ext uri="{9D8B030D-6E8A-4147-A177-3AD203B41FA5}">
                      <a16:colId xmlns:a16="http://schemas.microsoft.com/office/drawing/2014/main" val="3380045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Covariate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Estimate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161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 err="1"/>
                        <a:t>donor_type</a:t>
                      </a:r>
                      <a:r>
                        <a:rPr lang="en-AU" b="1" dirty="0"/>
                        <a:t> 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–0.135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Living donors have </a:t>
                      </a:r>
                      <a:r>
                        <a:rPr lang="en-US" b="1" dirty="0"/>
                        <a:t>slightly lower hazard</a:t>
                      </a:r>
                      <a:r>
                        <a:rPr lang="en-US" dirty="0"/>
                        <a:t>, but effect is small and </a:t>
                      </a:r>
                      <a:r>
                        <a:rPr lang="en-US" b="1" dirty="0"/>
                        <a:t>not statistically meaningful</a:t>
                      </a:r>
                      <a:r>
                        <a:rPr lang="en-US" dirty="0"/>
                        <a:t>.</a:t>
                      </a:r>
                    </a:p>
                    <a:p>
                      <a:pPr>
                        <a:buNone/>
                      </a:pPr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904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 err="1"/>
                        <a:t>recip_male</a:t>
                      </a:r>
                      <a:r>
                        <a:rPr lang="en-AU" b="1" dirty="0"/>
                        <a:t> 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+0.012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real difference in hazard for male recipients.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452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 err="1"/>
                        <a:t>donor_age_c</a:t>
                      </a:r>
                      <a:r>
                        <a:rPr lang="en-AU" b="1" dirty="0"/>
                        <a:t> 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–0.024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Donor age has </a:t>
                      </a:r>
                      <a:r>
                        <a:rPr lang="en-US" b="1" dirty="0"/>
                        <a:t>no clear effect</a:t>
                      </a:r>
                      <a:r>
                        <a:rPr lang="en-US" dirty="0"/>
                        <a:t> on hazard after adjusting for eGFR.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25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value(</a:t>
                      </a:r>
                      <a:r>
                        <a:rPr lang="en-AU" b="1" dirty="0" err="1"/>
                        <a:t>egfr</a:t>
                      </a:r>
                      <a:r>
                        <a:rPr lang="en-AU" b="1" dirty="0"/>
                        <a:t>) 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–0.0053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</a:t>
                      </a:r>
                      <a:r>
                        <a:rPr lang="en-US" b="1" dirty="0"/>
                        <a:t>current value of eGFR</a:t>
                      </a:r>
                      <a:r>
                        <a:rPr lang="en-US" dirty="0"/>
                        <a:t> is associated with lower hazard, but effect is small and </a:t>
                      </a:r>
                      <a:r>
                        <a:rPr lang="en-US" b="1" dirty="0"/>
                        <a:t>not significant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63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00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E328-E5DE-E734-BF30-190113D1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DAE8-58EC-7953-E5F5-19697A2DA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46366"/>
            <a:ext cx="10691265" cy="4015522"/>
          </a:xfrm>
        </p:spPr>
        <p:txBody>
          <a:bodyPr>
            <a:normAutofit/>
          </a:bodyPr>
          <a:lstStyle/>
          <a:p>
            <a:r>
              <a:rPr lang="en-US" dirty="0"/>
              <a:t>The Association Parameter (value(</a:t>
            </a:r>
            <a:r>
              <a:rPr lang="en-US" dirty="0" err="1"/>
              <a:t>egfr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b="1" dirty="0"/>
              <a:t>value(</a:t>
            </a:r>
            <a:r>
              <a:rPr lang="en-US" b="1" dirty="0" err="1"/>
              <a:t>egfr</a:t>
            </a:r>
            <a:r>
              <a:rPr lang="en-US" b="1" dirty="0"/>
              <a:t>) = –0.0053</a:t>
            </a:r>
            <a:endParaRPr lang="en-US" dirty="0"/>
          </a:p>
          <a:p>
            <a:r>
              <a:rPr lang="en-US" dirty="0"/>
              <a:t>Interpretation:</a:t>
            </a:r>
          </a:p>
          <a:p>
            <a:pPr marL="0" indent="0">
              <a:buNone/>
            </a:pPr>
            <a:r>
              <a:rPr lang="en-US" dirty="0"/>
              <a:t>Holding all else constant, each 1 mL/min </a:t>
            </a:r>
            <a:r>
              <a:rPr lang="en-US" i="1" dirty="0"/>
              <a:t>higher</a:t>
            </a:r>
            <a:r>
              <a:rPr lang="en-US" dirty="0"/>
              <a:t> eGFR is associated with a ~0.5% </a:t>
            </a:r>
            <a:r>
              <a:rPr lang="en-US" b="1" dirty="0"/>
              <a:t>lower</a:t>
            </a:r>
            <a:r>
              <a:rPr lang="en-US" dirty="0"/>
              <a:t> hazard of graft failure.</a:t>
            </a:r>
          </a:p>
          <a:p>
            <a:pPr marL="0" indent="0">
              <a:buNone/>
            </a:pPr>
            <a:r>
              <a:rPr lang="en-US" dirty="0"/>
              <a:t>Or:</a:t>
            </a:r>
          </a:p>
          <a:p>
            <a:pPr marL="0" indent="0">
              <a:buNone/>
            </a:pPr>
            <a:r>
              <a:rPr lang="en-US" dirty="0"/>
              <a:t>For a 10-unit decrease in eGFR, the hazard increases by ~5%.</a:t>
            </a:r>
          </a:p>
          <a:p>
            <a:pPr marL="0" indent="0">
              <a:buNone/>
            </a:pPr>
            <a:r>
              <a:rPr lang="en-US" dirty="0"/>
              <a:t>But because: 95% CI includes 0 and p ≈ 0.47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9B88B-BEBB-47CB-6BEA-476B713C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27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180C-321A-4132-5344-B07B1D00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0A05-45FC-B48C-D3EF-799BD8ED6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joint model, eGFR declines over time and is strongly influenced by donor type, donor age, and recipient sex.</a:t>
            </a:r>
          </a:p>
          <a:p>
            <a:r>
              <a:rPr lang="en-US" dirty="0"/>
              <a:t>The association between current eGFR and graft failure hazard is negative—as expected—but small and not strongly supported by the data.</a:t>
            </a:r>
          </a:p>
          <a:p>
            <a:r>
              <a:rPr lang="en-US" dirty="0"/>
              <a:t>Random effects reveal substantial between-patient heterogeneity in baseline eGFR and rate of decline.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B1864-E364-7928-C284-71410E5C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72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5A5C-23D5-7A26-35A3-A812C1C3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Prediction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EEBFE-1D2B-2369-2BBA-556120C7A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3825645" cy="3739896"/>
          </a:xfrm>
        </p:spPr>
        <p:txBody>
          <a:bodyPr/>
          <a:lstStyle/>
          <a:p>
            <a:r>
              <a:rPr lang="en-US" dirty="0"/>
              <a:t>Observed eGFR values (black points)</a:t>
            </a:r>
          </a:p>
          <a:p>
            <a:r>
              <a:rPr lang="en-US" dirty="0"/>
              <a:t>Fitted eGFR trajectory from the longitudinal mixed model (blue line)</a:t>
            </a:r>
          </a:p>
          <a:p>
            <a:r>
              <a:rPr lang="en-US" dirty="0"/>
              <a:t>95% posterior credible interval for the predicted trajectory (light blue shading)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F7373-1621-89C9-0637-E6948B23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8842A3-BAF3-85A6-6F06-2A3DFCD36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136" y="1548620"/>
            <a:ext cx="6304190" cy="424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59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8" name="Picture 7" descr="3D black question marks with one yellow question mark">
            <a:extLst>
              <a:ext uri="{FF2B5EF4-FFF2-40B4-BE49-F238E27FC236}">
                <a16:creationId xmlns:a16="http://schemas.microsoft.com/office/drawing/2014/main" id="{721E1AA8-6D93-F4CF-F806-160AC25DF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54" r="6658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CF8A4D-553A-34C3-24FF-34600588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Any questions?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19A029-F470-BDEF-2D18-8519A69C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3108" y="5702710"/>
            <a:ext cx="3633535" cy="9743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C7FCB-BC41-CAA4-DE7F-C26249A0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9272" y="182880"/>
            <a:ext cx="307936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j-lt"/>
                <a:ea typeface="+mn-ea"/>
                <a:cs typeface="+mn-cs"/>
              </a:rPr>
              <a:t>Farzaneh.Boroumand@Sydney.edu.au</a:t>
            </a:r>
          </a:p>
        </p:txBody>
      </p:sp>
    </p:spTree>
    <p:extLst>
      <p:ext uri="{BB962C8B-B14F-4D97-AF65-F5344CB8AC3E}">
        <p14:creationId xmlns:p14="http://schemas.microsoft.com/office/powerpoint/2010/main" val="213937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e1a7db-20cf-4fcd-a242-f50c3d60dab7" xsi:nil="true"/>
    <lcf76f155ced4ddcb4097134ff3c332f xmlns="e148f953-5c83-413e-8261-29f3d6ceccd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694B62C85BB0468228B1561B8B6144" ma:contentTypeVersion="10" ma:contentTypeDescription="Create a new document." ma:contentTypeScope="" ma:versionID="b87d74f3fc9d8ac7d261f90a3a435aaf">
  <xsd:schema xmlns:xsd="http://www.w3.org/2001/XMLSchema" xmlns:xs="http://www.w3.org/2001/XMLSchema" xmlns:p="http://schemas.microsoft.com/office/2006/metadata/properties" xmlns:ns2="e148f953-5c83-413e-8261-29f3d6ceccd1" xmlns:ns3="27e1a7db-20cf-4fcd-a242-f50c3d60dab7" targetNamespace="http://schemas.microsoft.com/office/2006/metadata/properties" ma:root="true" ma:fieldsID="1fbe19035635b9683302da697f378511" ns2:_="" ns3:_="">
    <xsd:import namespace="e148f953-5c83-413e-8261-29f3d6ceccd1"/>
    <xsd:import namespace="27e1a7db-20cf-4fcd-a242-f50c3d60da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48f953-5c83-413e-8261-29f3d6cecc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1a7db-20cf-4fcd-a242-f50c3d60dab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7479d35-172f-463d-9eeb-bb5f7befd090}" ma:internalName="TaxCatchAll" ma:showField="CatchAllData" ma:web="27e1a7db-20cf-4fcd-a242-f50c3d60da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12A2F0-17B8-4D81-A3D2-370DE3B698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6F9C91-C0DE-416F-BB27-525470FDF0E3}">
  <ds:schemaRefs>
    <ds:schemaRef ds:uri="http://schemas.microsoft.com/office/2006/metadata/properties"/>
    <ds:schemaRef ds:uri="http://schemas.microsoft.com/office/infopath/2007/PartnerControls"/>
    <ds:schemaRef ds:uri="27e1a7db-20cf-4fcd-a242-f50c3d60dab7"/>
    <ds:schemaRef ds:uri="e148f953-5c83-413e-8261-29f3d6ceccd1"/>
  </ds:schemaRefs>
</ds:datastoreItem>
</file>

<file path=customXml/itemProps3.xml><?xml version="1.0" encoding="utf-8"?>
<ds:datastoreItem xmlns:ds="http://schemas.openxmlformats.org/officeDocument/2006/customXml" ds:itemID="{88059D7A-5D44-4E4D-8D6E-1496D5BD21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48f953-5c83-413e-8261-29f3d6ceccd1"/>
    <ds:schemaRef ds:uri="27e1a7db-20cf-4fcd-a242-f50c3d60da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703</Words>
  <Application>Microsoft Office PowerPoint</Application>
  <PresentationFormat>Widescreen</PresentationFormat>
  <Paragraphs>99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Calisto MT</vt:lpstr>
      <vt:lpstr>Univers Condensed</vt:lpstr>
      <vt:lpstr>ChronicleVTI</vt:lpstr>
      <vt:lpstr>Survivor Stats Society    </vt:lpstr>
      <vt:lpstr>Motivation for A joint model</vt:lpstr>
      <vt:lpstr>Motivation for A joint model</vt:lpstr>
      <vt:lpstr>Joint models: link the longitudinal and the survival process</vt:lpstr>
      <vt:lpstr>What Joint Models Solve?</vt:lpstr>
      <vt:lpstr>Fit a joint model</vt:lpstr>
      <vt:lpstr>Interpretation</vt:lpstr>
      <vt:lpstr>Interpretation</vt:lpstr>
      <vt:lpstr>Interpretation</vt:lpstr>
      <vt:lpstr>Conclusion </vt:lpstr>
      <vt:lpstr>Prediction plots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Farzaneh Boroumand</dc:creator>
  <cp:lastModifiedBy>Nicole De La Mata</cp:lastModifiedBy>
  <cp:revision>10</cp:revision>
  <dcterms:created xsi:type="dcterms:W3CDTF">2025-03-26T05:12:06Z</dcterms:created>
  <dcterms:modified xsi:type="dcterms:W3CDTF">2026-02-25T21:17:29Z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0x010100C9694B62C85BB0468228B1561B8B6144</vt:lpwstr>
  </property>
</Properties>
</file>